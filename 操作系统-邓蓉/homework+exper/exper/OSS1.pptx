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61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8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97200" y="43440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007ffcfc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97200" y="394144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17065" y="437769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007fffd8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909445" y="39414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859280" y="35477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007fffd0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866900" y="3153410"/>
            <a:ext cx="113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007fffcc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917065" y="2681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917065" y="231330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007fffc4</a:t>
            </a:r>
            <a:endParaRPr lang="en-US" altLang="zh-CN"/>
          </a:p>
        </p:txBody>
      </p:sp>
      <p:pic>
        <p:nvPicPr>
          <p:cNvPr id="15" name="图片 4" descr="6d49b9c51edfbbf9570f6c9f0a6375a2"/>
          <p:cNvPicPr>
            <a:picLocks noChangeAspect="1"/>
          </p:cNvPicPr>
          <p:nvPr/>
        </p:nvPicPr>
        <p:blipFill>
          <a:blip r:embed="rId1"/>
          <a:srcRect b="10838"/>
          <a:stretch>
            <a:fillRect/>
          </a:stretch>
        </p:blipFill>
        <p:spPr>
          <a:xfrm>
            <a:off x="739775" y="4833620"/>
            <a:ext cx="3931920" cy="18751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997200" y="353885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997200" y="313944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result=0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97200" y="273367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97200" y="233045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r>
              <a:rPr lang="en-US" altLang="zh-CN">
                <a:solidFill>
                  <a:schemeClr val="tx1"/>
                </a:solidFill>
              </a:rPr>
              <a:t>var2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97200" y="192722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实参</a:t>
            </a:r>
            <a:r>
              <a:rPr lang="en-US" altLang="zh-CN">
                <a:solidFill>
                  <a:schemeClr val="tx1"/>
                </a:solidFill>
              </a:rPr>
              <a:t>var1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09445" y="196151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3005455" y="151320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59280" y="107886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007fffb4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2997200" y="1099820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count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916430" y="147320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929640" y="443547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6" descr="ab1754b726b957026da4bf3ff4d74248"/>
          <p:cNvPicPr>
            <a:picLocks noChangeAspect="1"/>
          </p:cNvPicPr>
          <p:nvPr/>
        </p:nvPicPr>
        <p:blipFill>
          <a:blip r:embed="rId2"/>
          <a:srcRect l="-1941" r="1941" b="32910"/>
          <a:stretch>
            <a:fillRect/>
          </a:stretch>
        </p:blipFill>
        <p:spPr>
          <a:xfrm>
            <a:off x="7065010" y="3366135"/>
            <a:ext cx="4606290" cy="334264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352425" y="437769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ebp</a:t>
            </a:r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1056640" y="207772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79425" y="2019935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</a:t>
            </a:r>
            <a:endParaRPr lang="zh-CN" altLang="en-US"/>
          </a:p>
        </p:txBody>
      </p:sp>
      <p:pic>
        <p:nvPicPr>
          <p:cNvPr id="36" name="图片 5" descr="81f4c43aeb40757510c54c4b48c224cc"/>
          <p:cNvPicPr>
            <a:picLocks noChangeAspect="1"/>
          </p:cNvPicPr>
          <p:nvPr/>
        </p:nvPicPr>
        <p:blipFill>
          <a:blip r:embed="rId3"/>
          <a:srcRect t="3699" b="44937"/>
          <a:stretch>
            <a:fillRect/>
          </a:stretch>
        </p:blipFill>
        <p:spPr>
          <a:xfrm>
            <a:off x="5751830" y="0"/>
            <a:ext cx="5233035" cy="3207385"/>
          </a:xfrm>
          <a:prstGeom prst="rect">
            <a:avLst/>
          </a:prstGeom>
        </p:spPr>
      </p:pic>
      <p:sp>
        <p:nvSpPr>
          <p:cNvPr id="37" name="线形标注 1 36"/>
          <p:cNvSpPr/>
          <p:nvPr/>
        </p:nvSpPr>
        <p:spPr>
          <a:xfrm>
            <a:off x="5147945" y="4245610"/>
            <a:ext cx="1586865" cy="1169670"/>
          </a:xfrm>
          <a:prstGeom prst="borderCallout1">
            <a:avLst>
              <a:gd name="adj1" fmla="val 18750"/>
              <a:gd name="adj2" fmla="val -8333"/>
              <a:gd name="adj3" fmla="val 20521"/>
              <a:gd name="adj4" fmla="val -5822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push %ebp</a:t>
            </a:r>
            <a:r>
              <a:rPr lang="zh-CN" altLang="en-US" sz="1600"/>
              <a:t>将上一栈帧基地址保存在此处</a:t>
            </a:r>
            <a:endParaRPr lang="zh-CN" altLang="en-US" sz="16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97200" y="43440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007ffcfc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97200" y="394144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17065" y="437769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007fffd8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909445" y="39414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859280" y="35477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007fffd0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866900" y="3153410"/>
            <a:ext cx="113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007fffcc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917065" y="2681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917065" y="231330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2997200" y="353885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997200" y="313944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result=0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97200" y="273367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97200" y="233045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实参</a:t>
            </a:r>
            <a:r>
              <a:rPr lang="en-US" altLang="zh-CN">
                <a:solidFill>
                  <a:schemeClr val="tx1"/>
                </a:solidFill>
              </a:rPr>
              <a:t>var2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97200" y="192722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实参</a:t>
            </a:r>
            <a:r>
              <a:rPr lang="en-US" altLang="zh-CN">
                <a:solidFill>
                  <a:schemeClr val="tx1"/>
                </a:solidFill>
              </a:rPr>
              <a:t>var1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09445" y="196151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3005455" y="151320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59280" y="107886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007fffb4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2997200" y="1099820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count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916430" y="147320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929640" y="443547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52425" y="437769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ebp</a:t>
            </a:r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1056640" y="207772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79425" y="2019935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4043" b="33521"/>
          <a:stretch>
            <a:fillRect/>
          </a:stretch>
        </p:blipFill>
        <p:spPr>
          <a:xfrm>
            <a:off x="5109845" y="167005"/>
            <a:ext cx="4473575" cy="335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6143" b="32340"/>
          <a:stretch>
            <a:fillRect/>
          </a:stretch>
        </p:blipFill>
        <p:spPr>
          <a:xfrm>
            <a:off x="5109845" y="3313430"/>
            <a:ext cx="4636135" cy="34436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6210" y="5370195"/>
            <a:ext cx="6139815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eip</a:t>
            </a:r>
            <a:r>
              <a:rPr lang="zh-CN" altLang="en-US" sz="2800"/>
              <a:t>不断递增，此时</a:t>
            </a:r>
            <a:r>
              <a:rPr lang="en-US" altLang="zh-CN" sz="2800"/>
              <a:t>eip=401014</a:t>
            </a:r>
            <a:endParaRPr lang="en-US" altLang="zh-CN" sz="2800"/>
          </a:p>
          <a:p>
            <a:r>
              <a:rPr lang="en-US" altLang="zh-CN" sz="2800"/>
              <a:t>a=1</a:t>
            </a:r>
            <a:r>
              <a:rPr lang="zh-CN" altLang="en-US" sz="2800"/>
              <a:t>，</a:t>
            </a:r>
            <a:r>
              <a:rPr lang="en-US" altLang="zh-CN" sz="2800"/>
              <a:t>b=2</a:t>
            </a:r>
            <a:r>
              <a:rPr lang="zh-CN" altLang="en-US" sz="2800"/>
              <a:t>成功赋值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50160" y="43440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007ffcfc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50160" y="394144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0025" y="437769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007fffd8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462405" y="39414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412240" y="35477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007fffd0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419860" y="3153410"/>
            <a:ext cx="113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007fffcc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470025" y="2681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470025" y="231330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2550160" y="353885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50160" y="313944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result=0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50160" y="273367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50160" y="233045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var2=2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50160" y="192722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var1=1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62405" y="196151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2558415" y="151320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12240" y="107886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007fffb8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2550160" y="71564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count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469390" y="147320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554990" y="109982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22225" y="1042035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ebp</a:t>
            </a:r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554990" y="68643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-22225" y="62865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-40640" y="4959350"/>
            <a:ext cx="6336665" cy="1195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开始调用</a:t>
            </a:r>
            <a:r>
              <a:rPr lang="en-US" altLang="zh-CN" sz="2800"/>
              <a:t>sum</a:t>
            </a:r>
            <a:r>
              <a:rPr lang="zh-CN" altLang="en-US" sz="2800"/>
              <a:t>函数，</a:t>
            </a:r>
            <a:r>
              <a:rPr lang="en-US" altLang="zh-CN" sz="2800"/>
              <a:t>esp</a:t>
            </a:r>
            <a:r>
              <a:rPr lang="zh-CN" altLang="en-US" sz="2800"/>
              <a:t>与</a:t>
            </a:r>
            <a:r>
              <a:rPr lang="en-US" altLang="zh-CN" sz="2800"/>
              <a:t>ebp</a:t>
            </a:r>
            <a:r>
              <a:rPr lang="zh-CN" altLang="en-US" sz="2800"/>
              <a:t>发生改变</a:t>
            </a:r>
            <a:endParaRPr lang="zh-CN" altLang="en-US" sz="2800"/>
          </a:p>
          <a:p>
            <a:r>
              <a:rPr lang="en-US" altLang="zh-CN" sz="2800"/>
              <a:t>var1</a:t>
            </a:r>
            <a:r>
              <a:rPr lang="zh-CN" altLang="en-US" sz="2800"/>
              <a:t>与</a:t>
            </a:r>
            <a:r>
              <a:rPr lang="en-US" altLang="zh-CN" sz="2800"/>
              <a:t>var2</a:t>
            </a:r>
            <a:r>
              <a:rPr lang="zh-CN" altLang="en-US" sz="2800"/>
              <a:t>分别赋值为</a:t>
            </a:r>
            <a:r>
              <a:rPr lang="en-US" altLang="zh-CN" sz="2800"/>
              <a:t>1</a:t>
            </a:r>
            <a:r>
              <a:rPr lang="zh-CN" altLang="en-US" sz="2800"/>
              <a:t>和</a:t>
            </a:r>
            <a:r>
              <a:rPr lang="en-US" altLang="zh-CN" sz="2800"/>
              <a:t>2</a:t>
            </a:r>
            <a:endParaRPr lang="en-US" altLang="zh-CN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18428"/>
          <a:stretch>
            <a:fillRect/>
          </a:stretch>
        </p:blipFill>
        <p:spPr>
          <a:xfrm>
            <a:off x="6170295" y="435610"/>
            <a:ext cx="5065395" cy="5073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12240" y="66548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007fffb4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2550160" y="11055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007fffd8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线形标注 1 16"/>
          <p:cNvSpPr/>
          <p:nvPr/>
        </p:nvSpPr>
        <p:spPr>
          <a:xfrm>
            <a:off x="4709160" y="1078865"/>
            <a:ext cx="1586865" cy="1169670"/>
          </a:xfrm>
          <a:prstGeom prst="borderCallout1">
            <a:avLst>
              <a:gd name="adj1" fmla="val 18750"/>
              <a:gd name="adj2" fmla="val -8333"/>
              <a:gd name="adj3" fmla="val 20521"/>
              <a:gd name="adj4" fmla="val -5822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push %ebp</a:t>
            </a:r>
            <a:r>
              <a:rPr lang="zh-CN" altLang="en-US" sz="1600"/>
              <a:t>将</a:t>
            </a:r>
            <a:r>
              <a:rPr lang="en-US" altLang="zh-CN" sz="1600"/>
              <a:t>main</a:t>
            </a:r>
            <a:r>
              <a:rPr lang="zh-CN" altLang="en-US" sz="1600"/>
              <a:t>栈帧基地址保存在此处</a:t>
            </a:r>
            <a:endParaRPr lang="zh-CN" altLang="en-US" sz="160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8169" b="19140"/>
          <a:stretch>
            <a:fillRect/>
          </a:stretch>
        </p:blipFill>
        <p:spPr>
          <a:xfrm>
            <a:off x="4316095" y="0"/>
            <a:ext cx="4011295" cy="35807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50160" y="43440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007ffcfc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50160" y="394144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0025" y="437769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007fffd8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462405" y="39414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412240" y="35477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007fffd0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419860" y="3153410"/>
            <a:ext cx="113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007fffcc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470025" y="2681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470025" y="231330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2550160" y="353885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50160" y="313944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result=0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50160" y="273367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50160" y="233045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var2=2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50160" y="192722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var1=1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62405" y="196151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2558415" y="151320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12240" y="107886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007fffb8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2550160" y="71564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count=3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469390" y="147320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12240" y="665480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007fffb4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2550160" y="11055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007fffd8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54990" y="109982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22225" y="1042035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ebp</a:t>
            </a: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554990" y="68643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-22225" y="62865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t="7342" r="11672" b="17969"/>
          <a:stretch>
            <a:fillRect/>
          </a:stretch>
        </p:blipFill>
        <p:spPr>
          <a:xfrm>
            <a:off x="8452485" y="0"/>
            <a:ext cx="3439795" cy="35814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11117" b="19846"/>
          <a:stretch>
            <a:fillRect/>
          </a:stretch>
        </p:blipFill>
        <p:spPr>
          <a:xfrm>
            <a:off x="5932805" y="3628390"/>
            <a:ext cx="3798570" cy="322961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-121285" y="4959350"/>
            <a:ext cx="6336665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执行</a:t>
            </a:r>
            <a:r>
              <a:rPr lang="en-US" altLang="zh-CN" sz="2800"/>
              <a:t>sum</a:t>
            </a:r>
            <a:r>
              <a:rPr lang="zh-CN" altLang="en-US" sz="2800"/>
              <a:t>函数，</a:t>
            </a:r>
            <a:r>
              <a:rPr lang="en-US" altLang="zh-CN" sz="2800"/>
              <a:t>esp</a:t>
            </a:r>
            <a:r>
              <a:rPr lang="zh-CN" altLang="en-US" sz="2800"/>
              <a:t>与</a:t>
            </a:r>
            <a:r>
              <a:rPr lang="en-US" altLang="zh-CN" sz="2800"/>
              <a:t>ebp</a:t>
            </a:r>
            <a:r>
              <a:rPr lang="zh-CN" altLang="en-US" sz="2800"/>
              <a:t>不变，</a:t>
            </a:r>
            <a:r>
              <a:rPr lang="en-US" altLang="zh-CN" sz="2800"/>
              <a:t>count</a:t>
            </a:r>
            <a:r>
              <a:rPr lang="zh-CN" altLang="en-US" sz="2800"/>
              <a:t>被正确赋值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550160" y="4344035"/>
            <a:ext cx="1535430" cy="4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007ffcfc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50160" y="394144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0025" y="437769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007fffd8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462405" y="39414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412240" y="354774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007fffd0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419860" y="3153410"/>
            <a:ext cx="113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007fffcc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470025" y="2681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470025" y="231330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2550160" y="353885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50160" y="313944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result=0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50160" y="273367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50160" y="2330450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var2=2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50160" y="192722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var1=1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62405" y="1961515"/>
            <a:ext cx="105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007fffc0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2558415" y="1513205"/>
            <a:ext cx="153543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54990" y="437769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22225" y="4319905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ebp</a:t>
            </a: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554990" y="206057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-22225" y="200279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-121285" y="4959350"/>
            <a:ext cx="6336665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经历了</a:t>
            </a:r>
            <a:r>
              <a:rPr lang="en-US" altLang="zh-CN" sz="2800"/>
              <a:t>leave</a:t>
            </a:r>
            <a:r>
              <a:rPr lang="zh-CN" altLang="en-US" sz="2800"/>
              <a:t>与</a:t>
            </a:r>
            <a:r>
              <a:rPr lang="en-US" altLang="zh-CN" sz="2800"/>
              <a:t>ret</a:t>
            </a:r>
            <a:r>
              <a:rPr lang="zh-CN" altLang="en-US" sz="2800"/>
              <a:t>，栈帧被销毁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9780" b="18015"/>
          <a:stretch>
            <a:fillRect/>
          </a:stretch>
        </p:blipFill>
        <p:spPr>
          <a:xfrm>
            <a:off x="5514340" y="600710"/>
            <a:ext cx="5855970" cy="5240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22440" y="5073650"/>
            <a:ext cx="856615" cy="29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007ffcfc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22440" y="4811395"/>
            <a:ext cx="855980" cy="26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a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42305" y="5074920"/>
            <a:ext cx="10509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007fffd8</a:t>
            </a:r>
            <a:endParaRPr lang="en-US" altLang="zh-CN" sz="1000"/>
          </a:p>
        </p:txBody>
      </p:sp>
      <p:sp>
        <p:nvSpPr>
          <p:cNvPr id="10" name="文本框 9"/>
          <p:cNvSpPr txBox="1"/>
          <p:nvPr/>
        </p:nvSpPr>
        <p:spPr>
          <a:xfrm>
            <a:off x="5734685" y="4829810"/>
            <a:ext cx="1058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007fffd4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5742305" y="4553585"/>
            <a:ext cx="1058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007fffd0</a:t>
            </a:r>
            <a:endParaRPr lang="en-US" altLang="zh-CN" sz="1000"/>
          </a:p>
        </p:txBody>
      </p:sp>
      <p:sp>
        <p:nvSpPr>
          <p:cNvPr id="12" name="文本框 11"/>
          <p:cNvSpPr txBox="1"/>
          <p:nvPr/>
        </p:nvSpPr>
        <p:spPr>
          <a:xfrm>
            <a:off x="5742305" y="4241800"/>
            <a:ext cx="11303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007fffcc</a:t>
            </a:r>
            <a:endParaRPr lang="en-US" altLang="zh-CN" sz="1000"/>
          </a:p>
        </p:txBody>
      </p:sp>
      <p:sp>
        <p:nvSpPr>
          <p:cNvPr id="13" name="文本框 12"/>
          <p:cNvSpPr txBox="1"/>
          <p:nvPr/>
        </p:nvSpPr>
        <p:spPr>
          <a:xfrm>
            <a:off x="5770245" y="3995420"/>
            <a:ext cx="10521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007fffc8</a:t>
            </a:r>
            <a:endParaRPr lang="en-US" altLang="zh-CN" sz="1000"/>
          </a:p>
        </p:txBody>
      </p:sp>
      <p:sp>
        <p:nvSpPr>
          <p:cNvPr id="14" name="文本框 13"/>
          <p:cNvSpPr txBox="1"/>
          <p:nvPr/>
        </p:nvSpPr>
        <p:spPr>
          <a:xfrm>
            <a:off x="5768975" y="3686175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007fffc4</a:t>
            </a:r>
            <a:endParaRPr lang="en-US" altLang="zh-CN" sz="1000"/>
          </a:p>
        </p:txBody>
      </p:sp>
      <p:sp>
        <p:nvSpPr>
          <p:cNvPr id="19" name="矩形 18"/>
          <p:cNvSpPr/>
          <p:nvPr/>
        </p:nvSpPr>
        <p:spPr>
          <a:xfrm>
            <a:off x="6822440" y="4528820"/>
            <a:ext cx="855980" cy="28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22440" y="4218305"/>
            <a:ext cx="855345" cy="30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result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22440" y="3928745"/>
            <a:ext cx="85598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22440" y="3665855"/>
            <a:ext cx="855345" cy="25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实参</a:t>
            </a:r>
            <a:r>
              <a:rPr lang="en-US" altLang="zh-CN" sz="1000">
                <a:solidFill>
                  <a:schemeClr val="tx1"/>
                </a:solidFill>
              </a:rPr>
              <a:t>var2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22440" y="3177540"/>
            <a:ext cx="855980" cy="48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实参</a:t>
            </a:r>
            <a:r>
              <a:rPr lang="en-US" altLang="zh-CN" sz="1000">
                <a:solidFill>
                  <a:schemeClr val="tx1"/>
                </a:solidFill>
              </a:rPr>
              <a:t>var1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734685" y="3226435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007fffc0</a:t>
            </a:r>
            <a:endParaRPr lang="en-US" altLang="zh-CN" sz="1000"/>
          </a:p>
        </p:txBody>
      </p:sp>
      <p:sp>
        <p:nvSpPr>
          <p:cNvPr id="26" name="矩形 25"/>
          <p:cNvSpPr/>
          <p:nvPr/>
        </p:nvSpPr>
        <p:spPr>
          <a:xfrm>
            <a:off x="6821805" y="2846070"/>
            <a:ext cx="857250" cy="32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00401026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821045" y="2158365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007fffb4</a:t>
            </a:r>
            <a:endParaRPr lang="en-US" altLang="zh-CN" sz="1000"/>
          </a:p>
        </p:txBody>
      </p:sp>
      <p:sp>
        <p:nvSpPr>
          <p:cNvPr id="28" name="矩形 27"/>
          <p:cNvSpPr/>
          <p:nvPr/>
        </p:nvSpPr>
        <p:spPr>
          <a:xfrm>
            <a:off x="6822440" y="2138045"/>
            <a:ext cx="855980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count</a:t>
            </a:r>
            <a:r>
              <a:rPr lang="en-US" altLang="zh-CN" sz="1000"/>
              <a:t>t</a:t>
            </a:r>
            <a:endParaRPr lang="en-US" altLang="zh-CN" sz="1000"/>
          </a:p>
        </p:txBody>
      </p:sp>
      <p:sp>
        <p:nvSpPr>
          <p:cNvPr id="30" name="右箭头 29"/>
          <p:cNvSpPr/>
          <p:nvPr/>
        </p:nvSpPr>
        <p:spPr>
          <a:xfrm>
            <a:off x="4972050" y="509651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32" name="文本框 31"/>
          <p:cNvSpPr txBox="1"/>
          <p:nvPr/>
        </p:nvSpPr>
        <p:spPr>
          <a:xfrm>
            <a:off x="3738880" y="5050155"/>
            <a:ext cx="123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ebp</a:t>
            </a:r>
            <a:r>
              <a:rPr lang="zh-CN" altLang="en-US" sz="1000"/>
              <a:t>（</a:t>
            </a:r>
            <a:r>
              <a:rPr lang="en-US" altLang="zh-CN" sz="1000"/>
              <a:t>call</a:t>
            </a:r>
            <a:r>
              <a:rPr lang="zh-CN" altLang="en-US" sz="1000"/>
              <a:t>之前，</a:t>
            </a:r>
            <a:r>
              <a:rPr lang="en-US" altLang="zh-CN" sz="1000"/>
              <a:t>sum</a:t>
            </a:r>
            <a:r>
              <a:rPr lang="zh-CN" altLang="en-US" sz="1000"/>
              <a:t>函数执行之后</a:t>
            </a:r>
            <a:endParaRPr lang="zh-CN" altLang="en-US" sz="1000"/>
          </a:p>
        </p:txBody>
      </p:sp>
      <p:sp>
        <p:nvSpPr>
          <p:cNvPr id="33" name="右箭头 32"/>
          <p:cNvSpPr/>
          <p:nvPr/>
        </p:nvSpPr>
        <p:spPr>
          <a:xfrm>
            <a:off x="4881880" y="326644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34" name="文本框 33"/>
          <p:cNvSpPr txBox="1"/>
          <p:nvPr/>
        </p:nvSpPr>
        <p:spPr>
          <a:xfrm>
            <a:off x="3799840" y="3226435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esp</a:t>
            </a:r>
            <a:r>
              <a:rPr lang="zh-CN" altLang="en-US" sz="1000"/>
              <a:t>（</a:t>
            </a:r>
            <a:r>
              <a:rPr lang="en-US" altLang="zh-CN" sz="1000"/>
              <a:t>call</a:t>
            </a:r>
            <a:r>
              <a:rPr lang="zh-CN" altLang="en-US" sz="1000"/>
              <a:t>之前）</a:t>
            </a:r>
            <a:endParaRPr lang="zh-CN" altLang="en-US" sz="1000"/>
          </a:p>
        </p:txBody>
      </p:sp>
      <p:sp>
        <p:nvSpPr>
          <p:cNvPr id="6" name="矩形 5"/>
          <p:cNvSpPr/>
          <p:nvPr/>
        </p:nvSpPr>
        <p:spPr>
          <a:xfrm>
            <a:off x="6822440" y="5362575"/>
            <a:ext cx="856615" cy="29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4198400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42305" y="6440170"/>
            <a:ext cx="10509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00800000</a:t>
            </a:r>
            <a:endParaRPr lang="en-US" altLang="zh-CN" sz="1000"/>
          </a:p>
        </p:txBody>
      </p:sp>
      <p:sp>
        <p:nvSpPr>
          <p:cNvPr id="15" name="矩形 14"/>
          <p:cNvSpPr/>
          <p:nvPr/>
        </p:nvSpPr>
        <p:spPr>
          <a:xfrm>
            <a:off x="6822440" y="5664200"/>
            <a:ext cx="857250" cy="77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main1</a:t>
            </a:r>
            <a:r>
              <a:rPr lang="zh-CN" altLang="en-US" sz="1000">
                <a:solidFill>
                  <a:schemeClr val="tx1"/>
                </a:solidFill>
              </a:rPr>
              <a:t>的实参为空不知道是否还会分配内存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22440" y="6447790"/>
            <a:ext cx="857250" cy="31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命令行参数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08265" y="535241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ym typeface="+mn-ea"/>
              </a:rPr>
              <a:t>main</a:t>
            </a:r>
            <a:r>
              <a:rPr lang="zh-CN" altLang="en-US" sz="1000">
                <a:sym typeface="+mn-ea"/>
              </a:rPr>
              <a:t>函数的返回值为</a:t>
            </a:r>
            <a:r>
              <a:rPr lang="en-US" altLang="zh-CN" sz="1000">
                <a:sym typeface="+mn-ea"/>
              </a:rPr>
              <a:t>4198400</a:t>
            </a:r>
            <a:r>
              <a:rPr lang="zh-CN" altLang="en-US" sz="1000">
                <a:sym typeface="+mn-ea"/>
              </a:rPr>
              <a:t>，通过读取</a:t>
            </a:r>
            <a:r>
              <a:rPr lang="en-US" altLang="zh-CN" sz="1000">
                <a:sym typeface="+mn-ea"/>
              </a:rPr>
              <a:t>eax</a:t>
            </a:r>
            <a:r>
              <a:rPr lang="zh-CN" altLang="en-US" sz="1000">
                <a:sym typeface="+mn-ea"/>
              </a:rPr>
              <a:t>得到，有点奇怪</a:t>
            </a:r>
            <a:endParaRPr lang="zh-CN" altLang="en-US" sz="1000">
              <a:solidFill>
                <a:schemeClr val="tx1"/>
              </a:solidFill>
            </a:endParaRPr>
          </a:p>
          <a:p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08265" y="512635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上一栈帧基址</a:t>
            </a:r>
            <a:endParaRPr lang="zh-CN" altLang="en-US" sz="1000"/>
          </a:p>
        </p:txBody>
      </p:sp>
      <p:sp>
        <p:nvSpPr>
          <p:cNvPr id="39" name="文本框 38"/>
          <p:cNvSpPr txBox="1"/>
          <p:nvPr/>
        </p:nvSpPr>
        <p:spPr>
          <a:xfrm>
            <a:off x="5768975" y="249047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007fffb8</a:t>
            </a:r>
            <a:endParaRPr lang="en-US" altLang="zh-CN" sz="1000"/>
          </a:p>
        </p:txBody>
      </p:sp>
      <p:sp>
        <p:nvSpPr>
          <p:cNvPr id="40" name="矩形 39"/>
          <p:cNvSpPr/>
          <p:nvPr/>
        </p:nvSpPr>
        <p:spPr>
          <a:xfrm>
            <a:off x="6820535" y="2436495"/>
            <a:ext cx="857250" cy="40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007fffd8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770880" y="293370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007fffbc</a:t>
            </a:r>
            <a:endParaRPr lang="en-US" altLang="zh-CN" sz="1000"/>
          </a:p>
        </p:txBody>
      </p:sp>
      <p:sp>
        <p:nvSpPr>
          <p:cNvPr id="42" name="右箭头 41"/>
          <p:cNvSpPr/>
          <p:nvPr/>
        </p:nvSpPr>
        <p:spPr>
          <a:xfrm>
            <a:off x="4958080" y="2961640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43" name="文本框 42"/>
          <p:cNvSpPr txBox="1"/>
          <p:nvPr/>
        </p:nvSpPr>
        <p:spPr>
          <a:xfrm>
            <a:off x="3876040" y="2921635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esp</a:t>
            </a:r>
            <a:r>
              <a:rPr lang="zh-CN" altLang="en-US" sz="1000"/>
              <a:t>（</a:t>
            </a:r>
            <a:r>
              <a:rPr lang="en-US" altLang="zh-CN" sz="1000"/>
              <a:t>call</a:t>
            </a:r>
            <a:r>
              <a:rPr lang="zh-CN" altLang="en-US" sz="1000"/>
              <a:t>之后）</a:t>
            </a:r>
            <a:endParaRPr lang="zh-CN" altLang="en-US" sz="1000"/>
          </a:p>
        </p:txBody>
      </p:sp>
      <p:sp>
        <p:nvSpPr>
          <p:cNvPr id="47" name="文本框 46"/>
          <p:cNvSpPr txBox="1"/>
          <p:nvPr/>
        </p:nvSpPr>
        <p:spPr>
          <a:xfrm>
            <a:off x="7720965" y="286766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ym typeface="+mn-ea"/>
              </a:rPr>
              <a:t>sum</a:t>
            </a:r>
            <a:r>
              <a:rPr lang="zh-CN" altLang="en-US" sz="1000">
                <a:sym typeface="+mn-ea"/>
              </a:rPr>
              <a:t>函数的返回地址为</a:t>
            </a:r>
            <a:r>
              <a:rPr lang="en-US" altLang="zh-CN" sz="1000">
                <a:sym typeface="+mn-ea"/>
              </a:rPr>
              <a:t>00401026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678420" y="3226435"/>
            <a:ext cx="4545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ym typeface="+mn-ea"/>
              </a:rPr>
              <a:t>00401003</a:t>
            </a:r>
            <a:r>
              <a:rPr lang="zh-CN" altLang="en-US" sz="1000">
                <a:sym typeface="+mn-ea"/>
              </a:rPr>
              <a:t>的</a:t>
            </a:r>
            <a:r>
              <a:rPr lang="en-US" altLang="zh-CN" sz="1000">
                <a:sym typeface="+mn-ea"/>
              </a:rPr>
              <a:t>sub</a:t>
            </a:r>
            <a:r>
              <a:rPr lang="zh-CN" altLang="en-US" sz="1000">
                <a:sym typeface="+mn-ea"/>
              </a:rPr>
              <a:t>命令将</a:t>
            </a:r>
            <a:r>
              <a:rPr lang="en-US" altLang="zh-CN" sz="1000">
                <a:sym typeface="+mn-ea"/>
              </a:rPr>
              <a:t>esp</a:t>
            </a:r>
            <a:r>
              <a:rPr lang="zh-CN" altLang="en-US" sz="1000">
                <a:sym typeface="+mn-ea"/>
              </a:rPr>
              <a:t>指向</a:t>
            </a:r>
            <a:r>
              <a:rPr lang="en-US" altLang="zh-CN" sz="1000">
                <a:sym typeface="+mn-ea"/>
              </a:rPr>
              <a:t>007fffc4</a:t>
            </a:r>
            <a:r>
              <a:rPr lang="zh-CN" altLang="en-US" sz="1000">
                <a:sym typeface="+mn-ea"/>
              </a:rPr>
              <a:t>，预先留好了</a:t>
            </a:r>
            <a:r>
              <a:rPr lang="en-US" altLang="zh-CN" sz="1000">
                <a:sym typeface="+mn-ea"/>
              </a:rPr>
              <a:t>var1</a:t>
            </a:r>
            <a:r>
              <a:rPr lang="zh-CN" altLang="en-US" sz="1000">
                <a:sym typeface="+mn-ea"/>
              </a:rPr>
              <a:t>，</a:t>
            </a:r>
            <a:r>
              <a:rPr lang="en-US" altLang="zh-CN" sz="1000">
                <a:sym typeface="+mn-ea"/>
              </a:rPr>
              <a:t>var2</a:t>
            </a:r>
            <a:r>
              <a:rPr lang="zh-CN" altLang="en-US" sz="1000">
                <a:sym typeface="+mn-ea"/>
              </a:rPr>
              <a:t>两个实参的位置，以及</a:t>
            </a:r>
            <a:r>
              <a:rPr lang="en-US" altLang="zh-CN" sz="1000">
                <a:sym typeface="+mn-ea"/>
              </a:rPr>
              <a:t>main</a:t>
            </a:r>
            <a:r>
              <a:rPr lang="zh-CN" altLang="en-US" sz="1000">
                <a:sym typeface="+mn-ea"/>
              </a:rPr>
              <a:t>的局部变量的位置</a:t>
            </a:r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720965" y="2593975"/>
            <a:ext cx="51555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tx1"/>
                </a:solidFill>
              </a:rPr>
              <a:t>main</a:t>
            </a:r>
            <a:r>
              <a:rPr lang="zh-CN" altLang="en-US" sz="1000">
                <a:solidFill>
                  <a:schemeClr val="tx1"/>
                </a:solidFill>
              </a:rPr>
              <a:t>函数栈帧基址，由</a:t>
            </a:r>
            <a:r>
              <a:rPr lang="en-US" altLang="zh-CN" sz="1000">
                <a:solidFill>
                  <a:schemeClr val="tx1"/>
                </a:solidFill>
              </a:rPr>
              <a:t>sum</a:t>
            </a:r>
            <a:r>
              <a:rPr lang="zh-CN" altLang="en-US" sz="1000">
                <a:solidFill>
                  <a:schemeClr val="tx1"/>
                </a:solidFill>
              </a:rPr>
              <a:t>函数开头的</a:t>
            </a:r>
            <a:r>
              <a:rPr lang="en-US" altLang="zh-CN" sz="1000">
                <a:solidFill>
                  <a:schemeClr val="tx1"/>
                </a:solidFill>
              </a:rPr>
              <a:t>push ebp</a:t>
            </a:r>
            <a:r>
              <a:rPr lang="zh-CN" altLang="en-US" sz="1000">
                <a:solidFill>
                  <a:schemeClr val="tx1"/>
                </a:solidFill>
              </a:rPr>
              <a:t>实现，</a:t>
            </a:r>
            <a:r>
              <a:rPr lang="en-US" altLang="zh-CN" sz="1000">
                <a:solidFill>
                  <a:schemeClr val="tx1"/>
                </a:solidFill>
              </a:rPr>
              <a:t>ebp</a:t>
            </a:r>
            <a:r>
              <a:rPr lang="zh-CN" altLang="en-US" sz="1000">
                <a:solidFill>
                  <a:schemeClr val="tx1"/>
                </a:solidFill>
              </a:rPr>
              <a:t>的值改为</a:t>
            </a:r>
            <a:r>
              <a:rPr lang="en-US" altLang="zh-CN" sz="1000">
                <a:solidFill>
                  <a:schemeClr val="tx1"/>
                </a:solidFill>
              </a:rPr>
              <a:t>007fffb8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2" name="右箭头 51"/>
          <p:cNvSpPr/>
          <p:nvPr/>
        </p:nvSpPr>
        <p:spPr>
          <a:xfrm>
            <a:off x="4958080" y="247078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53" name="文本框 52"/>
          <p:cNvSpPr txBox="1"/>
          <p:nvPr/>
        </p:nvSpPr>
        <p:spPr>
          <a:xfrm>
            <a:off x="3912870" y="2490470"/>
            <a:ext cx="11728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ebp</a:t>
            </a:r>
            <a:r>
              <a:rPr lang="zh-CN" altLang="en-US" sz="1000"/>
              <a:t>（</a:t>
            </a:r>
            <a:r>
              <a:rPr lang="en-US" altLang="zh-CN" sz="1000"/>
              <a:t>sum</a:t>
            </a:r>
            <a:r>
              <a:rPr lang="zh-CN" altLang="en-US" sz="1000"/>
              <a:t>函数执行时）</a:t>
            </a:r>
            <a:endParaRPr lang="zh-CN" altLang="en-US" sz="1000"/>
          </a:p>
        </p:txBody>
      </p:sp>
      <p:sp>
        <p:nvSpPr>
          <p:cNvPr id="54" name="文本框 53"/>
          <p:cNvSpPr txBox="1"/>
          <p:nvPr/>
        </p:nvSpPr>
        <p:spPr>
          <a:xfrm>
            <a:off x="7720965" y="2179320"/>
            <a:ext cx="51555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tx1"/>
                </a:solidFill>
              </a:rPr>
              <a:t>00401055</a:t>
            </a:r>
            <a:r>
              <a:rPr lang="zh-CN" altLang="en-US" sz="1000">
                <a:solidFill>
                  <a:schemeClr val="tx1"/>
                </a:solidFill>
              </a:rPr>
              <a:t>的</a:t>
            </a:r>
            <a:r>
              <a:rPr lang="en-US" altLang="zh-CN" sz="1000">
                <a:solidFill>
                  <a:schemeClr val="tx1"/>
                </a:solidFill>
              </a:rPr>
              <a:t>sub</a:t>
            </a:r>
            <a:r>
              <a:rPr lang="zh-CN" altLang="en-US" sz="1000">
                <a:solidFill>
                  <a:schemeClr val="tx1"/>
                </a:solidFill>
              </a:rPr>
              <a:t>命令将</a:t>
            </a:r>
            <a:r>
              <a:rPr lang="en-US" altLang="zh-CN" sz="1000">
                <a:solidFill>
                  <a:schemeClr val="tx1"/>
                </a:solidFill>
              </a:rPr>
              <a:t>esp</a:t>
            </a:r>
            <a:r>
              <a:rPr lang="zh-CN" altLang="en-US" sz="1000">
                <a:solidFill>
                  <a:schemeClr val="tx1"/>
                </a:solidFill>
              </a:rPr>
              <a:t>指向</a:t>
            </a:r>
            <a:r>
              <a:rPr lang="en-US" altLang="zh-CN" sz="1000">
                <a:solidFill>
                  <a:schemeClr val="tx1"/>
                </a:solidFill>
              </a:rPr>
              <a:t>007fffb4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5" name="右箭头 54"/>
          <p:cNvSpPr/>
          <p:nvPr/>
        </p:nvSpPr>
        <p:spPr>
          <a:xfrm>
            <a:off x="4999990" y="2150745"/>
            <a:ext cx="770890" cy="2527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56" name="文本框 55"/>
          <p:cNvSpPr txBox="1"/>
          <p:nvPr/>
        </p:nvSpPr>
        <p:spPr>
          <a:xfrm>
            <a:off x="3912870" y="2138045"/>
            <a:ext cx="12039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esp</a:t>
            </a:r>
            <a:r>
              <a:rPr lang="zh-CN" altLang="en-US" sz="1000">
                <a:sym typeface="+mn-ea"/>
              </a:rPr>
              <a:t>（</a:t>
            </a:r>
            <a:r>
              <a:rPr lang="en-US" altLang="zh-CN" sz="1000">
                <a:sym typeface="+mn-ea"/>
              </a:rPr>
              <a:t>sum</a:t>
            </a:r>
            <a:r>
              <a:rPr lang="zh-CN" altLang="en-US" sz="1000">
                <a:sym typeface="+mn-ea"/>
              </a:rPr>
              <a:t>函数执行时）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58" name="矩形 57"/>
          <p:cNvSpPr/>
          <p:nvPr/>
        </p:nvSpPr>
        <p:spPr>
          <a:xfrm>
            <a:off x="6823710" y="228600"/>
            <a:ext cx="855980" cy="22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main1</a:t>
            </a:r>
            <a:r>
              <a:rPr lang="en-US" altLang="zh-CN" sz="1000"/>
              <a:t>t</a:t>
            </a:r>
            <a:endParaRPr lang="en-US" altLang="zh-CN" sz="1000"/>
          </a:p>
        </p:txBody>
      </p:sp>
      <p:pic>
        <p:nvPicPr>
          <p:cNvPr id="59" name="图片 1"/>
          <p:cNvPicPr>
            <a:picLocks noChangeAspect="1"/>
          </p:cNvPicPr>
          <p:nvPr/>
        </p:nvPicPr>
        <p:blipFill>
          <a:blip r:embed="rId1"/>
          <a:srcRect r="16450"/>
          <a:stretch>
            <a:fillRect/>
          </a:stretch>
        </p:blipFill>
        <p:spPr>
          <a:xfrm>
            <a:off x="157480" y="2242820"/>
            <a:ext cx="3564255" cy="41351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文本框 59"/>
          <p:cNvSpPr txBox="1"/>
          <p:nvPr/>
        </p:nvSpPr>
        <p:spPr>
          <a:xfrm>
            <a:off x="5844540" y="202565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00401000</a:t>
            </a:r>
            <a:endParaRPr lang="en-US" altLang="zh-CN" sz="1000"/>
          </a:p>
        </p:txBody>
      </p:sp>
      <p:sp>
        <p:nvSpPr>
          <p:cNvPr id="61" name="矩形 60"/>
          <p:cNvSpPr/>
          <p:nvPr/>
        </p:nvSpPr>
        <p:spPr>
          <a:xfrm>
            <a:off x="6823710" y="449580"/>
            <a:ext cx="855980" cy="24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sum</a:t>
            </a:r>
            <a:r>
              <a:rPr lang="en-US" altLang="zh-CN" sz="1000"/>
              <a:t>t</a:t>
            </a:r>
            <a:endParaRPr lang="en-US" altLang="zh-CN" sz="1000"/>
          </a:p>
        </p:txBody>
      </p:sp>
      <p:sp>
        <p:nvSpPr>
          <p:cNvPr id="62" name="文本框 61"/>
          <p:cNvSpPr txBox="1"/>
          <p:nvPr/>
        </p:nvSpPr>
        <p:spPr>
          <a:xfrm>
            <a:off x="5821045" y="44958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00401052</a:t>
            </a:r>
            <a:endParaRPr lang="en-US" altLang="zh-CN" sz="1000"/>
          </a:p>
        </p:txBody>
      </p:sp>
      <p:sp>
        <p:nvSpPr>
          <p:cNvPr id="63" name="矩形 62"/>
          <p:cNvSpPr/>
          <p:nvPr/>
        </p:nvSpPr>
        <p:spPr>
          <a:xfrm>
            <a:off x="6823710" y="1018540"/>
            <a:ext cx="855980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version</a:t>
            </a:r>
            <a:r>
              <a:rPr lang="en-US" altLang="zh-CN" sz="1000"/>
              <a:t>t</a:t>
            </a:r>
            <a:endParaRPr lang="en-US" altLang="zh-CN" sz="1000"/>
          </a:p>
        </p:txBody>
      </p:sp>
      <p:sp>
        <p:nvSpPr>
          <p:cNvPr id="64" name="文本框 63"/>
          <p:cNvSpPr txBox="1"/>
          <p:nvPr/>
        </p:nvSpPr>
        <p:spPr>
          <a:xfrm>
            <a:off x="5903595" y="106172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00404000</a:t>
            </a:r>
            <a:endParaRPr lang="en-US" altLang="zh-CN" sz="1000"/>
          </a:p>
        </p:txBody>
      </p:sp>
      <p:sp>
        <p:nvSpPr>
          <p:cNvPr id="65" name="文本框 64"/>
          <p:cNvSpPr txBox="1"/>
          <p:nvPr/>
        </p:nvSpPr>
        <p:spPr>
          <a:xfrm>
            <a:off x="5888355" y="135001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00405000</a:t>
            </a:r>
            <a:endParaRPr lang="en-US" altLang="zh-CN" sz="1000"/>
          </a:p>
        </p:txBody>
      </p:sp>
      <p:sp>
        <p:nvSpPr>
          <p:cNvPr id="66" name="文本框 65"/>
          <p:cNvSpPr txBox="1"/>
          <p:nvPr/>
        </p:nvSpPr>
        <p:spPr>
          <a:xfrm>
            <a:off x="5888355" y="167894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0040500b</a:t>
            </a:r>
            <a:endParaRPr lang="en-US" altLang="zh-CN" sz="1000"/>
          </a:p>
        </p:txBody>
      </p:sp>
      <p:sp>
        <p:nvSpPr>
          <p:cNvPr id="67" name="矩形 66"/>
          <p:cNvSpPr/>
          <p:nvPr/>
        </p:nvSpPr>
        <p:spPr>
          <a:xfrm>
            <a:off x="6823710" y="1306830"/>
            <a:ext cx="855980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“result=”</a:t>
            </a:r>
            <a:endParaRPr lang="en-US" altLang="zh-CN" sz="1000"/>
          </a:p>
        </p:txBody>
      </p:sp>
      <p:sp>
        <p:nvSpPr>
          <p:cNvPr id="68" name="矩形 67"/>
          <p:cNvSpPr/>
          <p:nvPr/>
        </p:nvSpPr>
        <p:spPr>
          <a:xfrm>
            <a:off x="6823710" y="1595120"/>
            <a:ext cx="855980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“the address”</a:t>
            </a:r>
            <a:endParaRPr lang="en-US" altLang="zh-CN" sz="1000"/>
          </a:p>
        </p:txBody>
      </p:sp>
      <p:sp>
        <p:nvSpPr>
          <p:cNvPr id="69" name="矩形 68"/>
          <p:cNvSpPr/>
          <p:nvPr/>
        </p:nvSpPr>
        <p:spPr>
          <a:xfrm>
            <a:off x="6820535" y="694055"/>
            <a:ext cx="855980" cy="24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printf</a:t>
            </a:r>
            <a:r>
              <a:rPr lang="en-US" altLang="zh-CN" sz="1000"/>
              <a:t>t</a:t>
            </a:r>
            <a:endParaRPr lang="en-US" altLang="zh-CN" sz="1000"/>
          </a:p>
        </p:txBody>
      </p:sp>
      <p:sp>
        <p:nvSpPr>
          <p:cNvPr id="70" name="文本框 69"/>
          <p:cNvSpPr txBox="1"/>
          <p:nvPr/>
        </p:nvSpPr>
        <p:spPr>
          <a:xfrm>
            <a:off x="5821045" y="694690"/>
            <a:ext cx="1051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00401070</a:t>
            </a:r>
            <a:endParaRPr lang="en-US" altLang="zh-CN" sz="1000"/>
          </a:p>
        </p:txBody>
      </p:sp>
      <p:pic>
        <p:nvPicPr>
          <p:cNvPr id="2" name="图片 14" descr="5beac14f8e2337f9cd0e7a54a90dd0c3"/>
          <p:cNvPicPr>
            <a:picLocks noChangeAspect="1"/>
          </p:cNvPicPr>
          <p:nvPr/>
        </p:nvPicPr>
        <p:blipFill>
          <a:blip r:embed="rId2"/>
          <a:srcRect t="1850" r="20217" b="43601"/>
          <a:stretch>
            <a:fillRect/>
          </a:stretch>
        </p:blipFill>
        <p:spPr>
          <a:xfrm>
            <a:off x="122873" y="119698"/>
            <a:ext cx="3542665" cy="2059305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>
            <a:off x="5132705" y="1145540"/>
            <a:ext cx="770890" cy="2044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7" name="右箭头 6"/>
          <p:cNvSpPr/>
          <p:nvPr/>
        </p:nvSpPr>
        <p:spPr>
          <a:xfrm>
            <a:off x="5117465" y="1403985"/>
            <a:ext cx="770890" cy="1911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17" name="文本框 16"/>
          <p:cNvSpPr txBox="1"/>
          <p:nvPr/>
        </p:nvSpPr>
        <p:spPr>
          <a:xfrm>
            <a:off x="4584065" y="1403985"/>
            <a:ext cx="501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rdata</a:t>
            </a:r>
            <a:endParaRPr lang="en-US" altLang="zh-CN" sz="1000"/>
          </a:p>
        </p:txBody>
      </p:sp>
      <p:sp>
        <p:nvSpPr>
          <p:cNvPr id="18" name="文本框 17"/>
          <p:cNvSpPr txBox="1"/>
          <p:nvPr/>
        </p:nvSpPr>
        <p:spPr>
          <a:xfrm>
            <a:off x="4584065" y="1145540"/>
            <a:ext cx="501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data</a:t>
            </a:r>
            <a:endParaRPr lang="en-US" altLang="zh-CN" sz="10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WPS 演示</Application>
  <PresentationFormat>宽屏</PresentationFormat>
  <Paragraphs>294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Tony.</cp:lastModifiedBy>
  <cp:revision>160</cp:revision>
  <dcterms:created xsi:type="dcterms:W3CDTF">2019-06-19T02:08:00Z</dcterms:created>
  <dcterms:modified xsi:type="dcterms:W3CDTF">2025-09-28T08:37:04Z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AFFE005189BA40ED996EC989A5CA3B76_11</vt:lpwstr>
  </property>
</Properties>
</file>