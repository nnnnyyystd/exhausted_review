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34"/>
  </p:notesMasterIdLst>
  <p:handoutMasterIdLst>
    <p:handoutMasterId r:id="rId135"/>
  </p:handoutMasterIdLst>
  <p:sldIdLst>
    <p:sldId id="263" r:id="rId2"/>
    <p:sldId id="471" r:id="rId3"/>
    <p:sldId id="473" r:id="rId4"/>
    <p:sldId id="472" r:id="rId5"/>
    <p:sldId id="475" r:id="rId6"/>
    <p:sldId id="476" r:id="rId7"/>
    <p:sldId id="474" r:id="rId8"/>
    <p:sldId id="264" r:id="rId9"/>
    <p:sldId id="419" r:id="rId10"/>
    <p:sldId id="420" r:id="rId11"/>
    <p:sldId id="422" r:id="rId12"/>
    <p:sldId id="421" r:id="rId13"/>
    <p:sldId id="423" r:id="rId14"/>
    <p:sldId id="424" r:id="rId15"/>
    <p:sldId id="428" r:id="rId16"/>
    <p:sldId id="429" r:id="rId17"/>
    <p:sldId id="430" r:id="rId18"/>
    <p:sldId id="432" r:id="rId19"/>
    <p:sldId id="433" r:id="rId20"/>
    <p:sldId id="434" r:id="rId21"/>
    <p:sldId id="435" r:id="rId22"/>
    <p:sldId id="436" r:id="rId23"/>
    <p:sldId id="438" r:id="rId24"/>
    <p:sldId id="439" r:id="rId25"/>
    <p:sldId id="440" r:id="rId26"/>
    <p:sldId id="437" r:id="rId27"/>
    <p:sldId id="441" r:id="rId28"/>
    <p:sldId id="444" r:id="rId29"/>
    <p:sldId id="445" r:id="rId30"/>
    <p:sldId id="443" r:id="rId31"/>
    <p:sldId id="446" r:id="rId32"/>
    <p:sldId id="447" r:id="rId33"/>
    <p:sldId id="448" r:id="rId34"/>
    <p:sldId id="414" r:id="rId35"/>
    <p:sldId id="449" r:id="rId36"/>
    <p:sldId id="452" r:id="rId37"/>
    <p:sldId id="456" r:id="rId38"/>
    <p:sldId id="457" r:id="rId39"/>
    <p:sldId id="459" r:id="rId40"/>
    <p:sldId id="460" r:id="rId41"/>
    <p:sldId id="461" r:id="rId42"/>
    <p:sldId id="462" r:id="rId43"/>
    <p:sldId id="453" r:id="rId44"/>
    <p:sldId id="550" r:id="rId45"/>
    <p:sldId id="554" r:id="rId46"/>
    <p:sldId id="551" r:id="rId47"/>
    <p:sldId id="455" r:id="rId48"/>
    <p:sldId id="555" r:id="rId49"/>
    <p:sldId id="454" r:id="rId50"/>
    <p:sldId id="463" r:id="rId51"/>
    <p:sldId id="464" r:id="rId52"/>
    <p:sldId id="450" r:id="rId53"/>
    <p:sldId id="398" r:id="rId54"/>
    <p:sldId id="465" r:id="rId55"/>
    <p:sldId id="466" r:id="rId56"/>
    <p:sldId id="467" r:id="rId57"/>
    <p:sldId id="468" r:id="rId58"/>
    <p:sldId id="470" r:id="rId59"/>
    <p:sldId id="451" r:id="rId60"/>
    <p:sldId id="415" r:id="rId61"/>
    <p:sldId id="477" r:id="rId62"/>
    <p:sldId id="479" r:id="rId63"/>
    <p:sldId id="482" r:id="rId64"/>
    <p:sldId id="486" r:id="rId65"/>
    <p:sldId id="483" r:id="rId66"/>
    <p:sldId id="484" r:id="rId67"/>
    <p:sldId id="487" r:id="rId68"/>
    <p:sldId id="488" r:id="rId69"/>
    <p:sldId id="489" r:id="rId70"/>
    <p:sldId id="485" r:id="rId71"/>
    <p:sldId id="490" r:id="rId72"/>
    <p:sldId id="491" r:id="rId73"/>
    <p:sldId id="492" r:id="rId74"/>
    <p:sldId id="493" r:id="rId75"/>
    <p:sldId id="480" r:id="rId76"/>
    <p:sldId id="494" r:id="rId77"/>
    <p:sldId id="495" r:id="rId78"/>
    <p:sldId id="556" r:id="rId79"/>
    <p:sldId id="557" r:id="rId80"/>
    <p:sldId id="481" r:id="rId81"/>
    <p:sldId id="547" r:id="rId82"/>
    <p:sldId id="548" r:id="rId83"/>
    <p:sldId id="549" r:id="rId84"/>
    <p:sldId id="416" r:id="rId85"/>
    <p:sldId id="496" r:id="rId86"/>
    <p:sldId id="500" r:id="rId87"/>
    <p:sldId id="501" r:id="rId88"/>
    <p:sldId id="497" r:id="rId89"/>
    <p:sldId id="498" r:id="rId90"/>
    <p:sldId id="503" r:id="rId91"/>
    <p:sldId id="507" r:id="rId92"/>
    <p:sldId id="506" r:id="rId93"/>
    <p:sldId id="545" r:id="rId94"/>
    <p:sldId id="504" r:id="rId95"/>
    <p:sldId id="508" r:id="rId96"/>
    <p:sldId id="509" r:id="rId97"/>
    <p:sldId id="511" r:id="rId98"/>
    <p:sldId id="512" r:id="rId99"/>
    <p:sldId id="510" r:id="rId100"/>
    <p:sldId id="546" r:id="rId101"/>
    <p:sldId id="505" r:id="rId102"/>
    <p:sldId id="515" r:id="rId103"/>
    <p:sldId id="517" r:id="rId104"/>
    <p:sldId id="499" r:id="rId105"/>
    <p:sldId id="518" r:id="rId106"/>
    <p:sldId id="519" r:id="rId107"/>
    <p:sldId id="513" r:id="rId108"/>
    <p:sldId id="514" r:id="rId109"/>
    <p:sldId id="520" r:id="rId110"/>
    <p:sldId id="524" r:id="rId111"/>
    <p:sldId id="526" r:id="rId112"/>
    <p:sldId id="525" r:id="rId113"/>
    <p:sldId id="521" r:id="rId114"/>
    <p:sldId id="527" r:id="rId115"/>
    <p:sldId id="558" r:id="rId116"/>
    <p:sldId id="528" r:id="rId117"/>
    <p:sldId id="522" r:id="rId118"/>
    <p:sldId id="529" r:id="rId119"/>
    <p:sldId id="531" r:id="rId120"/>
    <p:sldId id="523" r:id="rId121"/>
    <p:sldId id="516" r:id="rId122"/>
    <p:sldId id="418" r:id="rId123"/>
    <p:sldId id="412" r:id="rId124"/>
    <p:sldId id="533" r:id="rId125"/>
    <p:sldId id="534" r:id="rId126"/>
    <p:sldId id="535" r:id="rId127"/>
    <p:sldId id="536" r:id="rId128"/>
    <p:sldId id="537" r:id="rId129"/>
    <p:sldId id="543" r:id="rId130"/>
    <p:sldId id="544" r:id="rId131"/>
    <p:sldId id="542" r:id="rId132"/>
    <p:sldId id="541" r:id="rId133"/>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0000"/>
    <a:srgbClr val="FFFF00"/>
    <a:srgbClr val="0000CC"/>
    <a:srgbClr val="080808"/>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89825" autoAdjust="0"/>
  </p:normalViewPr>
  <p:slideViewPr>
    <p:cSldViewPr>
      <p:cViewPr varScale="1">
        <p:scale>
          <a:sx n="103" d="100"/>
          <a:sy n="103" d="100"/>
        </p:scale>
        <p:origin x="-175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77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pPr>
              <a:defRPr/>
            </a:pPr>
            <a:fld id="{672E4855-8E00-44A2-B244-B03A1DBACE3D}" type="slidenum">
              <a:rPr lang="zh-CN" altLang="en-US"/>
              <a:pPr>
                <a:defRPr/>
              </a:pPr>
              <a:t>‹#›</a:t>
            </a:fld>
            <a:endParaRPr lang="en-US" altLang="zh-CN"/>
          </a:p>
        </p:txBody>
      </p:sp>
    </p:spTree>
    <p:extLst>
      <p:ext uri="{BB962C8B-B14F-4D97-AF65-F5344CB8AC3E}">
        <p14:creationId xmlns:p14="http://schemas.microsoft.com/office/powerpoint/2010/main" val="3448108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a:defRPr/>
            </a:pPr>
            <a:endParaRPr lang="en-US" altLang="zh-CN"/>
          </a:p>
        </p:txBody>
      </p:sp>
      <p:sp>
        <p:nvSpPr>
          <p:cNvPr id="133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pPr>
              <a:defRPr/>
            </a:pPr>
            <a:fld id="{BE733070-3F4E-4B8A-BBC5-EC45231CE5EA}" type="slidenum">
              <a:rPr lang="zh-CN" altLang="en-US"/>
              <a:pPr>
                <a:defRPr/>
              </a:pPr>
              <a:t>‹#›</a:t>
            </a:fld>
            <a:endParaRPr lang="en-US" altLang="zh-CN"/>
          </a:p>
        </p:txBody>
      </p:sp>
    </p:spTree>
    <p:extLst>
      <p:ext uri="{BB962C8B-B14F-4D97-AF65-F5344CB8AC3E}">
        <p14:creationId xmlns:p14="http://schemas.microsoft.com/office/powerpoint/2010/main" val="32693600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BAC33413-AEA0-40E7-8D9B-81D300B4726F}" type="slidenum">
              <a:rPr lang="zh-CN" altLang="en-US" smtClean="0"/>
              <a:pPr eaLnBrk="1" hangingPunct="1">
                <a:spcBef>
                  <a:spcPct val="0"/>
                </a:spcBef>
              </a:pPr>
              <a:t>3</a:t>
            </a:fld>
            <a:endParaRPr lang="en-US" altLang="zh-CN" smtClean="0"/>
          </a:p>
        </p:txBody>
      </p:sp>
      <p:sp>
        <p:nvSpPr>
          <p:cNvPr id="134147" name="Rectangle 2"/>
          <p:cNvSpPr>
            <a:spLocks noGrp="1" noRot="1" noChangeAspect="1" noChangeArrowheads="1" noTextEdit="1"/>
          </p:cNvSpPr>
          <p:nvPr>
            <p:ph type="sldImg"/>
          </p:nvPr>
        </p:nvSpPr>
        <p:spPr>
          <a:solidFill>
            <a:srgbClr val="FFFFFF"/>
          </a:solidFill>
          <a:ln/>
        </p:spPr>
      </p:sp>
      <p:sp>
        <p:nvSpPr>
          <p:cNvPr id="13414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682E4BD2-5B01-407F-9BDF-68CAC7F32EFF}" type="slidenum">
              <a:rPr lang="zh-CN" altLang="en-US" smtClean="0"/>
              <a:pPr eaLnBrk="1" hangingPunct="1">
                <a:spcBef>
                  <a:spcPct val="0"/>
                </a:spcBef>
              </a:pPr>
              <a:t>53</a:t>
            </a:fld>
            <a:endParaRPr lang="en-US" altLang="zh-CN" smtClean="0"/>
          </a:p>
        </p:txBody>
      </p:sp>
      <p:sp>
        <p:nvSpPr>
          <p:cNvPr id="135171" name="Rectangle 2"/>
          <p:cNvSpPr>
            <a:spLocks noGrp="1" noRot="1" noChangeAspect="1" noChangeArrowheads="1" noTextEdit="1"/>
          </p:cNvSpPr>
          <p:nvPr>
            <p:ph type="sldImg"/>
          </p:nvPr>
        </p:nvSpPr>
        <p:spPr>
          <a:solidFill>
            <a:srgbClr val="FFFFFF"/>
          </a:solidFill>
          <a:ln/>
        </p:spPr>
      </p:sp>
      <p:sp>
        <p:nvSpPr>
          <p:cNvPr id="13517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25A0A29-004D-4901-B504-992F19BD1FB7}" type="slidenum">
              <a:rPr lang="zh-CN" altLang="en-US" smtClean="0"/>
              <a:pPr eaLnBrk="1" hangingPunct="1">
                <a:spcBef>
                  <a:spcPct val="0"/>
                </a:spcBef>
              </a:pPr>
              <a:t>55</a:t>
            </a:fld>
            <a:endParaRPr lang="en-US" altLang="zh-CN" smtClean="0"/>
          </a:p>
        </p:txBody>
      </p:sp>
      <p:sp>
        <p:nvSpPr>
          <p:cNvPr id="136195" name="Rectangle 2"/>
          <p:cNvSpPr>
            <a:spLocks noGrp="1" noRot="1" noChangeAspect="1" noChangeArrowheads="1" noTextEdit="1"/>
          </p:cNvSpPr>
          <p:nvPr>
            <p:ph type="sldImg"/>
          </p:nvPr>
        </p:nvSpPr>
        <p:spPr>
          <a:solidFill>
            <a:srgbClr val="FFFFFF"/>
          </a:solidFill>
          <a:ln/>
        </p:spPr>
      </p:sp>
      <p:sp>
        <p:nvSpPr>
          <p:cNvPr id="13619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2AA87F3B-6AFD-4E90-B99A-C8C4D9D68E9C}" type="slidenum">
              <a:rPr lang="zh-CN" altLang="en-US" smtClean="0"/>
              <a:pPr eaLnBrk="1" hangingPunct="1">
                <a:spcBef>
                  <a:spcPct val="0"/>
                </a:spcBef>
              </a:pPr>
              <a:t>57</a:t>
            </a:fld>
            <a:endParaRPr lang="en-US" altLang="zh-CN" smtClean="0"/>
          </a:p>
        </p:txBody>
      </p:sp>
      <p:sp>
        <p:nvSpPr>
          <p:cNvPr id="137219" name="Rectangle 2"/>
          <p:cNvSpPr>
            <a:spLocks noGrp="1" noRot="1" noChangeAspect="1" noChangeArrowheads="1" noTextEdit="1"/>
          </p:cNvSpPr>
          <p:nvPr>
            <p:ph type="sldImg"/>
          </p:nvPr>
        </p:nvSpPr>
        <p:spPr>
          <a:solidFill>
            <a:srgbClr val="FFFFFF"/>
          </a:solidFill>
          <a:ln/>
        </p:spPr>
      </p:sp>
      <p:sp>
        <p:nvSpPr>
          <p:cNvPr id="1372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B940E8C4-3304-4BCE-9996-F05D235F2B49}" type="slidenum">
              <a:rPr lang="zh-CN" altLang="en-US" smtClean="0"/>
              <a:pPr eaLnBrk="1" hangingPunct="1">
                <a:spcBef>
                  <a:spcPct val="0"/>
                </a:spcBef>
              </a:pPr>
              <a:t>58</a:t>
            </a:fld>
            <a:endParaRPr lang="en-US" altLang="zh-CN" smtClean="0"/>
          </a:p>
        </p:txBody>
      </p:sp>
      <p:sp>
        <p:nvSpPr>
          <p:cNvPr id="138243" name="Rectangle 2"/>
          <p:cNvSpPr>
            <a:spLocks noGrp="1" noRot="1" noChangeAspect="1" noChangeArrowheads="1" noTextEdit="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733070-3F4E-4B8A-BBC5-EC45231CE5EA}" type="slidenum">
              <a:rPr lang="zh-CN" altLang="en-US" smtClean="0"/>
              <a:pPr>
                <a:defRPr/>
              </a:pPr>
              <a:t>77</a:t>
            </a:fld>
            <a:endParaRPr lang="en-US" altLang="zh-CN"/>
          </a:p>
        </p:txBody>
      </p:sp>
    </p:spTree>
    <p:extLst>
      <p:ext uri="{BB962C8B-B14F-4D97-AF65-F5344CB8AC3E}">
        <p14:creationId xmlns:p14="http://schemas.microsoft.com/office/powerpoint/2010/main" val="1343547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DC315DEE-2036-4534-A04B-6B55A431EB4A}" type="slidenum">
              <a:rPr lang="zh-CN" altLang="en-US" smtClean="0"/>
              <a:pPr eaLnBrk="1" hangingPunct="1">
                <a:spcBef>
                  <a:spcPct val="0"/>
                </a:spcBef>
              </a:pPr>
              <a:t>110</a:t>
            </a:fld>
            <a:endParaRPr lang="en-US" altLang="zh-CN" smtClean="0"/>
          </a:p>
        </p:txBody>
      </p:sp>
      <p:sp>
        <p:nvSpPr>
          <p:cNvPr id="139267" name="Rectangle 2"/>
          <p:cNvSpPr>
            <a:spLocks noGrp="1" noRot="1" noChangeAspect="1" noChangeArrowheads="1" noTextEdit="1"/>
          </p:cNvSpPr>
          <p:nvPr>
            <p:ph type="sldImg"/>
          </p:nvPr>
        </p:nvSpPr>
        <p:spPr>
          <a:solidFill>
            <a:srgbClr val="FFFFFF"/>
          </a:solidFill>
          <a:ln/>
        </p:spPr>
      </p:sp>
      <p:sp>
        <p:nvSpPr>
          <p:cNvPr id="13926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F274DFE8-1EF6-458C-99F2-31B197F262AA}" type="slidenum">
              <a:rPr lang="zh-CN" altLang="en-US" smtClean="0"/>
              <a:pPr eaLnBrk="1" hangingPunct="1">
                <a:spcBef>
                  <a:spcPct val="0"/>
                </a:spcBef>
              </a:pPr>
              <a:t>111</a:t>
            </a:fld>
            <a:endParaRPr lang="en-US" altLang="zh-CN" smtClean="0"/>
          </a:p>
        </p:txBody>
      </p:sp>
      <p:sp>
        <p:nvSpPr>
          <p:cNvPr id="140291" name="Rectangle 2"/>
          <p:cNvSpPr>
            <a:spLocks noGrp="1" noRot="1" noChangeAspect="1" noChangeArrowheads="1" noTextEdit="1"/>
          </p:cNvSpPr>
          <p:nvPr>
            <p:ph type="sldImg"/>
          </p:nvPr>
        </p:nvSpPr>
        <p:spPr>
          <a:solidFill>
            <a:srgbClr val="FFFFFF"/>
          </a:solidFill>
          <a:ln/>
        </p:spPr>
      </p:sp>
      <p:sp>
        <p:nvSpPr>
          <p:cNvPr id="1402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0F276E73-20E1-4210-BD04-8CC052C86700}" type="slidenum">
              <a:rPr lang="zh-CN" altLang="en-US" smtClean="0"/>
              <a:pPr eaLnBrk="1" hangingPunct="1">
                <a:spcBef>
                  <a:spcPct val="0"/>
                </a:spcBef>
              </a:pPr>
              <a:t>129</a:t>
            </a:fld>
            <a:endParaRPr lang="en-US" altLang="zh-CN" smtClean="0"/>
          </a:p>
        </p:txBody>
      </p:sp>
      <p:sp>
        <p:nvSpPr>
          <p:cNvPr id="141315" name="Rectangle 2"/>
          <p:cNvSpPr>
            <a:spLocks noGrp="1" noRot="1" noChangeAspect="1" noChangeArrowheads="1" noTextEdit="1"/>
          </p:cNvSpPr>
          <p:nvPr>
            <p:ph type="sldImg"/>
          </p:nvPr>
        </p:nvSpPr>
        <p:spPr>
          <a:solidFill>
            <a:srgbClr val="FFFFFF"/>
          </a:solidFill>
          <a:ln/>
        </p:spPr>
      </p:sp>
      <p:sp>
        <p:nvSpPr>
          <p:cNvPr id="14131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534C1AB-58B2-4ADC-8BDD-A3AB5190B508}" type="slidenum">
              <a:rPr lang="zh-CN" altLang="en-US" smtClean="0"/>
              <a:pPr eaLnBrk="1" hangingPunct="1">
                <a:spcBef>
                  <a:spcPct val="0"/>
                </a:spcBef>
              </a:pPr>
              <a:t>130</a:t>
            </a:fld>
            <a:endParaRPr lang="en-US" altLang="zh-CN" smtClean="0"/>
          </a:p>
        </p:txBody>
      </p:sp>
      <p:sp>
        <p:nvSpPr>
          <p:cNvPr id="142339" name="Rectangle 2"/>
          <p:cNvSpPr>
            <a:spLocks noGrp="1" noRot="1" noChangeAspect="1" noChangeArrowheads="1" noTextEdit="1"/>
          </p:cNvSpPr>
          <p:nvPr>
            <p:ph type="sldImg"/>
          </p:nvPr>
        </p:nvSpPr>
        <p:spPr>
          <a:solidFill>
            <a:srgbClr val="FFFFFF"/>
          </a:solidFill>
          <a:ln/>
        </p:spPr>
      </p:sp>
      <p:sp>
        <p:nvSpPr>
          <p:cNvPr id="14234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82F2FF49-1E23-4B76-A5F9-5C15E6620187}" type="slidenum">
              <a:rPr lang="zh-CN" altLang="en-US" smtClean="0"/>
              <a:pPr eaLnBrk="1" hangingPunct="1">
                <a:spcBef>
                  <a:spcPct val="0"/>
                </a:spcBef>
              </a:pPr>
              <a:t>131</a:t>
            </a:fld>
            <a:endParaRPr lang="en-US" altLang="zh-CN" smtClean="0"/>
          </a:p>
        </p:txBody>
      </p:sp>
      <p:sp>
        <p:nvSpPr>
          <p:cNvPr id="143363" name="Rectangle 2"/>
          <p:cNvSpPr>
            <a:spLocks noGrp="1" noRot="1" noChangeAspect="1" noChangeArrowheads="1" noTextEdit="1"/>
          </p:cNvSpPr>
          <p:nvPr>
            <p:ph type="sldImg"/>
          </p:nvPr>
        </p:nvSpPr>
        <p:spPr>
          <a:solidFill>
            <a:srgbClr val="FFFFFF"/>
          </a:solidFill>
          <a:ln/>
        </p:spPr>
      </p:sp>
      <p:sp>
        <p:nvSpPr>
          <p:cNvPr id="1433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grpSp>
          <p:nvGrpSpPr>
            <p:cNvPr id="6" name="Group 4"/>
            <p:cNvGrpSpPr>
              <a:grpSpLocks/>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algn="ctr" eaLnBrk="1" hangingPunct="1">
              <a:spcBef>
                <a:spcPct val="0"/>
              </a:spcBef>
              <a:buClrTx/>
              <a:buFontTx/>
              <a:buNone/>
              <a:defRPr/>
            </a:pPr>
            <a:endParaRPr lang="zh-CN" altLang="en-US" sz="2400" smtClean="0"/>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algn="ctr" eaLnBrk="1" hangingPunct="1">
              <a:spcBef>
                <a:spcPct val="0"/>
              </a:spcBef>
              <a:buClrTx/>
              <a:buFontTx/>
              <a:buNone/>
              <a:defRPr/>
            </a:pPr>
            <a:endParaRPr lang="zh-CN" altLang="en-US" sz="2400" smtClean="0"/>
          </a:p>
        </p:txBody>
      </p:sp>
      <p:pic>
        <p:nvPicPr>
          <p:cNvPr id="107" name="Picture 110" descr="hui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kumimoji="0" sz="1400">
                <a:solidFill>
                  <a:schemeClr val="folHlink"/>
                </a:solidFill>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ClrTx/>
              <a:buFontTx/>
              <a:buNone/>
              <a:defRPr kumimoji="0" sz="1400">
                <a:solidFill>
                  <a:schemeClr val="folHlink"/>
                </a:solidFill>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kumimoji="0" sz="1400">
                <a:solidFill>
                  <a:schemeClr val="folHlink"/>
                </a:solidFill>
              </a:defRPr>
            </a:lvl1pPr>
          </a:lstStyle>
          <a:p>
            <a:pPr>
              <a:defRPr/>
            </a:pPr>
            <a:fld id="{9536C1B2-F2CA-4A9D-9CB9-4AFC13AE5A8C}" type="slidenum">
              <a:rPr lang="zh-CN" altLang="en-US"/>
              <a:pPr>
                <a:defRPr/>
              </a:pPr>
              <a:t>‹#›</a:t>
            </a:fld>
            <a:endParaRPr lang="en-US" altLang="zh-CN"/>
          </a:p>
        </p:txBody>
      </p:sp>
    </p:spTree>
    <p:extLst>
      <p:ext uri="{BB962C8B-B14F-4D97-AF65-F5344CB8AC3E}">
        <p14:creationId xmlns:p14="http://schemas.microsoft.com/office/powerpoint/2010/main" val="65329760"/>
      </p:ext>
    </p:extLst>
  </p:cSld>
  <p:clrMapOvr>
    <a:masterClrMapping/>
  </p:clrMapOvr>
  <p:transition spd="slow">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823582480"/>
      </p:ext>
    </p:extLst>
  </p:cSld>
  <p:clrMapOvr>
    <a:masterClrMapping/>
  </p:clrMapOvr>
  <p:transition spd="slow">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329257729"/>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16113"/>
            <a:ext cx="3902075" cy="44656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916113"/>
            <a:ext cx="3903663" cy="44656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44216981"/>
      </p:ext>
    </p:extLst>
  </p:cSld>
  <p:clrMapOvr>
    <a:masterClrMapping/>
  </p:clrMapOvr>
  <p:transition spd="slow">
    <p:random/>
    <p:sndAc>
      <p:stSnd>
        <p:snd r:embed="rId1" name="camera.wav"/>
      </p:stSnd>
    </p:sndAc>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89377749"/>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587920440"/>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870027"/>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578303307"/>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697739663"/>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72149303"/>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905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9055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20679880"/>
      </p:ext>
    </p:extLst>
  </p:cSld>
  <p:clrMapOvr>
    <a:masterClrMapping/>
  </p:clrMapOvr>
  <p:transition spd="slow">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68263"/>
            <a:ext cx="647700" cy="6713537"/>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900113" y="260350"/>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84213" y="404813"/>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484313"/>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03575" y="1628775"/>
            <a:ext cx="5662613"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16113"/>
            <a:ext cx="7958138" cy="446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150938"/>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p>
        </p:txBody>
      </p:sp>
      <p:sp>
        <p:nvSpPr>
          <p:cNvPr id="7281" name="Rectangle 113"/>
          <p:cNvSpPr>
            <a:spLocks noChangeArrowheads="1"/>
          </p:cNvSpPr>
          <p:nvPr userDrawn="1"/>
        </p:nvSpPr>
        <p:spPr bwMode="auto">
          <a:xfrm>
            <a:off x="685800" y="6381750"/>
            <a:ext cx="3165475" cy="46672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chemeClr val="tx2"/>
                </a:solidFill>
                <a:latin typeface="Arial" charset="0"/>
              </a:rPr>
              <a:t>《计算机系统结构教程</a:t>
            </a:r>
            <a:r>
              <a:rPr lang="en-US" altLang="zh-CN" sz="1200" dirty="0" smtClean="0">
                <a:solidFill>
                  <a:schemeClr val="tx2"/>
                </a:solidFill>
                <a:latin typeface="Arial" charset="0"/>
              </a:rPr>
              <a:t>》V3    </a:t>
            </a:r>
            <a:r>
              <a:rPr lang="zh-CN" altLang="en-US" sz="1200" dirty="0" smtClean="0">
                <a:solidFill>
                  <a:schemeClr val="tx2"/>
                </a:solidFill>
                <a:latin typeface="Arial" charset="0"/>
              </a:rPr>
              <a:t>（</a:t>
            </a:r>
            <a:fld id="{012AFB59-6CC0-40D6-A0C6-119BED1F688E}" type="slidenum">
              <a:rPr lang="zh-CN" altLang="en-US" sz="1200" smtClean="0">
                <a:solidFill>
                  <a:schemeClr val="tx2"/>
                </a:solidFill>
                <a:latin typeface="Arial" charset="0"/>
              </a:rPr>
              <a:pPr>
                <a:lnSpc>
                  <a:spcPct val="85000"/>
                </a:lnSpc>
                <a:buClrTx/>
                <a:buFontTx/>
                <a:buNone/>
                <a:defRPr/>
              </a:pPr>
              <a:t>‹#›</a:t>
            </a:fld>
            <a:r>
              <a:rPr lang="en-US" altLang="zh-CN" sz="1200" dirty="0" smtClean="0">
                <a:solidFill>
                  <a:schemeClr val="tx2"/>
                </a:solidFill>
                <a:latin typeface="Arial" charset="0"/>
              </a:rPr>
              <a:t>/132</a:t>
            </a:r>
            <a:r>
              <a:rPr lang="zh-CN" altLang="en-US" sz="1200" dirty="0" smtClean="0">
                <a:solidFill>
                  <a:schemeClr val="tx2"/>
                </a:solidFill>
                <a:latin typeface="Arial" charset="0"/>
              </a:rPr>
              <a:t>）</a:t>
            </a:r>
          </a:p>
          <a:p>
            <a:pPr>
              <a:lnSpc>
                <a:spcPct val="85000"/>
              </a:lnSpc>
              <a:buClrTx/>
              <a:buFontTx/>
              <a:buNone/>
              <a:defRPr/>
            </a:pPr>
            <a:endParaRPr lang="en-US" altLang="zh-CN" sz="1200" dirty="0" smtClean="0">
              <a:solidFill>
                <a:schemeClr val="tx2"/>
              </a:solidFill>
              <a:latin typeface="Arial" charset="0"/>
            </a:endParaRPr>
          </a:p>
        </p:txBody>
      </p:sp>
      <p:sp>
        <p:nvSpPr>
          <p:cNvPr id="7282" name="Rectangle 114"/>
          <p:cNvSpPr>
            <a:spLocks noChangeArrowheads="1"/>
          </p:cNvSpPr>
          <p:nvPr userDrawn="1"/>
        </p:nvSpPr>
        <p:spPr bwMode="auto">
          <a:xfrm>
            <a:off x="6588224" y="6315075"/>
            <a:ext cx="2555776"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chemeClr val="tx2"/>
                </a:solidFill>
              </a:rPr>
              <a:t>同济大学</a:t>
            </a:r>
            <a:r>
              <a:rPr lang="zh-CN" altLang="en-US" sz="1200" dirty="0" smtClean="0">
                <a:solidFill>
                  <a:schemeClr val="tx2"/>
                </a:solidFill>
              </a:rPr>
              <a:t>. 计算机科学</a:t>
            </a:r>
            <a:r>
              <a:rPr lang="zh-CN" altLang="en-US" sz="1200" dirty="0" smtClean="0">
                <a:solidFill>
                  <a:schemeClr val="tx2"/>
                </a:solidFill>
              </a:rPr>
              <a:t>与</a:t>
            </a:r>
            <a:r>
              <a:rPr lang="zh-CN" altLang="en-US" sz="1200" dirty="0" smtClean="0">
                <a:solidFill>
                  <a:schemeClr val="tx2"/>
                </a:solidFill>
              </a:rPr>
              <a:t>技术学院</a:t>
            </a:r>
            <a:endParaRPr lang="zh-CN" altLang="en-US" sz="1200" dirty="0" smtClean="0">
              <a:solidFill>
                <a:schemeClr val="tx2"/>
              </a:solidFill>
            </a:endParaRPr>
          </a:p>
        </p:txBody>
      </p:sp>
      <p:pic>
        <p:nvPicPr>
          <p:cNvPr id="1036" name="Picture 118" descr="tongji"/>
          <p:cNvPicPr>
            <a:picLocks noChangeAspect="1" noChangeArrowheads="1"/>
          </p:cNvPicPr>
          <p:nvPr userDrawn="1"/>
        </p:nvPicPr>
        <p:blipFill>
          <a:blip r:embed="rId15">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380288" y="260350"/>
            <a:ext cx="1223962"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spd="slow">
    <p:random/>
    <p:sndAc>
      <p:stSnd>
        <p:snd r:embed="rId13"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charset="0"/>
          <a:ea typeface="隶书" pitchFamily="49" charset="-122"/>
        </a:defRPr>
      </a:lvl9pPr>
    </p:titleStyle>
    <p:body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22.xml"/><Relationship Id="rId3" Type="http://schemas.openxmlformats.org/officeDocument/2006/relationships/slide" Target="slide2.xml"/><Relationship Id="rId7" Type="http://schemas.openxmlformats.org/officeDocument/2006/relationships/slide" Target="slide84.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0.xml"/><Relationship Id="rId5" Type="http://schemas.openxmlformats.org/officeDocument/2006/relationships/slide" Target="slide34.xml"/><Relationship Id="rId4" Type="http://schemas.openxmlformats.org/officeDocument/2006/relationships/slide" Target="slide8.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2.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slide" Target="slide8.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xml"/></Relationships>
</file>

<file path=ppt/slides/_rels/slide13.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14.xml"/><Relationship Id="rId7"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7.xml"/><Relationship Id="rId5" Type="http://schemas.openxmlformats.org/officeDocument/2006/relationships/slide" Target="slide16.xml"/><Relationship Id="rId4" Type="http://schemas.openxmlformats.org/officeDocument/2006/relationships/slide" Target="slide15.xml"/></Relationships>
</file>

<file path=ppt/slides/_rels/slide14.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audio" Target="../media/audio1.wav"/><Relationship Id="rId7"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slide" Target="slide13.xml"/><Relationship Id="rId5" Type="http://schemas.openxmlformats.org/officeDocument/2006/relationships/slide" Target="slide8.xml"/><Relationship Id="rId4" Type="http://schemas.openxmlformats.org/officeDocument/2006/relationships/slide" Target="slide1.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13.xml"/><Relationship Id="rId4" Type="http://schemas.openxmlformats.org/officeDocument/2006/relationships/slide" Target="slide8.xml"/></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13.xml"/><Relationship Id="rId4" Type="http://schemas.openxmlformats.org/officeDocument/2006/relationships/slide" Target="slide8.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8.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8.xml"/></Relationships>
</file>

<file path=ppt/slides/_rels/slide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2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21.xml"/><Relationship Id="rId4" Type="http://schemas.openxmlformats.org/officeDocument/2006/relationships/slide" Target="slide8.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slide" Target="slide8.xml"/></Relationships>
</file>

<file path=ppt/slides/_rels/slide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slide" Target="slide8.xml"/></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20.xml"/><Relationship Id="rId4" Type="http://schemas.openxmlformats.org/officeDocument/2006/relationships/slide" Target="slide8.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slide" Target="slide8.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image" Target="../media/image12.wmf"/><Relationship Id="rId3" Type="http://schemas.openxmlformats.org/officeDocument/2006/relationships/audio" Target="../media/audio1.wav"/><Relationship Id="rId7" Type="http://schemas.openxmlformats.org/officeDocument/2006/relationships/slide" Target="slide20.xml"/><Relationship Id="rId12"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slide" Target="slide8.xml"/><Relationship Id="rId11" Type="http://schemas.openxmlformats.org/officeDocument/2006/relationships/image" Target="../media/image11.wmf"/><Relationship Id="rId5" Type="http://schemas.openxmlformats.org/officeDocument/2006/relationships/slide" Target="slide1.xml"/><Relationship Id="rId10" Type="http://schemas.openxmlformats.org/officeDocument/2006/relationships/oleObject" Target="../embeddings/oleObject3.bin"/><Relationship Id="rId4" Type="http://schemas.openxmlformats.org/officeDocument/2006/relationships/audio" Target="../media/audio2.wav"/><Relationship Id="rId9" Type="http://schemas.openxmlformats.org/officeDocument/2006/relationships/image" Target="../media/image10.wmf"/></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slide" Target="slide8.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slide" Target="slide8.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slide" Target="slide8.xml"/></Relationships>
</file>

<file path=ppt/slides/_rels/slide2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audio" Target="../media/audio1.wav"/><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slide" Target="slide20.xml"/><Relationship Id="rId5" Type="http://schemas.openxmlformats.org/officeDocument/2006/relationships/slide" Target="slide8.xml"/><Relationship Id="rId4" Type="http://schemas.openxmlformats.org/officeDocument/2006/relationships/slide" Target="slide1.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0.xml"/><Relationship Id="rId4" Type="http://schemas.openxmlformats.org/officeDocument/2006/relationships/slide" Target="slide8.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32.xml"/><Relationship Id="rId4" Type="http://schemas.openxmlformats.org/officeDocument/2006/relationships/slide" Target="slide8.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slide" Target="slide8.xml"/></Relationships>
</file>

<file path=ppt/slides/_rels/slide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slide" Target="slide8.xml"/></Relationships>
</file>

<file path=ppt/slides/_rels/slide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59.xml"/><Relationship Id="rId5" Type="http://schemas.openxmlformats.org/officeDocument/2006/relationships/slide" Target="slide52.xml"/><Relationship Id="rId4" Type="http://schemas.openxmlformats.org/officeDocument/2006/relationships/slide" Target="slide35.xml"/></Relationships>
</file>

<file path=ppt/slides/_rels/slide35.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1.xml"/><Relationship Id="rId7" Type="http://schemas.openxmlformats.org/officeDocument/2006/relationships/slide" Target="slide4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3.xml"/><Relationship Id="rId5" Type="http://schemas.openxmlformats.org/officeDocument/2006/relationships/slide" Target="slide36.xml"/><Relationship Id="rId4" Type="http://schemas.openxmlformats.org/officeDocument/2006/relationships/slide" Target="slide34.xml"/></Relationships>
</file>

<file path=ppt/slides/_rels/slide36.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slide" Target="slide1.xml"/><Relationship Id="rId7" Type="http://schemas.openxmlformats.org/officeDocument/2006/relationships/slide" Target="slide3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7.xml"/><Relationship Id="rId5" Type="http://schemas.openxmlformats.org/officeDocument/2006/relationships/slide" Target="slide35.xml"/><Relationship Id="rId4" Type="http://schemas.openxmlformats.org/officeDocument/2006/relationships/slide" Target="slide34.xml"/></Relationships>
</file>

<file path=ppt/slides/_rels/slide3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slide" Target="slide35.xml"/><Relationship Id="rId4" Type="http://schemas.openxmlformats.org/officeDocument/2006/relationships/slide" Target="slide34.xml"/></Relationships>
</file>

<file path=ppt/slides/_rels/slide38.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 Target="slide39.xml"/><Relationship Id="rId7"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xml"/><Relationship Id="rId5" Type="http://schemas.openxmlformats.org/officeDocument/2006/relationships/slide" Target="slide41.xml"/><Relationship Id="rId4" Type="http://schemas.openxmlformats.org/officeDocument/2006/relationships/slide" Target="slide40.xml"/><Relationship Id="rId9" Type="http://schemas.openxmlformats.org/officeDocument/2006/relationships/slide" Target="slide36.xml"/></Relationships>
</file>

<file path=ppt/slides/_rels/slide3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38.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36.xml"/><Relationship Id="rId5" Type="http://schemas.openxmlformats.org/officeDocument/2006/relationships/slide" Target="slide35.xml"/><Relationship Id="rId4" Type="http://schemas.openxmlformats.org/officeDocument/2006/relationships/slide" Target="slide34.xml"/></Relationships>
</file>

<file path=ppt/slides/_rels/slide40.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38.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36.xml"/><Relationship Id="rId5" Type="http://schemas.openxmlformats.org/officeDocument/2006/relationships/slide" Target="slide35.xml"/><Relationship Id="rId4" Type="http://schemas.openxmlformats.org/officeDocument/2006/relationships/slide" Target="slide34.xml"/></Relationships>
</file>

<file path=ppt/slides/_rels/slide4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38.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36.xml"/><Relationship Id="rId5" Type="http://schemas.openxmlformats.org/officeDocument/2006/relationships/slide" Target="slide35.xml"/><Relationship Id="rId4" Type="http://schemas.openxmlformats.org/officeDocument/2006/relationships/slide" Target="slide34.xml"/></Relationships>
</file>

<file path=ppt/slides/_rels/slide4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slide" Target="slide35.xml"/><Relationship Id="rId4" Type="http://schemas.openxmlformats.org/officeDocument/2006/relationships/slide" Target="slide34.xml"/></Relationships>
</file>

<file path=ppt/slides/_rels/slide4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1.xml"/><Relationship Id="rId7" Type="http://schemas.openxmlformats.org/officeDocument/2006/relationships/slide" Target="slide4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4.xml"/><Relationship Id="rId5" Type="http://schemas.openxmlformats.org/officeDocument/2006/relationships/slide" Target="slide35.xml"/><Relationship Id="rId4" Type="http://schemas.openxmlformats.org/officeDocument/2006/relationships/slide" Target="slide34.xml"/></Relationships>
</file>

<file path=ppt/slides/_rels/slide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3.xml"/><Relationship Id="rId5" Type="http://schemas.openxmlformats.org/officeDocument/2006/relationships/slide" Target="slide35.xml"/><Relationship Id="rId4" Type="http://schemas.openxmlformats.org/officeDocument/2006/relationships/slide" Target="slide34.xml"/></Relationships>
</file>

<file path=ppt/slides/_rels/slide4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3.xml"/><Relationship Id="rId5" Type="http://schemas.openxmlformats.org/officeDocument/2006/relationships/slide" Target="slide35.xml"/><Relationship Id="rId4" Type="http://schemas.openxmlformats.org/officeDocument/2006/relationships/slide" Target="slide34.xml"/></Relationships>
</file>

<file path=ppt/slides/_rels/slide4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3.xml"/><Relationship Id="rId5" Type="http://schemas.openxmlformats.org/officeDocument/2006/relationships/slide" Target="slide35.xml"/><Relationship Id="rId4" Type="http://schemas.openxmlformats.org/officeDocument/2006/relationships/slide" Target="slide34.xml"/></Relationships>
</file>

<file path=ppt/slides/_rels/slide4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0.xml"/><Relationship Id="rId5" Type="http://schemas.openxmlformats.org/officeDocument/2006/relationships/slide" Target="slide35.xml"/><Relationship Id="rId4" Type="http://schemas.openxmlformats.org/officeDocument/2006/relationships/slide" Target="slide34.xml"/></Relationships>
</file>

<file path=ppt/slides/_rels/slide5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9.xml"/><Relationship Id="rId5" Type="http://schemas.openxmlformats.org/officeDocument/2006/relationships/slide" Target="slide35.xml"/><Relationship Id="rId4" Type="http://schemas.openxmlformats.org/officeDocument/2006/relationships/slide" Target="slide34.xml"/></Relationships>
</file>

<file path=ppt/slides/_rels/slide5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49.xml"/><Relationship Id="rId5" Type="http://schemas.openxmlformats.org/officeDocument/2006/relationships/slide" Target="slide35.xml"/><Relationship Id="rId4" Type="http://schemas.openxmlformats.org/officeDocument/2006/relationships/slide" Target="slide34.xml"/></Relationships>
</file>

<file path=ppt/slides/_rels/slide52.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53.xml"/><Relationship Id="rId4" Type="http://schemas.openxmlformats.org/officeDocument/2006/relationships/slide" Target="slide34.xml"/></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slide" Target="slide52.xml"/></Relationships>
</file>

<file path=ppt/slides/_rels/slide5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5.xml"/><Relationship Id="rId5" Type="http://schemas.openxmlformats.org/officeDocument/2006/relationships/slide" Target="slide52.xml"/><Relationship Id="rId4" Type="http://schemas.openxmlformats.org/officeDocument/2006/relationships/slide" Target="slide34.xml"/></Relationships>
</file>

<file path=ppt/slides/_rels/slide5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54.xml"/><Relationship Id="rId4" Type="http://schemas.openxmlformats.org/officeDocument/2006/relationships/image" Target="../media/image15.jpeg"/></Relationships>
</file>

<file path=ppt/slides/_rels/slide56.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52.xml"/><Relationship Id="rId4" Type="http://schemas.openxmlformats.org/officeDocument/2006/relationships/slide" Target="slide34.xml"/></Relationships>
</file>

<file path=ppt/slides/_rels/slide5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slide" Target="slide56.xml"/></Relationships>
</file>

<file path=ppt/slides/_rels/slide5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slide" Target="slide56.xml"/></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4.xml"/></Relationships>
</file>

<file path=ppt/slides/_rels/slide60.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8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62.xml"/><Relationship Id="rId4" Type="http://schemas.openxmlformats.org/officeDocument/2006/relationships/slide" Target="slide61.xml"/></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60.xml"/></Relationships>
</file>

<file path=ppt/slides/_rels/slide62.xml.rels><?xml version="1.0" encoding="UTF-8" standalone="yes"?>
<Relationships xmlns="http://schemas.openxmlformats.org/package/2006/relationships"><Relationship Id="rId8" Type="http://schemas.openxmlformats.org/officeDocument/2006/relationships/slide" Target="slide70.xml"/><Relationship Id="rId3" Type="http://schemas.openxmlformats.org/officeDocument/2006/relationships/slide" Target="slide1.xml"/><Relationship Id="rId7" Type="http://schemas.openxmlformats.org/officeDocument/2006/relationships/slide" Target="slide6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5.xml"/><Relationship Id="rId5" Type="http://schemas.openxmlformats.org/officeDocument/2006/relationships/slide" Target="slide63.xml"/><Relationship Id="rId4" Type="http://schemas.openxmlformats.org/officeDocument/2006/relationships/slide" Target="slide60.xml"/></Relationships>
</file>

<file path=ppt/slides/_rels/slide63.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audio" Target="../media/audio1.wav"/><Relationship Id="rId7" Type="http://schemas.openxmlformats.org/officeDocument/2006/relationships/oleObject" Target="../embeddings/oleObject6.bin"/><Relationship Id="rId12" Type="http://schemas.openxmlformats.org/officeDocument/2006/relationships/image" Target="../media/image20.wmf"/><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slide" Target="slide62.xml"/><Relationship Id="rId11" Type="http://schemas.openxmlformats.org/officeDocument/2006/relationships/oleObject" Target="../embeddings/oleObject8.bin"/><Relationship Id="rId5" Type="http://schemas.openxmlformats.org/officeDocument/2006/relationships/slide" Target="slide60.xml"/><Relationship Id="rId10" Type="http://schemas.openxmlformats.org/officeDocument/2006/relationships/image" Target="../media/image19.wmf"/><Relationship Id="rId4" Type="http://schemas.openxmlformats.org/officeDocument/2006/relationships/slide" Target="slide1.xml"/><Relationship Id="rId9" Type="http://schemas.openxmlformats.org/officeDocument/2006/relationships/oleObject" Target="../embeddings/oleObject7.bin"/></Relationships>
</file>

<file path=ppt/slides/_rels/slide6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6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6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6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6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6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7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7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7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7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7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slide" Target="slide60.xml"/></Relationships>
</file>

<file path=ppt/slides/_rels/slide7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77.xml"/><Relationship Id="rId5" Type="http://schemas.openxmlformats.org/officeDocument/2006/relationships/slide" Target="slide76.xml"/><Relationship Id="rId4" Type="http://schemas.openxmlformats.org/officeDocument/2006/relationships/slide" Target="slide60.xml"/></Relationships>
</file>

<file path=ppt/slides/_rels/slide7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5.xml"/><Relationship Id="rId4" Type="http://schemas.openxmlformats.org/officeDocument/2006/relationships/slide" Target="slide60.xml"/></Relationships>
</file>

<file path=ppt/slides/_rels/slide7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75.xml"/><Relationship Id="rId5" Type="http://schemas.openxmlformats.org/officeDocument/2006/relationships/slide" Target="slide60.xml"/><Relationship Id="rId4" Type="http://schemas.openxmlformats.org/officeDocument/2006/relationships/slide" Target="slide1.xml"/></Relationships>
</file>

<file path=ppt/slides/_rels/slide7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5.xml"/><Relationship Id="rId4" Type="http://schemas.openxmlformats.org/officeDocument/2006/relationships/slide" Target="slide60.xml"/></Relationships>
</file>

<file path=ppt/slides/_rels/slide7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75.xml"/><Relationship Id="rId4" Type="http://schemas.openxmlformats.org/officeDocument/2006/relationships/slide" Target="slide60.xml"/></Relationships>
</file>

<file path=ppt/slides/_rels/slide8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60.xml"/></Relationships>
</file>

<file path=ppt/slides/_rels/slide81.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slide" Target="slide60.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slide" Target="slide1.xml"/><Relationship Id="rId5" Type="http://schemas.openxmlformats.org/officeDocument/2006/relationships/image" Target="../media/image21.wmf"/><Relationship Id="rId4" Type="http://schemas.openxmlformats.org/officeDocument/2006/relationships/oleObject" Target="../embeddings/oleObject9.bin"/></Relationships>
</file>

<file path=ppt/slides/_rels/slide82.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slide" Target="slide60.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slide" Target="slide1.xml"/><Relationship Id="rId5" Type="http://schemas.openxmlformats.org/officeDocument/2006/relationships/image" Target="../media/image22.wmf"/><Relationship Id="rId4" Type="http://schemas.openxmlformats.org/officeDocument/2006/relationships/oleObject" Target="../embeddings/oleObject10.bin"/></Relationships>
</file>

<file path=ppt/slides/_rels/slide83.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slide" Target="slide60.xml"/><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1.xml"/><Relationship Id="rId5" Type="http://schemas.openxmlformats.org/officeDocument/2006/relationships/image" Target="../media/image23.wmf"/><Relationship Id="rId4" Type="http://schemas.openxmlformats.org/officeDocument/2006/relationships/oleObject" Target="../embeddings/oleObject11.bin"/></Relationships>
</file>

<file path=ppt/slides/_rels/slide84.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9.xml"/><Relationship Id="rId5" Type="http://schemas.openxmlformats.org/officeDocument/2006/relationships/slide" Target="slide88.xml"/><Relationship Id="rId4" Type="http://schemas.openxmlformats.org/officeDocument/2006/relationships/slide" Target="slide85.xml"/></Relationships>
</file>

<file path=ppt/slides/_rels/slide8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4.xml"/></Relationships>
</file>

<file path=ppt/slides/_rels/slide8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24.wmf"/><Relationship Id="rId4" Type="http://schemas.openxmlformats.org/officeDocument/2006/relationships/slide" Target="slide84.xml"/></Relationships>
</file>

<file path=ppt/slides/_rels/slide8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6.xml"/><Relationship Id="rId4" Type="http://schemas.openxmlformats.org/officeDocument/2006/relationships/slide" Target="slide84.xml"/></Relationships>
</file>

<file path=ppt/slides/_rels/slide8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84.xml"/></Relationships>
</file>

<file path=ppt/slides/_rels/slide8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0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slide" Target="slide90.xml"/><Relationship Id="rId4" Type="http://schemas.openxmlformats.org/officeDocument/2006/relationships/slide" Target="slide84.xml"/></Relationships>
</file>

<file path=ppt/slides/_rels/slide9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4.xml"/></Relationships>
</file>

<file path=ppt/slides/_rels/slide9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4.xml"/></Relationships>
</file>

<file path=ppt/slides/_rels/slide9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4.xml"/></Relationships>
</file>

<file path=ppt/slides/_rels/slide9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slide" Target="slide89.xml"/><Relationship Id="rId4" Type="http://schemas.openxmlformats.org/officeDocument/2006/relationships/slide" Target="slide84.xml"/></Relationships>
</file>

<file path=ppt/slides/_rels/slide94.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9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5.xml"/><Relationship Id="rId5" Type="http://schemas.openxmlformats.org/officeDocument/2006/relationships/slide" Target="slide89.xml"/><Relationship Id="rId4" Type="http://schemas.openxmlformats.org/officeDocument/2006/relationships/slide" Target="slide84.xml"/></Relationships>
</file>

<file path=ppt/slides/_rels/slide9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slide" Target="slide89.xml"/><Relationship Id="rId4" Type="http://schemas.openxmlformats.org/officeDocument/2006/relationships/slide" Target="slide84.xml"/></Relationships>
</file>

<file path=ppt/slides/_rels/slide96.xml.rels><?xml version="1.0" encoding="UTF-8" standalone="yes"?>
<Relationships xmlns="http://schemas.openxmlformats.org/package/2006/relationships"><Relationship Id="rId8" Type="http://schemas.openxmlformats.org/officeDocument/2006/relationships/slide" Target="slide98.xml"/><Relationship Id="rId3" Type="http://schemas.openxmlformats.org/officeDocument/2006/relationships/slide" Target="slide1.xml"/><Relationship Id="rId7" Type="http://schemas.openxmlformats.org/officeDocument/2006/relationships/slide" Target="slide9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slide" Target="slide89.xml"/><Relationship Id="rId4" Type="http://schemas.openxmlformats.org/officeDocument/2006/relationships/slide" Target="slide84.xml"/></Relationships>
</file>

<file path=ppt/slides/_rels/slide97.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9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slide" Target="slide89.xml"/><Relationship Id="rId4" Type="http://schemas.openxmlformats.org/officeDocument/2006/relationships/slide" Target="slide84.xml"/></Relationships>
</file>

<file path=ppt/slides/_rels/slide98.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9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slide" Target="slide89.xml"/><Relationship Id="rId4" Type="http://schemas.openxmlformats.org/officeDocument/2006/relationships/slide" Target="slide84.xml"/></Relationships>
</file>

<file path=ppt/slides/_rels/slide9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4.xml"/><Relationship Id="rId5" Type="http://schemas.openxmlformats.org/officeDocument/2006/relationships/slide" Target="slide89.xml"/><Relationship Id="rId4" Type="http://schemas.openxmlformats.org/officeDocument/2006/relationships/slide" Target="slide84.xml"/></Relationships>
</file>

<file path=ppt/slides/_rels/slide10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4.xml"/></Relationships>
</file>

<file path=ppt/slides/_rels/slide10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slide" Target="slide84.xml"/></Relationships>
</file>

<file path=ppt/slides/_rels/slide102.xml.rels><?xml version="1.0" encoding="UTF-8" standalone="yes"?>
<Relationships xmlns="http://schemas.openxmlformats.org/package/2006/relationships"><Relationship Id="rId8" Type="http://schemas.openxmlformats.org/officeDocument/2006/relationships/slide" Target="slide108.xml"/><Relationship Id="rId3" Type="http://schemas.openxmlformats.org/officeDocument/2006/relationships/slide" Target="slide1.xml"/><Relationship Id="rId7" Type="http://schemas.openxmlformats.org/officeDocument/2006/relationships/slide" Target="slide10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4.xml"/><Relationship Id="rId5" Type="http://schemas.openxmlformats.org/officeDocument/2006/relationships/slide" Target="slide103.xml"/><Relationship Id="rId4" Type="http://schemas.openxmlformats.org/officeDocument/2006/relationships/slide" Target="slide84.xml"/><Relationship Id="rId9" Type="http://schemas.openxmlformats.org/officeDocument/2006/relationships/slide" Target="slide121.xml"/></Relationships>
</file>

<file path=ppt/slides/_rels/slide10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02.xml"/><Relationship Id="rId4" Type="http://schemas.openxmlformats.org/officeDocument/2006/relationships/slide" Target="slide84.xml"/></Relationships>
</file>

<file path=ppt/slides/_rels/slide104.xml.rels><?xml version="1.0" encoding="UTF-8" standalone="yes"?>
<Relationships xmlns="http://schemas.openxmlformats.org/package/2006/relationships"><Relationship Id="rId8" Type="http://schemas.openxmlformats.org/officeDocument/2006/relationships/slide" Target="slide106.xml"/><Relationship Id="rId3" Type="http://schemas.openxmlformats.org/officeDocument/2006/relationships/audio" Target="../media/audio2.wav"/><Relationship Id="rId7" Type="http://schemas.openxmlformats.org/officeDocument/2006/relationships/slide" Target="slide10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2.xml"/><Relationship Id="rId5" Type="http://schemas.openxmlformats.org/officeDocument/2006/relationships/slide" Target="slide84.xml"/><Relationship Id="rId4" Type="http://schemas.openxmlformats.org/officeDocument/2006/relationships/slide" Target="slide1.xml"/><Relationship Id="rId9" Type="http://schemas.openxmlformats.org/officeDocument/2006/relationships/image" Target="../media/image26.wmf"/></Relationships>
</file>

<file path=ppt/slides/_rels/slide10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4.xml"/><Relationship Id="rId5" Type="http://schemas.openxmlformats.org/officeDocument/2006/relationships/slide" Target="slide102.xml"/><Relationship Id="rId4" Type="http://schemas.openxmlformats.org/officeDocument/2006/relationships/slide" Target="slide84.xml"/></Relationships>
</file>

<file path=ppt/slides/_rels/slide10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4.xml"/><Relationship Id="rId5" Type="http://schemas.openxmlformats.org/officeDocument/2006/relationships/slide" Target="slide102.xml"/><Relationship Id="rId4" Type="http://schemas.openxmlformats.org/officeDocument/2006/relationships/slide" Target="slide84.xml"/></Relationships>
</file>

<file path=ppt/slides/_rels/slide107.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26.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2.xml"/><Relationship Id="rId5" Type="http://schemas.openxmlformats.org/officeDocument/2006/relationships/slide" Target="slide84.xml"/><Relationship Id="rId4" Type="http://schemas.openxmlformats.org/officeDocument/2006/relationships/slide" Target="slide1.xml"/></Relationships>
</file>

<file path=ppt/slides/_rels/slide108.xml.rels><?xml version="1.0" encoding="UTF-8" standalone="yes"?>
<Relationships xmlns="http://schemas.openxmlformats.org/package/2006/relationships"><Relationship Id="rId8" Type="http://schemas.openxmlformats.org/officeDocument/2006/relationships/slide" Target="slide117.xml"/><Relationship Id="rId3" Type="http://schemas.openxmlformats.org/officeDocument/2006/relationships/slide" Target="slide1.xml"/><Relationship Id="rId7" Type="http://schemas.openxmlformats.org/officeDocument/2006/relationships/slide" Target="slide11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9.xml"/><Relationship Id="rId5" Type="http://schemas.openxmlformats.org/officeDocument/2006/relationships/slide" Target="slide102.xml"/><Relationship Id="rId4" Type="http://schemas.openxmlformats.org/officeDocument/2006/relationships/slide" Target="slide84.xml"/><Relationship Id="rId9" Type="http://schemas.openxmlformats.org/officeDocument/2006/relationships/slide" Target="slide120.xml"/></Relationships>
</file>

<file path=ppt/slides/_rels/slide10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11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2.xml"/><Relationship Id="rId4" Type="http://schemas.openxmlformats.org/officeDocument/2006/relationships/slide" Target="slide84.xml"/></Relationships>
</file>

<file path=ppt/slides/_rels/slide1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2.xml"/><Relationship Id="rId4" Type="http://schemas.openxmlformats.org/officeDocument/2006/relationships/slide" Target="slide84.xml"/></Relationships>
</file>

<file path=ppt/slides/_rels/slide11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2.xml"/><Relationship Id="rId4" Type="http://schemas.openxmlformats.org/officeDocument/2006/relationships/slide" Target="slide84.xml"/></Relationships>
</file>

<file path=ppt/slides/_rels/slide114.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audio" Target="../media/audio2.wav"/><Relationship Id="rId7" Type="http://schemas.openxmlformats.org/officeDocument/2006/relationships/slide" Target="slide10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2.xml"/><Relationship Id="rId5" Type="http://schemas.openxmlformats.org/officeDocument/2006/relationships/slide" Target="slide84.xml"/><Relationship Id="rId4" Type="http://schemas.openxmlformats.org/officeDocument/2006/relationships/slide" Target="slide1.xml"/></Relationships>
</file>

<file path=ppt/slides/_rels/slide1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2.xml"/><Relationship Id="rId4" Type="http://schemas.openxmlformats.org/officeDocument/2006/relationships/slide" Target="slide84.xml"/></Relationships>
</file>

<file path=ppt/slides/_rels/slide1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2.xml"/><Relationship Id="rId4" Type="http://schemas.openxmlformats.org/officeDocument/2006/relationships/slide" Target="slide84.xml"/></Relationships>
</file>

<file path=ppt/slides/_rels/slide1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2.xml"/><Relationship Id="rId4" Type="http://schemas.openxmlformats.org/officeDocument/2006/relationships/slide" Target="slide84.xml"/></Relationships>
</file>

<file path=ppt/slides/_rels/slide1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2.xml"/><Relationship Id="rId4" Type="http://schemas.openxmlformats.org/officeDocument/2006/relationships/slide" Target="slide84.xml"/></Relationships>
</file>

<file path=ppt/slides/_rels/slide1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02.xml"/><Relationship Id="rId4" Type="http://schemas.openxmlformats.org/officeDocument/2006/relationships/slide" Target="slide84.xml"/></Relationships>
</file>

<file path=ppt/slides/_rels/slide120.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audio" Target="../media/audio2.wav"/><Relationship Id="rId7" Type="http://schemas.openxmlformats.org/officeDocument/2006/relationships/slide" Target="slide10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2.xml"/><Relationship Id="rId5" Type="http://schemas.openxmlformats.org/officeDocument/2006/relationships/slide" Target="slide84.xml"/><Relationship Id="rId4" Type="http://schemas.openxmlformats.org/officeDocument/2006/relationships/slide" Target="slide1.xml"/></Relationships>
</file>

<file path=ppt/slides/_rels/slide1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4.xml"/><Relationship Id="rId5" Type="http://schemas.openxmlformats.org/officeDocument/2006/relationships/slide" Target="slide102.xml"/><Relationship Id="rId4" Type="http://schemas.openxmlformats.org/officeDocument/2006/relationships/slide" Target="slide84.xml"/></Relationships>
</file>

<file path=ppt/slides/_rels/slide122.xml.rels><?xml version="1.0" encoding="UTF-8" standalone="yes"?>
<Relationships xmlns="http://schemas.openxmlformats.org/package/2006/relationships"><Relationship Id="rId8" Type="http://schemas.openxmlformats.org/officeDocument/2006/relationships/slide" Target="slide128.xml"/><Relationship Id="rId3" Type="http://schemas.openxmlformats.org/officeDocument/2006/relationships/slide" Target="slide123.xml"/><Relationship Id="rId7" Type="http://schemas.openxmlformats.org/officeDocument/2006/relationships/slide" Target="slide127.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24.xml"/><Relationship Id="rId9" Type="http://schemas.openxmlformats.org/officeDocument/2006/relationships/slide" Target="slide1.xml"/></Relationships>
</file>

<file path=ppt/slides/_rels/slide12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slide" Target="slide122.xml"/><Relationship Id="rId4" Type="http://schemas.openxmlformats.org/officeDocument/2006/relationships/slide" Target="slide1.xml"/></Relationships>
</file>

<file path=ppt/slides/_rels/slide1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2.xml"/></Relationships>
</file>

<file path=ppt/slides/_rels/slide1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22.xml"/></Relationships>
</file>

<file path=ppt/slides/_rels/slide1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slide" Target="slide122.xml"/></Relationships>
</file>

<file path=ppt/slides/_rels/slide1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slide" Target="slide122.xml"/></Relationships>
</file>

<file path=ppt/slides/_rels/slide128.xml.rels><?xml version="1.0" encoding="UTF-8" standalone="yes"?>
<Relationships xmlns="http://schemas.openxmlformats.org/package/2006/relationships"><Relationship Id="rId8" Type="http://schemas.openxmlformats.org/officeDocument/2006/relationships/slide" Target="slide132.xml"/><Relationship Id="rId3" Type="http://schemas.openxmlformats.org/officeDocument/2006/relationships/slide" Target="slide1.xml"/><Relationship Id="rId7" Type="http://schemas.openxmlformats.org/officeDocument/2006/relationships/slide" Target="slide1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30.xml"/><Relationship Id="rId5" Type="http://schemas.openxmlformats.org/officeDocument/2006/relationships/slide" Target="slide129.xml"/><Relationship Id="rId4" Type="http://schemas.openxmlformats.org/officeDocument/2006/relationships/slide" Target="slide122.xml"/></Relationships>
</file>

<file path=ppt/slides/_rels/slide1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image" Target="../media/image30.png"/><Relationship Id="rId4" Type="http://schemas.openxmlformats.org/officeDocument/2006/relationships/slide" Target="slide128.xml"/></Relationships>
</file>

<file path=ppt/slides/_rels/slide1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image" Target="../media/image31.png"/><Relationship Id="rId4" Type="http://schemas.openxmlformats.org/officeDocument/2006/relationships/slide" Target="slide128.xml"/></Relationships>
</file>

<file path=ppt/slides/_rels/slide1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slide" Target="slide128.xml"/><Relationship Id="rId4" Type="http://schemas.openxmlformats.org/officeDocument/2006/relationships/image" Target="../media/image32.png"/></Relationships>
</file>

<file path=ppt/slides/_rels/slide1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28.xml"/><Relationship Id="rId4" Type="http://schemas.openxmlformats.org/officeDocument/2006/relationships/slide" Target="slide1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itchFamily="2" charset="-122"/>
              </a:rPr>
              <a:t>指令系统</a:t>
            </a:r>
            <a:endParaRPr lang="zh-CN" altLang="en-US" smtClean="0"/>
          </a:p>
        </p:txBody>
      </p:sp>
      <p:sp>
        <p:nvSpPr>
          <p:cNvPr id="3075" name="Rectangle 7"/>
          <p:cNvSpPr>
            <a:spLocks noGrp="1" noChangeArrowheads="1"/>
          </p:cNvSpPr>
          <p:nvPr>
            <p:ph type="body" idx="1"/>
          </p:nvPr>
        </p:nvSpPr>
        <p:spPr>
          <a:xfrm>
            <a:off x="1908175" y="2060575"/>
            <a:ext cx="5162550" cy="4248150"/>
          </a:xfrm>
        </p:spPr>
        <p:txBody>
          <a:bodyPr/>
          <a:lstStyle/>
          <a:p>
            <a:pPr eaLnBrk="1" hangingPunct="1">
              <a:lnSpc>
                <a:spcPct val="120000"/>
              </a:lnSpc>
            </a:pPr>
            <a:r>
              <a:rPr lang="zh-CN" altLang="en-US" dirty="0" smtClean="0">
                <a:hlinkClick r:id="rId3" action="ppaction://hlinksldjump"/>
              </a:rPr>
              <a:t>指令系统的分类</a:t>
            </a:r>
            <a:endParaRPr lang="zh-CN" altLang="en-US" dirty="0" smtClean="0"/>
          </a:p>
          <a:p>
            <a:pPr eaLnBrk="1" hangingPunct="1">
              <a:lnSpc>
                <a:spcPct val="120000"/>
              </a:lnSpc>
            </a:pPr>
            <a:r>
              <a:rPr lang="zh-CN" altLang="en-US" dirty="0" smtClean="0">
                <a:hlinkClick r:id="rId4" action="ppaction://hlinksldjump"/>
              </a:rPr>
              <a:t>数据表示</a:t>
            </a:r>
            <a:endParaRPr lang="zh-CN" altLang="en-US" dirty="0" smtClean="0"/>
          </a:p>
          <a:p>
            <a:pPr eaLnBrk="1" hangingPunct="1">
              <a:lnSpc>
                <a:spcPct val="120000"/>
              </a:lnSpc>
            </a:pPr>
            <a:r>
              <a:rPr lang="zh-CN" altLang="en-US" dirty="0" smtClean="0">
                <a:hlinkClick r:id="rId5" action="ppaction://hlinksldjump"/>
              </a:rPr>
              <a:t>寻址技术</a:t>
            </a:r>
            <a:endParaRPr lang="zh-CN" altLang="en-US" dirty="0" smtClean="0"/>
          </a:p>
          <a:p>
            <a:pPr eaLnBrk="1" hangingPunct="1">
              <a:lnSpc>
                <a:spcPct val="120000"/>
              </a:lnSpc>
            </a:pPr>
            <a:r>
              <a:rPr lang="zh-CN" altLang="en-US" dirty="0" smtClean="0">
                <a:hlinkClick r:id="rId6" action="ppaction://hlinksldjump"/>
              </a:rPr>
              <a:t>指令格式的优化设计</a:t>
            </a:r>
            <a:endParaRPr lang="zh-CN" altLang="en-US" dirty="0" smtClean="0"/>
          </a:p>
          <a:p>
            <a:pPr eaLnBrk="1" hangingPunct="1">
              <a:lnSpc>
                <a:spcPct val="120000"/>
              </a:lnSpc>
            </a:pPr>
            <a:r>
              <a:rPr lang="zh-CN" altLang="en-US" dirty="0" smtClean="0">
                <a:hlinkClick r:id="rId7" action="ppaction://hlinksldjump"/>
              </a:rPr>
              <a:t>指令系统的功能设计</a:t>
            </a:r>
            <a:endParaRPr lang="en-US" altLang="zh-CN" dirty="0" smtClean="0"/>
          </a:p>
          <a:p>
            <a:pPr eaLnBrk="1" hangingPunct="1">
              <a:lnSpc>
                <a:spcPct val="120000"/>
              </a:lnSpc>
            </a:pPr>
            <a:r>
              <a:rPr lang="zh-CN" altLang="en-US" dirty="0" smtClean="0">
                <a:hlinkClick r:id="rId8" action="ppaction://hlinksldjump"/>
              </a:rPr>
              <a:t>综合实例：</a:t>
            </a:r>
            <a:r>
              <a:rPr lang="en-US" altLang="zh-CN" dirty="0" smtClean="0">
                <a:hlinkClick r:id="rId8" action="ppaction://hlinksldjump"/>
              </a:rPr>
              <a:t>MIPS</a:t>
            </a:r>
            <a:r>
              <a:rPr lang="zh-CN" altLang="en-US" dirty="0" smtClean="0">
                <a:hlinkClick r:id="rId8" action="ppaction://hlinksldjump"/>
              </a:rPr>
              <a:t>指令集</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pPr eaLnBrk="1" hangingPunct="1">
              <a:defRPr/>
            </a:pPr>
            <a:r>
              <a:rPr lang="zh-CN" altLang="en-US" smtClean="0"/>
              <a:t>指令系统的分类</a:t>
            </a:r>
          </a:p>
        </p:txBody>
      </p:sp>
      <p:sp>
        <p:nvSpPr>
          <p:cNvPr id="4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303109" name="Rectangle 5"/>
          <p:cNvSpPr>
            <a:spLocks noGrp="1" noChangeArrowheads="1"/>
          </p:cNvSpPr>
          <p:nvPr>
            <p:ph type="body" idx="1"/>
          </p:nvPr>
        </p:nvSpPr>
        <p:spPr/>
        <p:txBody>
          <a:bodyPr/>
          <a:lstStyle/>
          <a:p>
            <a:pPr marL="0" indent="0" eaLnBrk="1" hangingPunct="1">
              <a:lnSpc>
                <a:spcPct val="90000"/>
              </a:lnSpc>
              <a:buClr>
                <a:srgbClr val="FF3300"/>
              </a:buClr>
              <a:defRPr/>
            </a:pPr>
            <a:r>
              <a:rPr lang="zh-CN" altLang="en-US" dirty="0" smtClean="0">
                <a:solidFill>
                  <a:srgbClr val="FF3300"/>
                </a:solidFill>
                <a:effectLst>
                  <a:outerShdw blurRad="38100" dist="38100" dir="2700000" algn="tl">
                    <a:srgbClr val="C0C0C0"/>
                  </a:outerShdw>
                </a:effectLst>
              </a:rPr>
              <a:t>  分类标准</a:t>
            </a:r>
          </a:p>
          <a:p>
            <a:pPr marL="765175" lvl="1" eaLnBrk="1" hangingPunct="1">
              <a:lnSpc>
                <a:spcPct val="90000"/>
              </a:lnSpc>
              <a:buFont typeface="Wingdings" pitchFamily="2" charset="2"/>
              <a:buChar char="Ø"/>
              <a:defRPr/>
            </a:pPr>
            <a:r>
              <a:rPr lang="zh-CN" altLang="en-US" dirty="0" smtClean="0"/>
              <a:t>根据</a:t>
            </a:r>
            <a:r>
              <a:rPr lang="en-US" altLang="zh-CN" dirty="0" smtClean="0"/>
              <a:t>CPU</a:t>
            </a:r>
            <a:r>
              <a:rPr lang="zh-CN" altLang="en-US" dirty="0" smtClean="0"/>
              <a:t>中操作数的存储方法分类（主要分类准则）</a:t>
            </a:r>
          </a:p>
          <a:p>
            <a:pPr marL="765175" lvl="1" eaLnBrk="1" hangingPunct="1">
              <a:lnSpc>
                <a:spcPct val="90000"/>
              </a:lnSpc>
              <a:buFont typeface="Wingdings" pitchFamily="2" charset="2"/>
              <a:buChar char="Ø"/>
              <a:defRPr/>
            </a:pPr>
            <a:r>
              <a:rPr lang="zh-CN" altLang="en-US" dirty="0" smtClean="0"/>
              <a:t>根据指令中显式操作数个数分类</a:t>
            </a:r>
          </a:p>
          <a:p>
            <a:pPr marL="765175" lvl="1" eaLnBrk="1" hangingPunct="1">
              <a:lnSpc>
                <a:spcPct val="90000"/>
              </a:lnSpc>
              <a:buFont typeface="Wingdings" pitchFamily="2" charset="2"/>
              <a:buChar char="Ø"/>
              <a:defRPr/>
            </a:pPr>
            <a:r>
              <a:rPr lang="zh-CN" altLang="en-US" dirty="0" smtClean="0"/>
              <a:t>根据操作数能否放在存储器中分类</a:t>
            </a:r>
          </a:p>
          <a:p>
            <a:pPr marL="0" indent="0" eaLnBrk="1" hangingPunct="1">
              <a:lnSpc>
                <a:spcPct val="90000"/>
              </a:lnSpc>
              <a:spcBef>
                <a:spcPct val="50000"/>
              </a:spcBef>
              <a:buClr>
                <a:srgbClr val="FF3300"/>
              </a:buClr>
              <a:defRPr/>
            </a:pPr>
            <a:r>
              <a:rPr lang="zh-CN" altLang="en-US" dirty="0" smtClean="0">
                <a:solidFill>
                  <a:srgbClr val="FF3300"/>
                </a:solidFill>
                <a:effectLst>
                  <a:outerShdw blurRad="38100" dist="38100" dir="2700000" algn="tl">
                    <a:srgbClr val="C0C0C0"/>
                  </a:outerShdw>
                </a:effectLst>
              </a:rPr>
              <a:t>  分类</a:t>
            </a:r>
          </a:p>
          <a:p>
            <a:pPr marL="765175" lvl="1" eaLnBrk="1" hangingPunct="1">
              <a:lnSpc>
                <a:spcPct val="90000"/>
              </a:lnSpc>
              <a:buFont typeface="Wingdings" pitchFamily="2" charset="2"/>
              <a:buChar char="Ø"/>
              <a:defRPr/>
            </a:pPr>
            <a:r>
              <a:rPr lang="zh-CN" altLang="en-US" dirty="0" smtClean="0"/>
              <a:t>堆栈型指令系统</a:t>
            </a:r>
          </a:p>
          <a:p>
            <a:pPr marL="765175" lvl="1" eaLnBrk="1" hangingPunct="1">
              <a:lnSpc>
                <a:spcPct val="90000"/>
              </a:lnSpc>
              <a:buFont typeface="Wingdings" pitchFamily="2" charset="2"/>
              <a:buChar char="Ø"/>
              <a:defRPr/>
            </a:pPr>
            <a:r>
              <a:rPr lang="zh-CN" altLang="en-US" dirty="0" smtClean="0"/>
              <a:t>累加器型指令系统</a:t>
            </a:r>
          </a:p>
          <a:p>
            <a:pPr marL="765175" lvl="1" eaLnBrk="1" hangingPunct="1">
              <a:lnSpc>
                <a:spcPct val="90000"/>
              </a:lnSpc>
              <a:buFont typeface="Wingdings" pitchFamily="2" charset="2"/>
              <a:buChar char="Ø"/>
              <a:defRPr/>
            </a:pPr>
            <a:r>
              <a:rPr lang="zh-CN" altLang="en-US" dirty="0" smtClean="0"/>
              <a:t>寄存器型指令系统</a:t>
            </a:r>
          </a:p>
        </p:txBody>
      </p:sp>
      <p:sp>
        <p:nvSpPr>
          <p:cNvPr id="410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ext Box 1027"/>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pitchFamily="2" charset="-122"/>
            </a:endParaRPr>
          </a:p>
        </p:txBody>
      </p:sp>
      <p:sp>
        <p:nvSpPr>
          <p:cNvPr id="5123" name="Text Box 1030"/>
          <p:cNvSpPr txBox="1">
            <a:spLocks noChangeArrowheads="1"/>
          </p:cNvSpPr>
          <p:nvPr/>
        </p:nvSpPr>
        <p:spPr bwMode="auto">
          <a:xfrm>
            <a:off x="8077200" y="533400"/>
            <a:ext cx="546100" cy="54864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ea typeface="方正舒体" pitchFamily="2" charset="-122"/>
              </a:rPr>
              <a:t>以</a:t>
            </a:r>
            <a:r>
              <a:rPr lang="en-US" altLang="zh-CN" sz="2400">
                <a:latin typeface="Times New Roman" pitchFamily="18" charset="0"/>
                <a:ea typeface="方正舒体" pitchFamily="2" charset="-122"/>
              </a:rPr>
              <a:t>C=A+B</a:t>
            </a:r>
            <a:r>
              <a:rPr lang="zh-CN" altLang="en-US" sz="2400">
                <a:latin typeface="Times New Roman" pitchFamily="18" charset="0"/>
                <a:ea typeface="方正舒体" pitchFamily="2" charset="-122"/>
              </a:rPr>
              <a:t>为例说明不同指令系统的特点</a:t>
            </a:r>
          </a:p>
        </p:txBody>
      </p:sp>
      <p:pic>
        <p:nvPicPr>
          <p:cNvPr id="5124" name="Picture 1032" descr="Ch2-fig01"/>
          <p:cNvPicPr>
            <a:picLocks noChangeAspect="1" noChangeArrowheads="1"/>
          </p:cNvPicPr>
          <p:nvPr/>
        </p:nvPicPr>
        <p:blipFill>
          <a:blip r:embed="rId4">
            <a:extLst>
              <a:ext uri="{28A0092B-C50C-407E-A947-70E740481C1C}">
                <a14:useLocalDpi xmlns:a14="http://schemas.microsoft.com/office/drawing/2010/main" val="0"/>
              </a:ext>
            </a:extLst>
          </a:blip>
          <a:srcRect b="10536"/>
          <a:stretch>
            <a:fillRect/>
          </a:stretch>
        </p:blipFill>
        <p:spPr bwMode="auto">
          <a:xfrm>
            <a:off x="457200" y="304800"/>
            <a:ext cx="7129463"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10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4797425"/>
            <a:ext cx="6219825"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6" name="Text Box 103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2</a:t>
            </a:r>
          </a:p>
        </p:txBody>
      </p:sp>
      <p:sp>
        <p:nvSpPr>
          <p:cNvPr id="5127" name="Text Box 1035"/>
          <p:cNvSpPr txBox="1">
            <a:spLocks noChangeArrowheads="1"/>
          </p:cNvSpPr>
          <p:nvPr/>
        </p:nvSpPr>
        <p:spPr bwMode="auto">
          <a:xfrm>
            <a:off x="0" y="4652963"/>
            <a:ext cx="1331913" cy="187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10000"/>
              </a:spcBef>
              <a:buFont typeface="Wingdings" pitchFamily="2" charset="2"/>
              <a:buChar char="ü"/>
            </a:pPr>
            <a:r>
              <a:rPr lang="zh-CN" altLang="en-US" sz="1800">
                <a:solidFill>
                  <a:srgbClr val="080808"/>
                </a:solidFill>
                <a:latin typeface="楷体_GB2312" pitchFamily="49" charset="-122"/>
              </a:rPr>
              <a:t>灰色块：</a:t>
            </a:r>
          </a:p>
          <a:p>
            <a:pPr eaLnBrk="1" hangingPunct="1">
              <a:spcBef>
                <a:spcPct val="10000"/>
              </a:spcBef>
              <a:buFont typeface="Wingdings" pitchFamily="2" charset="2"/>
              <a:buNone/>
            </a:pPr>
            <a:r>
              <a:rPr lang="zh-CN" altLang="en-US" sz="1800" b="0">
                <a:solidFill>
                  <a:srgbClr val="080808"/>
                </a:solidFill>
                <a:latin typeface="楷体_GB2312" pitchFamily="49" charset="-122"/>
              </a:rPr>
              <a:t>   操作数</a:t>
            </a:r>
          </a:p>
          <a:p>
            <a:pPr eaLnBrk="1" hangingPunct="1">
              <a:spcBef>
                <a:spcPct val="10000"/>
              </a:spcBef>
              <a:buFont typeface="Wingdings" pitchFamily="2" charset="2"/>
              <a:buChar char="ü"/>
            </a:pPr>
            <a:r>
              <a:rPr lang="zh-CN" altLang="en-US" sz="1800">
                <a:solidFill>
                  <a:srgbClr val="080808"/>
                </a:solidFill>
                <a:latin typeface="楷体_GB2312" pitchFamily="49" charset="-122"/>
              </a:rPr>
              <a:t>黑色块：</a:t>
            </a:r>
          </a:p>
          <a:p>
            <a:pPr eaLnBrk="1" hangingPunct="1">
              <a:spcBef>
                <a:spcPct val="10000"/>
              </a:spcBef>
              <a:buFont typeface="Wingdings" pitchFamily="2" charset="2"/>
              <a:buNone/>
            </a:pPr>
            <a:r>
              <a:rPr lang="zh-CN" altLang="en-US" sz="1800" b="0">
                <a:solidFill>
                  <a:srgbClr val="080808"/>
                </a:solidFill>
                <a:latin typeface="楷体_GB2312" pitchFamily="49" charset="-122"/>
              </a:rPr>
              <a:t>   结果</a:t>
            </a:r>
          </a:p>
          <a:p>
            <a:pPr eaLnBrk="1" hangingPunct="1">
              <a:spcBef>
                <a:spcPct val="10000"/>
              </a:spcBef>
              <a:buFont typeface="Wingdings" pitchFamily="2" charset="2"/>
              <a:buChar char="ü"/>
            </a:pPr>
            <a:r>
              <a:rPr lang="en-US" altLang="zh-CN" sz="1800">
                <a:solidFill>
                  <a:srgbClr val="080808"/>
                </a:solidFill>
                <a:latin typeface="楷体_GB2312" pitchFamily="49" charset="-122"/>
              </a:rPr>
              <a:t>TOS</a:t>
            </a:r>
            <a:r>
              <a:rPr lang="zh-CN" altLang="en-US" sz="1800">
                <a:solidFill>
                  <a:srgbClr val="080808"/>
                </a:solidFill>
                <a:latin typeface="楷体_GB2312" pitchFamily="49" charset="-122"/>
              </a:rPr>
              <a:t>：</a:t>
            </a:r>
          </a:p>
          <a:p>
            <a:pPr eaLnBrk="1" hangingPunct="1">
              <a:spcBef>
                <a:spcPct val="10000"/>
              </a:spcBef>
              <a:buFont typeface="Wingdings" pitchFamily="2" charset="2"/>
              <a:buNone/>
            </a:pPr>
            <a:r>
              <a:rPr lang="zh-CN" altLang="en-US" sz="1800" b="0">
                <a:solidFill>
                  <a:srgbClr val="080808"/>
                </a:solidFill>
                <a:latin typeface="楷体_GB2312" pitchFamily="49" charset="-122"/>
              </a:rPr>
              <a:t>   栈顶</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5" name="Rectangle 1031"/>
          <p:cNvSpPr>
            <a:spLocks noGrp="1" noChangeArrowheads="1"/>
          </p:cNvSpPr>
          <p:nvPr>
            <p:ph type="title"/>
          </p:nvPr>
        </p:nvSpPr>
        <p:spPr/>
        <p:txBody>
          <a:bodyPr/>
          <a:lstStyle/>
          <a:p>
            <a:pPr eaLnBrk="1" hangingPunct="1">
              <a:defRPr/>
            </a:pPr>
            <a:r>
              <a:rPr lang="zh-CN" altLang="en-US" smtClean="0"/>
              <a:t>三种指令系统的特点</a:t>
            </a:r>
          </a:p>
        </p:txBody>
      </p:sp>
      <p:sp>
        <p:nvSpPr>
          <p:cNvPr id="304136" name="Rectangle 1032"/>
          <p:cNvSpPr>
            <a:spLocks noGrp="1" noChangeArrowheads="1"/>
          </p:cNvSpPr>
          <p:nvPr>
            <p:ph type="body" idx="1"/>
          </p:nvPr>
        </p:nvSpPr>
        <p:spPr>
          <a:xfrm>
            <a:off x="809625" y="2214563"/>
            <a:ext cx="7958138" cy="4033837"/>
          </a:xfrm>
        </p:spPr>
        <p:txBody>
          <a:bodyPr/>
          <a:lstStyle/>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堆栈型指令系统</a:t>
            </a:r>
          </a:p>
          <a:p>
            <a:pPr marL="0" indent="0" eaLnBrk="1" hangingPunct="1">
              <a:buFont typeface="Wingdings" pitchFamily="2" charset="2"/>
              <a:buNone/>
              <a:defRPr/>
            </a:pPr>
            <a:r>
              <a:rPr lang="zh-CN" altLang="en-US" sz="2400" dirty="0" smtClean="0">
                <a:solidFill>
                  <a:srgbClr val="FF3300"/>
                </a:solidFill>
                <a:effectLst>
                  <a:outerShdw blurRad="38100" dist="38100" dir="2700000" algn="tl">
                    <a:srgbClr val="C0C0C0"/>
                  </a:outerShdw>
                </a:effectLst>
              </a:rPr>
              <a:t>优点：</a:t>
            </a:r>
            <a:r>
              <a:rPr lang="zh-CN" altLang="en-US" sz="2400" dirty="0" smtClean="0"/>
              <a:t>指令长度短，代码密度高，占用存储空间小。</a:t>
            </a:r>
          </a:p>
          <a:p>
            <a:pPr marL="0" indent="0" eaLnBrk="1" hangingPunct="1">
              <a:buFont typeface="Wingdings" pitchFamily="2" charset="2"/>
              <a:buNone/>
              <a:defRPr/>
            </a:pPr>
            <a:r>
              <a:rPr lang="zh-CN" altLang="en-US" sz="2400" dirty="0" smtClean="0">
                <a:solidFill>
                  <a:srgbClr val="FF3300"/>
                </a:solidFill>
                <a:effectLst>
                  <a:outerShdw blurRad="38100" dist="38100" dir="2700000" algn="tl">
                    <a:srgbClr val="C0C0C0"/>
                  </a:outerShdw>
                </a:effectLst>
              </a:rPr>
              <a:t>缺点：</a:t>
            </a:r>
            <a:r>
              <a:rPr lang="zh-CN" altLang="en-US" sz="2400" dirty="0" smtClean="0"/>
              <a:t>代码效率低，执行效率不高。</a:t>
            </a:r>
          </a:p>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累加器型指令系统</a:t>
            </a:r>
          </a:p>
          <a:p>
            <a:pPr marL="0" indent="0" eaLnBrk="1" hangingPunct="1">
              <a:buFont typeface="Wingdings" pitchFamily="2" charset="2"/>
              <a:buNone/>
              <a:defRPr/>
            </a:pPr>
            <a:r>
              <a:rPr lang="zh-CN" altLang="en-US" sz="2400" dirty="0" smtClean="0">
                <a:solidFill>
                  <a:srgbClr val="FF3300"/>
                </a:solidFill>
                <a:effectLst>
                  <a:outerShdw blurRad="38100" dist="38100" dir="2700000" algn="tl">
                    <a:srgbClr val="C0C0C0"/>
                  </a:outerShdw>
                </a:effectLst>
              </a:rPr>
              <a:t>优点：</a:t>
            </a:r>
            <a:r>
              <a:rPr lang="zh-CN" altLang="en-US" sz="2400" dirty="0" smtClean="0"/>
              <a:t>指令长度短，代码密度高，代码效率高。</a:t>
            </a:r>
          </a:p>
          <a:p>
            <a:pPr marL="0" indent="0" eaLnBrk="1" hangingPunct="1">
              <a:buFont typeface="Wingdings" pitchFamily="2" charset="2"/>
              <a:buNone/>
              <a:defRPr/>
            </a:pPr>
            <a:r>
              <a:rPr lang="zh-CN" altLang="en-US" sz="2400" dirty="0" smtClean="0">
                <a:solidFill>
                  <a:srgbClr val="FF3300"/>
                </a:solidFill>
                <a:effectLst>
                  <a:outerShdw blurRad="38100" dist="38100" dir="2700000" algn="tl">
                    <a:srgbClr val="C0C0C0"/>
                  </a:outerShdw>
                </a:effectLst>
              </a:rPr>
              <a:t>缺点：</a:t>
            </a:r>
            <a:r>
              <a:rPr lang="zh-CN" altLang="en-US" sz="2400" dirty="0" smtClean="0"/>
              <a:t>执行效率不高。</a:t>
            </a:r>
          </a:p>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寄存器型指令系统</a:t>
            </a:r>
          </a:p>
          <a:p>
            <a:pPr marL="0" indent="0" eaLnBrk="1" hangingPunct="1">
              <a:buFont typeface="Wingdings" pitchFamily="2" charset="2"/>
              <a:buNone/>
              <a:defRPr/>
            </a:pPr>
            <a:r>
              <a:rPr lang="zh-CN" altLang="en-US" sz="2400" dirty="0" smtClean="0">
                <a:solidFill>
                  <a:srgbClr val="FF3300"/>
                </a:solidFill>
                <a:effectLst>
                  <a:outerShdw blurRad="38100" dist="38100" dir="2700000" algn="tl">
                    <a:srgbClr val="C0C0C0"/>
                  </a:outerShdw>
                </a:effectLst>
              </a:rPr>
              <a:t>优点：</a:t>
            </a:r>
            <a:r>
              <a:rPr lang="zh-CN" altLang="en-US" sz="2400" dirty="0" smtClean="0"/>
              <a:t>指令简单，执行效率高，对编译程序支持好。</a:t>
            </a:r>
          </a:p>
          <a:p>
            <a:pPr marL="0" indent="0" eaLnBrk="1" hangingPunct="1">
              <a:buFont typeface="Wingdings" pitchFamily="2" charset="2"/>
              <a:buNone/>
              <a:defRPr/>
            </a:pPr>
            <a:r>
              <a:rPr lang="zh-CN" altLang="en-US" sz="2400" dirty="0" smtClean="0">
                <a:solidFill>
                  <a:srgbClr val="FF3300"/>
                </a:solidFill>
                <a:effectLst>
                  <a:outerShdw blurRad="38100" dist="38100" dir="2700000" algn="tl">
                    <a:srgbClr val="C0C0C0"/>
                  </a:outerShdw>
                </a:effectLst>
              </a:rPr>
              <a:t>缺点：</a:t>
            </a:r>
            <a:r>
              <a:rPr lang="zh-CN" altLang="en-US" sz="2400" dirty="0" smtClean="0"/>
              <a:t>指令长度长。</a:t>
            </a:r>
          </a:p>
        </p:txBody>
      </p:sp>
      <p:sp>
        <p:nvSpPr>
          <p:cNvPr id="6148"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6149" name="AutoShape 1034"/>
          <p:cNvSpPr>
            <a:spLocks noChangeArrowheads="1"/>
          </p:cNvSpPr>
          <p:nvPr/>
        </p:nvSpPr>
        <p:spPr bwMode="auto">
          <a:xfrm>
            <a:off x="4267200" y="4495800"/>
            <a:ext cx="4572000" cy="838200"/>
          </a:xfrm>
          <a:prstGeom prst="cloudCallout">
            <a:avLst>
              <a:gd name="adj1" fmla="val -61773"/>
              <a:gd name="adj2" fmla="val 41856"/>
            </a:avLst>
          </a:prstGeom>
          <a:solidFill>
            <a:srgbClr val="FFFF00">
              <a:alpha val="50195"/>
            </a:srgbClr>
          </a:solidFill>
          <a:ln w="28575">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b="0">
                <a:latin typeface="Times New Roman" pitchFamily="18" charset="0"/>
                <a:ea typeface="方正舒体" pitchFamily="2" charset="-122"/>
              </a:rPr>
              <a:t>现在通用寄存器型已成为主流结构</a:t>
            </a:r>
          </a:p>
        </p:txBody>
      </p:sp>
      <p:sp>
        <p:nvSpPr>
          <p:cNvPr id="6150" name="Text Box 103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1026"/>
          <p:cNvSpPr>
            <a:spLocks noGrp="1" noChangeArrowheads="1"/>
          </p:cNvSpPr>
          <p:nvPr>
            <p:ph type="title"/>
          </p:nvPr>
        </p:nvSpPr>
        <p:spPr/>
        <p:txBody>
          <a:bodyPr/>
          <a:lstStyle/>
          <a:p>
            <a:pPr eaLnBrk="1" hangingPunct="1">
              <a:defRPr/>
            </a:pPr>
            <a:r>
              <a:rPr lang="zh-CN" altLang="en-US" smtClean="0"/>
              <a:t>通用寄存器型指令系统的分类</a:t>
            </a:r>
          </a:p>
        </p:txBody>
      </p:sp>
      <p:sp>
        <p:nvSpPr>
          <p:cNvPr id="7171" name="Text Box 102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7172" name="Rectangle 1031"/>
          <p:cNvSpPr>
            <a:spLocks noGrp="1" noChangeArrowheads="1"/>
          </p:cNvSpPr>
          <p:nvPr>
            <p:ph type="body" idx="1"/>
          </p:nvPr>
        </p:nvSpPr>
        <p:spPr>
          <a:xfrm>
            <a:off x="838200" y="2514600"/>
            <a:ext cx="7958138" cy="757238"/>
          </a:xfrm>
        </p:spPr>
        <p:txBody>
          <a:bodyPr/>
          <a:lstStyle/>
          <a:p>
            <a:pPr marL="0" indent="0" eaLnBrk="1" hangingPunct="1">
              <a:buFont typeface="Wingdings" pitchFamily="2" charset="2"/>
              <a:buNone/>
            </a:pPr>
            <a:r>
              <a:rPr lang="zh-CN" altLang="en-US" smtClean="0"/>
              <a:t>        根据分类标准2、3可以分为：</a:t>
            </a:r>
          </a:p>
        </p:txBody>
      </p:sp>
      <p:pic>
        <p:nvPicPr>
          <p:cNvPr id="7173" name="Picture 10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352800"/>
            <a:ext cx="8181975"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4" name="Text Box 103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050"/>
          <p:cNvSpPr>
            <a:spLocks noGrp="1" noChangeArrowheads="1"/>
          </p:cNvSpPr>
          <p:nvPr>
            <p:ph type="title"/>
          </p:nvPr>
        </p:nvSpPr>
        <p:spPr/>
        <p:txBody>
          <a:bodyPr/>
          <a:lstStyle/>
          <a:p>
            <a:pPr eaLnBrk="1" hangingPunct="1">
              <a:defRPr/>
            </a:pPr>
            <a:r>
              <a:rPr lang="zh-CN" altLang="en-US" smtClean="0"/>
              <a:t>不同通用寄存器型指令系统的特点</a:t>
            </a:r>
          </a:p>
        </p:txBody>
      </p:sp>
      <p:sp>
        <p:nvSpPr>
          <p:cNvPr id="8195" name="Text Box 205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pic>
        <p:nvPicPr>
          <p:cNvPr id="8196" name="Picture 20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636838"/>
            <a:ext cx="8286750"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7" name="Text Box 205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1026"/>
          <p:cNvSpPr>
            <a:spLocks noGrp="1" noChangeArrowheads="1"/>
          </p:cNvSpPr>
          <p:nvPr>
            <p:ph type="title"/>
          </p:nvPr>
        </p:nvSpPr>
        <p:spPr/>
        <p:txBody>
          <a:bodyPr/>
          <a:lstStyle/>
          <a:p>
            <a:pPr eaLnBrk="1" hangingPunct="1">
              <a:defRPr/>
            </a:pPr>
            <a:r>
              <a:rPr lang="zh-CN" altLang="en-US" smtClean="0"/>
              <a:t>指令系统的选择</a:t>
            </a:r>
          </a:p>
        </p:txBody>
      </p:sp>
      <p:sp>
        <p:nvSpPr>
          <p:cNvPr id="9219" name="Text Box 102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9220" name="Rectangle 1030"/>
          <p:cNvSpPr>
            <a:spLocks noGrp="1" noChangeArrowheads="1"/>
          </p:cNvSpPr>
          <p:nvPr>
            <p:ph type="body" idx="1"/>
          </p:nvPr>
        </p:nvSpPr>
        <p:spPr>
          <a:xfrm>
            <a:off x="809625" y="2205038"/>
            <a:ext cx="7958138" cy="3671887"/>
          </a:xfrm>
        </p:spPr>
        <p:txBody>
          <a:bodyPr/>
          <a:lstStyle/>
          <a:p>
            <a:pPr eaLnBrk="1" hangingPunct="1">
              <a:lnSpc>
                <a:spcPct val="120000"/>
              </a:lnSpc>
            </a:pPr>
            <a:r>
              <a:rPr lang="zh-CN" altLang="en-US" smtClean="0"/>
              <a:t>针对应用需求，对指令中各属性分布进行分析，根据指令执行效率确定指令集风格</a:t>
            </a:r>
          </a:p>
          <a:p>
            <a:pPr eaLnBrk="1" hangingPunct="1">
              <a:lnSpc>
                <a:spcPct val="120000"/>
              </a:lnSpc>
              <a:spcBef>
                <a:spcPct val="40000"/>
              </a:spcBef>
            </a:pPr>
            <a:r>
              <a:rPr lang="zh-CN" altLang="en-US" smtClean="0"/>
              <a:t>根据各种指令的各属性分布确定寄存器数及操作数个数</a:t>
            </a:r>
          </a:p>
          <a:p>
            <a:pPr eaLnBrk="1" hangingPunct="1">
              <a:lnSpc>
                <a:spcPct val="120000"/>
              </a:lnSpc>
              <a:spcBef>
                <a:spcPct val="40000"/>
              </a:spcBef>
            </a:pPr>
            <a:r>
              <a:rPr lang="zh-CN" altLang="en-US" smtClean="0"/>
              <a:t>必须考虑对</a:t>
            </a:r>
            <a:r>
              <a:rPr lang="en-US" altLang="zh-CN" smtClean="0"/>
              <a:t>OS</a:t>
            </a:r>
            <a:r>
              <a:rPr lang="zh-CN" altLang="en-US" smtClean="0"/>
              <a:t>和编译程序的支持</a:t>
            </a:r>
          </a:p>
        </p:txBody>
      </p:sp>
      <p:sp>
        <p:nvSpPr>
          <p:cNvPr id="9221" name="Text Box 10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6 之 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zh-CN" altLang="en-US" smtClean="0">
                <a:latin typeface="宋体" pitchFamily="2" charset="-122"/>
              </a:rPr>
              <a:t>数据表示</a:t>
            </a:r>
            <a:r>
              <a:rPr lang="zh-CN" altLang="en-US" smtClean="0"/>
              <a:t> </a:t>
            </a:r>
          </a:p>
        </p:txBody>
      </p:sp>
      <p:sp>
        <p:nvSpPr>
          <p:cNvPr id="102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10244" name="Rectangle 7"/>
          <p:cNvSpPr>
            <a:spLocks noGrp="1" noChangeArrowheads="1"/>
          </p:cNvSpPr>
          <p:nvPr>
            <p:ph type="body" idx="1"/>
          </p:nvPr>
        </p:nvSpPr>
        <p:spPr>
          <a:xfrm>
            <a:off x="2700338" y="2276475"/>
            <a:ext cx="3417887" cy="3744913"/>
          </a:xfrm>
        </p:spPr>
        <p:txBody>
          <a:bodyPr/>
          <a:lstStyle/>
          <a:p>
            <a:pPr eaLnBrk="1" hangingPunct="1">
              <a:lnSpc>
                <a:spcPct val="150000"/>
              </a:lnSpc>
            </a:pPr>
            <a:r>
              <a:rPr lang="zh-CN" altLang="en-US" smtClean="0">
                <a:hlinkClick r:id="rId4" action="ppaction://hlinksldjump"/>
              </a:rPr>
              <a:t>基本概念</a:t>
            </a:r>
            <a:endParaRPr lang="zh-CN" altLang="en-US" smtClean="0"/>
          </a:p>
          <a:p>
            <a:pPr eaLnBrk="1" hangingPunct="1">
              <a:lnSpc>
                <a:spcPct val="150000"/>
              </a:lnSpc>
            </a:pPr>
            <a:r>
              <a:rPr lang="zh-CN" altLang="en-US" smtClean="0">
                <a:hlinkClick r:id="rId5" action="ppaction://hlinksldjump"/>
              </a:rPr>
              <a:t>基本数据表示</a:t>
            </a:r>
            <a:endParaRPr lang="zh-CN" altLang="en-US" smtClean="0"/>
          </a:p>
          <a:p>
            <a:pPr eaLnBrk="1" hangingPunct="1">
              <a:lnSpc>
                <a:spcPct val="150000"/>
              </a:lnSpc>
            </a:pPr>
            <a:r>
              <a:rPr lang="zh-CN" altLang="en-US" smtClean="0">
                <a:hlinkClick r:id="rId6" action="ppaction://hlinksldjump"/>
              </a:rPr>
              <a:t>高级数据表示</a:t>
            </a:r>
            <a:endParaRPr lang="zh-CN" altLang="en-US" smtClean="0"/>
          </a:p>
          <a:p>
            <a:pPr eaLnBrk="1" hangingPunct="1">
              <a:lnSpc>
                <a:spcPct val="150000"/>
              </a:lnSpc>
            </a:pPr>
            <a:r>
              <a:rPr lang="zh-CN" altLang="en-US" smtClean="0">
                <a:hlinkClick r:id="rId7" action="ppaction://hlinksldjump"/>
              </a:rPr>
              <a:t>数据表示设计</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pPr eaLnBrk="1" hangingPunct="1">
              <a:defRPr/>
            </a:pPr>
            <a:r>
              <a:rPr lang="zh-CN" altLang="en-US" smtClean="0"/>
              <a:t>基本概念</a:t>
            </a:r>
          </a:p>
        </p:txBody>
      </p:sp>
      <p:sp>
        <p:nvSpPr>
          <p:cNvPr id="11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endParaRPr lang="zh-CN" altLang="en-US" sz="1200" b="0">
              <a:latin typeface="Times New Roman" pitchFamily="18" charset="0"/>
              <a:ea typeface="幼圆" pitchFamily="49" charset="-122"/>
            </a:endParaRPr>
          </a:p>
        </p:txBody>
      </p:sp>
      <p:sp>
        <p:nvSpPr>
          <p:cNvPr id="230405" name="Rectangle 5"/>
          <p:cNvSpPr>
            <a:spLocks noGrp="1" noChangeArrowheads="1"/>
          </p:cNvSpPr>
          <p:nvPr>
            <p:ph type="body" idx="1"/>
          </p:nvPr>
        </p:nvSpPr>
        <p:spPr>
          <a:xfrm>
            <a:off x="809625" y="1844675"/>
            <a:ext cx="7958138" cy="4479925"/>
          </a:xfrm>
        </p:spPr>
        <p:txBody>
          <a:bodyPr/>
          <a:lstStyle/>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数据类型</a:t>
            </a:r>
          </a:p>
          <a:p>
            <a:pPr marL="0" indent="0" eaLnBrk="1" hangingPunct="1">
              <a:buFont typeface="Wingdings" pitchFamily="2" charset="2"/>
              <a:buNone/>
              <a:defRPr/>
            </a:pPr>
            <a:r>
              <a:rPr lang="zh-CN" altLang="en-US" sz="2400" dirty="0" smtClean="0"/>
              <a:t>        计算机系统中可以使用和处理的各种数据的类型，主要有：整数、布尔数、字符、文件、图、表、树、阵列、队列、链表、栈、向量、串等。</a:t>
            </a:r>
          </a:p>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数据表示</a:t>
            </a:r>
          </a:p>
          <a:p>
            <a:pPr marL="0" indent="0" eaLnBrk="1" hangingPunct="1">
              <a:buFont typeface="Wingdings" pitchFamily="2" charset="2"/>
              <a:buNone/>
              <a:defRPr/>
            </a:pPr>
            <a:r>
              <a:rPr lang="zh-CN" altLang="en-US" sz="2400" dirty="0" smtClean="0"/>
              <a:t>        能由硬件直接识别和引用（即有相应运算指令和有硬件支持）的数据类型，例如：定点数据表示、逻辑数据表示、浮点数据表示等。</a:t>
            </a:r>
          </a:p>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数据结构</a:t>
            </a:r>
          </a:p>
          <a:p>
            <a:pPr marL="0" indent="0" eaLnBrk="1" hangingPunct="1">
              <a:buFont typeface="Wingdings" pitchFamily="2" charset="2"/>
              <a:buNone/>
              <a:defRPr/>
            </a:pPr>
            <a:r>
              <a:rPr lang="zh-CN" altLang="en-US" sz="2400" dirty="0" smtClean="0"/>
              <a:t>        由软件实现的带有结构的数据元素的集合，例如：串、队列、栈、向量、阵列、链表、树、图等。</a:t>
            </a:r>
          </a:p>
        </p:txBody>
      </p:sp>
      <p:sp>
        <p:nvSpPr>
          <p:cNvPr id="112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pPr eaLnBrk="1" hangingPunct="1">
              <a:defRPr/>
            </a:pPr>
            <a:r>
              <a:rPr lang="zh-CN" altLang="en-US" smtClean="0"/>
              <a:t>三者之间的关系</a:t>
            </a:r>
          </a:p>
        </p:txBody>
      </p:sp>
      <p:sp>
        <p:nvSpPr>
          <p:cNvPr id="12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endParaRPr lang="zh-CN" altLang="en-US" sz="1200" b="0">
              <a:latin typeface="Times New Roman" pitchFamily="18" charset="0"/>
              <a:ea typeface="幼圆" pitchFamily="49" charset="-122"/>
            </a:endParaRPr>
          </a:p>
        </p:txBody>
      </p:sp>
      <p:sp>
        <p:nvSpPr>
          <p:cNvPr id="1229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2</a:t>
            </a:r>
          </a:p>
        </p:txBody>
      </p:sp>
      <p:sp>
        <p:nvSpPr>
          <p:cNvPr id="12293" name="Rectangle 6"/>
          <p:cNvSpPr>
            <a:spLocks noGrp="1" noChangeArrowheads="1"/>
          </p:cNvSpPr>
          <p:nvPr>
            <p:ph type="body" idx="1"/>
          </p:nvPr>
        </p:nvSpPr>
        <p:spPr>
          <a:xfrm>
            <a:off x="827088" y="2060575"/>
            <a:ext cx="7958137" cy="2133600"/>
          </a:xfrm>
        </p:spPr>
        <p:txBody>
          <a:bodyPr/>
          <a:lstStyle/>
          <a:p>
            <a:pPr eaLnBrk="1" hangingPunct="1">
              <a:lnSpc>
                <a:spcPct val="110000"/>
              </a:lnSpc>
            </a:pPr>
            <a:r>
              <a:rPr lang="zh-CN" altLang="en-US" sz="2800" smtClean="0"/>
              <a:t>数据表示和数据结构都是数据类型的子集；</a:t>
            </a:r>
          </a:p>
          <a:p>
            <a:pPr eaLnBrk="1" hangingPunct="1">
              <a:lnSpc>
                <a:spcPct val="110000"/>
              </a:lnSpc>
            </a:pPr>
            <a:r>
              <a:rPr lang="zh-CN" altLang="en-US" sz="2800" smtClean="0"/>
              <a:t>数据表示是数据类型中最常用、也是相对较简单，用硬件实现相对比较容易的；</a:t>
            </a:r>
          </a:p>
          <a:p>
            <a:pPr eaLnBrk="1" hangingPunct="1">
              <a:lnSpc>
                <a:spcPct val="110000"/>
              </a:lnSpc>
            </a:pPr>
            <a:r>
              <a:rPr lang="zh-CN" altLang="en-US" sz="2800" smtClean="0"/>
              <a:t>数据结构由软件进行实现，转换成数据表示。</a:t>
            </a:r>
          </a:p>
        </p:txBody>
      </p:sp>
      <p:sp>
        <p:nvSpPr>
          <p:cNvPr id="12294" name="Rectangle 8"/>
          <p:cNvSpPr>
            <a:spLocks noChangeArrowheads="1"/>
          </p:cNvSpPr>
          <p:nvPr/>
        </p:nvSpPr>
        <p:spPr bwMode="auto">
          <a:xfrm>
            <a:off x="900113" y="4437063"/>
            <a:ext cx="7543800" cy="1676400"/>
          </a:xfrm>
          <a:prstGeom prst="rect">
            <a:avLst/>
          </a:prstGeom>
          <a:gradFill rotWithShape="0">
            <a:gsLst>
              <a:gs pos="0">
                <a:srgbClr val="663012"/>
              </a:gs>
              <a:gs pos="14999">
                <a:srgbClr val="A65528"/>
              </a:gs>
              <a:gs pos="35001">
                <a:srgbClr val="D49E6C"/>
              </a:gs>
              <a:gs pos="50000">
                <a:srgbClr val="D6B19C"/>
              </a:gs>
              <a:gs pos="64999">
                <a:srgbClr val="D49E6C"/>
              </a:gs>
              <a:gs pos="85001">
                <a:srgbClr val="A65528"/>
              </a:gs>
              <a:gs pos="100000">
                <a:srgbClr val="663012"/>
              </a:gs>
            </a:gsLst>
            <a:lin ang="5400000" scaled="1"/>
          </a:gradFill>
          <a:ln>
            <a:noFill/>
          </a:ln>
          <a:effectLst>
            <a:outerShdw dist="107763" dir="2700000" algn="ctr" rotWithShape="0">
              <a:schemeClr val="bg2"/>
            </a:outerShdw>
          </a:effectLst>
          <a:extLst>
            <a:ext uri="{91240B29-F687-4F45-9708-019B960494DF}">
              <a14:hiddenLine xmlns:a14="http://schemas.microsoft.com/office/drawing/2010/main" w="50800">
                <a:solidFill>
                  <a:schemeClr val="tx1"/>
                </a:solidFill>
                <a:miter lim="800000"/>
                <a:headEnd/>
                <a:tailEnd/>
              </a14:hiddenLine>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pic>
        <p:nvPicPr>
          <p:cNvPr id="12295" name="Picture 9" descr="BD06663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1550" y="4508500"/>
            <a:ext cx="1676400" cy="145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34" name="Rectangle 10"/>
          <p:cNvSpPr>
            <a:spLocks noChangeArrowheads="1"/>
          </p:cNvSpPr>
          <p:nvPr/>
        </p:nvSpPr>
        <p:spPr bwMode="auto">
          <a:xfrm>
            <a:off x="2987675" y="4724400"/>
            <a:ext cx="51816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buClrTx/>
              <a:buFontTx/>
              <a:buNone/>
              <a:defRPr/>
            </a:pPr>
            <a:r>
              <a:rPr lang="zh-CN" altLang="en-US" sz="24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rPr>
              <a:t>        </a:t>
            </a:r>
            <a:r>
              <a:rPr lang="zh-CN" altLang="en-US" sz="24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方正舒体" pitchFamily="2" charset="-122"/>
              </a:rPr>
              <a:t>确定哪些数据类型用数据表示实现，是软件与硬件的取舍问题。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pPr eaLnBrk="1" hangingPunct="1">
              <a:defRPr/>
            </a:pPr>
            <a:r>
              <a:rPr lang="zh-CN" altLang="en-US" smtClean="0"/>
              <a:t>结  论</a:t>
            </a:r>
          </a:p>
        </p:txBody>
      </p:sp>
      <p:sp>
        <p:nvSpPr>
          <p:cNvPr id="13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endParaRPr lang="zh-CN" altLang="en-US" sz="1200" b="0">
              <a:latin typeface="Times New Roman" pitchFamily="18" charset="0"/>
              <a:ea typeface="幼圆" pitchFamily="49" charset="-122"/>
            </a:endParaRPr>
          </a:p>
        </p:txBody>
      </p:sp>
      <p:sp>
        <p:nvSpPr>
          <p:cNvPr id="1331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3 之 3</a:t>
            </a:r>
          </a:p>
        </p:txBody>
      </p:sp>
      <p:sp>
        <p:nvSpPr>
          <p:cNvPr id="233478" name="Rectangle 6"/>
          <p:cNvSpPr>
            <a:spLocks noGrp="1" noChangeArrowheads="1"/>
          </p:cNvSpPr>
          <p:nvPr>
            <p:ph type="body" idx="1"/>
          </p:nvPr>
        </p:nvSpPr>
        <p:spPr>
          <a:xfrm>
            <a:off x="809625" y="2205038"/>
            <a:ext cx="7958138" cy="4176712"/>
          </a:xfrm>
        </p:spPr>
        <p:txBody>
          <a:bodyPr/>
          <a:lstStyle/>
          <a:p>
            <a:pPr marL="0" indent="0" eaLnBrk="1" hangingPunct="1">
              <a:buFont typeface="Wingdings" pitchFamily="2" charset="2"/>
              <a:buNone/>
              <a:defRPr/>
            </a:pPr>
            <a:r>
              <a:rPr lang="zh-CN" altLang="en-US" smtClean="0"/>
              <a:t>       数据类型是指令系统的核心内容，系统结构设计者在设计时应首先确定：</a:t>
            </a:r>
          </a:p>
          <a:p>
            <a:pPr marL="0" indent="0" eaLnBrk="1" hangingPunct="1">
              <a:spcBef>
                <a:spcPct val="50000"/>
              </a:spcBef>
              <a:buFont typeface="Wingdings" pitchFamily="2" charset="2"/>
              <a:buNone/>
              <a:defRPr/>
            </a:pPr>
            <a:r>
              <a:rPr lang="zh-CN" altLang="en-US" smtClean="0"/>
              <a:t>        </a:t>
            </a:r>
            <a:r>
              <a:rPr lang="zh-CN" altLang="en-US" smtClean="0">
                <a:solidFill>
                  <a:srgbClr val="FF3300"/>
                </a:solidFill>
                <a:effectLst>
                  <a:outerShdw blurRad="38100" dist="38100" dir="2700000" algn="tl">
                    <a:srgbClr val="C0C0C0"/>
                  </a:outerShdw>
                </a:effectLst>
                <a:ea typeface="方正舒体" pitchFamily="2" charset="-122"/>
              </a:rPr>
              <a:t>哪些数据类型全部用硬件实现，即数据表示；哪些数据类型用软件实现，即数据结构；哪些数据类型可由硬件给予适应的支持，即由软件和硬件共同来实现，并确定软件和硬件的适当比例关系。</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eaLnBrk="1" hangingPunct="1">
              <a:defRPr/>
            </a:pPr>
            <a:r>
              <a:rPr lang="zh-CN" altLang="en-US" smtClean="0"/>
              <a:t>基本数据表示</a:t>
            </a:r>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endParaRPr lang="zh-CN" altLang="en-US" sz="1200" b="0">
              <a:latin typeface="Times New Roman" pitchFamily="18" charset="0"/>
              <a:ea typeface="幼圆" pitchFamily="49" charset="-122"/>
            </a:endParaRPr>
          </a:p>
        </p:txBody>
      </p:sp>
      <p:sp>
        <p:nvSpPr>
          <p:cNvPr id="232454" name="Rectangle 6"/>
          <p:cNvSpPr>
            <a:spLocks noGrp="1" noChangeArrowheads="1"/>
          </p:cNvSpPr>
          <p:nvPr>
            <p:ph type="body" idx="1"/>
          </p:nvPr>
        </p:nvSpPr>
        <p:spPr>
          <a:xfrm>
            <a:off x="809625" y="1989138"/>
            <a:ext cx="7958138" cy="4248150"/>
          </a:xfrm>
        </p:spPr>
        <p:txBody>
          <a:bodyPr/>
          <a:lstStyle/>
          <a:p>
            <a:pPr marL="0" indent="0" eaLnBrk="1" hangingPunct="1">
              <a:buClr>
                <a:srgbClr val="FF3300"/>
              </a:buClr>
              <a:defRPr/>
            </a:pPr>
            <a:r>
              <a:rPr lang="zh-CN" altLang="en-US" sz="2800" smtClean="0">
                <a:solidFill>
                  <a:srgbClr val="FF3300"/>
                </a:solidFill>
                <a:effectLst>
                  <a:outerShdw blurRad="38100" dist="38100" dir="2700000" algn="tl">
                    <a:srgbClr val="C0C0C0"/>
                  </a:outerShdw>
                </a:effectLst>
              </a:rPr>
              <a:t>  内容</a:t>
            </a:r>
          </a:p>
          <a:p>
            <a:pPr marL="0" indent="0" eaLnBrk="1" hangingPunct="1">
              <a:buFont typeface="Wingdings" pitchFamily="2" charset="2"/>
              <a:buNone/>
              <a:defRPr/>
            </a:pPr>
            <a:r>
              <a:rPr lang="zh-CN" altLang="en-US" sz="2800" smtClean="0"/>
              <a:t>    定点数、浮点数、十进制数、逻辑数、字符等。</a:t>
            </a:r>
          </a:p>
          <a:p>
            <a:pPr marL="0" indent="0" eaLnBrk="1" hangingPunct="1">
              <a:buClr>
                <a:srgbClr val="FF3300"/>
              </a:buClr>
              <a:defRPr/>
            </a:pPr>
            <a:r>
              <a:rPr lang="zh-CN" altLang="en-US" sz="2800" smtClean="0">
                <a:solidFill>
                  <a:srgbClr val="FF3300"/>
                </a:solidFill>
                <a:effectLst>
                  <a:outerShdw blurRad="38100" dist="38100" dir="2700000" algn="tl">
                    <a:srgbClr val="C0C0C0"/>
                  </a:outerShdw>
                </a:effectLst>
              </a:rPr>
              <a:t>  目的</a:t>
            </a:r>
          </a:p>
          <a:p>
            <a:pPr marL="0" indent="0" eaLnBrk="1" hangingPunct="1">
              <a:buFont typeface="Wingdings" pitchFamily="2" charset="2"/>
              <a:buNone/>
              <a:defRPr/>
            </a:pPr>
            <a:r>
              <a:rPr lang="zh-CN" altLang="en-US" sz="2800" smtClean="0"/>
              <a:t>    支持数据结构，提高系统效率和性能/价格。</a:t>
            </a:r>
          </a:p>
          <a:p>
            <a:pPr marL="0" indent="0" eaLnBrk="1" hangingPunct="1">
              <a:buClr>
                <a:srgbClr val="FF3300"/>
              </a:buClr>
              <a:defRPr/>
            </a:pPr>
            <a:r>
              <a:rPr lang="zh-CN" altLang="en-US" sz="2800" smtClean="0"/>
              <a:t>  </a:t>
            </a:r>
            <a:r>
              <a:rPr lang="zh-CN" altLang="en-US" sz="2800" smtClean="0">
                <a:solidFill>
                  <a:srgbClr val="FF3300"/>
                </a:solidFill>
                <a:effectLst>
                  <a:outerShdw blurRad="38100" dist="38100" dir="2700000" algn="tl">
                    <a:srgbClr val="C0C0C0"/>
                  </a:outerShdw>
                </a:effectLst>
              </a:rPr>
              <a:t>设计</a:t>
            </a:r>
          </a:p>
          <a:p>
            <a:pPr marL="0" indent="0" eaLnBrk="1" hangingPunct="1">
              <a:buFont typeface="Wingdings" pitchFamily="2" charset="2"/>
              <a:buNone/>
              <a:defRPr/>
            </a:pPr>
            <a:r>
              <a:rPr lang="zh-CN" altLang="en-US" sz="2800" smtClean="0"/>
              <a:t>    根据应用需求，设计各种参数、指标。</a:t>
            </a:r>
          </a:p>
          <a:p>
            <a:pPr marL="0" indent="0" eaLnBrk="1" hangingPunct="1">
              <a:buClr>
                <a:srgbClr val="FF3300"/>
              </a:buClr>
              <a:defRPr/>
            </a:pPr>
            <a:r>
              <a:rPr lang="zh-CN" altLang="en-US" sz="2800" smtClean="0">
                <a:solidFill>
                  <a:srgbClr val="FF3300"/>
                </a:solidFill>
                <a:effectLst>
                  <a:outerShdw blurRad="38100" dist="38100" dir="2700000" algn="tl">
                    <a:srgbClr val="C0C0C0"/>
                  </a:outerShdw>
                </a:effectLst>
              </a:rPr>
              <a:t>  举例</a:t>
            </a:r>
          </a:p>
          <a:p>
            <a:pPr marL="0" indent="0" eaLnBrk="1" hangingPunct="1">
              <a:buFont typeface="Wingdings" pitchFamily="2" charset="2"/>
              <a:buNone/>
              <a:defRPr/>
            </a:pPr>
            <a:r>
              <a:rPr lang="zh-CN" altLang="en-US" sz="2800" smtClean="0"/>
              <a:t>    浮点数数据表示的设计。</a:t>
            </a:r>
          </a:p>
        </p:txBody>
      </p:sp>
      <p:sp>
        <p:nvSpPr>
          <p:cNvPr id="14341"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2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pPr eaLnBrk="1" hangingPunct="1">
              <a:defRPr/>
            </a:pPr>
            <a:r>
              <a:rPr lang="zh-CN" altLang="en-US" smtClean="0"/>
              <a:t>浮点数数据表示设计</a:t>
            </a:r>
          </a:p>
        </p:txBody>
      </p:sp>
      <p:sp>
        <p:nvSpPr>
          <p:cNvPr id="15363" name="Rectangle 6"/>
          <p:cNvSpPr>
            <a:spLocks noGrp="1" noChangeArrowheads="1"/>
          </p:cNvSpPr>
          <p:nvPr>
            <p:ph type="body" sz="half" idx="1"/>
          </p:nvPr>
        </p:nvSpPr>
        <p:spPr>
          <a:xfrm>
            <a:off x="1763713" y="1916113"/>
            <a:ext cx="5251450" cy="4248150"/>
          </a:xfrm>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0" cmpd="thickThin">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pPr marL="669925" eaLnBrk="1" hangingPunct="1">
              <a:lnSpc>
                <a:spcPct val="180000"/>
              </a:lnSpc>
            </a:pPr>
            <a:r>
              <a:rPr lang="zh-CN" altLang="en-US" sz="3200" smtClean="0">
                <a:hlinkClick r:id="rId3" action="ppaction://hlinksldjump"/>
              </a:rPr>
              <a:t>浮点数格式</a:t>
            </a:r>
            <a:endParaRPr lang="zh-CN" altLang="en-US" sz="3200" smtClean="0"/>
          </a:p>
          <a:p>
            <a:pPr marL="669925" eaLnBrk="1" hangingPunct="1">
              <a:lnSpc>
                <a:spcPct val="180000"/>
              </a:lnSpc>
            </a:pPr>
            <a:r>
              <a:rPr lang="zh-CN" altLang="en-US" sz="3200" smtClean="0">
                <a:hlinkClick r:id="rId4" action="ppaction://hlinksldjump"/>
              </a:rPr>
              <a:t>浮点数尾数基值选择</a:t>
            </a:r>
            <a:endParaRPr lang="zh-CN" altLang="en-US" sz="3200" smtClean="0"/>
          </a:p>
          <a:p>
            <a:pPr marL="669925" eaLnBrk="1" hangingPunct="1">
              <a:lnSpc>
                <a:spcPct val="180000"/>
              </a:lnSpc>
            </a:pPr>
            <a:r>
              <a:rPr lang="zh-CN" altLang="en-US" sz="3200" smtClean="0">
                <a:hlinkClick r:id="rId5" action="ppaction://hlinksldjump"/>
              </a:rPr>
              <a:t>浮点数尾数下溢处理</a:t>
            </a:r>
            <a:endParaRPr lang="zh-CN" altLang="en-US" sz="3200" smtClean="0"/>
          </a:p>
          <a:p>
            <a:pPr marL="669925" eaLnBrk="1" hangingPunct="1">
              <a:lnSpc>
                <a:spcPct val="180000"/>
              </a:lnSpc>
            </a:pPr>
            <a:r>
              <a:rPr lang="zh-CN" altLang="en-US" sz="3200" smtClean="0">
                <a:hlinkClick r:id="rId6" action="ppaction://hlinksldjump"/>
              </a:rPr>
              <a:t>浮点数格式设计</a:t>
            </a:r>
            <a:endParaRPr lang="zh-CN" altLang="en-US" sz="3200" smtClean="0"/>
          </a:p>
        </p:txBody>
      </p:sp>
      <p:sp>
        <p:nvSpPr>
          <p:cNvPr id="1536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7"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数据表示 </a:t>
            </a:r>
            <a:endParaRPr lang="zh-CN" altLang="en-US" sz="1200" b="0">
              <a:latin typeface="Times New Roman" pitchFamily="18" charset="0"/>
              <a:ea typeface="幼圆" pitchFamily="49" charset="-122"/>
            </a:endParaRPr>
          </a:p>
        </p:txBody>
      </p:sp>
      <p:sp>
        <p:nvSpPr>
          <p:cNvPr id="15365"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2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pPr eaLnBrk="1" hangingPunct="1">
              <a:defRPr/>
            </a:pPr>
            <a:r>
              <a:rPr lang="zh-CN" altLang="en-US" smtClean="0"/>
              <a:t>浮点数格式</a:t>
            </a:r>
          </a:p>
        </p:txBody>
      </p:sp>
      <p:sp>
        <p:nvSpPr>
          <p:cNvPr id="236549" name="Rectangle 5"/>
          <p:cNvSpPr>
            <a:spLocks noGrp="1" noChangeArrowheads="1"/>
          </p:cNvSpPr>
          <p:nvPr>
            <p:ph type="body" sz="half" idx="1"/>
          </p:nvPr>
        </p:nvSpPr>
        <p:spPr>
          <a:xfrm>
            <a:off x="900113" y="2060575"/>
            <a:ext cx="2667000" cy="1474788"/>
          </a:xfrm>
          <a:ln w="114300" cmpd="thickThin">
            <a:solidFill>
              <a:schemeClr val="tx1"/>
            </a:solidFill>
            <a:miter lim="800000"/>
            <a:headEnd/>
            <a:tailEnd/>
          </a:ln>
        </p:spPr>
        <p:txBody>
          <a:bodyPr/>
          <a:lstStyle/>
          <a:p>
            <a:pPr eaLnBrk="1" hangingPunct="1">
              <a:buFont typeface="Wingdings" pitchFamily="2" charset="2"/>
              <a:buNone/>
              <a:defRPr/>
            </a:pPr>
            <a:r>
              <a:rPr lang="zh-CN" altLang="en-US" sz="2400" dirty="0" smtClean="0"/>
              <a:t>两个符号：</a:t>
            </a:r>
          </a:p>
          <a:p>
            <a:pPr eaLnBrk="1" hangingPunct="1">
              <a:buFont typeface="Wingdings" pitchFamily="2" charset="2"/>
              <a:buChar char="Ø"/>
              <a:defRPr/>
            </a:pPr>
            <a:r>
              <a:rPr lang="en-US" altLang="zh-CN" sz="2400" dirty="0" smtClean="0">
                <a:solidFill>
                  <a:srgbClr val="FF3300"/>
                </a:solidFill>
                <a:effectLst>
                  <a:outerShdw blurRad="38100" dist="38100" dir="2700000" algn="tl">
                    <a:srgbClr val="C0C0C0"/>
                  </a:outerShdw>
                </a:effectLst>
              </a:rPr>
              <a:t>m</a:t>
            </a:r>
            <a:r>
              <a:rPr lang="en-US" altLang="zh-CN" sz="2400" baseline="-25000" dirty="0" smtClean="0">
                <a:solidFill>
                  <a:srgbClr val="FF3300"/>
                </a:solidFill>
                <a:effectLst>
                  <a:outerShdw blurRad="38100" dist="38100" dir="2700000" algn="tl">
                    <a:srgbClr val="C0C0C0"/>
                  </a:outerShdw>
                </a:effectLst>
              </a:rPr>
              <a:t>f </a:t>
            </a:r>
            <a:r>
              <a:rPr lang="en-US" altLang="zh-CN" sz="2400" dirty="0" smtClean="0"/>
              <a:t>:</a:t>
            </a:r>
            <a:r>
              <a:rPr lang="zh-CN" altLang="en-US" sz="2400" dirty="0" smtClean="0"/>
              <a:t>尾数符号</a:t>
            </a:r>
            <a:endParaRPr lang="en-US" altLang="zh-CN" sz="2400" dirty="0" smtClean="0"/>
          </a:p>
          <a:p>
            <a:pPr eaLnBrk="1" hangingPunct="1">
              <a:buFont typeface="Wingdings" pitchFamily="2" charset="2"/>
              <a:buChar char="Ø"/>
              <a:defRPr/>
            </a:pPr>
            <a:r>
              <a:rPr lang="en-US" altLang="zh-CN" sz="2400" dirty="0" err="1" smtClean="0">
                <a:solidFill>
                  <a:srgbClr val="FF3300"/>
                </a:solidFill>
                <a:effectLst>
                  <a:outerShdw blurRad="38100" dist="38100" dir="2700000" algn="tl">
                    <a:srgbClr val="C0C0C0"/>
                  </a:outerShdw>
                </a:effectLst>
              </a:rPr>
              <a:t>e</a:t>
            </a:r>
            <a:r>
              <a:rPr lang="en-US" altLang="zh-CN" sz="2400" baseline="-25000" dirty="0" err="1" smtClean="0">
                <a:solidFill>
                  <a:srgbClr val="FF3300"/>
                </a:solidFill>
                <a:effectLst>
                  <a:outerShdw blurRad="38100" dist="38100" dir="2700000" algn="tl">
                    <a:srgbClr val="C0C0C0"/>
                  </a:outerShdw>
                </a:effectLst>
              </a:rPr>
              <a:t>f</a:t>
            </a:r>
            <a:r>
              <a:rPr lang="en-US" altLang="zh-CN" sz="2400" baseline="-25000" dirty="0" smtClean="0">
                <a:solidFill>
                  <a:srgbClr val="FF3300"/>
                </a:solidFill>
                <a:effectLst>
                  <a:outerShdw blurRad="38100" dist="38100" dir="2700000" algn="tl">
                    <a:srgbClr val="C0C0C0"/>
                  </a:outerShdw>
                </a:effectLst>
              </a:rPr>
              <a:t>   </a:t>
            </a:r>
            <a:r>
              <a:rPr lang="en-US" altLang="zh-CN" sz="2400" dirty="0" smtClean="0"/>
              <a:t>:</a:t>
            </a:r>
            <a:r>
              <a:rPr lang="zh-CN" altLang="en-US" sz="2400" dirty="0" smtClean="0"/>
              <a:t>阶码符号</a:t>
            </a:r>
          </a:p>
        </p:txBody>
      </p:sp>
      <p:sp>
        <p:nvSpPr>
          <p:cNvPr id="1638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浮点数数据表示</a:t>
            </a:r>
            <a:endParaRPr lang="zh-CN" altLang="en-US" sz="1200" b="0">
              <a:latin typeface="Times New Roman" pitchFamily="18" charset="0"/>
              <a:ea typeface="幼圆" pitchFamily="49" charset="-122"/>
            </a:endParaRPr>
          </a:p>
        </p:txBody>
      </p:sp>
      <p:graphicFrame>
        <p:nvGraphicFramePr>
          <p:cNvPr id="16389" name="Object 9"/>
          <p:cNvGraphicFramePr>
            <a:graphicFrameLocks/>
          </p:cNvGraphicFramePr>
          <p:nvPr/>
        </p:nvGraphicFramePr>
        <p:xfrm>
          <a:off x="3719513" y="2374900"/>
          <a:ext cx="2228850" cy="860425"/>
        </p:xfrm>
        <a:graphic>
          <a:graphicData uri="http://schemas.openxmlformats.org/presentationml/2006/ole">
            <mc:AlternateContent xmlns:mc="http://schemas.openxmlformats.org/markup-compatibility/2006">
              <mc:Choice xmlns:v="urn:schemas-microsoft-com:vml" Requires="v">
                <p:oleObj spid="_x0000_s16453" name="Equation" r:id="rId7" imgW="710891" imgH="279279" progId="Equation.3">
                  <p:embed/>
                </p:oleObj>
              </mc:Choice>
              <mc:Fallback>
                <p:oleObj name="Equation" r:id="rId7" imgW="710891" imgH="279279" progId="Equation.3">
                  <p:embed/>
                  <p:pic>
                    <p:nvPicPr>
                      <p:cNvPr id="0" name="Object 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9513" y="2374900"/>
                        <a:ext cx="2228850" cy="860425"/>
                      </a:xfrm>
                      <a:prstGeom prst="rect">
                        <a:avLst/>
                      </a:prstGeom>
                      <a:solidFill>
                        <a:srgbClr val="FFFF00"/>
                      </a:solidFill>
                      <a:ln>
                        <a:noFill/>
                      </a:ln>
                      <a:effectLst>
                        <a:outerShdw dist="107763"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390" name="Group 10"/>
          <p:cNvGrpSpPr>
            <a:grpSpLocks/>
          </p:cNvGrpSpPr>
          <p:nvPr/>
        </p:nvGrpSpPr>
        <p:grpSpPr bwMode="auto">
          <a:xfrm>
            <a:off x="1052513" y="3670300"/>
            <a:ext cx="7364412" cy="696913"/>
            <a:chOff x="480" y="864"/>
            <a:chExt cx="4416" cy="768"/>
          </a:xfrm>
        </p:grpSpPr>
        <p:sp>
          <p:nvSpPr>
            <p:cNvPr id="16394" name="Rectangle 11"/>
            <p:cNvSpPr>
              <a:spLocks noChangeArrowheads="1"/>
            </p:cNvSpPr>
            <p:nvPr/>
          </p:nvSpPr>
          <p:spPr bwMode="auto">
            <a:xfrm>
              <a:off x="480" y="864"/>
              <a:ext cx="62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r>
                <a:rPr lang="zh-CN" altLang="en-US" sz="2400">
                  <a:solidFill>
                    <a:schemeClr val="tx2"/>
                  </a:solidFill>
                </a:rPr>
                <a:t>位</a:t>
              </a:r>
            </a:p>
          </p:txBody>
        </p:sp>
        <p:sp>
          <p:nvSpPr>
            <p:cNvPr id="16395" name="Rectangle 12"/>
            <p:cNvSpPr>
              <a:spLocks noChangeArrowheads="1"/>
            </p:cNvSpPr>
            <p:nvPr/>
          </p:nvSpPr>
          <p:spPr bwMode="auto">
            <a:xfrm>
              <a:off x="1104" y="864"/>
              <a:ext cx="62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r>
                <a:rPr lang="zh-CN" altLang="en-US" sz="2400">
                  <a:solidFill>
                    <a:schemeClr val="tx2"/>
                  </a:solidFill>
                </a:rPr>
                <a:t>位</a:t>
              </a:r>
            </a:p>
          </p:txBody>
        </p:sp>
        <p:sp>
          <p:nvSpPr>
            <p:cNvPr id="16396" name="Rectangle 13"/>
            <p:cNvSpPr>
              <a:spLocks noChangeArrowheads="1"/>
            </p:cNvSpPr>
            <p:nvPr/>
          </p:nvSpPr>
          <p:spPr bwMode="auto">
            <a:xfrm>
              <a:off x="1728" y="864"/>
              <a:ext cx="15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q</a:t>
              </a:r>
              <a:r>
                <a:rPr lang="zh-CN" altLang="en-US" sz="2400">
                  <a:solidFill>
                    <a:schemeClr val="tx2"/>
                  </a:solidFill>
                </a:rPr>
                <a:t>位</a:t>
              </a:r>
            </a:p>
          </p:txBody>
        </p:sp>
        <p:sp>
          <p:nvSpPr>
            <p:cNvPr id="16397" name="Rectangle 14"/>
            <p:cNvSpPr>
              <a:spLocks noChangeArrowheads="1"/>
            </p:cNvSpPr>
            <p:nvPr/>
          </p:nvSpPr>
          <p:spPr bwMode="auto">
            <a:xfrm>
              <a:off x="3312" y="864"/>
              <a:ext cx="158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a:t>
              </a:r>
              <a:r>
                <a:rPr lang="zh-CN" altLang="en-US" sz="2400">
                  <a:solidFill>
                    <a:schemeClr val="tx2"/>
                  </a:solidFill>
                </a:rPr>
                <a:t>位</a:t>
              </a:r>
            </a:p>
          </p:txBody>
        </p:sp>
        <p:sp>
          <p:nvSpPr>
            <p:cNvPr id="16398" name="Rectangle 15"/>
            <p:cNvSpPr>
              <a:spLocks noChangeArrowheads="1"/>
            </p:cNvSpPr>
            <p:nvPr/>
          </p:nvSpPr>
          <p:spPr bwMode="auto">
            <a:xfrm>
              <a:off x="480" y="1248"/>
              <a:ext cx="624" cy="38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m</a:t>
              </a:r>
              <a:r>
                <a:rPr lang="en-US" altLang="zh-CN" sz="2400" baseline="-25000">
                  <a:solidFill>
                    <a:schemeClr val="tx2"/>
                  </a:solidFill>
                </a:rPr>
                <a:t>f</a:t>
              </a:r>
              <a:endParaRPr lang="en-US" altLang="zh-CN" sz="2400">
                <a:solidFill>
                  <a:schemeClr val="tx2"/>
                </a:solidFill>
              </a:endParaRPr>
            </a:p>
          </p:txBody>
        </p:sp>
        <p:sp>
          <p:nvSpPr>
            <p:cNvPr id="16399" name="Rectangle 16"/>
            <p:cNvSpPr>
              <a:spLocks noChangeArrowheads="1"/>
            </p:cNvSpPr>
            <p:nvPr/>
          </p:nvSpPr>
          <p:spPr bwMode="auto">
            <a:xfrm>
              <a:off x="1104" y="1248"/>
              <a:ext cx="624" cy="38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e</a:t>
              </a:r>
              <a:r>
                <a:rPr lang="en-US" altLang="zh-CN" sz="2400" baseline="-25000">
                  <a:solidFill>
                    <a:schemeClr val="tx2"/>
                  </a:solidFill>
                </a:rPr>
                <a:t>f</a:t>
              </a:r>
              <a:endParaRPr lang="en-US" altLang="zh-CN" sz="2400">
                <a:solidFill>
                  <a:schemeClr val="tx2"/>
                </a:solidFill>
              </a:endParaRPr>
            </a:p>
          </p:txBody>
        </p:sp>
        <p:sp>
          <p:nvSpPr>
            <p:cNvPr id="16400" name="Rectangle 17"/>
            <p:cNvSpPr>
              <a:spLocks noChangeArrowheads="1"/>
            </p:cNvSpPr>
            <p:nvPr/>
          </p:nvSpPr>
          <p:spPr bwMode="auto">
            <a:xfrm>
              <a:off x="1728" y="1248"/>
              <a:ext cx="1584" cy="38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e</a:t>
              </a:r>
            </a:p>
          </p:txBody>
        </p:sp>
        <p:sp>
          <p:nvSpPr>
            <p:cNvPr id="16401" name="Rectangle 18"/>
            <p:cNvSpPr>
              <a:spLocks noChangeArrowheads="1"/>
            </p:cNvSpPr>
            <p:nvPr/>
          </p:nvSpPr>
          <p:spPr bwMode="auto">
            <a:xfrm>
              <a:off x="3312" y="1248"/>
              <a:ext cx="1584" cy="38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m</a:t>
              </a:r>
            </a:p>
          </p:txBody>
        </p:sp>
      </p:grpSp>
      <p:sp>
        <p:nvSpPr>
          <p:cNvPr id="236563" name="Rectangle 19"/>
          <p:cNvSpPr>
            <a:spLocks noChangeArrowheads="1"/>
          </p:cNvSpPr>
          <p:nvPr/>
        </p:nvSpPr>
        <p:spPr bwMode="auto">
          <a:xfrm>
            <a:off x="6157913" y="2133600"/>
            <a:ext cx="2667000" cy="1460500"/>
          </a:xfrm>
          <a:prstGeom prst="rect">
            <a:avLst/>
          </a:prstGeom>
          <a:noFill/>
          <a:ln w="11430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itchFamily="18" charset="0"/>
                <a:ea typeface="宋体" pitchFamily="2" charset="-122"/>
              </a:defRPr>
            </a:lvl1pPr>
            <a:lvl2pPr marL="742950" indent="-285750">
              <a:spcBef>
                <a:spcPct val="0"/>
              </a:spcBef>
              <a:defRPr kumimoji="1" sz="2400">
                <a:solidFill>
                  <a:schemeClr val="tx1"/>
                </a:solidFill>
                <a:latin typeface="Times New Roman" pitchFamily="18" charset="0"/>
                <a:ea typeface="宋体" pitchFamily="2" charset="-122"/>
              </a:defRPr>
            </a:lvl2pPr>
            <a:lvl3pPr marL="1085850" indent="-228600">
              <a:spcBef>
                <a:spcPct val="0"/>
              </a:spcBef>
              <a:defRPr kumimoji="1" sz="2400">
                <a:solidFill>
                  <a:schemeClr val="tx1"/>
                </a:solidFill>
                <a:latin typeface="Times New Roman" pitchFamily="18" charset="0"/>
                <a:ea typeface="宋体" pitchFamily="2" charset="-122"/>
              </a:defRPr>
            </a:lvl3pPr>
            <a:lvl4pPr marL="1428750" indent="-228600">
              <a:spcBef>
                <a:spcPct val="0"/>
              </a:spcBef>
              <a:defRPr kumimoji="1" sz="2400">
                <a:solidFill>
                  <a:schemeClr val="tx1"/>
                </a:solidFill>
                <a:latin typeface="Times New Roman" pitchFamily="18" charset="0"/>
                <a:ea typeface="宋体" pitchFamily="2" charset="-122"/>
              </a:defRPr>
            </a:lvl4pPr>
            <a:lvl5pPr marL="1771650" indent="-228600">
              <a:spcBef>
                <a:spcPct val="0"/>
              </a:spcBef>
              <a:defRPr kumimoji="1" sz="2400">
                <a:solidFill>
                  <a:schemeClr val="tx1"/>
                </a:solidFill>
                <a:latin typeface="Times New Roman" pitchFamily="18" charset="0"/>
                <a:ea typeface="宋体" pitchFamily="2" charset="-122"/>
              </a:defRPr>
            </a:lvl5pPr>
            <a:lvl6pPr marL="2228850" indent="-228600" fontAlgn="base">
              <a:spcBef>
                <a:spcPct val="0"/>
              </a:spcBef>
              <a:spcAft>
                <a:spcPct val="0"/>
              </a:spcAft>
              <a:defRPr kumimoji="1" sz="2400">
                <a:solidFill>
                  <a:schemeClr val="tx1"/>
                </a:solidFill>
                <a:latin typeface="Times New Roman" pitchFamily="18" charset="0"/>
                <a:ea typeface="宋体" pitchFamily="2" charset="-122"/>
              </a:defRPr>
            </a:lvl6pPr>
            <a:lvl7pPr marL="2686050" indent="-228600" fontAlgn="base">
              <a:spcBef>
                <a:spcPct val="0"/>
              </a:spcBef>
              <a:spcAft>
                <a:spcPct val="0"/>
              </a:spcAft>
              <a:defRPr kumimoji="1" sz="2400">
                <a:solidFill>
                  <a:schemeClr val="tx1"/>
                </a:solidFill>
                <a:latin typeface="Times New Roman" pitchFamily="18" charset="0"/>
                <a:ea typeface="宋体" pitchFamily="2" charset="-122"/>
              </a:defRPr>
            </a:lvl7pPr>
            <a:lvl8pPr marL="3143250" indent="-228600" fontAlgn="base">
              <a:spcBef>
                <a:spcPct val="0"/>
              </a:spcBef>
              <a:spcAft>
                <a:spcPct val="0"/>
              </a:spcAft>
              <a:defRPr kumimoji="1" sz="2400">
                <a:solidFill>
                  <a:schemeClr val="tx1"/>
                </a:solidFill>
                <a:latin typeface="Times New Roman" pitchFamily="18" charset="0"/>
                <a:ea typeface="宋体" pitchFamily="2" charset="-122"/>
              </a:defRPr>
            </a:lvl8pPr>
            <a:lvl9pPr marL="3600450"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defRPr/>
            </a:pPr>
            <a:r>
              <a:rPr lang="zh-CN" altLang="en-US" b="1" smtClean="0">
                <a:latin typeface="Arial" charset="0"/>
                <a:ea typeface="楷体_GB2312" pitchFamily="49" charset="-122"/>
              </a:rPr>
              <a:t>两个数值：</a:t>
            </a:r>
          </a:p>
          <a:p>
            <a:pPr>
              <a:spcBef>
                <a:spcPct val="20000"/>
              </a:spcBef>
              <a:buFont typeface="Wingdings" pitchFamily="2" charset="2"/>
              <a:buChar char="Ø"/>
              <a:defRPr/>
            </a:pPr>
            <a:r>
              <a:rPr lang="en-US" altLang="zh-CN" b="1" smtClean="0">
                <a:solidFill>
                  <a:srgbClr val="FF3300"/>
                </a:solidFill>
                <a:effectLst>
                  <a:outerShdw blurRad="38100" dist="38100" dir="2700000" algn="tl">
                    <a:srgbClr val="C0C0C0"/>
                  </a:outerShdw>
                </a:effectLst>
                <a:latin typeface="Arial" charset="0"/>
                <a:ea typeface="楷体_GB2312" pitchFamily="49" charset="-122"/>
              </a:rPr>
              <a:t>m </a:t>
            </a:r>
            <a:r>
              <a:rPr lang="en-US" altLang="zh-CN" b="1" smtClean="0">
                <a:latin typeface="Arial" charset="0"/>
                <a:ea typeface="楷体_GB2312" pitchFamily="49" charset="-122"/>
              </a:rPr>
              <a:t>:</a:t>
            </a:r>
            <a:r>
              <a:rPr lang="zh-CN" altLang="en-US" b="1" smtClean="0">
                <a:latin typeface="Arial" charset="0"/>
                <a:ea typeface="楷体_GB2312" pitchFamily="49" charset="-122"/>
              </a:rPr>
              <a:t>尾数的值</a:t>
            </a:r>
          </a:p>
          <a:p>
            <a:pPr>
              <a:spcBef>
                <a:spcPct val="20000"/>
              </a:spcBef>
              <a:buFont typeface="Wingdings" pitchFamily="2" charset="2"/>
              <a:buChar char="Ø"/>
              <a:defRPr/>
            </a:pPr>
            <a:r>
              <a:rPr lang="en-US" altLang="zh-CN" b="1" smtClean="0">
                <a:solidFill>
                  <a:srgbClr val="FF3300"/>
                </a:solidFill>
                <a:effectLst>
                  <a:outerShdw blurRad="38100" dist="38100" dir="2700000" algn="tl">
                    <a:srgbClr val="C0C0C0"/>
                  </a:outerShdw>
                </a:effectLst>
                <a:latin typeface="Arial" charset="0"/>
                <a:ea typeface="楷体_GB2312" pitchFamily="49" charset="-122"/>
              </a:rPr>
              <a:t>e</a:t>
            </a:r>
            <a:r>
              <a:rPr lang="en-US" altLang="zh-CN" b="1" smtClean="0">
                <a:latin typeface="Arial" charset="0"/>
                <a:ea typeface="楷体_GB2312" pitchFamily="49" charset="-122"/>
              </a:rPr>
              <a:t>  :</a:t>
            </a:r>
            <a:r>
              <a:rPr lang="zh-CN" altLang="en-US" b="1" smtClean="0">
                <a:latin typeface="Arial" charset="0"/>
                <a:ea typeface="楷体_GB2312" pitchFamily="49" charset="-122"/>
              </a:rPr>
              <a:t>阶码的值</a:t>
            </a:r>
          </a:p>
        </p:txBody>
      </p:sp>
      <p:sp>
        <p:nvSpPr>
          <p:cNvPr id="236564" name="Rectangle 20"/>
          <p:cNvSpPr>
            <a:spLocks noChangeArrowheads="1"/>
          </p:cNvSpPr>
          <p:nvPr/>
        </p:nvSpPr>
        <p:spPr bwMode="auto">
          <a:xfrm>
            <a:off x="881063" y="4652963"/>
            <a:ext cx="2667000" cy="1455737"/>
          </a:xfrm>
          <a:prstGeom prst="rect">
            <a:avLst/>
          </a:prstGeom>
          <a:noFill/>
          <a:ln w="11430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itchFamily="18" charset="0"/>
                <a:ea typeface="宋体" pitchFamily="2" charset="-122"/>
              </a:defRPr>
            </a:lvl1pPr>
            <a:lvl2pPr marL="742950" indent="-285750">
              <a:spcBef>
                <a:spcPct val="0"/>
              </a:spcBef>
              <a:defRPr kumimoji="1" sz="2400">
                <a:solidFill>
                  <a:schemeClr val="tx1"/>
                </a:solidFill>
                <a:latin typeface="Times New Roman" pitchFamily="18" charset="0"/>
                <a:ea typeface="宋体" pitchFamily="2" charset="-122"/>
              </a:defRPr>
            </a:lvl2pPr>
            <a:lvl3pPr marL="1085850" indent="-228600">
              <a:spcBef>
                <a:spcPct val="0"/>
              </a:spcBef>
              <a:defRPr kumimoji="1" sz="2400">
                <a:solidFill>
                  <a:schemeClr val="tx1"/>
                </a:solidFill>
                <a:latin typeface="Times New Roman" pitchFamily="18" charset="0"/>
                <a:ea typeface="宋体" pitchFamily="2" charset="-122"/>
              </a:defRPr>
            </a:lvl3pPr>
            <a:lvl4pPr marL="1428750" indent="-228600">
              <a:spcBef>
                <a:spcPct val="0"/>
              </a:spcBef>
              <a:defRPr kumimoji="1" sz="2400">
                <a:solidFill>
                  <a:schemeClr val="tx1"/>
                </a:solidFill>
                <a:latin typeface="Times New Roman" pitchFamily="18" charset="0"/>
                <a:ea typeface="宋体" pitchFamily="2" charset="-122"/>
              </a:defRPr>
            </a:lvl4pPr>
            <a:lvl5pPr marL="1771650" indent="-228600">
              <a:spcBef>
                <a:spcPct val="0"/>
              </a:spcBef>
              <a:defRPr kumimoji="1" sz="2400">
                <a:solidFill>
                  <a:schemeClr val="tx1"/>
                </a:solidFill>
                <a:latin typeface="Times New Roman" pitchFamily="18" charset="0"/>
                <a:ea typeface="宋体" pitchFamily="2" charset="-122"/>
              </a:defRPr>
            </a:lvl5pPr>
            <a:lvl6pPr marL="2228850" indent="-228600" fontAlgn="base">
              <a:spcBef>
                <a:spcPct val="0"/>
              </a:spcBef>
              <a:spcAft>
                <a:spcPct val="0"/>
              </a:spcAft>
              <a:defRPr kumimoji="1" sz="2400">
                <a:solidFill>
                  <a:schemeClr val="tx1"/>
                </a:solidFill>
                <a:latin typeface="Times New Roman" pitchFamily="18" charset="0"/>
                <a:ea typeface="宋体" pitchFamily="2" charset="-122"/>
              </a:defRPr>
            </a:lvl6pPr>
            <a:lvl7pPr marL="2686050" indent="-228600" fontAlgn="base">
              <a:spcBef>
                <a:spcPct val="0"/>
              </a:spcBef>
              <a:spcAft>
                <a:spcPct val="0"/>
              </a:spcAft>
              <a:defRPr kumimoji="1" sz="2400">
                <a:solidFill>
                  <a:schemeClr val="tx1"/>
                </a:solidFill>
                <a:latin typeface="Times New Roman" pitchFamily="18" charset="0"/>
                <a:ea typeface="宋体" pitchFamily="2" charset="-122"/>
              </a:defRPr>
            </a:lvl7pPr>
            <a:lvl8pPr marL="3143250" indent="-228600" fontAlgn="base">
              <a:spcBef>
                <a:spcPct val="0"/>
              </a:spcBef>
              <a:spcAft>
                <a:spcPct val="0"/>
              </a:spcAft>
              <a:defRPr kumimoji="1" sz="2400">
                <a:solidFill>
                  <a:schemeClr val="tx1"/>
                </a:solidFill>
                <a:latin typeface="Times New Roman" pitchFamily="18" charset="0"/>
                <a:ea typeface="宋体" pitchFamily="2" charset="-122"/>
              </a:defRPr>
            </a:lvl8pPr>
            <a:lvl9pPr marL="3600450"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defRPr/>
            </a:pPr>
            <a:r>
              <a:rPr lang="zh-CN" altLang="en-US" b="1" smtClean="0">
                <a:latin typeface="Arial" charset="0"/>
                <a:ea typeface="楷体_GB2312" pitchFamily="49" charset="-122"/>
              </a:rPr>
              <a:t>两个基：</a:t>
            </a:r>
          </a:p>
          <a:p>
            <a:pPr>
              <a:spcBef>
                <a:spcPct val="20000"/>
              </a:spcBef>
              <a:buFont typeface="Wingdings" pitchFamily="2" charset="2"/>
              <a:buChar char="Ø"/>
              <a:defRPr/>
            </a:pPr>
            <a:r>
              <a:rPr lang="en-US" altLang="zh-CN" b="1" smtClean="0">
                <a:solidFill>
                  <a:srgbClr val="FF3300"/>
                </a:solidFill>
                <a:effectLst>
                  <a:outerShdw blurRad="38100" dist="38100" dir="2700000" algn="tl">
                    <a:srgbClr val="C0C0C0"/>
                  </a:outerShdw>
                </a:effectLst>
                <a:latin typeface="Arial" charset="0"/>
                <a:ea typeface="楷体_GB2312" pitchFamily="49" charset="-122"/>
              </a:rPr>
              <a:t>r</a:t>
            </a:r>
            <a:r>
              <a:rPr lang="en-US" altLang="zh-CN" b="1" baseline="-25000" smtClean="0">
                <a:solidFill>
                  <a:srgbClr val="FF3300"/>
                </a:solidFill>
                <a:effectLst>
                  <a:outerShdw blurRad="38100" dist="38100" dir="2700000" algn="tl">
                    <a:srgbClr val="C0C0C0"/>
                  </a:outerShdw>
                </a:effectLst>
                <a:latin typeface="Arial" charset="0"/>
                <a:ea typeface="楷体_GB2312" pitchFamily="49" charset="-122"/>
              </a:rPr>
              <a:t>m </a:t>
            </a:r>
            <a:r>
              <a:rPr lang="en-US" altLang="zh-CN" b="1" smtClean="0">
                <a:latin typeface="Arial" charset="0"/>
                <a:ea typeface="楷体_GB2312" pitchFamily="49" charset="-122"/>
              </a:rPr>
              <a:t>:</a:t>
            </a:r>
            <a:r>
              <a:rPr lang="zh-CN" altLang="en-US" b="1" smtClean="0">
                <a:latin typeface="Arial" charset="0"/>
                <a:ea typeface="楷体_GB2312" pitchFamily="49" charset="-122"/>
              </a:rPr>
              <a:t>尾数的基</a:t>
            </a:r>
            <a:endParaRPr lang="en-US" altLang="zh-CN" b="1" smtClean="0">
              <a:latin typeface="Arial" charset="0"/>
              <a:ea typeface="楷体_GB2312" pitchFamily="49" charset="-122"/>
            </a:endParaRPr>
          </a:p>
          <a:p>
            <a:pPr>
              <a:spcBef>
                <a:spcPct val="20000"/>
              </a:spcBef>
              <a:buFont typeface="Wingdings" pitchFamily="2" charset="2"/>
              <a:buChar char="Ø"/>
              <a:defRPr/>
            </a:pPr>
            <a:r>
              <a:rPr lang="en-US" altLang="zh-CN" b="1" smtClean="0">
                <a:solidFill>
                  <a:srgbClr val="FF3300"/>
                </a:solidFill>
                <a:effectLst>
                  <a:outerShdw blurRad="38100" dist="38100" dir="2700000" algn="tl">
                    <a:srgbClr val="C0C0C0"/>
                  </a:outerShdw>
                </a:effectLst>
                <a:latin typeface="Arial" charset="0"/>
                <a:ea typeface="楷体_GB2312" pitchFamily="49" charset="-122"/>
              </a:rPr>
              <a:t>r</a:t>
            </a:r>
            <a:r>
              <a:rPr lang="en-US" altLang="zh-CN" b="1" baseline="-25000" smtClean="0">
                <a:solidFill>
                  <a:srgbClr val="FF3300"/>
                </a:solidFill>
                <a:effectLst>
                  <a:outerShdw blurRad="38100" dist="38100" dir="2700000" algn="tl">
                    <a:srgbClr val="C0C0C0"/>
                  </a:outerShdw>
                </a:effectLst>
                <a:latin typeface="Arial" charset="0"/>
                <a:ea typeface="楷体_GB2312" pitchFamily="49" charset="-122"/>
              </a:rPr>
              <a:t>e</a:t>
            </a:r>
            <a:r>
              <a:rPr lang="en-US" altLang="zh-CN" b="1" smtClean="0">
                <a:solidFill>
                  <a:srgbClr val="FF3300"/>
                </a:solidFill>
                <a:effectLst>
                  <a:outerShdw blurRad="38100" dist="38100" dir="2700000" algn="tl">
                    <a:srgbClr val="C0C0C0"/>
                  </a:outerShdw>
                </a:effectLst>
                <a:latin typeface="Arial" charset="0"/>
                <a:ea typeface="楷体_GB2312" pitchFamily="49" charset="-122"/>
              </a:rPr>
              <a:t> </a:t>
            </a:r>
            <a:r>
              <a:rPr lang="en-US" altLang="zh-CN" b="1" smtClean="0">
                <a:latin typeface="Arial" charset="0"/>
                <a:ea typeface="楷体_GB2312" pitchFamily="49" charset="-122"/>
              </a:rPr>
              <a:t>:</a:t>
            </a:r>
            <a:r>
              <a:rPr lang="zh-CN" altLang="en-US" b="1" smtClean="0">
                <a:latin typeface="Arial" charset="0"/>
                <a:ea typeface="楷体_GB2312" pitchFamily="49" charset="-122"/>
              </a:rPr>
              <a:t>阶码的基</a:t>
            </a:r>
          </a:p>
        </p:txBody>
      </p:sp>
      <p:sp>
        <p:nvSpPr>
          <p:cNvPr id="236565" name="Rectangle 21"/>
          <p:cNvSpPr>
            <a:spLocks noChangeArrowheads="1"/>
          </p:cNvSpPr>
          <p:nvPr/>
        </p:nvSpPr>
        <p:spPr bwMode="auto">
          <a:xfrm>
            <a:off x="6081713" y="4581525"/>
            <a:ext cx="2743200" cy="1584325"/>
          </a:xfrm>
          <a:prstGeom prst="rect">
            <a:avLst/>
          </a:prstGeom>
          <a:noFill/>
          <a:ln w="11430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itchFamily="18" charset="0"/>
                <a:ea typeface="宋体" pitchFamily="2" charset="-122"/>
              </a:defRPr>
            </a:lvl1pPr>
            <a:lvl2pPr marL="742950" indent="-285750">
              <a:spcBef>
                <a:spcPct val="0"/>
              </a:spcBef>
              <a:defRPr kumimoji="1" sz="2400">
                <a:solidFill>
                  <a:schemeClr val="tx1"/>
                </a:solidFill>
                <a:latin typeface="Times New Roman" pitchFamily="18" charset="0"/>
                <a:ea typeface="宋体" pitchFamily="2" charset="-122"/>
              </a:defRPr>
            </a:lvl2pPr>
            <a:lvl3pPr marL="1085850" indent="-228600">
              <a:spcBef>
                <a:spcPct val="0"/>
              </a:spcBef>
              <a:defRPr kumimoji="1" sz="2400">
                <a:solidFill>
                  <a:schemeClr val="tx1"/>
                </a:solidFill>
                <a:latin typeface="Times New Roman" pitchFamily="18" charset="0"/>
                <a:ea typeface="宋体" pitchFamily="2" charset="-122"/>
              </a:defRPr>
            </a:lvl3pPr>
            <a:lvl4pPr marL="1428750" indent="-228600">
              <a:spcBef>
                <a:spcPct val="0"/>
              </a:spcBef>
              <a:defRPr kumimoji="1" sz="2400">
                <a:solidFill>
                  <a:schemeClr val="tx1"/>
                </a:solidFill>
                <a:latin typeface="Times New Roman" pitchFamily="18" charset="0"/>
                <a:ea typeface="宋体" pitchFamily="2" charset="-122"/>
              </a:defRPr>
            </a:lvl4pPr>
            <a:lvl5pPr marL="1771650" indent="-228600">
              <a:spcBef>
                <a:spcPct val="0"/>
              </a:spcBef>
              <a:defRPr kumimoji="1" sz="2400">
                <a:solidFill>
                  <a:schemeClr val="tx1"/>
                </a:solidFill>
                <a:latin typeface="Times New Roman" pitchFamily="18" charset="0"/>
                <a:ea typeface="宋体" pitchFamily="2" charset="-122"/>
              </a:defRPr>
            </a:lvl5pPr>
            <a:lvl6pPr marL="2228850" indent="-228600" fontAlgn="base">
              <a:spcBef>
                <a:spcPct val="0"/>
              </a:spcBef>
              <a:spcAft>
                <a:spcPct val="0"/>
              </a:spcAft>
              <a:defRPr kumimoji="1" sz="2400">
                <a:solidFill>
                  <a:schemeClr val="tx1"/>
                </a:solidFill>
                <a:latin typeface="Times New Roman" pitchFamily="18" charset="0"/>
                <a:ea typeface="宋体" pitchFamily="2" charset="-122"/>
              </a:defRPr>
            </a:lvl6pPr>
            <a:lvl7pPr marL="2686050" indent="-228600" fontAlgn="base">
              <a:spcBef>
                <a:spcPct val="0"/>
              </a:spcBef>
              <a:spcAft>
                <a:spcPct val="0"/>
              </a:spcAft>
              <a:defRPr kumimoji="1" sz="2400">
                <a:solidFill>
                  <a:schemeClr val="tx1"/>
                </a:solidFill>
                <a:latin typeface="Times New Roman" pitchFamily="18" charset="0"/>
                <a:ea typeface="宋体" pitchFamily="2" charset="-122"/>
              </a:defRPr>
            </a:lvl7pPr>
            <a:lvl8pPr marL="3143250" indent="-228600" fontAlgn="base">
              <a:spcBef>
                <a:spcPct val="0"/>
              </a:spcBef>
              <a:spcAft>
                <a:spcPct val="0"/>
              </a:spcAft>
              <a:defRPr kumimoji="1" sz="2400">
                <a:solidFill>
                  <a:schemeClr val="tx1"/>
                </a:solidFill>
                <a:latin typeface="Times New Roman" pitchFamily="18" charset="0"/>
                <a:ea typeface="宋体" pitchFamily="2" charset="-122"/>
              </a:defRPr>
            </a:lvl8pPr>
            <a:lvl9pPr marL="3600450"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defRPr/>
            </a:pPr>
            <a:r>
              <a:rPr lang="zh-CN" altLang="en-US" b="1" dirty="0" smtClean="0">
                <a:latin typeface="Arial" charset="0"/>
                <a:ea typeface="楷体_GB2312" pitchFamily="49" charset="-122"/>
              </a:rPr>
              <a:t>两个字长</a:t>
            </a:r>
            <a:r>
              <a:rPr lang="en-US" altLang="zh-CN" b="1" dirty="0" smtClean="0">
                <a:latin typeface="Arial" charset="0"/>
                <a:ea typeface="楷体_GB2312" pitchFamily="49" charset="-122"/>
              </a:rPr>
              <a:t>：</a:t>
            </a:r>
          </a:p>
          <a:p>
            <a:pPr>
              <a:spcBef>
                <a:spcPct val="20000"/>
              </a:spcBef>
              <a:buFont typeface="Wingdings" pitchFamily="2" charset="2"/>
              <a:buChar char="Ø"/>
              <a:defRPr/>
            </a:pPr>
            <a:r>
              <a:rPr lang="en-US" altLang="zh-CN" b="1" dirty="0" smtClean="0">
                <a:solidFill>
                  <a:srgbClr val="FF3300"/>
                </a:solidFill>
                <a:effectLst>
                  <a:outerShdw blurRad="38100" dist="38100" dir="2700000" algn="tl">
                    <a:srgbClr val="C0C0C0"/>
                  </a:outerShdw>
                </a:effectLst>
                <a:latin typeface="Arial" charset="0"/>
                <a:ea typeface="楷体_GB2312" pitchFamily="49" charset="-122"/>
              </a:rPr>
              <a:t>p</a:t>
            </a:r>
            <a:r>
              <a:rPr lang="en-US" altLang="zh-CN" sz="2800" dirty="0" smtClean="0"/>
              <a:t> </a:t>
            </a:r>
            <a:r>
              <a:rPr lang="en-US" altLang="zh-CN" sz="2800" b="1" dirty="0" smtClean="0"/>
              <a:t>:</a:t>
            </a:r>
            <a:r>
              <a:rPr lang="zh-CN" altLang="en-US" b="1" dirty="0" smtClean="0">
                <a:latin typeface="Arial" charset="0"/>
                <a:ea typeface="楷体_GB2312" pitchFamily="49" charset="-122"/>
              </a:rPr>
              <a:t>尾数的长度</a:t>
            </a:r>
          </a:p>
          <a:p>
            <a:pPr>
              <a:spcBef>
                <a:spcPct val="20000"/>
              </a:spcBef>
              <a:buFont typeface="Wingdings" pitchFamily="2" charset="2"/>
              <a:buChar char="Ø"/>
              <a:defRPr/>
            </a:pPr>
            <a:r>
              <a:rPr lang="en-US" altLang="zh-CN" b="1" dirty="0" smtClean="0">
                <a:solidFill>
                  <a:srgbClr val="FF3300"/>
                </a:solidFill>
                <a:effectLst>
                  <a:outerShdw blurRad="38100" dist="38100" dir="2700000" algn="tl">
                    <a:srgbClr val="C0C0C0"/>
                  </a:outerShdw>
                </a:effectLst>
                <a:latin typeface="Arial" charset="0"/>
                <a:ea typeface="楷体_GB2312" pitchFamily="49" charset="-122"/>
              </a:rPr>
              <a:t>q</a:t>
            </a:r>
            <a:r>
              <a:rPr lang="en-US" altLang="zh-CN" b="1" dirty="0" smtClean="0">
                <a:latin typeface="Arial" charset="0"/>
                <a:ea typeface="楷体_GB2312" pitchFamily="49" charset="-122"/>
              </a:rPr>
              <a:t> </a:t>
            </a:r>
            <a:r>
              <a:rPr lang="en-US" altLang="zh-CN" sz="2800" b="1" dirty="0" smtClean="0"/>
              <a:t>:</a:t>
            </a:r>
            <a:r>
              <a:rPr lang="zh-CN" altLang="en-US" b="1" dirty="0" smtClean="0">
                <a:latin typeface="Arial" charset="0"/>
                <a:ea typeface="楷体_GB2312" pitchFamily="49" charset="-122"/>
              </a:rPr>
              <a:t>阶码的长度</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pPr eaLnBrk="1" hangingPunct="1">
              <a:defRPr/>
            </a:pPr>
            <a:r>
              <a:rPr lang="zh-CN" altLang="en-US" smtClean="0"/>
              <a:t>浮点数尾数基值</a:t>
            </a:r>
            <a:br>
              <a:rPr lang="zh-CN" altLang="en-US" smtClean="0"/>
            </a:br>
            <a:r>
              <a:rPr lang="zh-CN" altLang="en-US" smtClean="0"/>
              <a:t>的选择</a:t>
            </a:r>
          </a:p>
        </p:txBody>
      </p:sp>
      <p:sp>
        <p:nvSpPr>
          <p:cNvPr id="241668" name="Rectangle 4"/>
          <p:cNvSpPr>
            <a:spLocks noGrp="1" noChangeArrowheads="1"/>
          </p:cNvSpPr>
          <p:nvPr>
            <p:ph type="body" sz="half" idx="1"/>
          </p:nvPr>
        </p:nvSpPr>
        <p:spPr>
          <a:xfrm>
            <a:off x="914400" y="1916113"/>
            <a:ext cx="3873500" cy="4408487"/>
          </a:xfrm>
          <a:solidFill>
            <a:srgbClr val="FFCC99"/>
          </a:solidFill>
          <a:ln w="57150" cmpd="thickThin">
            <a:solidFill>
              <a:schemeClr val="tx1"/>
            </a:solidFill>
            <a:miter lim="800000"/>
            <a:headEnd/>
            <a:tailEnd/>
          </a:ln>
        </p:spPr>
        <p:txBody>
          <a:bodyPr/>
          <a:lstStyle/>
          <a:p>
            <a:pPr eaLnBrk="1" hangingPunct="1">
              <a:lnSpc>
                <a:spcPct val="95000"/>
              </a:lnSpc>
              <a:buClr>
                <a:srgbClr val="FF3300"/>
              </a:buClr>
              <a:buFont typeface="Wingdings" pitchFamily="2" charset="2"/>
              <a:buChar char="Ø"/>
              <a:defRPr/>
            </a:pPr>
            <a:r>
              <a:rPr lang="zh-CN" altLang="en-US" sz="2400" smtClean="0">
                <a:solidFill>
                  <a:srgbClr val="FF3300"/>
                </a:solidFill>
                <a:effectLst>
                  <a:outerShdw blurRad="38100" dist="38100" dir="2700000" algn="tl">
                    <a:srgbClr val="000000"/>
                  </a:outerShdw>
                </a:effectLst>
              </a:rPr>
              <a:t>表数范围</a:t>
            </a:r>
          </a:p>
          <a:p>
            <a:pPr eaLnBrk="1" hangingPunct="1">
              <a:lnSpc>
                <a:spcPct val="95000"/>
              </a:lnSpc>
              <a:buFont typeface="Wingdings" pitchFamily="2" charset="2"/>
              <a:buNone/>
              <a:defRPr/>
            </a:pPr>
            <a:r>
              <a:rPr lang="zh-CN" altLang="en-US" sz="2400" smtClean="0"/>
              <a:t>    随</a:t>
            </a:r>
            <a:r>
              <a:rPr lang="en-US" altLang="zh-CN" sz="2400" smtClean="0"/>
              <a:t>r</a:t>
            </a:r>
            <a:r>
              <a:rPr lang="en-US" altLang="zh-CN" sz="2400" baseline="-25000" smtClean="0"/>
              <a:t>m</a:t>
            </a:r>
            <a:r>
              <a:rPr lang="zh-CN" altLang="en-US" sz="2400" smtClean="0"/>
              <a:t>加大，范围加大。</a:t>
            </a:r>
          </a:p>
          <a:p>
            <a:pPr eaLnBrk="1" hangingPunct="1">
              <a:lnSpc>
                <a:spcPct val="95000"/>
              </a:lnSpc>
              <a:buClr>
                <a:srgbClr val="FF3300"/>
              </a:buClr>
              <a:buFont typeface="Wingdings" pitchFamily="2" charset="2"/>
              <a:buChar char="Ø"/>
              <a:defRPr/>
            </a:pPr>
            <a:r>
              <a:rPr lang="zh-CN" altLang="en-US" sz="2400" smtClean="0">
                <a:solidFill>
                  <a:srgbClr val="FF3300"/>
                </a:solidFill>
                <a:effectLst>
                  <a:outerShdw blurRad="38100" dist="38100" dir="2700000" algn="tl">
                    <a:srgbClr val="000000"/>
                  </a:outerShdw>
                </a:effectLst>
              </a:rPr>
              <a:t>表数个数</a:t>
            </a:r>
          </a:p>
          <a:p>
            <a:pPr eaLnBrk="1" hangingPunct="1">
              <a:lnSpc>
                <a:spcPct val="95000"/>
              </a:lnSpc>
              <a:buFont typeface="Wingdings" pitchFamily="2" charset="2"/>
              <a:buNone/>
              <a:defRPr/>
            </a:pPr>
            <a:r>
              <a:rPr lang="zh-CN" altLang="en-US" sz="2400" smtClean="0"/>
              <a:t>    随</a:t>
            </a:r>
            <a:r>
              <a:rPr lang="en-US" altLang="zh-CN" sz="2400" smtClean="0"/>
              <a:t>r</a:t>
            </a:r>
            <a:r>
              <a:rPr lang="en-US" altLang="zh-CN" sz="2400" baseline="-25000" smtClean="0"/>
              <a:t>m</a:t>
            </a:r>
            <a:r>
              <a:rPr lang="zh-CN" altLang="en-US" sz="2400" smtClean="0"/>
              <a:t>加大，个数增多。</a:t>
            </a:r>
          </a:p>
          <a:p>
            <a:pPr eaLnBrk="1" hangingPunct="1">
              <a:lnSpc>
                <a:spcPct val="95000"/>
              </a:lnSpc>
              <a:buClr>
                <a:srgbClr val="FF3300"/>
              </a:buClr>
              <a:buFont typeface="Wingdings" pitchFamily="2" charset="2"/>
              <a:buChar char="Ø"/>
              <a:defRPr/>
            </a:pPr>
            <a:r>
              <a:rPr lang="zh-CN" altLang="en-US" sz="2400" smtClean="0">
                <a:solidFill>
                  <a:srgbClr val="FF3300"/>
                </a:solidFill>
                <a:effectLst>
                  <a:outerShdw blurRad="38100" dist="38100" dir="2700000" algn="tl">
                    <a:srgbClr val="000000"/>
                  </a:outerShdw>
                </a:effectLst>
              </a:rPr>
              <a:t>表数精度</a:t>
            </a:r>
          </a:p>
          <a:p>
            <a:pPr eaLnBrk="1" hangingPunct="1">
              <a:lnSpc>
                <a:spcPct val="95000"/>
              </a:lnSpc>
              <a:buFont typeface="Wingdings" pitchFamily="2" charset="2"/>
              <a:buNone/>
              <a:defRPr/>
            </a:pPr>
            <a:r>
              <a:rPr lang="zh-CN" altLang="en-US" sz="2400" smtClean="0"/>
              <a:t>    随</a:t>
            </a:r>
            <a:r>
              <a:rPr lang="en-US" altLang="zh-CN" sz="2400" smtClean="0"/>
              <a:t>r</a:t>
            </a:r>
            <a:r>
              <a:rPr lang="en-US" altLang="zh-CN" sz="2400" baseline="-25000" smtClean="0"/>
              <a:t>m</a:t>
            </a:r>
            <a:r>
              <a:rPr lang="zh-CN" altLang="en-US" sz="2400" smtClean="0"/>
              <a:t>加大，精度变低。</a:t>
            </a:r>
          </a:p>
          <a:p>
            <a:pPr eaLnBrk="1" hangingPunct="1">
              <a:lnSpc>
                <a:spcPct val="95000"/>
              </a:lnSpc>
              <a:buClr>
                <a:srgbClr val="FF3300"/>
              </a:buClr>
              <a:buFont typeface="Wingdings" pitchFamily="2" charset="2"/>
              <a:buChar char="Ø"/>
              <a:defRPr/>
            </a:pPr>
            <a:r>
              <a:rPr lang="zh-CN" altLang="en-US" sz="2400" smtClean="0">
                <a:solidFill>
                  <a:srgbClr val="FF3300"/>
                </a:solidFill>
                <a:effectLst>
                  <a:outerShdw blurRad="38100" dist="38100" dir="2700000" algn="tl">
                    <a:srgbClr val="000000"/>
                  </a:outerShdw>
                </a:effectLst>
              </a:rPr>
              <a:t>运算精度损失</a:t>
            </a:r>
          </a:p>
          <a:p>
            <a:pPr eaLnBrk="1" hangingPunct="1">
              <a:lnSpc>
                <a:spcPct val="95000"/>
              </a:lnSpc>
              <a:buFont typeface="Wingdings" pitchFamily="2" charset="2"/>
              <a:buNone/>
              <a:defRPr/>
            </a:pPr>
            <a:r>
              <a:rPr lang="zh-CN" altLang="en-US" sz="2400" smtClean="0"/>
              <a:t>    随</a:t>
            </a:r>
            <a:r>
              <a:rPr lang="en-US" altLang="zh-CN" sz="2400" smtClean="0"/>
              <a:t>r</a:t>
            </a:r>
            <a:r>
              <a:rPr lang="en-US" altLang="zh-CN" sz="2400" baseline="-25000" smtClean="0"/>
              <a:t>m</a:t>
            </a:r>
            <a:r>
              <a:rPr lang="zh-CN" altLang="en-US" sz="2400" smtClean="0"/>
              <a:t>加大，损失变小。</a:t>
            </a:r>
          </a:p>
          <a:p>
            <a:pPr eaLnBrk="1" hangingPunct="1">
              <a:lnSpc>
                <a:spcPct val="95000"/>
              </a:lnSpc>
              <a:buClr>
                <a:srgbClr val="FF3300"/>
              </a:buClr>
              <a:buFont typeface="Wingdings" pitchFamily="2" charset="2"/>
              <a:buChar char="Ø"/>
              <a:defRPr/>
            </a:pPr>
            <a:r>
              <a:rPr lang="zh-CN" altLang="en-US" sz="2400" smtClean="0">
                <a:solidFill>
                  <a:srgbClr val="FF3300"/>
                </a:solidFill>
                <a:effectLst>
                  <a:outerShdw blurRad="38100" dist="38100" dir="2700000" algn="tl">
                    <a:srgbClr val="000000"/>
                  </a:outerShdw>
                </a:effectLst>
              </a:rPr>
              <a:t>运算速度</a:t>
            </a:r>
          </a:p>
          <a:p>
            <a:pPr eaLnBrk="1" hangingPunct="1">
              <a:lnSpc>
                <a:spcPct val="95000"/>
              </a:lnSpc>
              <a:buFont typeface="Wingdings" pitchFamily="2" charset="2"/>
              <a:buNone/>
              <a:defRPr/>
            </a:pPr>
            <a:r>
              <a:rPr lang="zh-CN" altLang="en-US" sz="2400" smtClean="0"/>
              <a:t>    随</a:t>
            </a:r>
            <a:r>
              <a:rPr lang="en-US" altLang="zh-CN" sz="2400" smtClean="0"/>
              <a:t>r</a:t>
            </a:r>
            <a:r>
              <a:rPr lang="en-US" altLang="zh-CN" sz="2400" baseline="-25000" smtClean="0"/>
              <a:t>m</a:t>
            </a:r>
            <a:r>
              <a:rPr lang="zh-CN" altLang="en-US" sz="2400" smtClean="0"/>
              <a:t>加大，速度变快。</a:t>
            </a:r>
          </a:p>
        </p:txBody>
      </p:sp>
      <p:sp>
        <p:nvSpPr>
          <p:cNvPr id="241669" name="Rectangle 5"/>
          <p:cNvSpPr>
            <a:spLocks noGrp="1" noChangeArrowheads="1"/>
          </p:cNvSpPr>
          <p:nvPr>
            <p:ph type="body" sz="half" idx="2"/>
          </p:nvPr>
        </p:nvSpPr>
        <p:spPr>
          <a:xfrm>
            <a:off x="5003800" y="1916113"/>
            <a:ext cx="3835400" cy="4408487"/>
          </a:xfrm>
          <a:solidFill>
            <a:srgbClr val="FFFF00"/>
          </a:solidFill>
          <a:ln w="57150" cmpd="thickThin">
            <a:solidFill>
              <a:schemeClr val="tx1"/>
            </a:solidFill>
            <a:miter lim="800000"/>
            <a:headEnd/>
            <a:tailEnd/>
          </a:ln>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pPr marL="0" indent="0" eaLnBrk="1" hangingPunct="1">
              <a:lnSpc>
                <a:spcPct val="130000"/>
              </a:lnSpc>
              <a:buFont typeface="Wingdings" pitchFamily="2" charset="2"/>
              <a:buNone/>
              <a:defRPr/>
            </a:pPr>
            <a:r>
              <a:rPr lang="en-US" altLang="zh-CN" sz="2400" smtClean="0"/>
              <a:t>     r</a:t>
            </a:r>
            <a:r>
              <a:rPr lang="en-US" altLang="zh-CN" sz="2400" baseline="-25000" smtClean="0"/>
              <a:t>m</a:t>
            </a:r>
            <a:r>
              <a:rPr lang="zh-CN" altLang="en-US" sz="2400" smtClean="0"/>
              <a:t>的选择应根据应用需要来综合平衡：</a:t>
            </a:r>
          </a:p>
          <a:p>
            <a:pPr marL="0" indent="0" eaLnBrk="1" hangingPunct="1">
              <a:lnSpc>
                <a:spcPct val="130000"/>
              </a:lnSpc>
              <a:buClr>
                <a:srgbClr val="FF3300"/>
              </a:buClr>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巨/大/中型机</a:t>
            </a:r>
            <a:r>
              <a:rPr lang="en-US" altLang="zh-CN" sz="2400" smtClean="0">
                <a:solidFill>
                  <a:srgbClr val="FF3300"/>
                </a:solidFill>
                <a:effectLst>
                  <a:outerShdw blurRad="38100" dist="38100" dir="2700000" algn="tl">
                    <a:srgbClr val="000000"/>
                  </a:outerShdw>
                </a:effectLst>
              </a:rPr>
              <a:t>r</a:t>
            </a:r>
            <a:r>
              <a:rPr lang="en-US" altLang="zh-CN" sz="2400" baseline="-25000" smtClean="0"/>
              <a:t>m</a:t>
            </a:r>
            <a:r>
              <a:rPr lang="zh-CN" altLang="en-US" sz="2400" smtClean="0">
                <a:solidFill>
                  <a:srgbClr val="FF3300"/>
                </a:solidFill>
                <a:effectLst>
                  <a:outerShdw blurRad="38100" dist="38100" dir="2700000" algn="tl">
                    <a:srgbClr val="000000"/>
                  </a:outerShdw>
                </a:effectLst>
              </a:rPr>
              <a:t>宜取大</a:t>
            </a:r>
          </a:p>
          <a:p>
            <a:pPr marL="0" indent="0" eaLnBrk="1" hangingPunct="1">
              <a:lnSpc>
                <a:spcPct val="130000"/>
              </a:lnSpc>
              <a:buFont typeface="Wingdings" pitchFamily="2" charset="2"/>
              <a:buNone/>
              <a:defRPr/>
            </a:pPr>
            <a:r>
              <a:rPr lang="zh-CN" altLang="en-US" sz="2400" smtClean="0"/>
              <a:t>     尾数字长较长可以弥补精度的损失。</a:t>
            </a:r>
          </a:p>
          <a:p>
            <a:pPr marL="0" indent="0" eaLnBrk="1" hangingPunct="1">
              <a:lnSpc>
                <a:spcPct val="130000"/>
              </a:lnSpc>
              <a:buClr>
                <a:srgbClr val="FF3300"/>
              </a:buClr>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小/微型机</a:t>
            </a:r>
            <a:r>
              <a:rPr lang="en-US" altLang="zh-CN" sz="2400" smtClean="0">
                <a:solidFill>
                  <a:srgbClr val="FF3300"/>
                </a:solidFill>
                <a:effectLst>
                  <a:outerShdw blurRad="38100" dist="38100" dir="2700000" algn="tl">
                    <a:srgbClr val="000000"/>
                  </a:outerShdw>
                </a:effectLst>
              </a:rPr>
              <a:t>r</a:t>
            </a:r>
            <a:r>
              <a:rPr lang="en-US" altLang="zh-CN" sz="2400" baseline="-25000" smtClean="0"/>
              <a:t>m</a:t>
            </a:r>
            <a:r>
              <a:rPr lang="zh-CN" altLang="en-US" sz="2400" smtClean="0">
                <a:solidFill>
                  <a:srgbClr val="FF3300"/>
                </a:solidFill>
                <a:effectLst>
                  <a:outerShdw blurRad="38100" dist="38100" dir="2700000" algn="tl">
                    <a:srgbClr val="000000"/>
                  </a:outerShdw>
                </a:effectLst>
              </a:rPr>
              <a:t>宜取小</a:t>
            </a:r>
          </a:p>
          <a:p>
            <a:pPr marL="0" indent="0" eaLnBrk="1" hangingPunct="1">
              <a:lnSpc>
                <a:spcPct val="130000"/>
              </a:lnSpc>
              <a:buFont typeface="Wingdings" pitchFamily="2" charset="2"/>
              <a:buNone/>
              <a:defRPr/>
            </a:pPr>
            <a:r>
              <a:rPr lang="zh-CN" altLang="en-US" sz="2400" smtClean="0"/>
              <a:t>     提高的精度可以弥补尾数字长较短的不足。</a:t>
            </a:r>
          </a:p>
        </p:txBody>
      </p:sp>
      <p:sp>
        <p:nvSpPr>
          <p:cNvPr id="1741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浮点数数据表示</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pPr eaLnBrk="1" hangingPunct="1">
              <a:defRPr/>
            </a:pPr>
            <a:r>
              <a:rPr lang="zh-CN" altLang="en-US" smtClean="0"/>
              <a:t>浮点数尾数下溢</a:t>
            </a:r>
            <a:br>
              <a:rPr lang="zh-CN" altLang="en-US" smtClean="0"/>
            </a:br>
            <a:r>
              <a:rPr lang="zh-CN" altLang="en-US" smtClean="0"/>
              <a:t>的处理</a:t>
            </a:r>
          </a:p>
        </p:txBody>
      </p:sp>
      <p:sp>
        <p:nvSpPr>
          <p:cNvPr id="242692" name="Rectangle 4"/>
          <p:cNvSpPr>
            <a:spLocks noGrp="1" noChangeArrowheads="1"/>
          </p:cNvSpPr>
          <p:nvPr>
            <p:ph type="body" sz="half" idx="1"/>
          </p:nvPr>
        </p:nvSpPr>
        <p:spPr>
          <a:xfrm>
            <a:off x="900113" y="1916113"/>
            <a:ext cx="4676775" cy="4465637"/>
          </a:xfrm>
          <a:solidFill>
            <a:srgbClr val="FF99CC"/>
          </a:solidFill>
          <a:ln w="11430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20000"/>
              </a:lnSpc>
              <a:buClr>
                <a:srgbClr val="FF3300"/>
              </a:buClr>
              <a:buFont typeface="Wingdings" pitchFamily="2" charset="2"/>
              <a:buChar char="Ø"/>
              <a:defRPr/>
            </a:pPr>
            <a:r>
              <a:rPr lang="zh-CN" altLang="en-US" sz="2400" smtClean="0">
                <a:solidFill>
                  <a:srgbClr val="FF3300"/>
                </a:solidFill>
                <a:effectLst>
                  <a:outerShdw blurRad="38100" dist="38100" dir="2700000" algn="tl">
                    <a:srgbClr val="000000"/>
                  </a:outerShdw>
                </a:effectLst>
              </a:rPr>
              <a:t>  问题</a:t>
            </a:r>
          </a:p>
          <a:p>
            <a:pPr marL="0" indent="0" eaLnBrk="1" hangingPunct="1">
              <a:lnSpc>
                <a:spcPct val="120000"/>
              </a:lnSpc>
              <a:buFont typeface="Wingdings" pitchFamily="2" charset="2"/>
              <a:buNone/>
              <a:defRPr/>
            </a:pPr>
            <a:r>
              <a:rPr lang="zh-CN" altLang="en-US" sz="2400" smtClean="0"/>
              <a:t>     在浮点数操作（相加、相乘、右移等）过程中产生的下溢会造成精度的损失。</a:t>
            </a:r>
          </a:p>
          <a:p>
            <a:pPr marL="0" indent="0" eaLnBrk="1" hangingPunct="1">
              <a:lnSpc>
                <a:spcPct val="120000"/>
              </a:lnSpc>
              <a:spcBef>
                <a:spcPct val="50000"/>
              </a:spcBef>
              <a:buClr>
                <a:srgbClr val="FF3300"/>
              </a:buClr>
              <a:buFont typeface="Wingdings" pitchFamily="2" charset="2"/>
              <a:buChar char="Ø"/>
              <a:defRPr/>
            </a:pPr>
            <a:r>
              <a:rPr lang="zh-CN" altLang="en-US" sz="2400" smtClean="0">
                <a:solidFill>
                  <a:srgbClr val="FF3300"/>
                </a:solidFill>
                <a:effectLst>
                  <a:outerShdw blurRad="38100" dist="38100" dir="2700000" algn="tl">
                    <a:srgbClr val="000000"/>
                  </a:outerShdw>
                </a:effectLst>
              </a:rPr>
              <a:t>  解决</a:t>
            </a:r>
          </a:p>
          <a:p>
            <a:pPr marL="0" indent="0" eaLnBrk="1" hangingPunct="1">
              <a:lnSpc>
                <a:spcPct val="120000"/>
              </a:lnSpc>
              <a:buFont typeface="Wingdings" pitchFamily="2" charset="2"/>
              <a:buNone/>
              <a:defRPr/>
            </a:pPr>
            <a:r>
              <a:rPr lang="zh-CN" altLang="en-US" sz="2400" smtClean="0"/>
              <a:t>     设计</a:t>
            </a:r>
            <a:r>
              <a:rPr lang="zh-CN" altLang="en-US" sz="2400" smtClean="0">
                <a:solidFill>
                  <a:srgbClr val="FF3300"/>
                </a:solidFill>
                <a:effectLst>
                  <a:outerShdw blurRad="38100" dist="38100" dir="2700000" algn="tl">
                    <a:srgbClr val="000000"/>
                  </a:outerShdw>
                </a:effectLst>
              </a:rPr>
              <a:t>下溢处理方法</a:t>
            </a:r>
            <a:r>
              <a:rPr lang="zh-CN" altLang="en-US" sz="2400" smtClean="0"/>
              <a:t>，有多种方法，不同的方法有不同的优点和缺点，其出发点和应用场合也不一样，应根据需要进行选择。</a:t>
            </a:r>
          </a:p>
        </p:txBody>
      </p:sp>
      <p:sp>
        <p:nvSpPr>
          <p:cNvPr id="18436" name="Rectangle 5"/>
          <p:cNvSpPr>
            <a:spLocks noGrp="1" noChangeArrowheads="1"/>
          </p:cNvSpPr>
          <p:nvPr>
            <p:ph type="body" sz="half" idx="2"/>
          </p:nvPr>
        </p:nvSpPr>
        <p:spPr>
          <a:xfrm>
            <a:off x="6011863" y="2708275"/>
            <a:ext cx="2514600" cy="3019425"/>
          </a:xfrm>
          <a:solidFill>
            <a:srgbClr val="FFFF00"/>
          </a:solidFill>
          <a:effectLst>
            <a:outerShdw blurRad="50800" dist="38100" dir="2700000" algn="tl" rotWithShape="0">
              <a:prstClr val="black">
                <a:alpha val="40000"/>
              </a:prstClr>
            </a:outerShdw>
          </a:effectLst>
        </p:spPr>
        <p:txBody>
          <a:bodyPr/>
          <a:lstStyle/>
          <a:p>
            <a:pPr eaLnBrk="1" hangingPunct="1">
              <a:lnSpc>
                <a:spcPct val="170000"/>
              </a:lnSpc>
            </a:pPr>
            <a:r>
              <a:rPr lang="zh-CN" altLang="en-US" sz="2400" smtClean="0">
                <a:latin typeface="宋体" pitchFamily="2" charset="-122"/>
              </a:rPr>
              <a:t>截断法</a:t>
            </a:r>
            <a:r>
              <a:rPr lang="zh-CN" altLang="en-US" sz="2400" smtClean="0"/>
              <a:t> </a:t>
            </a:r>
          </a:p>
          <a:p>
            <a:pPr eaLnBrk="1" hangingPunct="1">
              <a:lnSpc>
                <a:spcPct val="170000"/>
              </a:lnSpc>
            </a:pPr>
            <a:r>
              <a:rPr lang="zh-CN" altLang="en-US" sz="2400" smtClean="0">
                <a:latin typeface="宋体" pitchFamily="2" charset="-122"/>
              </a:rPr>
              <a:t>舍入法</a:t>
            </a:r>
            <a:r>
              <a:rPr lang="zh-CN" altLang="en-US" sz="2400" smtClean="0"/>
              <a:t> </a:t>
            </a:r>
          </a:p>
          <a:p>
            <a:pPr eaLnBrk="1" hangingPunct="1">
              <a:lnSpc>
                <a:spcPct val="170000"/>
              </a:lnSpc>
            </a:pPr>
            <a:r>
              <a:rPr lang="zh-CN" altLang="en-US" sz="2400" smtClean="0">
                <a:latin typeface="宋体" pitchFamily="2" charset="-122"/>
              </a:rPr>
              <a:t>恒置</a:t>
            </a:r>
            <a:r>
              <a:rPr lang="zh-CN" altLang="en-US" sz="2400" smtClean="0"/>
              <a:t>“1”</a:t>
            </a:r>
            <a:r>
              <a:rPr lang="zh-CN" altLang="en-US" sz="2400" smtClean="0">
                <a:latin typeface="宋体" pitchFamily="2" charset="-122"/>
              </a:rPr>
              <a:t>法</a:t>
            </a:r>
            <a:r>
              <a:rPr lang="zh-CN" altLang="en-US" sz="2400" smtClean="0"/>
              <a:t> </a:t>
            </a:r>
          </a:p>
          <a:p>
            <a:pPr eaLnBrk="1" hangingPunct="1">
              <a:lnSpc>
                <a:spcPct val="170000"/>
              </a:lnSpc>
            </a:pPr>
            <a:r>
              <a:rPr lang="zh-CN" altLang="en-US" sz="2400" smtClean="0">
                <a:latin typeface="宋体" pitchFamily="2" charset="-122"/>
              </a:rPr>
              <a:t>查表舍入法</a:t>
            </a:r>
            <a:r>
              <a:rPr lang="zh-CN" altLang="en-US" sz="2400" smtClean="0"/>
              <a:t> </a:t>
            </a:r>
          </a:p>
        </p:txBody>
      </p:sp>
      <p:sp>
        <p:nvSpPr>
          <p:cNvPr id="1843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浮点数数据表示</a:t>
            </a:r>
            <a:endParaRPr lang="zh-CN" altLang="en-US" sz="1200" b="0">
              <a:latin typeface="Times New Roman" pitchFamily="18" charset="0"/>
              <a:ea typeface="幼圆" pitchFamily="49" charset="-122"/>
            </a:endParaRPr>
          </a:p>
        </p:txBody>
      </p:sp>
      <p:sp>
        <p:nvSpPr>
          <p:cNvPr id="18438" name="AutoShape 7"/>
          <p:cNvSpPr>
            <a:spLocks noChangeArrowheads="1"/>
          </p:cNvSpPr>
          <p:nvPr/>
        </p:nvSpPr>
        <p:spPr bwMode="auto">
          <a:xfrm>
            <a:off x="2627313" y="3860800"/>
            <a:ext cx="3657600" cy="6096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pPr eaLnBrk="1" hangingPunct="1">
              <a:defRPr/>
            </a:pPr>
            <a:r>
              <a:rPr lang="zh-CN" altLang="en-US" smtClean="0"/>
              <a:t>浮点数格式设计</a:t>
            </a:r>
          </a:p>
        </p:txBody>
      </p:sp>
      <p:sp>
        <p:nvSpPr>
          <p:cNvPr id="19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浮点数数据表示</a:t>
            </a:r>
            <a:endParaRPr lang="zh-CN" altLang="en-US" sz="1200" b="0">
              <a:latin typeface="Times New Roman" pitchFamily="18" charset="0"/>
              <a:ea typeface="幼圆" pitchFamily="49" charset="-122"/>
            </a:endParaRPr>
          </a:p>
        </p:txBody>
      </p:sp>
      <p:sp>
        <p:nvSpPr>
          <p:cNvPr id="243716" name="Rectangle 4"/>
          <p:cNvSpPr>
            <a:spLocks noGrp="1" noChangeArrowheads="1"/>
          </p:cNvSpPr>
          <p:nvPr>
            <p:ph type="body" idx="1"/>
          </p:nvPr>
        </p:nvSpPr>
        <p:spPr/>
        <p:txBody>
          <a:bodyPr/>
          <a:lstStyle/>
          <a:p>
            <a:pPr marL="0" indent="0" eaLnBrk="1" hangingPunct="1">
              <a:lnSpc>
                <a:spcPct val="120000"/>
              </a:lnSpc>
              <a:buClr>
                <a:srgbClr val="FF3300"/>
              </a:buClr>
              <a:buFont typeface="Wingdings" pitchFamily="2" charset="2"/>
              <a:buChar char="Ø"/>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尾数</a:t>
            </a:r>
          </a:p>
          <a:p>
            <a:pPr marL="0" indent="0" eaLnBrk="1" hangingPunct="1">
              <a:lnSpc>
                <a:spcPct val="120000"/>
              </a:lnSpc>
              <a:buFont typeface="Wingdings" pitchFamily="2" charset="2"/>
              <a:buNone/>
              <a:defRPr/>
            </a:pPr>
            <a:r>
              <a:rPr lang="zh-CN" altLang="en-US" sz="2800" dirty="0" smtClean="0"/>
              <a:t>     </a:t>
            </a:r>
            <a:r>
              <a:rPr lang="zh-CN" altLang="en-US" sz="2800" dirty="0" smtClean="0">
                <a:solidFill>
                  <a:srgbClr val="3333FF"/>
                </a:solidFill>
              </a:rPr>
              <a:t>码制</a:t>
            </a:r>
            <a:r>
              <a:rPr lang="zh-CN" altLang="en-US" sz="2800" dirty="0" smtClean="0"/>
              <a:t>可以采用原码或补码，</a:t>
            </a:r>
            <a:r>
              <a:rPr lang="zh-CN" altLang="en-US" sz="2800" dirty="0" smtClean="0">
                <a:solidFill>
                  <a:srgbClr val="3333FF"/>
                </a:solidFill>
              </a:rPr>
              <a:t>数制</a:t>
            </a:r>
            <a:r>
              <a:rPr lang="zh-CN" altLang="en-US" sz="2800" dirty="0" smtClean="0"/>
              <a:t>可以采用整数或小数，</a:t>
            </a:r>
            <a:r>
              <a:rPr lang="zh-CN" altLang="en-US" sz="2800" dirty="0" smtClean="0">
                <a:solidFill>
                  <a:srgbClr val="3333FF"/>
                </a:solidFill>
              </a:rPr>
              <a:t>基</a:t>
            </a:r>
            <a:r>
              <a:rPr lang="zh-CN" altLang="en-US" sz="2800" dirty="0" smtClean="0"/>
              <a:t>可以采用二进制、四进制、八进制、十进制或十六进制。多数机器采用</a:t>
            </a:r>
            <a:r>
              <a:rPr lang="zh-CN" altLang="en-US" sz="2800" dirty="0" smtClean="0">
                <a:solidFill>
                  <a:srgbClr val="FF3300"/>
                </a:solidFill>
                <a:effectLst>
                  <a:outerShdw blurRad="38100" dist="38100" dir="2700000" algn="tl">
                    <a:srgbClr val="C0C0C0"/>
                  </a:outerShdw>
                </a:effectLst>
              </a:rPr>
              <a:t>原码、小数</a:t>
            </a:r>
            <a:r>
              <a:rPr lang="zh-CN" altLang="en-US" sz="2800" dirty="0" smtClean="0"/>
              <a:t>表示，尾数的基</a:t>
            </a:r>
            <a:r>
              <a:rPr lang="en-US" altLang="zh-CN" sz="2800" dirty="0" err="1" smtClean="0">
                <a:solidFill>
                  <a:srgbClr val="FF0000"/>
                </a:solidFill>
              </a:rPr>
              <a:t>r</a:t>
            </a:r>
            <a:r>
              <a:rPr lang="en-US" altLang="zh-CN" sz="2800" baseline="-25000" dirty="0" err="1" smtClean="0">
                <a:solidFill>
                  <a:srgbClr val="FF0000"/>
                </a:solidFill>
              </a:rPr>
              <a:t>m</a:t>
            </a:r>
            <a:r>
              <a:rPr lang="zh-CN" altLang="en-US" sz="2800" dirty="0" smtClean="0">
                <a:solidFill>
                  <a:srgbClr val="FF3300"/>
                </a:solidFill>
                <a:effectLst>
                  <a:outerShdw blurRad="38100" dist="38100" dir="2700000" algn="tl">
                    <a:srgbClr val="C0C0C0"/>
                  </a:outerShdw>
                </a:effectLst>
              </a:rPr>
              <a:t>=2</a:t>
            </a:r>
            <a:r>
              <a:rPr lang="zh-CN" altLang="en-US" sz="2800" dirty="0" smtClean="0"/>
              <a:t>。</a:t>
            </a:r>
          </a:p>
          <a:p>
            <a:pPr marL="0" indent="0" eaLnBrk="1" hangingPunct="1">
              <a:lnSpc>
                <a:spcPct val="120000"/>
              </a:lnSpc>
              <a:buClr>
                <a:srgbClr val="FF3300"/>
              </a:buClr>
              <a:buFont typeface="Wingdings" pitchFamily="2" charset="2"/>
              <a:buChar char="Ø"/>
              <a:defRPr/>
            </a:pPr>
            <a:r>
              <a:rPr lang="zh-CN" altLang="en-US" sz="2800" dirty="0" smtClean="0">
                <a:solidFill>
                  <a:srgbClr val="FF3300"/>
                </a:solidFill>
                <a:effectLst>
                  <a:outerShdw blurRad="38100" dist="38100" dir="2700000" algn="tl">
                    <a:srgbClr val="C0C0C0"/>
                  </a:outerShdw>
                </a:effectLst>
              </a:rPr>
              <a:t>  阶码</a:t>
            </a:r>
          </a:p>
          <a:p>
            <a:pPr marL="0" indent="0" eaLnBrk="1" hangingPunct="1">
              <a:lnSpc>
                <a:spcPct val="120000"/>
              </a:lnSpc>
              <a:buFont typeface="Wingdings" pitchFamily="2" charset="2"/>
              <a:buNone/>
              <a:defRPr/>
            </a:pPr>
            <a:r>
              <a:rPr lang="zh-CN" altLang="en-US" sz="2800" dirty="0" smtClean="0"/>
              <a:t>     </a:t>
            </a:r>
            <a:r>
              <a:rPr lang="zh-CN" altLang="en-US" sz="2800" dirty="0" smtClean="0">
                <a:solidFill>
                  <a:srgbClr val="3333FF"/>
                </a:solidFill>
              </a:rPr>
              <a:t>码制</a:t>
            </a:r>
            <a:r>
              <a:rPr lang="zh-CN" altLang="en-US" sz="2800" dirty="0" smtClean="0"/>
              <a:t>可以采用移码或补码，</a:t>
            </a:r>
            <a:r>
              <a:rPr lang="zh-CN" altLang="en-US" sz="2800" dirty="0" smtClean="0">
                <a:solidFill>
                  <a:srgbClr val="3333FF"/>
                </a:solidFill>
              </a:rPr>
              <a:t>数制</a:t>
            </a:r>
            <a:r>
              <a:rPr lang="zh-CN" altLang="en-US" sz="2800" dirty="0" smtClean="0"/>
              <a:t>采用整数，</a:t>
            </a:r>
            <a:r>
              <a:rPr lang="zh-CN" altLang="en-US" sz="2800" dirty="0" smtClean="0">
                <a:solidFill>
                  <a:srgbClr val="3333FF"/>
                </a:solidFill>
              </a:rPr>
              <a:t>基</a:t>
            </a:r>
            <a:r>
              <a:rPr lang="en-US" altLang="zh-CN" sz="2800" dirty="0" smtClean="0"/>
              <a:t>r</a:t>
            </a:r>
            <a:r>
              <a:rPr lang="en-US" altLang="zh-CN" sz="2800" baseline="-25000" dirty="0" smtClean="0"/>
              <a:t>e</a:t>
            </a:r>
            <a:r>
              <a:rPr lang="en-US" altLang="zh-CN" sz="2800" dirty="0" smtClean="0"/>
              <a:t>=2。</a:t>
            </a:r>
            <a:r>
              <a:rPr lang="zh-CN" altLang="en-US" sz="2800" dirty="0" smtClean="0"/>
              <a:t>一般机器都采用</a:t>
            </a:r>
            <a:r>
              <a:rPr lang="zh-CN" altLang="en-US" sz="2800" dirty="0" smtClean="0">
                <a:solidFill>
                  <a:srgbClr val="FF3300"/>
                </a:solidFill>
                <a:effectLst>
                  <a:outerShdw blurRad="38100" dist="38100" dir="2700000" algn="tl">
                    <a:srgbClr val="C0C0C0"/>
                  </a:outerShdw>
                </a:effectLst>
              </a:rPr>
              <a:t>移码、整数</a:t>
            </a:r>
            <a:r>
              <a:rPr lang="zh-CN" altLang="en-US" sz="2800" dirty="0" smtClean="0"/>
              <a:t>表示。</a:t>
            </a:r>
          </a:p>
        </p:txBody>
      </p:sp>
      <p:sp>
        <p:nvSpPr>
          <p:cNvPr id="194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pPr eaLnBrk="1" hangingPunct="1">
              <a:defRPr/>
            </a:pPr>
            <a:r>
              <a:rPr lang="zh-CN" altLang="en-US" smtClean="0"/>
              <a:t>浮点数格式设计</a:t>
            </a:r>
          </a:p>
        </p:txBody>
      </p:sp>
      <p:sp>
        <p:nvSpPr>
          <p:cNvPr id="20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浮点数数据表示</a:t>
            </a:r>
            <a:endParaRPr lang="zh-CN" altLang="en-US" sz="1200" b="0">
              <a:latin typeface="Times New Roman" pitchFamily="18" charset="0"/>
              <a:ea typeface="幼圆" pitchFamily="49" charset="-122"/>
            </a:endParaRPr>
          </a:p>
        </p:txBody>
      </p:sp>
      <p:sp>
        <p:nvSpPr>
          <p:cNvPr id="250885" name="Rectangle 5"/>
          <p:cNvSpPr>
            <a:spLocks noGrp="1" noChangeArrowheads="1"/>
          </p:cNvSpPr>
          <p:nvPr>
            <p:ph type="body" idx="1"/>
          </p:nvPr>
        </p:nvSpPr>
        <p:spPr>
          <a:xfrm>
            <a:off x="809625" y="1916113"/>
            <a:ext cx="7958138" cy="4484687"/>
          </a:xfrm>
        </p:spPr>
        <p:txBody>
          <a:bodyPr/>
          <a:lstStyle/>
          <a:p>
            <a:pPr marL="0" indent="0" eaLnBrk="1" hangingPunct="1">
              <a:buClr>
                <a:srgbClr val="FF3300"/>
              </a:buClr>
              <a:defRPr/>
            </a:pPr>
            <a:r>
              <a:rPr lang="zh-CN" altLang="en-US" sz="2800" smtClean="0">
                <a:solidFill>
                  <a:srgbClr val="FF3300"/>
                </a:solidFill>
                <a:effectLst>
                  <a:outerShdw blurRad="38100" dist="38100" dir="2700000" algn="tl">
                    <a:srgbClr val="C0C0C0"/>
                  </a:outerShdw>
                </a:effectLst>
              </a:rPr>
              <a:t>  设计重点</a:t>
            </a:r>
          </a:p>
          <a:p>
            <a:pPr marL="0" indent="0" eaLnBrk="1" hangingPunct="1">
              <a:buFont typeface="Wingdings" pitchFamily="2" charset="2"/>
              <a:buNone/>
              <a:defRPr/>
            </a:pPr>
            <a:r>
              <a:rPr lang="zh-CN" altLang="en-US" sz="2400" smtClean="0"/>
              <a:t>        在表数范围和表数精度给定的情况下，如何确定最短的尾数字长</a:t>
            </a:r>
            <a:r>
              <a:rPr lang="en-US" altLang="zh-CN" sz="2400" smtClean="0"/>
              <a:t>p</a:t>
            </a:r>
            <a:r>
              <a:rPr lang="zh-CN" altLang="en-US" sz="2400" smtClean="0"/>
              <a:t>和阶码字长</a:t>
            </a:r>
            <a:r>
              <a:rPr lang="en-US" altLang="zh-CN" sz="2400" smtClean="0"/>
              <a:t>q</a:t>
            </a:r>
            <a:r>
              <a:rPr lang="zh-CN" altLang="en-US" sz="2400" smtClean="0"/>
              <a:t>。</a:t>
            </a:r>
          </a:p>
          <a:p>
            <a:pPr marL="0" indent="0" eaLnBrk="1" hangingPunct="1">
              <a:buClr>
                <a:srgbClr val="FF3300"/>
              </a:buClr>
              <a:defRPr/>
            </a:pPr>
            <a:r>
              <a:rPr lang="zh-CN" altLang="en-US" sz="2800" smtClean="0"/>
              <a:t>  </a:t>
            </a:r>
            <a:r>
              <a:rPr lang="zh-CN" altLang="en-US" sz="2800" smtClean="0">
                <a:solidFill>
                  <a:srgbClr val="FF3300"/>
                </a:solidFill>
                <a:effectLst>
                  <a:outerShdw blurRad="38100" dist="38100" dir="2700000" algn="tl">
                    <a:srgbClr val="C0C0C0"/>
                  </a:outerShdw>
                </a:effectLst>
              </a:rPr>
              <a:t>研究对象</a:t>
            </a:r>
          </a:p>
          <a:p>
            <a:pPr marL="765175" lvl="1" eaLnBrk="1" hangingPunct="1">
              <a:buFont typeface="Wingdings" pitchFamily="2" charset="2"/>
              <a:buChar char="Ø"/>
              <a:defRPr/>
            </a:pPr>
            <a:r>
              <a:rPr lang="zh-CN" altLang="en-US" sz="2400" smtClean="0"/>
              <a:t>阶码长度</a:t>
            </a:r>
            <a:r>
              <a:rPr lang="en-US" altLang="zh-CN" sz="2400" smtClean="0"/>
              <a:t>q</a:t>
            </a:r>
          </a:p>
          <a:p>
            <a:pPr marL="0" indent="0" eaLnBrk="1" hangingPunct="1">
              <a:buFont typeface="Wingdings" pitchFamily="2" charset="2"/>
              <a:buNone/>
              <a:defRPr/>
            </a:pPr>
            <a:r>
              <a:rPr lang="zh-CN" altLang="en-US" sz="2400" smtClean="0"/>
              <a:t>         影响表数范围。</a:t>
            </a:r>
          </a:p>
          <a:p>
            <a:pPr marL="765175" lvl="1" eaLnBrk="1" hangingPunct="1">
              <a:buFont typeface="Wingdings" pitchFamily="2" charset="2"/>
              <a:buChar char="Ø"/>
              <a:defRPr/>
            </a:pPr>
            <a:r>
              <a:rPr lang="zh-CN" altLang="en-US" sz="2400" smtClean="0"/>
              <a:t>尾数长度</a:t>
            </a:r>
            <a:r>
              <a:rPr lang="en-US" altLang="zh-CN" sz="2400" smtClean="0"/>
              <a:t>p</a:t>
            </a:r>
          </a:p>
          <a:p>
            <a:pPr marL="0" indent="0" eaLnBrk="1" hangingPunct="1">
              <a:buFont typeface="Wingdings" pitchFamily="2" charset="2"/>
              <a:buNone/>
              <a:defRPr/>
            </a:pPr>
            <a:r>
              <a:rPr lang="zh-CN" altLang="en-US" sz="2400" smtClean="0"/>
              <a:t>         影响表数精度。</a:t>
            </a:r>
            <a:endParaRPr lang="en-US" altLang="zh-CN" sz="2400" smtClean="0"/>
          </a:p>
          <a:p>
            <a:pPr marL="765175" lvl="1" eaLnBrk="1" hangingPunct="1">
              <a:buFont typeface="Wingdings" pitchFamily="2" charset="2"/>
              <a:buChar char="Ø"/>
              <a:defRPr/>
            </a:pPr>
            <a:r>
              <a:rPr lang="zh-CN" altLang="en-US" sz="2400" smtClean="0"/>
              <a:t>尾数基值</a:t>
            </a:r>
            <a:r>
              <a:rPr lang="en-US" altLang="zh-CN" sz="2400" smtClean="0"/>
              <a:t>r</a:t>
            </a:r>
            <a:r>
              <a:rPr lang="en-US" altLang="zh-CN" sz="2400" baseline="-25000" smtClean="0"/>
              <a:t>m</a:t>
            </a:r>
          </a:p>
          <a:p>
            <a:pPr marL="765175" lvl="1" eaLnBrk="1" hangingPunct="1">
              <a:buFont typeface="Wingdings" pitchFamily="2" charset="2"/>
              <a:buNone/>
              <a:defRPr/>
            </a:pPr>
            <a:r>
              <a:rPr lang="zh-CN" altLang="en-US" sz="2400" smtClean="0"/>
              <a:t>   影响表数范围、精度及数在数轴上分布离散程度。</a:t>
            </a:r>
          </a:p>
        </p:txBody>
      </p:sp>
      <p:sp>
        <p:nvSpPr>
          <p:cNvPr id="2048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pPr eaLnBrk="1" hangingPunct="1">
              <a:defRPr/>
            </a:pPr>
            <a:r>
              <a:rPr lang="zh-CN" altLang="en-US" smtClean="0"/>
              <a:t>高级数据表示</a:t>
            </a:r>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endParaRPr lang="zh-CN" altLang="en-US" sz="1200" b="0">
              <a:latin typeface="Times New Roman" pitchFamily="18" charset="0"/>
              <a:ea typeface="幼圆" pitchFamily="49" charset="-122"/>
            </a:endParaRPr>
          </a:p>
        </p:txBody>
      </p:sp>
      <p:sp>
        <p:nvSpPr>
          <p:cNvPr id="251908" name="Rectangle 4"/>
          <p:cNvSpPr>
            <a:spLocks noGrp="1" noChangeArrowheads="1"/>
          </p:cNvSpPr>
          <p:nvPr>
            <p:ph type="body" idx="1"/>
          </p:nvPr>
        </p:nvSpPr>
        <p:spPr>
          <a:xfrm>
            <a:off x="809625" y="1989138"/>
            <a:ext cx="7958138" cy="4248150"/>
          </a:xfrm>
        </p:spPr>
        <p:txBody>
          <a:bodyPr/>
          <a:lstStyle/>
          <a:p>
            <a:pPr marL="0" indent="0" eaLnBrk="1" hangingPunct="1">
              <a:lnSpc>
                <a:spcPct val="120000"/>
              </a:lnSpc>
              <a:buClr>
                <a:srgbClr val="FF3300"/>
              </a:buClr>
              <a:defRPr/>
            </a:pPr>
            <a:r>
              <a:rPr lang="zh-CN" altLang="en-US" sz="2800" smtClean="0">
                <a:solidFill>
                  <a:srgbClr val="FF3300"/>
                </a:solidFill>
                <a:effectLst>
                  <a:outerShdw blurRad="38100" dist="38100" dir="2700000" algn="tl">
                    <a:srgbClr val="C0C0C0"/>
                  </a:outerShdw>
                </a:effectLst>
              </a:rPr>
              <a:t>  内容</a:t>
            </a:r>
          </a:p>
          <a:p>
            <a:pPr marL="0" indent="0" eaLnBrk="1" hangingPunct="1">
              <a:lnSpc>
                <a:spcPct val="120000"/>
              </a:lnSpc>
              <a:buFont typeface="Wingdings" pitchFamily="2" charset="2"/>
              <a:buNone/>
              <a:defRPr/>
            </a:pPr>
            <a:r>
              <a:rPr lang="zh-CN" altLang="en-US" sz="2800" smtClean="0"/>
              <a:t>    堆栈、向量、数组（队列）、记录、自定义数据表示等。</a:t>
            </a:r>
          </a:p>
          <a:p>
            <a:pPr marL="0" indent="0" eaLnBrk="1" hangingPunct="1">
              <a:lnSpc>
                <a:spcPct val="120000"/>
              </a:lnSpc>
              <a:buClr>
                <a:srgbClr val="FF3300"/>
              </a:buClr>
              <a:defRPr/>
            </a:pPr>
            <a:r>
              <a:rPr lang="zh-CN" altLang="en-US" sz="2800" smtClean="0">
                <a:solidFill>
                  <a:srgbClr val="FF3300"/>
                </a:solidFill>
                <a:effectLst>
                  <a:outerShdw blurRad="38100" dist="38100" dir="2700000" algn="tl">
                    <a:srgbClr val="C0C0C0"/>
                  </a:outerShdw>
                </a:effectLst>
              </a:rPr>
              <a:t>  目的</a:t>
            </a:r>
          </a:p>
          <a:p>
            <a:pPr marL="0" indent="0" eaLnBrk="1" hangingPunct="1">
              <a:lnSpc>
                <a:spcPct val="120000"/>
              </a:lnSpc>
              <a:buFont typeface="Wingdings" pitchFamily="2" charset="2"/>
              <a:buNone/>
              <a:defRPr/>
            </a:pPr>
            <a:r>
              <a:rPr lang="zh-CN" altLang="en-US" sz="2800" smtClean="0"/>
              <a:t>    支持数据结构，提高系统效率和性能/价格。</a:t>
            </a:r>
          </a:p>
          <a:p>
            <a:pPr marL="0" indent="0" eaLnBrk="1" hangingPunct="1">
              <a:lnSpc>
                <a:spcPct val="120000"/>
              </a:lnSpc>
              <a:buClr>
                <a:srgbClr val="FF3300"/>
              </a:buClr>
              <a:defRPr/>
            </a:pPr>
            <a:r>
              <a:rPr lang="zh-CN" altLang="en-US" sz="2800" smtClean="0">
                <a:solidFill>
                  <a:srgbClr val="FF3300"/>
                </a:solidFill>
                <a:effectLst>
                  <a:outerShdw blurRad="38100" dist="38100" dir="2700000" algn="tl">
                    <a:srgbClr val="C0C0C0"/>
                  </a:outerShdw>
                </a:effectLst>
              </a:rPr>
              <a:t>  举例</a:t>
            </a:r>
          </a:p>
          <a:p>
            <a:pPr marL="0" indent="0" eaLnBrk="1" hangingPunct="1">
              <a:lnSpc>
                <a:spcPct val="120000"/>
              </a:lnSpc>
              <a:buFont typeface="Wingdings" pitchFamily="2" charset="2"/>
              <a:buNone/>
              <a:defRPr/>
            </a:pPr>
            <a:r>
              <a:rPr lang="zh-CN" altLang="en-US" sz="2800" smtClean="0"/>
              <a:t>    自定义数据表示。</a:t>
            </a:r>
          </a:p>
        </p:txBody>
      </p:sp>
      <p:sp>
        <p:nvSpPr>
          <p:cNvPr id="2150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eaLnBrk="1" hangingPunct="1">
              <a:defRPr/>
            </a:pPr>
            <a:r>
              <a:rPr lang="zh-CN" altLang="en-US" smtClean="0"/>
              <a:t>自定义数据表示</a:t>
            </a:r>
          </a:p>
        </p:txBody>
      </p:sp>
      <p:sp>
        <p:nvSpPr>
          <p:cNvPr id="22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endParaRPr lang="zh-CN" altLang="en-US" sz="1200" b="0">
              <a:latin typeface="Times New Roman" pitchFamily="18" charset="0"/>
              <a:ea typeface="幼圆" pitchFamily="49" charset="-122"/>
            </a:endParaRPr>
          </a:p>
        </p:txBody>
      </p:sp>
      <p:sp>
        <p:nvSpPr>
          <p:cNvPr id="22532" name="Rectangle 5"/>
          <p:cNvSpPr>
            <a:spLocks noGrp="1" noChangeArrowheads="1"/>
          </p:cNvSpPr>
          <p:nvPr>
            <p:ph type="body" idx="1"/>
          </p:nvPr>
        </p:nvSpPr>
        <p:spPr>
          <a:xfrm>
            <a:off x="1835150" y="2060575"/>
            <a:ext cx="5111750" cy="3816350"/>
          </a:xfrm>
        </p:spPr>
        <p:txBody>
          <a:bodyPr/>
          <a:lstStyle/>
          <a:p>
            <a:pPr eaLnBrk="1" hangingPunct="1">
              <a:lnSpc>
                <a:spcPct val="170000"/>
              </a:lnSpc>
            </a:pPr>
            <a:r>
              <a:rPr lang="zh-CN" altLang="en-US" smtClean="0">
                <a:hlinkClick r:id="rId5" action="ppaction://hlinksldjump"/>
              </a:rPr>
              <a:t>存在问题</a:t>
            </a:r>
            <a:endParaRPr lang="zh-CN" altLang="en-US" smtClean="0"/>
          </a:p>
          <a:p>
            <a:pPr eaLnBrk="1" hangingPunct="1">
              <a:lnSpc>
                <a:spcPct val="170000"/>
              </a:lnSpc>
            </a:pPr>
            <a:r>
              <a:rPr lang="zh-CN" altLang="en-US" smtClean="0"/>
              <a:t>解决方法</a:t>
            </a:r>
          </a:p>
          <a:p>
            <a:pPr lvl="1" eaLnBrk="1" hangingPunct="1">
              <a:lnSpc>
                <a:spcPct val="170000"/>
              </a:lnSpc>
              <a:buFont typeface="Wingdings" pitchFamily="2" charset="2"/>
              <a:buChar char="Ø"/>
            </a:pPr>
            <a:r>
              <a:rPr lang="zh-CN" altLang="en-US" smtClean="0">
                <a:hlinkClick r:id="rId6" action="ppaction://hlinksldjump"/>
              </a:rPr>
              <a:t>带标志符的数据表示法</a:t>
            </a:r>
            <a:endParaRPr lang="zh-CN" altLang="en-US" smtClean="0"/>
          </a:p>
          <a:p>
            <a:pPr lvl="1" eaLnBrk="1" hangingPunct="1">
              <a:lnSpc>
                <a:spcPct val="170000"/>
              </a:lnSpc>
              <a:buFont typeface="Wingdings" pitchFamily="2" charset="2"/>
              <a:buChar char="Ø"/>
            </a:pPr>
            <a:r>
              <a:rPr lang="zh-CN" altLang="en-US" smtClean="0">
                <a:hlinkClick r:id="rId7" action="ppaction://hlinksldjump"/>
              </a:rPr>
              <a:t>数据描述符表示法</a:t>
            </a:r>
            <a:endParaRPr lang="zh-CN" altLang="en-US" smtClean="0"/>
          </a:p>
        </p:txBody>
      </p:sp>
      <p:sp>
        <p:nvSpPr>
          <p:cNvPr id="2253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a:t>
            </a:r>
            <a:r>
              <a:rPr lang="en-US" altLang="zh-CN" sz="1200" b="0">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pPr eaLnBrk="1" hangingPunct="1">
              <a:defRPr/>
            </a:pPr>
            <a:r>
              <a:rPr lang="zh-CN" altLang="en-US" smtClean="0"/>
              <a:t>存在问题</a:t>
            </a:r>
          </a:p>
        </p:txBody>
      </p:sp>
      <p:sp>
        <p:nvSpPr>
          <p:cNvPr id="23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自定义数据表示</a:t>
            </a:r>
            <a:endParaRPr lang="zh-CN" altLang="en-US" sz="1200" b="0">
              <a:latin typeface="Times New Roman" pitchFamily="18" charset="0"/>
              <a:ea typeface="幼圆" pitchFamily="49" charset="-122"/>
            </a:endParaRPr>
          </a:p>
        </p:txBody>
      </p:sp>
      <p:sp>
        <p:nvSpPr>
          <p:cNvPr id="253957" name="Rectangle 5"/>
          <p:cNvSpPr>
            <a:spLocks noGrp="1" noChangeArrowheads="1"/>
          </p:cNvSpPr>
          <p:nvPr>
            <p:ph type="body" idx="1"/>
          </p:nvPr>
        </p:nvSpPr>
        <p:spPr>
          <a:xfrm>
            <a:off x="809625" y="2173288"/>
            <a:ext cx="7958138" cy="4208462"/>
          </a:xfrm>
        </p:spPr>
        <p:txBody>
          <a:bodyPr/>
          <a:lstStyle/>
          <a:p>
            <a:pPr marL="0" indent="0" eaLnBrk="1" hangingPunct="1">
              <a:lnSpc>
                <a:spcPct val="140000"/>
              </a:lnSpc>
              <a:buFont typeface="Wingdings" pitchFamily="2" charset="2"/>
              <a:buNone/>
              <a:defRPr/>
            </a:pPr>
            <a:r>
              <a:rPr lang="zh-CN" altLang="en-US" smtClean="0"/>
              <a:t>       在高级语言与机器语言之间存在着很大的语义差距（例如：</a:t>
            </a:r>
            <a:r>
              <a:rPr lang="zh-CN" altLang="en-US" smtClean="0">
                <a:solidFill>
                  <a:srgbClr val="FF3300"/>
                </a:solidFill>
                <a:effectLst>
                  <a:outerShdw blurRad="38100" dist="38100" dir="2700000" algn="tl">
                    <a:srgbClr val="C0C0C0"/>
                  </a:outerShdw>
                </a:effectLst>
              </a:rPr>
              <a:t>运算符和数据类型之间的关系</a:t>
            </a:r>
            <a:r>
              <a:rPr lang="zh-CN" altLang="en-US" smtClean="0"/>
              <a:t>），增加了编译程序的负担，能否在设计机器语言时，缩短与高级语言之间的差距？</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1026"/>
          <p:cNvSpPr>
            <a:spLocks noGrp="1" noChangeArrowheads="1"/>
          </p:cNvSpPr>
          <p:nvPr>
            <p:ph type="title"/>
          </p:nvPr>
        </p:nvSpPr>
        <p:spPr/>
        <p:txBody>
          <a:bodyPr/>
          <a:lstStyle/>
          <a:p>
            <a:pPr eaLnBrk="1" hangingPunct="1">
              <a:defRPr/>
            </a:pPr>
            <a:r>
              <a:rPr lang="zh-CN" altLang="en-US" smtClean="0"/>
              <a:t>带标志符的数据</a:t>
            </a:r>
            <a:br>
              <a:rPr lang="zh-CN" altLang="en-US" smtClean="0"/>
            </a:br>
            <a:r>
              <a:rPr lang="zh-CN" altLang="en-US" smtClean="0"/>
              <a:t>表示法</a:t>
            </a:r>
          </a:p>
        </p:txBody>
      </p:sp>
      <p:sp>
        <p:nvSpPr>
          <p:cNvPr id="24579"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自定义数据表示</a:t>
            </a:r>
            <a:endParaRPr lang="zh-CN" altLang="en-US" sz="1200" b="0">
              <a:latin typeface="Times New Roman" pitchFamily="18" charset="0"/>
              <a:ea typeface="幼圆" pitchFamily="49" charset="-122"/>
            </a:endParaRPr>
          </a:p>
        </p:txBody>
      </p:sp>
      <p:sp>
        <p:nvSpPr>
          <p:cNvPr id="254980" name="Rectangle 1028"/>
          <p:cNvSpPr>
            <a:spLocks noGrp="1" noChangeArrowheads="1"/>
          </p:cNvSpPr>
          <p:nvPr>
            <p:ph type="body" sz="half" idx="1"/>
          </p:nvPr>
        </p:nvSpPr>
        <p:spPr/>
        <p:txBody>
          <a:bodyPr/>
          <a:lstStyle/>
          <a:p>
            <a:pPr eaLnBrk="1" hangingPunct="1">
              <a:buClr>
                <a:srgbClr val="FF3300"/>
              </a:buClr>
              <a:defRPr/>
            </a:pPr>
            <a:r>
              <a:rPr lang="zh-CN" altLang="en-US" sz="2800" smtClean="0">
                <a:solidFill>
                  <a:srgbClr val="FF3300"/>
                </a:solidFill>
                <a:effectLst>
                  <a:outerShdw blurRad="38100" dist="38100" dir="2700000" algn="tl">
                    <a:srgbClr val="C0C0C0"/>
                  </a:outerShdw>
                </a:effectLst>
              </a:rPr>
              <a:t>思想</a:t>
            </a:r>
          </a:p>
          <a:p>
            <a:pPr eaLnBrk="1" hangingPunct="1">
              <a:buFont typeface="Wingdings" pitchFamily="2" charset="2"/>
              <a:buNone/>
              <a:defRPr/>
            </a:pPr>
            <a:r>
              <a:rPr lang="zh-CN" altLang="en-US" sz="2400" smtClean="0"/>
              <a:t>    每个数据的格式为：</a:t>
            </a:r>
          </a:p>
          <a:p>
            <a:pPr eaLnBrk="1" hangingPunct="1">
              <a:defRPr/>
            </a:pPr>
            <a:endParaRPr lang="zh-CN" altLang="en-US" sz="2400" smtClean="0"/>
          </a:p>
          <a:p>
            <a:pPr eaLnBrk="1" hangingPunct="1">
              <a:spcBef>
                <a:spcPct val="60000"/>
              </a:spcBef>
              <a:buClr>
                <a:srgbClr val="FF3300"/>
              </a:buClr>
              <a:defRPr/>
            </a:pPr>
            <a:r>
              <a:rPr lang="zh-CN" altLang="en-US" sz="2800" smtClean="0">
                <a:solidFill>
                  <a:srgbClr val="FF3300"/>
                </a:solidFill>
                <a:effectLst>
                  <a:outerShdw blurRad="38100" dist="38100" dir="2700000" algn="tl">
                    <a:srgbClr val="C0C0C0"/>
                  </a:outerShdw>
                </a:effectLst>
              </a:rPr>
              <a:t>例子</a:t>
            </a:r>
          </a:p>
          <a:p>
            <a:pPr lvl="1" eaLnBrk="1" hangingPunct="1">
              <a:defRPr/>
            </a:pPr>
            <a:r>
              <a:rPr lang="zh-CN" altLang="en-US" sz="2400" smtClean="0"/>
              <a:t>在</a:t>
            </a:r>
            <a:r>
              <a:rPr lang="en-US" altLang="zh-CN" sz="2400" smtClean="0"/>
              <a:t>B5000</a:t>
            </a:r>
            <a:r>
              <a:rPr lang="zh-CN" altLang="en-US" sz="2400" smtClean="0"/>
              <a:t>大型机中，每个数据有一位标志符</a:t>
            </a:r>
          </a:p>
          <a:p>
            <a:pPr lvl="1" eaLnBrk="1" hangingPunct="1">
              <a:defRPr/>
            </a:pPr>
            <a:r>
              <a:rPr lang="zh-CN" altLang="en-US" sz="2400" smtClean="0"/>
              <a:t>在</a:t>
            </a:r>
            <a:r>
              <a:rPr lang="en-US" altLang="zh-CN" sz="2400" smtClean="0"/>
              <a:t>B6500</a:t>
            </a:r>
            <a:r>
              <a:rPr lang="zh-CN" altLang="en-US" sz="2400" smtClean="0"/>
              <a:t>/</a:t>
            </a:r>
            <a:r>
              <a:rPr lang="en-US" altLang="zh-CN" sz="2400" smtClean="0"/>
              <a:t>B7500</a:t>
            </a:r>
            <a:r>
              <a:rPr lang="zh-CN" altLang="en-US" sz="2400" smtClean="0"/>
              <a:t>大型机中，每个数据有三位标志</a:t>
            </a:r>
          </a:p>
          <a:p>
            <a:pPr lvl="1" eaLnBrk="1" hangingPunct="1">
              <a:defRPr/>
            </a:pPr>
            <a:r>
              <a:rPr lang="zh-CN" altLang="en-US" sz="2400" smtClean="0"/>
              <a:t>在</a:t>
            </a:r>
            <a:r>
              <a:rPr lang="en-US" altLang="zh-CN" sz="2400" smtClean="0"/>
              <a:t>R-2</a:t>
            </a:r>
            <a:r>
              <a:rPr lang="zh-CN" altLang="en-US" sz="2400" smtClean="0"/>
              <a:t>巨型机中采用10位标志符</a:t>
            </a:r>
          </a:p>
        </p:txBody>
      </p:sp>
      <p:grpSp>
        <p:nvGrpSpPr>
          <p:cNvPr id="24581" name="Group 1053"/>
          <p:cNvGrpSpPr>
            <a:grpSpLocks/>
          </p:cNvGrpSpPr>
          <p:nvPr/>
        </p:nvGrpSpPr>
        <p:grpSpPr bwMode="auto">
          <a:xfrm>
            <a:off x="1066800" y="5410200"/>
            <a:ext cx="7772400" cy="1093788"/>
            <a:chOff x="672" y="3408"/>
            <a:chExt cx="4896" cy="689"/>
          </a:xfrm>
        </p:grpSpPr>
        <p:sp>
          <p:nvSpPr>
            <p:cNvPr id="24588" name="Rectangle 1047"/>
            <p:cNvSpPr>
              <a:spLocks noChangeArrowheads="1"/>
            </p:cNvSpPr>
            <p:nvPr/>
          </p:nvSpPr>
          <p:spPr bwMode="auto">
            <a:xfrm>
              <a:off x="1440" y="3840"/>
              <a:ext cx="134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10位标志符</a:t>
              </a:r>
            </a:p>
          </p:txBody>
        </p:sp>
        <p:grpSp>
          <p:nvGrpSpPr>
            <p:cNvPr id="24589" name="Group 1052"/>
            <p:cNvGrpSpPr>
              <a:grpSpLocks/>
            </p:cNvGrpSpPr>
            <p:nvPr/>
          </p:nvGrpSpPr>
          <p:grpSpPr bwMode="auto">
            <a:xfrm>
              <a:off x="672" y="3408"/>
              <a:ext cx="4896" cy="559"/>
              <a:chOff x="672" y="3448"/>
              <a:chExt cx="4896" cy="615"/>
            </a:xfrm>
          </p:grpSpPr>
          <p:sp>
            <p:nvSpPr>
              <p:cNvPr id="24590" name="Rectangle 1036"/>
              <p:cNvSpPr>
                <a:spLocks noChangeArrowheads="1"/>
              </p:cNvSpPr>
              <p:nvPr/>
            </p:nvSpPr>
            <p:spPr bwMode="auto">
              <a:xfrm>
                <a:off x="672" y="3651"/>
                <a:ext cx="576" cy="25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功能</a:t>
                </a:r>
              </a:p>
            </p:txBody>
          </p:sp>
          <p:sp>
            <p:nvSpPr>
              <p:cNvPr id="24591" name="Rectangle 1037"/>
              <p:cNvSpPr>
                <a:spLocks noChangeArrowheads="1"/>
              </p:cNvSpPr>
              <p:nvPr/>
            </p:nvSpPr>
            <p:spPr bwMode="auto">
              <a:xfrm>
                <a:off x="3552" y="3651"/>
                <a:ext cx="2016" cy="25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数值</a:t>
                </a:r>
              </a:p>
            </p:txBody>
          </p:sp>
          <p:sp>
            <p:nvSpPr>
              <p:cNvPr id="24592" name="Rectangle 1038"/>
              <p:cNvSpPr>
                <a:spLocks noChangeArrowheads="1"/>
              </p:cNvSpPr>
              <p:nvPr/>
            </p:nvSpPr>
            <p:spPr bwMode="auto">
              <a:xfrm>
                <a:off x="1248" y="3651"/>
                <a:ext cx="576" cy="25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陷井</a:t>
                </a:r>
              </a:p>
            </p:txBody>
          </p:sp>
          <p:sp>
            <p:nvSpPr>
              <p:cNvPr id="24593" name="Rectangle 1039"/>
              <p:cNvSpPr>
                <a:spLocks noChangeArrowheads="1"/>
              </p:cNvSpPr>
              <p:nvPr/>
            </p:nvSpPr>
            <p:spPr bwMode="auto">
              <a:xfrm>
                <a:off x="1824" y="3651"/>
                <a:ext cx="576" cy="25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封写</a:t>
                </a:r>
              </a:p>
            </p:txBody>
          </p:sp>
          <p:sp>
            <p:nvSpPr>
              <p:cNvPr id="24594" name="Rectangle 1040"/>
              <p:cNvSpPr>
                <a:spLocks noChangeArrowheads="1"/>
              </p:cNvSpPr>
              <p:nvPr/>
            </p:nvSpPr>
            <p:spPr bwMode="auto">
              <a:xfrm>
                <a:off x="2400" y="3651"/>
                <a:ext cx="576" cy="25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类型</a:t>
                </a:r>
              </a:p>
            </p:txBody>
          </p:sp>
          <p:sp>
            <p:nvSpPr>
              <p:cNvPr id="24595" name="Rectangle 1041"/>
              <p:cNvSpPr>
                <a:spLocks noChangeArrowheads="1"/>
              </p:cNvSpPr>
              <p:nvPr/>
            </p:nvSpPr>
            <p:spPr bwMode="auto">
              <a:xfrm>
                <a:off x="2976" y="3651"/>
                <a:ext cx="576" cy="257"/>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校验</a:t>
                </a:r>
              </a:p>
            </p:txBody>
          </p:sp>
          <p:sp>
            <p:nvSpPr>
              <p:cNvPr id="24596" name="Rectangle 1042"/>
              <p:cNvSpPr>
                <a:spLocks noChangeArrowheads="1"/>
              </p:cNvSpPr>
              <p:nvPr/>
            </p:nvSpPr>
            <p:spPr bwMode="auto">
              <a:xfrm>
                <a:off x="672" y="3448"/>
                <a:ext cx="57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2位</a:t>
                </a:r>
              </a:p>
            </p:txBody>
          </p:sp>
          <p:sp>
            <p:nvSpPr>
              <p:cNvPr id="24597" name="Rectangle 1043"/>
              <p:cNvSpPr>
                <a:spLocks noChangeArrowheads="1"/>
              </p:cNvSpPr>
              <p:nvPr/>
            </p:nvSpPr>
            <p:spPr bwMode="auto">
              <a:xfrm>
                <a:off x="1248" y="3448"/>
                <a:ext cx="57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2位</a:t>
                </a:r>
              </a:p>
            </p:txBody>
          </p:sp>
          <p:sp>
            <p:nvSpPr>
              <p:cNvPr id="24598" name="Rectangle 1044"/>
              <p:cNvSpPr>
                <a:spLocks noChangeArrowheads="1"/>
              </p:cNvSpPr>
              <p:nvPr/>
            </p:nvSpPr>
            <p:spPr bwMode="auto">
              <a:xfrm>
                <a:off x="1824" y="3448"/>
                <a:ext cx="57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1位</a:t>
                </a:r>
              </a:p>
            </p:txBody>
          </p:sp>
          <p:sp>
            <p:nvSpPr>
              <p:cNvPr id="24599" name="Rectangle 1045"/>
              <p:cNvSpPr>
                <a:spLocks noChangeArrowheads="1"/>
              </p:cNvSpPr>
              <p:nvPr/>
            </p:nvSpPr>
            <p:spPr bwMode="auto">
              <a:xfrm>
                <a:off x="2400" y="3448"/>
                <a:ext cx="57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4位</a:t>
                </a:r>
              </a:p>
            </p:txBody>
          </p:sp>
          <p:sp>
            <p:nvSpPr>
              <p:cNvPr id="24600" name="Rectangle 1046"/>
              <p:cNvSpPr>
                <a:spLocks noChangeArrowheads="1"/>
              </p:cNvSpPr>
              <p:nvPr/>
            </p:nvSpPr>
            <p:spPr bwMode="auto">
              <a:xfrm>
                <a:off x="2976" y="3448"/>
                <a:ext cx="57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1位</a:t>
                </a:r>
              </a:p>
            </p:txBody>
          </p:sp>
          <p:sp>
            <p:nvSpPr>
              <p:cNvPr id="24601" name="Line 1048"/>
              <p:cNvSpPr>
                <a:spLocks noChangeShapeType="1"/>
              </p:cNvSpPr>
              <p:nvPr/>
            </p:nvSpPr>
            <p:spPr bwMode="auto">
              <a:xfrm>
                <a:off x="672" y="3935"/>
                <a:ext cx="0" cy="128"/>
              </a:xfrm>
              <a:prstGeom prst="line">
                <a:avLst/>
              </a:prstGeom>
              <a:noFill/>
              <a:ln w="28575">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02" name="Line 1049"/>
              <p:cNvSpPr>
                <a:spLocks noChangeShapeType="1"/>
              </p:cNvSpPr>
              <p:nvPr/>
            </p:nvSpPr>
            <p:spPr bwMode="auto">
              <a:xfrm>
                <a:off x="3552" y="3935"/>
                <a:ext cx="0" cy="128"/>
              </a:xfrm>
              <a:prstGeom prst="line">
                <a:avLst/>
              </a:prstGeom>
              <a:noFill/>
              <a:ln w="28575">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03" name="Line 1050"/>
              <p:cNvSpPr>
                <a:spLocks noChangeShapeType="1"/>
              </p:cNvSpPr>
              <p:nvPr/>
            </p:nvSpPr>
            <p:spPr bwMode="auto">
              <a:xfrm>
                <a:off x="672" y="3999"/>
                <a:ext cx="768" cy="0"/>
              </a:xfrm>
              <a:prstGeom prst="line">
                <a:avLst/>
              </a:prstGeom>
              <a:noFill/>
              <a:ln w="28575">
                <a:solidFill>
                  <a:schemeClr val="tx2"/>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04" name="Line 1051"/>
              <p:cNvSpPr>
                <a:spLocks noChangeShapeType="1"/>
              </p:cNvSpPr>
              <p:nvPr/>
            </p:nvSpPr>
            <p:spPr bwMode="auto">
              <a:xfrm>
                <a:off x="2784" y="3999"/>
                <a:ext cx="768" cy="0"/>
              </a:xfrm>
              <a:prstGeom prst="line">
                <a:avLst/>
              </a:prstGeom>
              <a:noFill/>
              <a:ln w="28575">
                <a:solidFill>
                  <a:schemeClr val="tx2"/>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24582" name="Rectangle 1032"/>
          <p:cNvSpPr>
            <a:spLocks noChangeArrowheads="1"/>
          </p:cNvSpPr>
          <p:nvPr/>
        </p:nvSpPr>
        <p:spPr bwMode="auto">
          <a:xfrm>
            <a:off x="1447800" y="3022600"/>
            <a:ext cx="990600" cy="406400"/>
          </a:xfrm>
          <a:prstGeom prst="rect">
            <a:avLst/>
          </a:prstGeom>
          <a:solidFill>
            <a:srgbClr val="FFFF00"/>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标志符</a:t>
            </a:r>
          </a:p>
        </p:txBody>
      </p:sp>
      <p:sp>
        <p:nvSpPr>
          <p:cNvPr id="24583" name="Rectangle 1033"/>
          <p:cNvSpPr>
            <a:spLocks noChangeArrowheads="1"/>
          </p:cNvSpPr>
          <p:nvPr/>
        </p:nvSpPr>
        <p:spPr bwMode="auto">
          <a:xfrm>
            <a:off x="2452688" y="3022600"/>
            <a:ext cx="2119312" cy="4064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数值</a:t>
            </a:r>
          </a:p>
        </p:txBody>
      </p:sp>
      <p:sp>
        <p:nvSpPr>
          <p:cNvPr id="24584" name="Rectangle 1056"/>
          <p:cNvSpPr>
            <a:spLocks noChangeArrowheads="1"/>
          </p:cNvSpPr>
          <p:nvPr/>
        </p:nvSpPr>
        <p:spPr bwMode="auto">
          <a:xfrm>
            <a:off x="5715000" y="190500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400" b="0">
              <a:latin typeface="Times New Roman" pitchFamily="18" charset="0"/>
              <a:ea typeface="宋体" pitchFamily="2" charset="-122"/>
            </a:endParaRPr>
          </a:p>
        </p:txBody>
      </p:sp>
      <p:sp>
        <p:nvSpPr>
          <p:cNvPr id="24585" name="Rectangle 1059"/>
          <p:cNvSpPr>
            <a:spLocks noChangeArrowheads="1"/>
          </p:cNvSpPr>
          <p:nvPr/>
        </p:nvSpPr>
        <p:spPr bwMode="auto">
          <a:xfrm>
            <a:off x="5486400" y="2209800"/>
            <a:ext cx="3276600" cy="1443038"/>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SzPct val="55000"/>
              <a:buChar char="n"/>
              <a:defRPr kumimoji="1" sz="2800" b="1">
                <a:solidFill>
                  <a:schemeClr val="tx1"/>
                </a:solidFill>
                <a:latin typeface="Arial" charset="0"/>
                <a:ea typeface="楷体_GB2312" pitchFamily="49" charset="-122"/>
              </a:defRPr>
            </a:lvl2pPr>
            <a:lvl3pPr marL="1184275" indent="-228600" eaLnBrk="0" hangingPunct="0">
              <a:buSzPct val="65000"/>
              <a:buChar char="l"/>
              <a:defRPr kumimoji="1" sz="2400" b="1">
                <a:solidFill>
                  <a:schemeClr val="tx1"/>
                </a:solidFill>
                <a:latin typeface="Arial" charset="0"/>
                <a:ea typeface="楷体_GB2312" pitchFamily="49" charset="-122"/>
              </a:defRPr>
            </a:lvl3pPr>
            <a:lvl4pPr marL="1603375" indent="-228600" eaLnBrk="0" hangingPunct="0">
              <a:buSzPct val="85000"/>
              <a:buChar char="w"/>
              <a:defRPr kumimoji="1" sz="2000" b="1">
                <a:solidFill>
                  <a:schemeClr val="tx1"/>
                </a:solidFill>
                <a:latin typeface="Arial" charset="0"/>
                <a:ea typeface="楷体_GB2312" pitchFamily="49" charset="-122"/>
              </a:defRPr>
            </a:lvl4pPr>
            <a:lvl5pPr marL="2022475" indent="-228600" eaLnBrk="0" hangingPunct="0">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None/>
            </a:pPr>
            <a:r>
              <a:rPr lang="zh-CN" altLang="en-US" sz="2400">
                <a:latin typeface="楷体_GB2312" pitchFamily="49" charset="-122"/>
              </a:rPr>
              <a:t>    标志符由编译器或其它系统软件建立，对一般高级语言程序员和计算机用户透明。</a:t>
            </a:r>
          </a:p>
        </p:txBody>
      </p:sp>
      <p:sp>
        <p:nvSpPr>
          <p:cNvPr id="24586" name="AutoShape 1060"/>
          <p:cNvSpPr>
            <a:spLocks noChangeArrowheads="1"/>
          </p:cNvSpPr>
          <p:nvPr/>
        </p:nvSpPr>
        <p:spPr bwMode="auto">
          <a:xfrm>
            <a:off x="4724400" y="2819400"/>
            <a:ext cx="685800" cy="304800"/>
          </a:xfrm>
          <a:prstGeom prst="chevron">
            <a:avLst>
              <a:gd name="adj" fmla="val 56250"/>
            </a:avLst>
          </a:prstGeom>
          <a:solidFill>
            <a:srgbClr val="FF3300"/>
          </a:solidFill>
          <a:ln w="28575">
            <a:solidFill>
              <a:schemeClr val="tx1"/>
            </a:solidFill>
            <a:miter lim="800000"/>
            <a:headEnd/>
            <a:tailEnd/>
          </a:ln>
          <a:effectLst>
            <a:outerShdw dist="107763" dir="2700000" algn="ctr" rotWithShape="0">
              <a:schemeClr val="bg2"/>
            </a:outerShdw>
          </a:effec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24587" name="Text Box 106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pPr eaLnBrk="1" hangingPunct="1">
              <a:defRPr/>
            </a:pPr>
            <a:r>
              <a:rPr lang="zh-CN" altLang="en-US" smtClean="0"/>
              <a:t>带标志符的数据</a:t>
            </a:r>
            <a:br>
              <a:rPr lang="zh-CN" altLang="en-US" smtClean="0"/>
            </a:br>
            <a:r>
              <a:rPr lang="zh-CN" altLang="en-US" smtClean="0"/>
              <a:t>表示法</a:t>
            </a:r>
          </a:p>
        </p:txBody>
      </p:sp>
      <p:sp>
        <p:nvSpPr>
          <p:cNvPr id="257028" name="Rectangle 4"/>
          <p:cNvSpPr>
            <a:spLocks noGrp="1" noChangeArrowheads="1"/>
          </p:cNvSpPr>
          <p:nvPr>
            <p:ph type="body" sz="half" idx="1"/>
          </p:nvPr>
        </p:nvSpPr>
        <p:spPr>
          <a:xfrm>
            <a:off x="809625" y="1916113"/>
            <a:ext cx="3902075" cy="4484687"/>
          </a:xfrm>
          <a:solidFill>
            <a:srgbClr val="FFFF00"/>
          </a:solidFill>
          <a:ln w="114300" cmpd="thickThin">
            <a:solidFill>
              <a:schemeClr val="tx1"/>
            </a:solidFill>
            <a:miter lim="800000"/>
            <a:headEnd/>
            <a:tailEnd/>
          </a:ln>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pPr marL="0" indent="0" eaLnBrk="1" hangingPunct="1">
              <a:buClr>
                <a:srgbClr val="FF3300"/>
              </a:buClr>
              <a:defRPr/>
            </a:pPr>
            <a:r>
              <a:rPr lang="zh-CN" altLang="en-US" smtClean="0">
                <a:solidFill>
                  <a:srgbClr val="FF3300"/>
                </a:solidFill>
                <a:effectLst>
                  <a:outerShdw blurRad="38100" dist="38100" dir="2700000" algn="tl">
                    <a:srgbClr val="000000"/>
                  </a:outerShdw>
                </a:effectLst>
              </a:rPr>
              <a:t>  优点</a:t>
            </a:r>
          </a:p>
          <a:p>
            <a:pPr marL="765175" lvl="1" eaLnBrk="1" hangingPunct="1">
              <a:buFont typeface="Wingdings" pitchFamily="2" charset="2"/>
              <a:buChar char="Ø"/>
              <a:defRPr/>
            </a:pPr>
            <a:r>
              <a:rPr lang="zh-CN" altLang="en-US" smtClean="0"/>
              <a:t>简化指令系统和程序设计</a:t>
            </a:r>
          </a:p>
          <a:p>
            <a:pPr marL="765175" lvl="1" eaLnBrk="1" hangingPunct="1">
              <a:buFont typeface="Wingdings" pitchFamily="2" charset="2"/>
              <a:buChar char="Ø"/>
              <a:defRPr/>
            </a:pPr>
            <a:r>
              <a:rPr lang="zh-CN" altLang="en-US" smtClean="0"/>
              <a:t>简化编译程序</a:t>
            </a:r>
          </a:p>
          <a:p>
            <a:pPr marL="765175" lvl="1" eaLnBrk="1" hangingPunct="1">
              <a:buFont typeface="Wingdings" pitchFamily="2" charset="2"/>
              <a:buChar char="Ø"/>
              <a:defRPr/>
            </a:pPr>
            <a:r>
              <a:rPr lang="zh-CN" altLang="en-US" smtClean="0"/>
              <a:t>便于硬件实现一致性校验</a:t>
            </a:r>
          </a:p>
          <a:p>
            <a:pPr marL="765175" lvl="1" eaLnBrk="1" hangingPunct="1">
              <a:buFont typeface="Wingdings" pitchFamily="2" charset="2"/>
              <a:buChar char="Ø"/>
              <a:defRPr/>
            </a:pPr>
            <a:r>
              <a:rPr lang="zh-CN" altLang="en-US" smtClean="0"/>
              <a:t>能由硬件自动完成数据类型的变换</a:t>
            </a:r>
          </a:p>
          <a:p>
            <a:pPr marL="765175" lvl="1" eaLnBrk="1" hangingPunct="1">
              <a:buFont typeface="Wingdings" pitchFamily="2" charset="2"/>
              <a:buChar char="Ø"/>
              <a:defRPr/>
            </a:pPr>
            <a:r>
              <a:rPr lang="zh-CN" altLang="en-US" smtClean="0"/>
              <a:t>为软件调试和应用软件开发提供支持</a:t>
            </a:r>
          </a:p>
        </p:txBody>
      </p:sp>
      <p:sp>
        <p:nvSpPr>
          <p:cNvPr id="257049" name="Rectangle 25"/>
          <p:cNvSpPr>
            <a:spLocks noGrp="1" noChangeArrowheads="1"/>
          </p:cNvSpPr>
          <p:nvPr>
            <p:ph type="body" sz="half" idx="2"/>
          </p:nvPr>
        </p:nvSpPr>
        <p:spPr>
          <a:xfrm>
            <a:off x="4859338" y="1916113"/>
            <a:ext cx="3822700" cy="4484687"/>
          </a:xfrm>
          <a:solidFill>
            <a:srgbClr val="FFFF00"/>
          </a:solidFill>
          <a:ln w="114300" cmpd="thickThin">
            <a:solidFill>
              <a:schemeClr val="tx1"/>
            </a:solidFill>
            <a:miter lim="800000"/>
            <a:headEnd/>
            <a:tailEnd/>
          </a:ln>
        </p:spPr>
        <p:txBody>
          <a:bodyPr/>
          <a:lstStyle/>
          <a:p>
            <a:pPr lvl="1" eaLnBrk="1" hangingPunct="1">
              <a:buFont typeface="Wingdings" pitchFamily="2" charset="2"/>
              <a:buChar char="Ø"/>
              <a:defRPr/>
            </a:pPr>
            <a:r>
              <a:rPr lang="zh-CN" altLang="en-US" smtClean="0"/>
              <a:t>支持了数据库系统的实现与数据类型无关的要求</a:t>
            </a:r>
          </a:p>
          <a:p>
            <a:pPr eaLnBrk="1" hangingPunct="1">
              <a:buClr>
                <a:srgbClr val="FF3300"/>
              </a:buClr>
              <a:defRPr/>
            </a:pPr>
            <a:r>
              <a:rPr lang="zh-CN" altLang="en-US" smtClean="0">
                <a:solidFill>
                  <a:srgbClr val="FF3300"/>
                </a:solidFill>
                <a:effectLst>
                  <a:outerShdw blurRad="38100" dist="38100" dir="2700000" algn="tl">
                    <a:srgbClr val="000000"/>
                  </a:outerShdw>
                </a:effectLst>
              </a:rPr>
              <a:t>缺点</a:t>
            </a:r>
          </a:p>
          <a:p>
            <a:pPr lvl="1" eaLnBrk="1" hangingPunct="1">
              <a:buFont typeface="Wingdings" pitchFamily="2" charset="2"/>
              <a:buChar char="Ø"/>
              <a:defRPr/>
            </a:pPr>
            <a:r>
              <a:rPr lang="zh-CN" altLang="en-US" smtClean="0"/>
              <a:t>数据和指令的长度可能不一致</a:t>
            </a:r>
          </a:p>
          <a:p>
            <a:pPr lvl="1" eaLnBrk="1" hangingPunct="1">
              <a:buFont typeface="Wingdings" pitchFamily="2" charset="2"/>
              <a:buChar char="Ø"/>
              <a:defRPr/>
            </a:pPr>
            <a:r>
              <a:rPr lang="zh-CN" altLang="en-US" smtClean="0"/>
              <a:t>指令执行速度降低，程序设计时间、编译时间和调试时间缩短</a:t>
            </a:r>
          </a:p>
          <a:p>
            <a:pPr lvl="1" eaLnBrk="1" hangingPunct="1">
              <a:buFont typeface="Wingdings" pitchFamily="2" charset="2"/>
              <a:buChar char="Ø"/>
              <a:defRPr/>
            </a:pPr>
            <a:r>
              <a:rPr lang="zh-CN" altLang="en-US" smtClean="0"/>
              <a:t>硬件复杂度增加。</a:t>
            </a:r>
          </a:p>
        </p:txBody>
      </p:sp>
      <p:sp>
        <p:nvSpPr>
          <p:cNvPr id="2560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自定义数据表示</a:t>
            </a:r>
            <a:endParaRPr lang="zh-CN" altLang="en-US" sz="1200" b="0">
              <a:latin typeface="Times New Roman" pitchFamily="18" charset="0"/>
              <a:ea typeface="幼圆" pitchFamily="49" charset="-122"/>
            </a:endParaRPr>
          </a:p>
        </p:txBody>
      </p:sp>
      <p:sp>
        <p:nvSpPr>
          <p:cNvPr id="25606" name="Text Box 2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p:txBody>
          <a:bodyPr/>
          <a:lstStyle/>
          <a:p>
            <a:pPr eaLnBrk="1" hangingPunct="1">
              <a:defRPr/>
            </a:pPr>
            <a:r>
              <a:rPr lang="zh-CN" altLang="en-US" smtClean="0"/>
              <a:t>存储空间分析</a:t>
            </a:r>
          </a:p>
        </p:txBody>
      </p:sp>
      <p:sp>
        <p:nvSpPr>
          <p:cNvPr id="260102" name="Rectangle 6"/>
          <p:cNvSpPr>
            <a:spLocks noGrp="1" noChangeArrowheads="1"/>
          </p:cNvSpPr>
          <p:nvPr>
            <p:ph type="body" idx="1"/>
          </p:nvPr>
        </p:nvSpPr>
        <p:spPr>
          <a:xfrm>
            <a:off x="809625" y="1916113"/>
            <a:ext cx="3990975" cy="4408487"/>
          </a:xfrm>
          <a:solidFill>
            <a:srgbClr val="FFFF00"/>
          </a:solidFill>
          <a:ln w="57150" cmpd="thickThin">
            <a:solidFill>
              <a:schemeClr val="tx1"/>
            </a:solidFill>
            <a:miter lim="800000"/>
            <a:headEnd/>
            <a:tailEnd/>
          </a:ln>
          <a:effectLst>
            <a:outerShdw dist="107763" dir="2700000" algn="ctr" rotWithShape="0">
              <a:schemeClr val="bg2"/>
            </a:outerShdw>
          </a:effectLst>
        </p:spPr>
        <p:txBody>
          <a:bodyPr/>
          <a:lstStyle/>
          <a:p>
            <a:pPr marL="0" indent="0" eaLnBrk="1" hangingPunct="1">
              <a:buClr>
                <a:srgbClr val="FF3300"/>
              </a:buClr>
              <a:defRPr/>
            </a:pPr>
            <a:r>
              <a:rPr lang="zh-CN" altLang="en-US" sz="2400" smtClean="0">
                <a:solidFill>
                  <a:srgbClr val="FF3300"/>
                </a:solidFill>
                <a:effectLst>
                  <a:outerShdw blurRad="38100" dist="38100" dir="2700000" algn="tl">
                    <a:srgbClr val="000000"/>
                  </a:outerShdw>
                </a:effectLst>
              </a:rPr>
              <a:t>  问题</a:t>
            </a:r>
          </a:p>
          <a:p>
            <a:pPr marL="0" indent="0" eaLnBrk="1" hangingPunct="1">
              <a:buFont typeface="Wingdings" pitchFamily="2" charset="2"/>
              <a:buNone/>
              <a:defRPr/>
            </a:pPr>
            <a:r>
              <a:rPr lang="zh-CN" altLang="en-US" sz="2400" smtClean="0"/>
              <a:t>    存储空间将会增加。</a:t>
            </a:r>
          </a:p>
          <a:p>
            <a:pPr marL="0" indent="0" eaLnBrk="1" hangingPunct="1">
              <a:buClr>
                <a:srgbClr val="FF3300"/>
              </a:buClr>
              <a:defRPr/>
            </a:pPr>
            <a:r>
              <a:rPr lang="zh-CN" altLang="en-US" sz="2400" smtClean="0"/>
              <a:t>  </a:t>
            </a:r>
            <a:r>
              <a:rPr lang="zh-CN" altLang="en-US" sz="2400" smtClean="0">
                <a:solidFill>
                  <a:srgbClr val="FF3300"/>
                </a:solidFill>
                <a:effectLst>
                  <a:outerShdw blurRad="38100" dist="38100" dir="2700000" algn="tl">
                    <a:srgbClr val="000000"/>
                  </a:outerShdw>
                </a:effectLst>
              </a:rPr>
              <a:t>解决</a:t>
            </a:r>
          </a:p>
          <a:p>
            <a:pPr marL="0" indent="0" eaLnBrk="1" hangingPunct="1">
              <a:buFont typeface="Wingdings" pitchFamily="2" charset="2"/>
              <a:buNone/>
              <a:defRPr/>
            </a:pPr>
            <a:r>
              <a:rPr lang="zh-CN" altLang="en-US" sz="2400" smtClean="0"/>
              <a:t>    合理地设计和使用会不增反降。</a:t>
            </a:r>
          </a:p>
          <a:p>
            <a:pPr marL="0" indent="0" eaLnBrk="1" hangingPunct="1">
              <a:buClr>
                <a:srgbClr val="FF3300"/>
              </a:buClr>
              <a:defRPr/>
            </a:pPr>
            <a:r>
              <a:rPr lang="zh-CN" altLang="en-US" sz="2400" smtClean="0"/>
              <a:t>  </a:t>
            </a:r>
            <a:r>
              <a:rPr lang="zh-CN" altLang="en-US" sz="2400" smtClean="0">
                <a:solidFill>
                  <a:srgbClr val="FF3300"/>
                </a:solidFill>
                <a:effectLst>
                  <a:outerShdw blurRad="38100" dist="38100" dir="2700000" algn="tl">
                    <a:srgbClr val="000000"/>
                  </a:outerShdw>
                </a:effectLst>
              </a:rPr>
              <a:t>原因</a:t>
            </a:r>
          </a:p>
          <a:p>
            <a:pPr marL="850900" lvl="1" eaLnBrk="1" hangingPunct="1">
              <a:buFont typeface="Wingdings" pitchFamily="2" charset="2"/>
              <a:buChar char="Ø"/>
              <a:defRPr/>
            </a:pPr>
            <a:r>
              <a:rPr lang="zh-CN" altLang="en-US" sz="2400" smtClean="0"/>
              <a:t>数据字增加，指令字缩小</a:t>
            </a:r>
          </a:p>
          <a:p>
            <a:pPr marL="850900" lvl="1" eaLnBrk="1" hangingPunct="1">
              <a:buFont typeface="Wingdings" pitchFamily="2" charset="2"/>
              <a:buChar char="Ø"/>
              <a:defRPr/>
            </a:pPr>
            <a:r>
              <a:rPr lang="zh-CN" altLang="en-US" sz="2400" smtClean="0"/>
              <a:t>编译程序缩短，目的程序缩短</a:t>
            </a:r>
          </a:p>
        </p:txBody>
      </p:sp>
      <p:sp>
        <p:nvSpPr>
          <p:cNvPr id="26628"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自定义数据表示</a:t>
            </a:r>
            <a:endParaRPr lang="zh-CN" altLang="en-US" sz="1200" b="0">
              <a:latin typeface="Times New Roman" pitchFamily="18" charset="0"/>
              <a:ea typeface="幼圆" pitchFamily="49" charset="-122"/>
            </a:endParaRPr>
          </a:p>
        </p:txBody>
      </p:sp>
      <p:sp>
        <p:nvSpPr>
          <p:cNvPr id="26629" name="Rectangle 9"/>
          <p:cNvSpPr>
            <a:spLocks noChangeArrowheads="1"/>
          </p:cNvSpPr>
          <p:nvPr/>
        </p:nvSpPr>
        <p:spPr bwMode="auto">
          <a:xfrm>
            <a:off x="5249863" y="4873625"/>
            <a:ext cx="1122362" cy="752475"/>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nchor="ctr" anchorCtr="1"/>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solidFill>
                  <a:schemeClr val="tx2"/>
                </a:solidFill>
                <a:latin typeface="Book Antiqua" pitchFamily="18" charset="0"/>
              </a:rPr>
              <a:t>数据字长加长</a:t>
            </a:r>
          </a:p>
        </p:txBody>
      </p:sp>
      <p:sp>
        <p:nvSpPr>
          <p:cNvPr id="26630" name="Rectangle 10"/>
          <p:cNvSpPr>
            <a:spLocks noChangeArrowheads="1"/>
          </p:cNvSpPr>
          <p:nvPr/>
        </p:nvSpPr>
        <p:spPr bwMode="auto">
          <a:xfrm>
            <a:off x="6372225" y="4873625"/>
            <a:ext cx="1538288" cy="7524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nchor="ctr" anchorCtr="1"/>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solidFill>
                  <a:schemeClr val="tx2"/>
                </a:solidFill>
                <a:latin typeface="Book Antiqua" pitchFamily="18" charset="0"/>
              </a:rPr>
              <a:t>数据</a:t>
            </a:r>
          </a:p>
        </p:txBody>
      </p:sp>
      <p:sp>
        <p:nvSpPr>
          <p:cNvPr id="26631" name="Rectangle 11"/>
          <p:cNvSpPr>
            <a:spLocks noChangeArrowheads="1"/>
          </p:cNvSpPr>
          <p:nvPr/>
        </p:nvSpPr>
        <p:spPr bwMode="auto">
          <a:xfrm>
            <a:off x="6786563" y="2781300"/>
            <a:ext cx="1123950" cy="209232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nchor="ctr" anchorCtr="1"/>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solidFill>
                  <a:schemeClr val="tx2"/>
                </a:solidFill>
                <a:latin typeface="Book Antiqua" pitchFamily="18" charset="0"/>
              </a:rPr>
              <a:t>指令</a:t>
            </a:r>
          </a:p>
        </p:txBody>
      </p:sp>
      <p:sp>
        <p:nvSpPr>
          <p:cNvPr id="26632" name="Rectangle 12"/>
          <p:cNvSpPr>
            <a:spLocks noChangeArrowheads="1"/>
          </p:cNvSpPr>
          <p:nvPr/>
        </p:nvSpPr>
        <p:spPr bwMode="auto">
          <a:xfrm>
            <a:off x="6372225" y="2781300"/>
            <a:ext cx="414338" cy="2092325"/>
          </a:xfrm>
          <a:prstGeom prst="rect">
            <a:avLst/>
          </a:prstGeom>
          <a:solidFill>
            <a:srgbClr val="FFFF00"/>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nchor="ctr" anchorCtr="1"/>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solidFill>
                  <a:schemeClr val="tx2"/>
                </a:solidFill>
                <a:latin typeface="Book Antiqua" pitchFamily="18" charset="0"/>
              </a:rPr>
              <a:t>指令字长缩短</a:t>
            </a:r>
          </a:p>
        </p:txBody>
      </p:sp>
      <p:sp>
        <p:nvSpPr>
          <p:cNvPr id="26633" name="Rectangle 13"/>
          <p:cNvSpPr>
            <a:spLocks noChangeArrowheads="1"/>
          </p:cNvSpPr>
          <p:nvPr/>
        </p:nvSpPr>
        <p:spPr bwMode="auto">
          <a:xfrm>
            <a:off x="6029325" y="2055813"/>
            <a:ext cx="2711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采用标志符</a:t>
            </a:r>
          </a:p>
          <a:p>
            <a:pPr algn="ctr" eaLnBrk="1" hangingPunct="1">
              <a:lnSpc>
                <a:spcPct val="80000"/>
              </a:lnSpc>
              <a:spcBef>
                <a:spcPct val="0"/>
              </a:spcBef>
              <a:buClrTx/>
              <a:buFontTx/>
              <a:buNone/>
            </a:pPr>
            <a:r>
              <a:rPr lang="zh-CN" altLang="en-US" sz="2000">
                <a:solidFill>
                  <a:schemeClr val="tx2"/>
                </a:solidFill>
                <a:latin typeface="Book Antiqua" pitchFamily="18" charset="0"/>
              </a:rPr>
              <a:t>的指令字长</a:t>
            </a:r>
          </a:p>
        </p:txBody>
      </p:sp>
      <p:sp>
        <p:nvSpPr>
          <p:cNvPr id="26634" name="Line 14"/>
          <p:cNvSpPr>
            <a:spLocks noChangeShapeType="1"/>
          </p:cNvSpPr>
          <p:nvPr/>
        </p:nvSpPr>
        <p:spPr bwMode="auto">
          <a:xfrm>
            <a:off x="6786563" y="2513013"/>
            <a:ext cx="0" cy="214312"/>
          </a:xfrm>
          <a:prstGeom prst="line">
            <a:avLst/>
          </a:prstGeom>
          <a:noFill/>
          <a:ln w="28575">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5" name="Line 15"/>
          <p:cNvSpPr>
            <a:spLocks noChangeShapeType="1"/>
          </p:cNvSpPr>
          <p:nvPr/>
        </p:nvSpPr>
        <p:spPr bwMode="auto">
          <a:xfrm>
            <a:off x="7910513" y="2513013"/>
            <a:ext cx="0" cy="214312"/>
          </a:xfrm>
          <a:prstGeom prst="line">
            <a:avLst/>
          </a:prstGeom>
          <a:noFill/>
          <a:ln w="28575">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6" name="Line 16"/>
          <p:cNvSpPr>
            <a:spLocks noChangeShapeType="1"/>
          </p:cNvSpPr>
          <p:nvPr/>
        </p:nvSpPr>
        <p:spPr bwMode="auto">
          <a:xfrm>
            <a:off x="6786563" y="2620963"/>
            <a:ext cx="1123950" cy="0"/>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7" name="Line 17"/>
          <p:cNvSpPr>
            <a:spLocks noChangeShapeType="1"/>
          </p:cNvSpPr>
          <p:nvPr/>
        </p:nvSpPr>
        <p:spPr bwMode="auto">
          <a:xfrm>
            <a:off x="5249863" y="5678488"/>
            <a:ext cx="0" cy="322262"/>
          </a:xfrm>
          <a:prstGeom prst="line">
            <a:avLst/>
          </a:prstGeom>
          <a:noFill/>
          <a:ln w="28575">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8" name="Line 18"/>
          <p:cNvSpPr>
            <a:spLocks noChangeShapeType="1"/>
          </p:cNvSpPr>
          <p:nvPr/>
        </p:nvSpPr>
        <p:spPr bwMode="auto">
          <a:xfrm>
            <a:off x="6372225" y="5678488"/>
            <a:ext cx="0" cy="215900"/>
          </a:xfrm>
          <a:prstGeom prst="line">
            <a:avLst/>
          </a:prstGeom>
          <a:noFill/>
          <a:ln w="28575">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9" name="Line 19"/>
          <p:cNvSpPr>
            <a:spLocks noChangeShapeType="1"/>
          </p:cNvSpPr>
          <p:nvPr/>
        </p:nvSpPr>
        <p:spPr bwMode="auto">
          <a:xfrm>
            <a:off x="5267325" y="4722813"/>
            <a:ext cx="1122363" cy="0"/>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0" name="Rectangle 20"/>
          <p:cNvSpPr>
            <a:spLocks noChangeArrowheads="1"/>
          </p:cNvSpPr>
          <p:nvPr/>
        </p:nvSpPr>
        <p:spPr bwMode="auto">
          <a:xfrm>
            <a:off x="5114925" y="4189413"/>
            <a:ext cx="152400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lnSpc>
                <a:spcPct val="80000"/>
              </a:lnSpc>
              <a:spcBef>
                <a:spcPct val="0"/>
              </a:spcBef>
              <a:buClrTx/>
              <a:buFontTx/>
              <a:buNone/>
            </a:pPr>
            <a:r>
              <a:rPr lang="zh-CN" altLang="en-US" sz="2000">
                <a:solidFill>
                  <a:schemeClr val="tx2"/>
                </a:solidFill>
                <a:latin typeface="Book Antiqua" pitchFamily="18" charset="0"/>
              </a:rPr>
              <a:t>标志符长度</a:t>
            </a:r>
            <a:r>
              <a:rPr kumimoji="0" lang="zh-CN" altLang="en-US" sz="2000">
                <a:latin typeface="Times New Roman" pitchFamily="18" charset="0"/>
                <a:ea typeface="宋体" pitchFamily="2" charset="-122"/>
              </a:rPr>
              <a:t>　</a:t>
            </a:r>
          </a:p>
        </p:txBody>
      </p:sp>
      <p:sp>
        <p:nvSpPr>
          <p:cNvPr id="26641" name="Line 21"/>
          <p:cNvSpPr>
            <a:spLocks noChangeShapeType="1"/>
          </p:cNvSpPr>
          <p:nvPr/>
        </p:nvSpPr>
        <p:spPr bwMode="auto">
          <a:xfrm>
            <a:off x="7910513" y="5678488"/>
            <a:ext cx="0" cy="322262"/>
          </a:xfrm>
          <a:prstGeom prst="line">
            <a:avLst/>
          </a:prstGeom>
          <a:noFill/>
          <a:ln w="28575">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2" name="Line 22"/>
          <p:cNvSpPr>
            <a:spLocks noChangeShapeType="1"/>
          </p:cNvSpPr>
          <p:nvPr/>
        </p:nvSpPr>
        <p:spPr bwMode="auto">
          <a:xfrm>
            <a:off x="6372225" y="5786438"/>
            <a:ext cx="1538288" cy="0"/>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3" name="Rectangle 23"/>
          <p:cNvSpPr>
            <a:spLocks noChangeArrowheads="1"/>
          </p:cNvSpPr>
          <p:nvPr/>
        </p:nvSpPr>
        <p:spPr bwMode="auto">
          <a:xfrm>
            <a:off x="8027988" y="4498975"/>
            <a:ext cx="592137" cy="171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不采</a:t>
            </a:r>
          </a:p>
          <a:p>
            <a:pPr algn="ctr" eaLnBrk="1" hangingPunct="1">
              <a:lnSpc>
                <a:spcPct val="80000"/>
              </a:lnSpc>
              <a:spcBef>
                <a:spcPct val="0"/>
              </a:spcBef>
              <a:buClrTx/>
              <a:buFontTx/>
              <a:buNone/>
            </a:pPr>
            <a:r>
              <a:rPr lang="zh-CN" altLang="en-US" sz="2000">
                <a:solidFill>
                  <a:schemeClr val="tx2"/>
                </a:solidFill>
                <a:latin typeface="Book Antiqua" pitchFamily="18" charset="0"/>
              </a:rPr>
              <a:t>用标</a:t>
            </a:r>
          </a:p>
          <a:p>
            <a:pPr algn="ctr" eaLnBrk="1" hangingPunct="1">
              <a:lnSpc>
                <a:spcPct val="80000"/>
              </a:lnSpc>
              <a:spcBef>
                <a:spcPct val="0"/>
              </a:spcBef>
              <a:buClrTx/>
              <a:buFontTx/>
              <a:buNone/>
            </a:pPr>
            <a:r>
              <a:rPr lang="zh-CN" altLang="en-US" sz="2000">
                <a:solidFill>
                  <a:schemeClr val="tx2"/>
                </a:solidFill>
                <a:latin typeface="Book Antiqua" pitchFamily="18" charset="0"/>
              </a:rPr>
              <a:t>志符</a:t>
            </a:r>
          </a:p>
          <a:p>
            <a:pPr algn="ctr" eaLnBrk="1" hangingPunct="1">
              <a:lnSpc>
                <a:spcPct val="80000"/>
              </a:lnSpc>
              <a:spcBef>
                <a:spcPct val="0"/>
              </a:spcBef>
              <a:buClrTx/>
              <a:buFontTx/>
              <a:buNone/>
            </a:pPr>
            <a:r>
              <a:rPr lang="zh-CN" altLang="en-US" sz="2000">
                <a:solidFill>
                  <a:schemeClr val="tx2"/>
                </a:solidFill>
                <a:latin typeface="Book Antiqua" pitchFamily="18" charset="0"/>
              </a:rPr>
              <a:t>的指</a:t>
            </a:r>
          </a:p>
          <a:p>
            <a:pPr algn="ctr" eaLnBrk="1" hangingPunct="1">
              <a:lnSpc>
                <a:spcPct val="80000"/>
              </a:lnSpc>
              <a:spcBef>
                <a:spcPct val="0"/>
              </a:spcBef>
              <a:buClrTx/>
              <a:buFontTx/>
              <a:buNone/>
            </a:pPr>
            <a:r>
              <a:rPr lang="zh-CN" altLang="en-US" sz="2000">
                <a:solidFill>
                  <a:schemeClr val="tx2"/>
                </a:solidFill>
                <a:latin typeface="Book Antiqua" pitchFamily="18" charset="0"/>
              </a:rPr>
              <a:t>令和</a:t>
            </a:r>
          </a:p>
          <a:p>
            <a:pPr algn="ctr" eaLnBrk="1" hangingPunct="1">
              <a:lnSpc>
                <a:spcPct val="80000"/>
              </a:lnSpc>
              <a:spcBef>
                <a:spcPct val="0"/>
              </a:spcBef>
              <a:buClrTx/>
              <a:buFontTx/>
              <a:buNone/>
            </a:pPr>
            <a:r>
              <a:rPr lang="zh-CN" altLang="en-US" sz="2000">
                <a:solidFill>
                  <a:schemeClr val="tx2"/>
                </a:solidFill>
                <a:latin typeface="Book Antiqua" pitchFamily="18" charset="0"/>
              </a:rPr>
              <a:t>数据</a:t>
            </a:r>
          </a:p>
          <a:p>
            <a:pPr algn="ctr" eaLnBrk="1" hangingPunct="1">
              <a:lnSpc>
                <a:spcPct val="80000"/>
              </a:lnSpc>
              <a:spcBef>
                <a:spcPct val="0"/>
              </a:spcBef>
              <a:buClrTx/>
              <a:buFontTx/>
              <a:buNone/>
            </a:pPr>
            <a:r>
              <a:rPr lang="zh-CN" altLang="en-US" sz="2000">
                <a:solidFill>
                  <a:schemeClr val="tx2"/>
                </a:solidFill>
                <a:latin typeface="Book Antiqua" pitchFamily="18" charset="0"/>
              </a:rPr>
              <a:t>字长</a:t>
            </a:r>
          </a:p>
        </p:txBody>
      </p:sp>
      <p:sp>
        <p:nvSpPr>
          <p:cNvPr id="26644" name="Rectangle 25"/>
          <p:cNvSpPr>
            <a:spLocks noChangeArrowheads="1"/>
          </p:cNvSpPr>
          <p:nvPr/>
        </p:nvSpPr>
        <p:spPr bwMode="auto">
          <a:xfrm>
            <a:off x="5249863" y="6108700"/>
            <a:ext cx="266065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Book Antiqua" pitchFamily="18" charset="0"/>
              </a:rPr>
              <a:t>采用标志符的数据长度</a:t>
            </a:r>
          </a:p>
        </p:txBody>
      </p:sp>
      <p:sp>
        <p:nvSpPr>
          <p:cNvPr id="26645" name="Line 26"/>
          <p:cNvSpPr>
            <a:spLocks noChangeShapeType="1"/>
          </p:cNvSpPr>
          <p:nvPr/>
        </p:nvSpPr>
        <p:spPr bwMode="auto">
          <a:xfrm>
            <a:off x="5249863" y="5946775"/>
            <a:ext cx="2660650" cy="0"/>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6" name="Line 27"/>
          <p:cNvSpPr>
            <a:spLocks noChangeShapeType="1"/>
          </p:cNvSpPr>
          <p:nvPr/>
        </p:nvSpPr>
        <p:spPr bwMode="auto">
          <a:xfrm>
            <a:off x="5267325" y="4570413"/>
            <a:ext cx="0" cy="322262"/>
          </a:xfrm>
          <a:prstGeom prst="line">
            <a:avLst/>
          </a:prstGeom>
          <a:noFill/>
          <a:ln w="28575">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7" name="Text Box 2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pPr eaLnBrk="1" hangingPunct="1">
              <a:defRPr/>
            </a:pPr>
            <a:r>
              <a:rPr lang="zh-CN" altLang="en-US" smtClean="0"/>
              <a:t>存储空间分析</a:t>
            </a:r>
          </a:p>
        </p:txBody>
      </p:sp>
      <p:sp>
        <p:nvSpPr>
          <p:cNvPr id="262169" name="Rectangle 25"/>
          <p:cNvSpPr>
            <a:spLocks noGrp="1" noChangeArrowheads="1"/>
          </p:cNvSpPr>
          <p:nvPr>
            <p:ph type="body" sz="half" idx="1"/>
          </p:nvPr>
        </p:nvSpPr>
        <p:spPr>
          <a:xfrm>
            <a:off x="809625" y="1916113"/>
            <a:ext cx="3902075" cy="4560887"/>
          </a:xfrm>
        </p:spPr>
        <p:txBody>
          <a:bodyPr/>
          <a:lstStyle/>
          <a:p>
            <a:pPr marL="0" indent="0" eaLnBrk="1" hangingPunct="1">
              <a:buFont typeface="Wingdings" pitchFamily="2" charset="2"/>
              <a:buNone/>
              <a:defRPr/>
            </a:pPr>
            <a:r>
              <a:rPr lang="zh-CN" altLang="en-US" sz="2400" dirty="0" smtClean="0">
                <a:solidFill>
                  <a:srgbClr val="FF3300"/>
                </a:solidFill>
                <a:effectLst>
                  <a:outerShdw blurRad="38100" dist="38100" dir="2700000" algn="tl">
                    <a:srgbClr val="C0C0C0"/>
                  </a:outerShdw>
                </a:effectLst>
              </a:rPr>
              <a:t>例：</a:t>
            </a:r>
            <a:r>
              <a:rPr lang="zh-CN" altLang="en-US" sz="2400" dirty="0" smtClean="0"/>
              <a:t>假设</a:t>
            </a:r>
            <a:r>
              <a:rPr lang="en-US" altLang="zh-CN" sz="2400" dirty="0" smtClean="0"/>
              <a:t>X</a:t>
            </a:r>
            <a:r>
              <a:rPr lang="zh-CN" altLang="en-US" sz="2400" dirty="0" smtClean="0"/>
              <a:t>处理机的数据不带标志符，其指令字长和数据字长均为32位；</a:t>
            </a:r>
            <a:r>
              <a:rPr lang="en-US" altLang="zh-CN" sz="2400" dirty="0" smtClean="0"/>
              <a:t>Y</a:t>
            </a:r>
            <a:r>
              <a:rPr lang="zh-CN" altLang="en-US" sz="2400" smtClean="0"/>
              <a:t>处理机的数据带标志符，数据字长增加至35位，其中3位是标志符，其指令字长由32位减少至30位。并假设一条指令平均访问两个操作数，每个操作数平均被访问</a:t>
            </a:r>
            <a:r>
              <a:rPr lang="en-US" altLang="zh-CN" sz="2400" dirty="0" smtClean="0"/>
              <a:t>R</a:t>
            </a:r>
            <a:r>
              <a:rPr lang="zh-CN" altLang="en-US" sz="2400" dirty="0" smtClean="0"/>
              <a:t>次。分别计算一个有</a:t>
            </a:r>
            <a:r>
              <a:rPr lang="en-US" altLang="zh-CN" sz="2400" dirty="0" smtClean="0"/>
              <a:t>I</a:t>
            </a:r>
            <a:r>
              <a:rPr lang="zh-CN" altLang="en-US" sz="2400" dirty="0" smtClean="0"/>
              <a:t>条指令的程序在这两种不同类型的处理机中所占用的存储空间。</a:t>
            </a:r>
          </a:p>
        </p:txBody>
      </p:sp>
      <p:sp>
        <p:nvSpPr>
          <p:cNvPr id="262170" name="Rectangle 26"/>
          <p:cNvSpPr>
            <a:spLocks noGrp="1" noChangeArrowheads="1"/>
          </p:cNvSpPr>
          <p:nvPr>
            <p:ph type="body" sz="half" idx="2"/>
          </p:nvPr>
        </p:nvSpPr>
        <p:spPr>
          <a:xfrm>
            <a:off x="4864100" y="1916113"/>
            <a:ext cx="4051300" cy="4484687"/>
          </a:xfrm>
        </p:spPr>
        <p:txBody>
          <a:bodyPr/>
          <a:lstStyle/>
          <a:p>
            <a:pPr marL="711200" indent="-711200" eaLnBrk="1" hangingPunct="1">
              <a:buFont typeface="Wingdings" pitchFamily="2" charset="2"/>
              <a:buNone/>
              <a:defRPr/>
            </a:pPr>
            <a:r>
              <a:rPr lang="zh-CN" altLang="en-US" sz="2400" smtClean="0">
                <a:solidFill>
                  <a:srgbClr val="FF3300"/>
                </a:solidFill>
                <a:effectLst>
                  <a:outerShdw blurRad="38100" dist="38100" dir="2700000" algn="tl">
                    <a:srgbClr val="C0C0C0"/>
                  </a:outerShdw>
                </a:effectLst>
              </a:rPr>
              <a:t>答</a:t>
            </a:r>
            <a:r>
              <a:rPr lang="en-US" altLang="zh-CN" sz="2400" smtClean="0">
                <a:solidFill>
                  <a:srgbClr val="FF3300"/>
                </a:solidFill>
                <a:effectLst>
                  <a:outerShdw blurRad="38100" dist="38100" dir="2700000" algn="tl">
                    <a:srgbClr val="C0C0C0"/>
                  </a:outerShdw>
                </a:effectLst>
              </a:rPr>
              <a:t>:  </a:t>
            </a:r>
            <a:r>
              <a:rPr lang="zh-CN" altLang="en-US" sz="2400" smtClean="0"/>
              <a:t>程序在</a:t>
            </a:r>
            <a:r>
              <a:rPr lang="en-US" altLang="zh-CN" sz="2400" smtClean="0"/>
              <a:t>X</a:t>
            </a:r>
            <a:r>
              <a:rPr lang="zh-CN" altLang="en-US" sz="2400" smtClean="0"/>
              <a:t>中的存储空间：</a:t>
            </a:r>
          </a:p>
          <a:p>
            <a:pPr marL="711200" indent="-711200" eaLnBrk="1" hangingPunct="1">
              <a:buFont typeface="Wingdings" pitchFamily="2" charset="2"/>
              <a:buNone/>
              <a:defRPr/>
            </a:pPr>
            <a:endParaRPr lang="zh-CN" altLang="en-US" sz="2400" smtClean="0"/>
          </a:p>
          <a:p>
            <a:pPr marL="711200" indent="-711200" eaLnBrk="1" hangingPunct="1">
              <a:buFont typeface="Wingdings" pitchFamily="2" charset="2"/>
              <a:buNone/>
              <a:defRPr/>
            </a:pPr>
            <a:r>
              <a:rPr lang="zh-CN" altLang="en-US" sz="2400" smtClean="0"/>
              <a:t>       程序在</a:t>
            </a:r>
            <a:r>
              <a:rPr lang="en-US" altLang="zh-CN" sz="2400" smtClean="0"/>
              <a:t>Y</a:t>
            </a:r>
            <a:r>
              <a:rPr lang="zh-CN" altLang="en-US" sz="2400" smtClean="0"/>
              <a:t>中的存储空间：</a:t>
            </a:r>
          </a:p>
          <a:p>
            <a:pPr marL="711200" indent="-711200" eaLnBrk="1" hangingPunct="1">
              <a:buFont typeface="Wingdings" pitchFamily="2" charset="2"/>
              <a:buNone/>
              <a:defRPr/>
            </a:pPr>
            <a:endParaRPr lang="zh-CN" altLang="en-US" sz="2400" smtClean="0"/>
          </a:p>
          <a:p>
            <a:pPr marL="711200" indent="-711200" eaLnBrk="1" hangingPunct="1">
              <a:buFont typeface="Wingdings" pitchFamily="2" charset="2"/>
              <a:buNone/>
              <a:defRPr/>
            </a:pPr>
            <a:r>
              <a:rPr lang="zh-CN" altLang="en-US" sz="2400" smtClean="0"/>
              <a:t>        二者的比值为：</a:t>
            </a:r>
          </a:p>
          <a:p>
            <a:pPr marL="711200" indent="-711200" eaLnBrk="1" hangingPunct="1">
              <a:buFont typeface="Wingdings" pitchFamily="2" charset="2"/>
              <a:buNone/>
              <a:defRPr/>
            </a:pPr>
            <a:endParaRPr lang="zh-CN" altLang="en-US" sz="2400" smtClean="0"/>
          </a:p>
          <a:p>
            <a:pPr marL="711200" indent="-711200" eaLnBrk="1" hangingPunct="1">
              <a:buFont typeface="Wingdings" pitchFamily="2" charset="2"/>
              <a:buNone/>
              <a:defRPr/>
            </a:pPr>
            <a:endParaRPr lang="zh-CN" altLang="en-US" sz="2400" smtClean="0"/>
          </a:p>
          <a:p>
            <a:pPr marL="711200" indent="-711200" eaLnBrk="1" hangingPunct="1">
              <a:buFont typeface="Wingdings" pitchFamily="2" charset="2"/>
              <a:buNone/>
              <a:defRPr/>
            </a:pPr>
            <a:endParaRPr lang="zh-CN" altLang="en-US" sz="2400" smtClean="0"/>
          </a:p>
          <a:p>
            <a:pPr marL="711200" indent="-711200" eaLnBrk="1" hangingPunct="1">
              <a:buFont typeface="Wingdings" pitchFamily="2" charset="2"/>
              <a:buNone/>
              <a:defRPr/>
            </a:pPr>
            <a:r>
              <a:rPr lang="zh-CN" altLang="en-US" sz="2400" smtClean="0">
                <a:solidFill>
                  <a:srgbClr val="FF3300"/>
                </a:solidFill>
                <a:effectLst>
                  <a:outerShdw blurRad="38100" dist="38100" dir="2700000" algn="tl">
                    <a:srgbClr val="C0C0C0"/>
                  </a:outerShdw>
                </a:effectLst>
              </a:rPr>
              <a:t>分析</a:t>
            </a:r>
            <a:r>
              <a:rPr lang="en-US" altLang="zh-CN" sz="2400" smtClean="0">
                <a:solidFill>
                  <a:srgbClr val="FF3300"/>
                </a:solidFill>
                <a:effectLst>
                  <a:outerShdw blurRad="38100" dist="38100" dir="2700000" algn="tl">
                    <a:srgbClr val="C0C0C0"/>
                  </a:outerShdw>
                </a:effectLst>
              </a:rPr>
              <a:t>:</a:t>
            </a:r>
            <a:r>
              <a:rPr lang="zh-CN" altLang="en-US" sz="2400" smtClean="0"/>
              <a:t>当</a:t>
            </a:r>
            <a:r>
              <a:rPr lang="en-US" altLang="zh-CN" sz="2400" smtClean="0"/>
              <a:t>R＞3</a:t>
            </a:r>
            <a:r>
              <a:rPr lang="zh-CN" altLang="en-US" sz="2400" smtClean="0"/>
              <a:t>时有 </a:t>
            </a:r>
            <a:r>
              <a:rPr lang="en-US" altLang="zh-CN" sz="2400" smtClean="0"/>
              <a:t>B</a:t>
            </a:r>
            <a:r>
              <a:rPr lang="en-US" altLang="zh-CN" sz="2400" baseline="-25000" smtClean="0"/>
              <a:t>Y</a:t>
            </a:r>
            <a:r>
              <a:rPr lang="en-US" altLang="zh-CN" sz="2400" smtClean="0"/>
              <a:t>/B</a:t>
            </a:r>
            <a:r>
              <a:rPr lang="en-US" altLang="zh-CN" sz="2400" baseline="-25000" smtClean="0"/>
              <a:t>X</a:t>
            </a:r>
            <a:r>
              <a:rPr lang="en-US" altLang="zh-CN" sz="2400" smtClean="0"/>
              <a:t> &lt; 1。</a:t>
            </a:r>
            <a:r>
              <a:rPr lang="zh-CN" altLang="en-US" sz="2400" smtClean="0"/>
              <a:t>在实际应用中经常是</a:t>
            </a:r>
            <a:r>
              <a:rPr lang="en-US" altLang="zh-CN" sz="2400" smtClean="0"/>
              <a:t>R＞10。</a:t>
            </a:r>
            <a:endParaRPr lang="zh-CN" altLang="en-US" sz="2400" smtClean="0"/>
          </a:p>
        </p:txBody>
      </p:sp>
      <p:sp>
        <p:nvSpPr>
          <p:cNvPr id="2765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自定义数据表示</a:t>
            </a:r>
            <a:endParaRPr lang="zh-CN" altLang="en-US" sz="1200" b="0">
              <a:latin typeface="Times New Roman" pitchFamily="18" charset="0"/>
              <a:ea typeface="幼圆" pitchFamily="49" charset="-122"/>
            </a:endParaRPr>
          </a:p>
        </p:txBody>
      </p:sp>
      <p:graphicFrame>
        <p:nvGraphicFramePr>
          <p:cNvPr id="262172" name="Object 28"/>
          <p:cNvGraphicFramePr>
            <a:graphicFrameLocks noChangeAspect="1"/>
          </p:cNvGraphicFramePr>
          <p:nvPr/>
        </p:nvGraphicFramePr>
        <p:xfrm>
          <a:off x="5867400" y="3068638"/>
          <a:ext cx="2000250" cy="682625"/>
        </p:xfrm>
        <a:graphic>
          <a:graphicData uri="http://schemas.openxmlformats.org/presentationml/2006/ole">
            <mc:AlternateContent xmlns:mc="http://schemas.openxmlformats.org/markup-compatibility/2006">
              <mc:Choice xmlns:v="urn:schemas-microsoft-com:vml" Requires="v">
                <p:oleObj spid="_x0000_s27812" name="公式" r:id="rId8" imgW="1002865" imgH="342751" progId="Equation.3">
                  <p:embed/>
                </p:oleObj>
              </mc:Choice>
              <mc:Fallback>
                <p:oleObj name="公式" r:id="rId8" imgW="1002865" imgH="342751" progId="Equation.3">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67400" y="3068638"/>
                        <a:ext cx="2000250" cy="68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73" name="Object 29"/>
          <p:cNvGraphicFramePr>
            <a:graphicFrameLocks noChangeAspect="1"/>
          </p:cNvGraphicFramePr>
          <p:nvPr/>
        </p:nvGraphicFramePr>
        <p:xfrm>
          <a:off x="5219700" y="4076700"/>
          <a:ext cx="3602038" cy="1290638"/>
        </p:xfrm>
        <a:graphic>
          <a:graphicData uri="http://schemas.openxmlformats.org/presentationml/2006/ole">
            <mc:AlternateContent xmlns:mc="http://schemas.openxmlformats.org/markup-compatibility/2006">
              <mc:Choice xmlns:v="urn:schemas-microsoft-com:vml" Requires="v">
                <p:oleObj spid="_x0000_s27813" name="公式" r:id="rId10" imgW="1676400" imgH="647700" progId="Equation.3">
                  <p:embed/>
                </p:oleObj>
              </mc:Choice>
              <mc:Fallback>
                <p:oleObj name="公式" r:id="rId10" imgW="1676400" imgH="647700" progId="Equation.3">
                  <p:embed/>
                  <p:pic>
                    <p:nvPicPr>
                      <p:cNvPr id="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19700" y="4076700"/>
                        <a:ext cx="3602038" cy="129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71" name="Object 27"/>
          <p:cNvGraphicFramePr>
            <a:graphicFrameLocks noChangeAspect="1"/>
          </p:cNvGraphicFramePr>
          <p:nvPr/>
        </p:nvGraphicFramePr>
        <p:xfrm>
          <a:off x="5867400" y="2205038"/>
          <a:ext cx="2073275" cy="685800"/>
        </p:xfrm>
        <a:graphic>
          <a:graphicData uri="http://schemas.openxmlformats.org/presentationml/2006/ole">
            <mc:AlternateContent xmlns:mc="http://schemas.openxmlformats.org/markup-compatibility/2006">
              <mc:Choice xmlns:v="urn:schemas-microsoft-com:vml" Requires="v">
                <p:oleObj spid="_x0000_s27814" name="公式" r:id="rId12" imgW="1028254" imgH="342751" progId="Equation.3">
                  <p:embed/>
                </p:oleObj>
              </mc:Choice>
              <mc:Fallback>
                <p:oleObj name="公式" r:id="rId12" imgW="1028254" imgH="342751" progId="Equation.3">
                  <p:embed/>
                  <p:pic>
                    <p:nvPicPr>
                      <p:cNvPr id="0"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67400" y="2205038"/>
                        <a:ext cx="20732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7" name="Line 30"/>
          <p:cNvSpPr>
            <a:spLocks noChangeShapeType="1"/>
          </p:cNvSpPr>
          <p:nvPr/>
        </p:nvSpPr>
        <p:spPr bwMode="auto">
          <a:xfrm>
            <a:off x="4787900" y="1989138"/>
            <a:ext cx="0" cy="4343400"/>
          </a:xfrm>
          <a:prstGeom prst="line">
            <a:avLst/>
          </a:prstGeom>
          <a:noFill/>
          <a:ln w="889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13500000" algn="ctr" rotWithShape="0">
                    <a:srgbClr val="808080"/>
                  </a:outerShdw>
                </a:effectLst>
              </a14:hiddenEffects>
            </a:ext>
          </a:extLst>
        </p:spPr>
        <p:txBody>
          <a:bodyPr lIns="90000" tIns="46800" rIns="90000" bIns="46800">
            <a:spAutoFit/>
          </a:bodyPr>
          <a:lstStyle/>
          <a:p>
            <a:endParaRPr lang="zh-CN" altLang="en-US"/>
          </a:p>
        </p:txBody>
      </p:sp>
      <p:sp>
        <p:nvSpPr>
          <p:cNvPr id="27658" name="Text Box 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62171"/>
                                        </p:tgtEl>
                                        <p:attrNameLst>
                                          <p:attrName>style.visibility</p:attrName>
                                        </p:attrNameLst>
                                      </p:cBhvr>
                                      <p:to>
                                        <p:strVal val="visible"/>
                                      </p:to>
                                    </p:set>
                                    <p:anim calcmode="lin" valueType="num">
                                      <p:cBhvr additive="base">
                                        <p:cTn id="7" dur="500" fill="hold"/>
                                        <p:tgtEl>
                                          <p:spTgt spid="262171"/>
                                        </p:tgtEl>
                                        <p:attrNameLst>
                                          <p:attrName>ppt_x</p:attrName>
                                        </p:attrNameLst>
                                      </p:cBhvr>
                                      <p:tavLst>
                                        <p:tav tm="0">
                                          <p:val>
                                            <p:strVal val="1+#ppt_w/2"/>
                                          </p:val>
                                        </p:tav>
                                        <p:tav tm="100000">
                                          <p:val>
                                            <p:strVal val="#ppt_x"/>
                                          </p:val>
                                        </p:tav>
                                      </p:tavLst>
                                    </p:anim>
                                    <p:anim calcmode="lin" valueType="num">
                                      <p:cBhvr additive="base">
                                        <p:cTn id="8" dur="500" fill="hold"/>
                                        <p:tgtEl>
                                          <p:spTgt spid="26217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62172"/>
                                        </p:tgtEl>
                                        <p:attrNameLst>
                                          <p:attrName>style.visibility</p:attrName>
                                        </p:attrNameLst>
                                      </p:cBhvr>
                                      <p:to>
                                        <p:strVal val="visible"/>
                                      </p:to>
                                    </p:set>
                                    <p:anim calcmode="lin" valueType="num">
                                      <p:cBhvr additive="base">
                                        <p:cTn id="13" dur="500" fill="hold"/>
                                        <p:tgtEl>
                                          <p:spTgt spid="262172"/>
                                        </p:tgtEl>
                                        <p:attrNameLst>
                                          <p:attrName>ppt_x</p:attrName>
                                        </p:attrNameLst>
                                      </p:cBhvr>
                                      <p:tavLst>
                                        <p:tav tm="0">
                                          <p:val>
                                            <p:strVal val="1+#ppt_w/2"/>
                                          </p:val>
                                        </p:tav>
                                        <p:tav tm="100000">
                                          <p:val>
                                            <p:strVal val="#ppt_x"/>
                                          </p:val>
                                        </p:tav>
                                      </p:tavLst>
                                    </p:anim>
                                    <p:anim calcmode="lin" valueType="num">
                                      <p:cBhvr additive="base">
                                        <p:cTn id="14" dur="500" fill="hold"/>
                                        <p:tgtEl>
                                          <p:spTgt spid="26217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262173"/>
                                        </p:tgtEl>
                                        <p:attrNameLst>
                                          <p:attrName>style.visibility</p:attrName>
                                        </p:attrNameLst>
                                      </p:cBhvr>
                                      <p:to>
                                        <p:strVal val="visible"/>
                                      </p:to>
                                    </p:set>
                                    <p:anim calcmode="lin" valueType="num">
                                      <p:cBhvr additive="base">
                                        <p:cTn id="19" dur="500" fill="hold"/>
                                        <p:tgtEl>
                                          <p:spTgt spid="262173"/>
                                        </p:tgtEl>
                                        <p:attrNameLst>
                                          <p:attrName>ppt_x</p:attrName>
                                        </p:attrNameLst>
                                      </p:cBhvr>
                                      <p:tavLst>
                                        <p:tav tm="0">
                                          <p:val>
                                            <p:strVal val="1+#ppt_w/2"/>
                                          </p:val>
                                        </p:tav>
                                        <p:tav tm="100000">
                                          <p:val>
                                            <p:strVal val="#ppt_x"/>
                                          </p:val>
                                        </p:tav>
                                      </p:tavLst>
                                    </p:anim>
                                    <p:anim calcmode="lin" valueType="num">
                                      <p:cBhvr additive="base">
                                        <p:cTn id="20" dur="500" fill="hold"/>
                                        <p:tgtEl>
                                          <p:spTgt spid="26217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262170">
                                            <p:txEl>
                                              <p:pRg st="8" end="8"/>
                                            </p:txEl>
                                          </p:spTgt>
                                        </p:tgtEl>
                                        <p:attrNameLst>
                                          <p:attrName>style.visibility</p:attrName>
                                        </p:attrNameLst>
                                      </p:cBhvr>
                                      <p:to>
                                        <p:strVal val="visible"/>
                                      </p:to>
                                    </p:set>
                                    <p:animEffect transition="in" filter="dissolve">
                                      <p:cBhvr>
                                        <p:cTn id="25" dur="500"/>
                                        <p:tgtEl>
                                          <p:spTgt spid="26217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eaLnBrk="1" hangingPunct="1">
              <a:defRPr/>
            </a:pPr>
            <a:r>
              <a:rPr lang="zh-CN" altLang="en-US" smtClean="0"/>
              <a:t>数据描述符表示法</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自定义数据表示</a:t>
            </a:r>
            <a:endParaRPr lang="zh-CN" altLang="en-US" sz="1200" b="0">
              <a:latin typeface="Times New Roman" pitchFamily="18" charset="0"/>
              <a:ea typeface="幼圆" pitchFamily="49" charset="-122"/>
            </a:endParaRPr>
          </a:p>
        </p:txBody>
      </p:sp>
      <p:sp>
        <p:nvSpPr>
          <p:cNvPr id="256004" name="Rectangle 4"/>
          <p:cNvSpPr>
            <a:spLocks noGrp="1" noChangeArrowheads="1"/>
          </p:cNvSpPr>
          <p:nvPr>
            <p:ph type="body" idx="1"/>
          </p:nvPr>
        </p:nvSpPr>
        <p:spPr/>
        <p:txBody>
          <a:bodyPr/>
          <a:lstStyle/>
          <a:p>
            <a:pPr marL="0" indent="0" eaLnBrk="1" hangingPunct="1">
              <a:lnSpc>
                <a:spcPct val="120000"/>
              </a:lnSpc>
              <a:buClr>
                <a:srgbClr val="FF3300"/>
              </a:buClr>
              <a:defRPr/>
            </a:pPr>
            <a:r>
              <a:rPr lang="zh-CN" altLang="en-US" sz="2800" smtClean="0"/>
              <a:t>  </a:t>
            </a:r>
            <a:r>
              <a:rPr lang="zh-CN" altLang="en-US" sz="2800" smtClean="0">
                <a:solidFill>
                  <a:srgbClr val="FF3300"/>
                </a:solidFill>
                <a:effectLst>
                  <a:outerShdw blurRad="38100" dist="38100" dir="2700000" algn="tl">
                    <a:srgbClr val="C0C0C0"/>
                  </a:outerShdw>
                </a:effectLst>
              </a:rPr>
              <a:t>思想</a:t>
            </a:r>
          </a:p>
          <a:p>
            <a:pPr marL="0" indent="0" eaLnBrk="1" hangingPunct="1">
              <a:lnSpc>
                <a:spcPct val="120000"/>
              </a:lnSpc>
              <a:buFont typeface="Wingdings" pitchFamily="2" charset="2"/>
              <a:buNone/>
              <a:defRPr/>
            </a:pPr>
            <a:r>
              <a:rPr lang="zh-CN" altLang="en-US" sz="2800" smtClean="0"/>
              <a:t>        对于许多连续存放的同属性数据，例如：向量、矩阵、多维数组等，可以采用一个数据描述符作用于这样的一组数据，而没有必要让每个数据都带标志符。</a:t>
            </a:r>
          </a:p>
          <a:p>
            <a:pPr marL="0" indent="0" eaLnBrk="1" hangingPunct="1">
              <a:lnSpc>
                <a:spcPct val="120000"/>
              </a:lnSpc>
              <a:buClr>
                <a:srgbClr val="FF3300"/>
              </a:buClr>
              <a:defRPr/>
            </a:pPr>
            <a:r>
              <a:rPr lang="zh-CN" altLang="en-US" sz="2800" smtClean="0">
                <a:solidFill>
                  <a:srgbClr val="FF3300"/>
                </a:solidFill>
                <a:effectLst>
                  <a:outerShdw blurRad="38100" dist="38100" dir="2700000" algn="tl">
                    <a:srgbClr val="C0C0C0"/>
                  </a:outerShdw>
                </a:effectLst>
              </a:rPr>
              <a:t>  例子</a:t>
            </a:r>
          </a:p>
          <a:p>
            <a:pPr marL="0" indent="0" eaLnBrk="1" hangingPunct="1">
              <a:lnSpc>
                <a:spcPct val="120000"/>
              </a:lnSpc>
              <a:buFont typeface="Wingdings" pitchFamily="2" charset="2"/>
              <a:buNone/>
              <a:defRPr/>
            </a:pPr>
            <a:r>
              <a:rPr lang="zh-CN" altLang="en-US" sz="2800" smtClean="0"/>
              <a:t>        以</a:t>
            </a:r>
            <a:r>
              <a:rPr lang="en-US" altLang="zh-CN" sz="2800" smtClean="0"/>
              <a:t>Burroughs</a:t>
            </a:r>
            <a:r>
              <a:rPr lang="zh-CN" altLang="en-US" sz="2800" smtClean="0"/>
              <a:t>公司生产的</a:t>
            </a:r>
            <a:r>
              <a:rPr lang="en-US" altLang="zh-CN" sz="2800" smtClean="0">
                <a:solidFill>
                  <a:srgbClr val="FF3300"/>
                </a:solidFill>
                <a:effectLst>
                  <a:outerShdw blurRad="38100" dist="38100" dir="2700000" algn="tl">
                    <a:srgbClr val="C0C0C0"/>
                  </a:outerShdw>
                </a:effectLst>
              </a:rPr>
              <a:t>B-6700</a:t>
            </a:r>
            <a:r>
              <a:rPr lang="zh-CN" altLang="en-US" sz="2800" smtClean="0"/>
              <a:t>机中采用的数据描述符表示方法进行介绍。</a:t>
            </a:r>
          </a:p>
        </p:txBody>
      </p:sp>
      <p:sp>
        <p:nvSpPr>
          <p:cNvPr id="286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pPr eaLnBrk="1" hangingPunct="1">
              <a:defRPr/>
            </a:pPr>
            <a:r>
              <a:rPr lang="en-US" altLang="zh-CN" smtClean="0"/>
              <a:t>B-6700</a:t>
            </a:r>
            <a:r>
              <a:rPr lang="zh-CN" altLang="en-US" smtClean="0"/>
              <a:t>中的格式</a:t>
            </a:r>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自定义数据表示</a:t>
            </a:r>
            <a:endParaRPr lang="zh-CN" altLang="en-US" sz="1200" b="0">
              <a:latin typeface="Times New Roman" pitchFamily="18" charset="0"/>
              <a:ea typeface="幼圆" pitchFamily="49" charset="-122"/>
            </a:endParaRPr>
          </a:p>
        </p:txBody>
      </p:sp>
      <p:sp>
        <p:nvSpPr>
          <p:cNvPr id="264197" name="Rectangle 5"/>
          <p:cNvSpPr>
            <a:spLocks noGrp="1" noChangeArrowheads="1"/>
          </p:cNvSpPr>
          <p:nvPr>
            <p:ph type="body" idx="1"/>
          </p:nvPr>
        </p:nvSpPr>
        <p:spPr>
          <a:xfrm>
            <a:off x="809625" y="2060575"/>
            <a:ext cx="7958138" cy="4321175"/>
          </a:xfrm>
        </p:spPr>
        <p:txBody>
          <a:bodyPr/>
          <a:lstStyle/>
          <a:p>
            <a:pPr marL="0" indent="0" eaLnBrk="1" hangingPunct="1">
              <a:buClr>
                <a:srgbClr val="FF3300"/>
              </a:buClr>
              <a:defRPr/>
            </a:pPr>
            <a:r>
              <a:rPr lang="zh-CN" altLang="en-US" sz="2800" smtClean="0">
                <a:solidFill>
                  <a:srgbClr val="FF3300"/>
                </a:solidFill>
                <a:effectLst>
                  <a:outerShdw blurRad="38100" dist="38100" dir="2700000" algn="tl">
                    <a:srgbClr val="C0C0C0"/>
                  </a:outerShdw>
                </a:effectLst>
              </a:rPr>
              <a:t>  数据描述符格式</a:t>
            </a:r>
          </a:p>
          <a:p>
            <a:pPr marL="0" indent="0" eaLnBrk="1" hangingPunct="1">
              <a:defRPr/>
            </a:pPr>
            <a:endParaRPr lang="zh-CN" altLang="en-US" sz="2800" smtClean="0">
              <a:solidFill>
                <a:srgbClr val="FF3300"/>
              </a:solidFill>
              <a:effectLst>
                <a:outerShdw blurRad="38100" dist="38100" dir="2700000" algn="tl">
                  <a:srgbClr val="C0C0C0"/>
                </a:outerShdw>
              </a:effectLst>
            </a:endParaRPr>
          </a:p>
          <a:p>
            <a:pPr marL="0" indent="0" eaLnBrk="1" hangingPunct="1">
              <a:defRPr/>
            </a:pPr>
            <a:endParaRPr lang="zh-CN" altLang="en-US" sz="2800" smtClean="0">
              <a:solidFill>
                <a:srgbClr val="FF3300"/>
              </a:solidFill>
              <a:effectLst>
                <a:outerShdw blurRad="38100" dist="38100" dir="2700000" algn="tl">
                  <a:srgbClr val="C0C0C0"/>
                </a:outerShdw>
              </a:effectLst>
            </a:endParaRPr>
          </a:p>
          <a:p>
            <a:pPr marL="0" indent="0" eaLnBrk="1" hangingPunct="1">
              <a:buClr>
                <a:srgbClr val="FF3300"/>
              </a:buClr>
              <a:defRPr/>
            </a:pPr>
            <a:endParaRPr lang="zh-CN" altLang="en-US" sz="2800" smtClean="0">
              <a:solidFill>
                <a:srgbClr val="FF3300"/>
              </a:solidFill>
              <a:effectLst>
                <a:outerShdw blurRad="38100" dist="38100" dir="2700000" algn="tl">
                  <a:srgbClr val="C0C0C0"/>
                </a:outerShdw>
              </a:effectLst>
            </a:endParaRPr>
          </a:p>
          <a:p>
            <a:pPr marL="0" indent="0" eaLnBrk="1" hangingPunct="1">
              <a:buClr>
                <a:srgbClr val="FF3300"/>
              </a:buClr>
              <a:defRPr/>
            </a:pPr>
            <a:r>
              <a:rPr lang="zh-CN" altLang="en-US" sz="2800" smtClean="0">
                <a:solidFill>
                  <a:srgbClr val="FF3300"/>
                </a:solidFill>
                <a:effectLst>
                  <a:outerShdw blurRad="38100" dist="38100" dir="2700000" algn="tl">
                    <a:srgbClr val="C0C0C0"/>
                  </a:outerShdw>
                </a:effectLst>
              </a:rPr>
              <a:t>  数据格式</a:t>
            </a:r>
          </a:p>
          <a:p>
            <a:pPr marL="0" indent="0" eaLnBrk="1" hangingPunct="1">
              <a:defRPr/>
            </a:pPr>
            <a:endParaRPr lang="zh-CN" altLang="en-US" sz="2800" smtClean="0">
              <a:solidFill>
                <a:srgbClr val="FF3300"/>
              </a:solidFill>
              <a:effectLst>
                <a:outerShdw blurRad="38100" dist="38100" dir="2700000" algn="tl">
                  <a:srgbClr val="C0C0C0"/>
                </a:outerShdw>
              </a:effectLst>
            </a:endParaRPr>
          </a:p>
          <a:p>
            <a:pPr marL="0" indent="0" eaLnBrk="1" hangingPunct="1">
              <a:defRPr/>
            </a:pPr>
            <a:endParaRPr lang="zh-CN" altLang="en-US" sz="2800" smtClean="0">
              <a:solidFill>
                <a:srgbClr val="FF3300"/>
              </a:solidFill>
              <a:effectLst>
                <a:outerShdw blurRad="38100" dist="38100" dir="2700000" algn="tl">
                  <a:srgbClr val="C0C0C0"/>
                </a:outerShdw>
              </a:effectLst>
            </a:endParaRPr>
          </a:p>
          <a:p>
            <a:pPr marL="0" indent="0" eaLnBrk="1" hangingPunct="1">
              <a:buClr>
                <a:srgbClr val="FF3300"/>
              </a:buClr>
              <a:buFont typeface="Wingdings" pitchFamily="2" charset="2"/>
              <a:buNone/>
              <a:defRPr/>
            </a:pPr>
            <a:endParaRPr lang="zh-CN" altLang="en-US" sz="2800" smtClean="0"/>
          </a:p>
        </p:txBody>
      </p:sp>
      <p:grpSp>
        <p:nvGrpSpPr>
          <p:cNvPr id="29701" name="Group 18"/>
          <p:cNvGrpSpPr>
            <a:grpSpLocks/>
          </p:cNvGrpSpPr>
          <p:nvPr/>
        </p:nvGrpSpPr>
        <p:grpSpPr bwMode="auto">
          <a:xfrm>
            <a:off x="1116013" y="2924175"/>
            <a:ext cx="7467600" cy="609600"/>
            <a:chOff x="672" y="1968"/>
            <a:chExt cx="4704" cy="384"/>
          </a:xfrm>
        </p:grpSpPr>
        <p:sp>
          <p:nvSpPr>
            <p:cNvPr id="29706" name="Rectangle 8"/>
            <p:cNvSpPr>
              <a:spLocks noChangeArrowheads="1"/>
            </p:cNvSpPr>
            <p:nvPr/>
          </p:nvSpPr>
          <p:spPr bwMode="auto">
            <a:xfrm>
              <a:off x="672" y="1968"/>
              <a:ext cx="576" cy="384"/>
            </a:xfrm>
            <a:prstGeom prst="rect">
              <a:avLst/>
            </a:prstGeom>
            <a:solidFill>
              <a:srgbClr val="FFFF00"/>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101</a:t>
              </a:r>
            </a:p>
          </p:txBody>
        </p:sp>
        <p:sp>
          <p:nvSpPr>
            <p:cNvPr id="29707" name="Rectangle 9"/>
            <p:cNvSpPr>
              <a:spLocks noChangeArrowheads="1"/>
            </p:cNvSpPr>
            <p:nvPr/>
          </p:nvSpPr>
          <p:spPr bwMode="auto">
            <a:xfrm>
              <a:off x="3648" y="1968"/>
              <a:ext cx="1728" cy="38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数据块起始地址</a:t>
              </a:r>
            </a:p>
          </p:txBody>
        </p:sp>
        <p:sp>
          <p:nvSpPr>
            <p:cNvPr id="29708" name="Rectangle 10"/>
            <p:cNvSpPr>
              <a:spLocks noChangeArrowheads="1"/>
            </p:cNvSpPr>
            <p:nvPr/>
          </p:nvSpPr>
          <p:spPr bwMode="auto">
            <a:xfrm>
              <a:off x="1248" y="1968"/>
              <a:ext cx="960" cy="38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标志位</a:t>
              </a:r>
            </a:p>
          </p:txBody>
        </p:sp>
        <p:sp>
          <p:nvSpPr>
            <p:cNvPr id="29709" name="Rectangle 11"/>
            <p:cNvSpPr>
              <a:spLocks noChangeArrowheads="1"/>
            </p:cNvSpPr>
            <p:nvPr/>
          </p:nvSpPr>
          <p:spPr bwMode="auto">
            <a:xfrm>
              <a:off x="2208" y="1968"/>
              <a:ext cx="1440" cy="38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数据块长度</a:t>
              </a:r>
            </a:p>
          </p:txBody>
        </p:sp>
      </p:grpSp>
      <p:grpSp>
        <p:nvGrpSpPr>
          <p:cNvPr id="29702" name="Group 21"/>
          <p:cNvGrpSpPr>
            <a:grpSpLocks/>
          </p:cNvGrpSpPr>
          <p:nvPr/>
        </p:nvGrpSpPr>
        <p:grpSpPr bwMode="auto">
          <a:xfrm>
            <a:off x="1116013" y="4941888"/>
            <a:ext cx="7467600" cy="609600"/>
            <a:chOff x="672" y="3216"/>
            <a:chExt cx="4704" cy="384"/>
          </a:xfrm>
        </p:grpSpPr>
        <p:sp>
          <p:nvSpPr>
            <p:cNvPr id="29704" name="Rectangle 14"/>
            <p:cNvSpPr>
              <a:spLocks noChangeArrowheads="1"/>
            </p:cNvSpPr>
            <p:nvPr/>
          </p:nvSpPr>
          <p:spPr bwMode="auto">
            <a:xfrm>
              <a:off x="672" y="3216"/>
              <a:ext cx="576" cy="384"/>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000</a:t>
              </a:r>
            </a:p>
          </p:txBody>
        </p:sp>
        <p:sp>
          <p:nvSpPr>
            <p:cNvPr id="29705" name="Rectangle 15"/>
            <p:cNvSpPr>
              <a:spLocks noChangeArrowheads="1"/>
            </p:cNvSpPr>
            <p:nvPr/>
          </p:nvSpPr>
          <p:spPr bwMode="auto">
            <a:xfrm>
              <a:off x="1248" y="3216"/>
              <a:ext cx="4128" cy="384"/>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数值</a:t>
              </a:r>
            </a:p>
          </p:txBody>
        </p:sp>
      </p:grpSp>
      <p:sp>
        <p:nvSpPr>
          <p:cNvPr id="29703" name="Text Box 2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pPr eaLnBrk="1" hangingPunct="1">
              <a:defRPr/>
            </a:pPr>
            <a:r>
              <a:rPr lang="zh-CN" altLang="en-US" smtClean="0"/>
              <a:t>取操作数的过程</a:t>
            </a:r>
          </a:p>
        </p:txBody>
      </p:sp>
      <p:sp>
        <p:nvSpPr>
          <p:cNvPr id="30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自定义数据表示</a:t>
            </a:r>
            <a:endParaRPr lang="zh-CN" altLang="en-US" sz="1200" b="0">
              <a:latin typeface="Times New Roman" pitchFamily="18" charset="0"/>
              <a:ea typeface="幼圆" pitchFamily="49" charset="-122"/>
            </a:endParaRPr>
          </a:p>
        </p:txBody>
      </p:sp>
      <p:sp>
        <p:nvSpPr>
          <p:cNvPr id="30724" name="Text Box 1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3</a:t>
            </a:r>
          </a:p>
        </p:txBody>
      </p:sp>
      <p:sp>
        <p:nvSpPr>
          <p:cNvPr id="30725" name="Text Box 20"/>
          <p:cNvSpPr txBox="1">
            <a:spLocks noChangeArrowheads="1"/>
          </p:cNvSpPr>
          <p:nvPr/>
        </p:nvSpPr>
        <p:spPr bwMode="auto">
          <a:xfrm>
            <a:off x="6008688" y="2209800"/>
            <a:ext cx="6858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endParaRPr lang="en-US" altLang="zh-CN" sz="2000"/>
          </a:p>
        </p:txBody>
      </p:sp>
      <p:sp>
        <p:nvSpPr>
          <p:cNvPr id="30726" name="Text Box 21"/>
          <p:cNvSpPr txBox="1">
            <a:spLocks noChangeArrowheads="1"/>
          </p:cNvSpPr>
          <p:nvPr/>
        </p:nvSpPr>
        <p:spPr bwMode="auto">
          <a:xfrm>
            <a:off x="6694488" y="2209800"/>
            <a:ext cx="19050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endParaRPr lang="en-US" altLang="zh-CN" sz="2000"/>
          </a:p>
        </p:txBody>
      </p:sp>
      <p:sp>
        <p:nvSpPr>
          <p:cNvPr id="30727" name="Text Box 22"/>
          <p:cNvSpPr txBox="1">
            <a:spLocks noChangeArrowheads="1"/>
          </p:cNvSpPr>
          <p:nvPr/>
        </p:nvSpPr>
        <p:spPr bwMode="auto">
          <a:xfrm>
            <a:off x="6008688" y="2805113"/>
            <a:ext cx="6858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000"/>
              <a:t>101</a:t>
            </a:r>
          </a:p>
        </p:txBody>
      </p:sp>
      <p:sp>
        <p:nvSpPr>
          <p:cNvPr id="30728" name="Text Box 23"/>
          <p:cNvSpPr txBox="1">
            <a:spLocks noChangeArrowheads="1"/>
          </p:cNvSpPr>
          <p:nvPr/>
        </p:nvSpPr>
        <p:spPr bwMode="auto">
          <a:xfrm>
            <a:off x="6694488" y="2805113"/>
            <a:ext cx="19050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endParaRPr lang="en-US" altLang="zh-CN" sz="2000"/>
          </a:p>
        </p:txBody>
      </p:sp>
      <p:sp>
        <p:nvSpPr>
          <p:cNvPr id="30729" name="Text Box 24"/>
          <p:cNvSpPr txBox="1">
            <a:spLocks noChangeArrowheads="1"/>
          </p:cNvSpPr>
          <p:nvPr/>
        </p:nvSpPr>
        <p:spPr bwMode="auto">
          <a:xfrm>
            <a:off x="6008688" y="3733800"/>
            <a:ext cx="6858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000"/>
              <a:t>000</a:t>
            </a:r>
          </a:p>
        </p:txBody>
      </p:sp>
      <p:sp>
        <p:nvSpPr>
          <p:cNvPr id="30730" name="Text Box 25"/>
          <p:cNvSpPr txBox="1">
            <a:spLocks noChangeArrowheads="1"/>
          </p:cNvSpPr>
          <p:nvPr/>
        </p:nvSpPr>
        <p:spPr bwMode="auto">
          <a:xfrm>
            <a:off x="6694488" y="3733800"/>
            <a:ext cx="19050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endParaRPr lang="en-US" altLang="zh-CN" sz="2000"/>
          </a:p>
        </p:txBody>
      </p:sp>
      <p:sp>
        <p:nvSpPr>
          <p:cNvPr id="30731" name="Text Box 26"/>
          <p:cNvSpPr txBox="1">
            <a:spLocks noChangeArrowheads="1"/>
          </p:cNvSpPr>
          <p:nvPr/>
        </p:nvSpPr>
        <p:spPr bwMode="auto">
          <a:xfrm>
            <a:off x="6008688" y="4572000"/>
            <a:ext cx="6858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000"/>
              <a:t>000</a:t>
            </a:r>
          </a:p>
        </p:txBody>
      </p:sp>
      <p:sp>
        <p:nvSpPr>
          <p:cNvPr id="30732" name="Text Box 27"/>
          <p:cNvSpPr txBox="1">
            <a:spLocks noChangeArrowheads="1"/>
          </p:cNvSpPr>
          <p:nvPr/>
        </p:nvSpPr>
        <p:spPr bwMode="auto">
          <a:xfrm>
            <a:off x="6694488" y="4572000"/>
            <a:ext cx="19050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endParaRPr lang="en-US" altLang="zh-CN" sz="2000"/>
          </a:p>
        </p:txBody>
      </p:sp>
      <p:sp>
        <p:nvSpPr>
          <p:cNvPr id="30733" name="Text Box 28"/>
          <p:cNvSpPr txBox="1">
            <a:spLocks noChangeArrowheads="1"/>
          </p:cNvSpPr>
          <p:nvPr/>
        </p:nvSpPr>
        <p:spPr bwMode="auto">
          <a:xfrm>
            <a:off x="6008688" y="5486400"/>
            <a:ext cx="6858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000"/>
              <a:t>101</a:t>
            </a:r>
          </a:p>
        </p:txBody>
      </p:sp>
      <p:sp>
        <p:nvSpPr>
          <p:cNvPr id="30734" name="Text Box 29"/>
          <p:cNvSpPr txBox="1">
            <a:spLocks noChangeArrowheads="1"/>
          </p:cNvSpPr>
          <p:nvPr/>
        </p:nvSpPr>
        <p:spPr bwMode="auto">
          <a:xfrm>
            <a:off x="6694488" y="5486400"/>
            <a:ext cx="19050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endParaRPr lang="en-US" altLang="zh-CN" sz="2000"/>
          </a:p>
        </p:txBody>
      </p:sp>
      <p:sp>
        <p:nvSpPr>
          <p:cNvPr id="30735" name="Text Box 15"/>
          <p:cNvSpPr txBox="1">
            <a:spLocks noChangeArrowheads="1"/>
          </p:cNvSpPr>
          <p:nvPr/>
        </p:nvSpPr>
        <p:spPr bwMode="auto">
          <a:xfrm>
            <a:off x="827088" y="2209800"/>
            <a:ext cx="10668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操作码</a:t>
            </a:r>
          </a:p>
        </p:txBody>
      </p:sp>
      <p:sp>
        <p:nvSpPr>
          <p:cNvPr id="30736" name="Text Box 16"/>
          <p:cNvSpPr txBox="1">
            <a:spLocks noChangeArrowheads="1"/>
          </p:cNvSpPr>
          <p:nvPr/>
        </p:nvSpPr>
        <p:spPr bwMode="auto">
          <a:xfrm>
            <a:off x="1893888" y="2209800"/>
            <a:ext cx="5334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000"/>
              <a:t>x</a:t>
            </a:r>
          </a:p>
        </p:txBody>
      </p:sp>
      <p:sp>
        <p:nvSpPr>
          <p:cNvPr id="30737" name="Text Box 17"/>
          <p:cNvSpPr txBox="1">
            <a:spLocks noChangeArrowheads="1"/>
          </p:cNvSpPr>
          <p:nvPr/>
        </p:nvSpPr>
        <p:spPr bwMode="auto">
          <a:xfrm>
            <a:off x="2427288" y="2209800"/>
            <a:ext cx="5334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000"/>
              <a:t>y</a:t>
            </a:r>
          </a:p>
        </p:txBody>
      </p:sp>
      <p:sp>
        <p:nvSpPr>
          <p:cNvPr id="30738" name="Text Box 36"/>
          <p:cNvSpPr txBox="1">
            <a:spLocks noChangeArrowheads="1"/>
          </p:cNvSpPr>
          <p:nvPr/>
        </p:nvSpPr>
        <p:spPr bwMode="auto">
          <a:xfrm>
            <a:off x="2960688" y="22098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指令</a:t>
            </a:r>
          </a:p>
        </p:txBody>
      </p:sp>
      <p:sp>
        <p:nvSpPr>
          <p:cNvPr id="30739" name="Text Box 38"/>
          <p:cNvSpPr txBox="1">
            <a:spLocks noChangeArrowheads="1"/>
          </p:cNvSpPr>
          <p:nvPr/>
        </p:nvSpPr>
        <p:spPr bwMode="auto">
          <a:xfrm rot="5400000">
            <a:off x="7007226" y="3421062"/>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p>
        </p:txBody>
      </p:sp>
      <p:sp>
        <p:nvSpPr>
          <p:cNvPr id="30740" name="Text Box 39"/>
          <p:cNvSpPr txBox="1">
            <a:spLocks noChangeArrowheads="1"/>
          </p:cNvSpPr>
          <p:nvPr/>
        </p:nvSpPr>
        <p:spPr bwMode="auto">
          <a:xfrm>
            <a:off x="4560888" y="2209800"/>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主存储器</a:t>
            </a:r>
          </a:p>
        </p:txBody>
      </p:sp>
      <p:sp>
        <p:nvSpPr>
          <p:cNvPr id="30741" name="AutoShape 45"/>
          <p:cNvSpPr>
            <a:spLocks/>
          </p:cNvSpPr>
          <p:nvPr/>
        </p:nvSpPr>
        <p:spPr bwMode="auto">
          <a:xfrm rot="5400000">
            <a:off x="7227888" y="4114800"/>
            <a:ext cx="152400" cy="2590800"/>
          </a:xfrm>
          <a:prstGeom prst="leftBrace">
            <a:avLst>
              <a:gd name="adj1" fmla="val 141667"/>
              <a:gd name="adj2" fmla="val 50000"/>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30742" name="Text Box 18"/>
          <p:cNvSpPr txBox="1">
            <a:spLocks noChangeArrowheads="1"/>
          </p:cNvSpPr>
          <p:nvPr/>
        </p:nvSpPr>
        <p:spPr bwMode="auto">
          <a:xfrm>
            <a:off x="2579688" y="3810000"/>
            <a:ext cx="6858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000"/>
              <a:t>101</a:t>
            </a:r>
          </a:p>
        </p:txBody>
      </p:sp>
      <p:sp>
        <p:nvSpPr>
          <p:cNvPr id="30743" name="Text Box 19"/>
          <p:cNvSpPr txBox="1">
            <a:spLocks noChangeArrowheads="1"/>
          </p:cNvSpPr>
          <p:nvPr/>
        </p:nvSpPr>
        <p:spPr bwMode="auto">
          <a:xfrm>
            <a:off x="3265488" y="3810000"/>
            <a:ext cx="8382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endParaRPr lang="en-US" altLang="zh-CN" sz="2000"/>
          </a:p>
        </p:txBody>
      </p:sp>
      <p:sp>
        <p:nvSpPr>
          <p:cNvPr id="30744" name="Text Box 30"/>
          <p:cNvSpPr txBox="1">
            <a:spLocks noChangeArrowheads="1"/>
          </p:cNvSpPr>
          <p:nvPr/>
        </p:nvSpPr>
        <p:spPr bwMode="auto">
          <a:xfrm>
            <a:off x="2579688" y="4495800"/>
            <a:ext cx="6858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000"/>
              <a:t>101</a:t>
            </a:r>
          </a:p>
        </p:txBody>
      </p:sp>
      <p:sp>
        <p:nvSpPr>
          <p:cNvPr id="30745" name="Text Box 31"/>
          <p:cNvSpPr txBox="1">
            <a:spLocks noChangeArrowheads="1"/>
          </p:cNvSpPr>
          <p:nvPr/>
        </p:nvSpPr>
        <p:spPr bwMode="auto">
          <a:xfrm>
            <a:off x="3265488" y="4495800"/>
            <a:ext cx="838200" cy="4254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endParaRPr lang="en-US" altLang="zh-CN" sz="2000"/>
          </a:p>
        </p:txBody>
      </p:sp>
      <p:sp>
        <p:nvSpPr>
          <p:cNvPr id="30746" name="Text Box 32"/>
          <p:cNvSpPr txBox="1">
            <a:spLocks noChangeArrowheads="1"/>
          </p:cNvSpPr>
          <p:nvPr/>
        </p:nvSpPr>
        <p:spPr bwMode="auto">
          <a:xfrm>
            <a:off x="4532313" y="3860800"/>
            <a:ext cx="971550" cy="10350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地址形成逻辑</a:t>
            </a:r>
          </a:p>
        </p:txBody>
      </p:sp>
      <p:sp>
        <p:nvSpPr>
          <p:cNvPr id="30747" name="Line 34"/>
          <p:cNvSpPr>
            <a:spLocks noChangeShapeType="1"/>
          </p:cNvSpPr>
          <p:nvPr/>
        </p:nvSpPr>
        <p:spPr bwMode="auto">
          <a:xfrm>
            <a:off x="3341688" y="5029200"/>
            <a:ext cx="0" cy="22860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48" name="Text Box 37"/>
          <p:cNvSpPr txBox="1">
            <a:spLocks noChangeArrowheads="1"/>
          </p:cNvSpPr>
          <p:nvPr/>
        </p:nvSpPr>
        <p:spPr bwMode="auto">
          <a:xfrm>
            <a:off x="2122488" y="2990850"/>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寄存器</a:t>
            </a:r>
          </a:p>
        </p:txBody>
      </p:sp>
      <p:sp>
        <p:nvSpPr>
          <p:cNvPr id="30749" name="Text Box 41"/>
          <p:cNvSpPr txBox="1">
            <a:spLocks noChangeArrowheads="1"/>
          </p:cNvSpPr>
          <p:nvPr/>
        </p:nvSpPr>
        <p:spPr bwMode="auto">
          <a:xfrm>
            <a:off x="2274888" y="3352800"/>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描述符</a:t>
            </a:r>
          </a:p>
        </p:txBody>
      </p:sp>
      <p:sp>
        <p:nvSpPr>
          <p:cNvPr id="30750" name="Rectangle 43"/>
          <p:cNvSpPr>
            <a:spLocks noChangeArrowheads="1"/>
          </p:cNvSpPr>
          <p:nvPr/>
        </p:nvSpPr>
        <p:spPr bwMode="auto">
          <a:xfrm>
            <a:off x="2351088" y="3352800"/>
            <a:ext cx="3276600" cy="2133600"/>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30751" name="AutoShape 46"/>
          <p:cNvSpPr>
            <a:spLocks/>
          </p:cNvSpPr>
          <p:nvPr/>
        </p:nvSpPr>
        <p:spPr bwMode="auto">
          <a:xfrm rot="5400000">
            <a:off x="3265488" y="2971800"/>
            <a:ext cx="152400" cy="1524000"/>
          </a:xfrm>
          <a:prstGeom prst="leftBrace">
            <a:avLst>
              <a:gd name="adj1" fmla="val 83333"/>
              <a:gd name="adj2" fmla="val 50000"/>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30752" name="AutoShape 47"/>
          <p:cNvSpPr>
            <a:spLocks/>
          </p:cNvSpPr>
          <p:nvPr/>
        </p:nvSpPr>
        <p:spPr bwMode="auto">
          <a:xfrm rot="16200000" flipV="1">
            <a:off x="7250906" y="2034382"/>
            <a:ext cx="106363" cy="2590800"/>
          </a:xfrm>
          <a:prstGeom prst="leftBrace">
            <a:avLst>
              <a:gd name="adj1" fmla="val 202984"/>
              <a:gd name="adj2" fmla="val 50000"/>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30753" name="Text Box 50"/>
          <p:cNvSpPr txBox="1">
            <a:spLocks noChangeArrowheads="1"/>
          </p:cNvSpPr>
          <p:nvPr/>
        </p:nvSpPr>
        <p:spPr bwMode="auto">
          <a:xfrm>
            <a:off x="7304088" y="3352800"/>
            <a:ext cx="1228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（数据）</a:t>
            </a:r>
          </a:p>
        </p:txBody>
      </p:sp>
      <p:sp>
        <p:nvSpPr>
          <p:cNvPr id="30754" name="Text Box 51"/>
          <p:cNvSpPr txBox="1">
            <a:spLocks noChangeArrowheads="1"/>
          </p:cNvSpPr>
          <p:nvPr/>
        </p:nvSpPr>
        <p:spPr bwMode="auto">
          <a:xfrm>
            <a:off x="7164388" y="4149725"/>
            <a:ext cx="1444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（数据）</a:t>
            </a:r>
          </a:p>
        </p:txBody>
      </p:sp>
      <p:sp>
        <p:nvSpPr>
          <p:cNvPr id="30755" name="Text Box 52"/>
          <p:cNvSpPr txBox="1">
            <a:spLocks noChangeArrowheads="1"/>
          </p:cNvSpPr>
          <p:nvPr/>
        </p:nvSpPr>
        <p:spPr bwMode="auto">
          <a:xfrm rot="5400000">
            <a:off x="7007226" y="4183062"/>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p>
        </p:txBody>
      </p:sp>
      <p:sp>
        <p:nvSpPr>
          <p:cNvPr id="30756" name="Text Box 53"/>
          <p:cNvSpPr txBox="1">
            <a:spLocks noChangeArrowheads="1"/>
          </p:cNvSpPr>
          <p:nvPr/>
        </p:nvSpPr>
        <p:spPr bwMode="auto">
          <a:xfrm rot="5400000">
            <a:off x="7051676" y="5008562"/>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p>
        </p:txBody>
      </p:sp>
      <p:sp>
        <p:nvSpPr>
          <p:cNvPr id="30757" name="Rectangle 54"/>
          <p:cNvSpPr>
            <a:spLocks noChangeArrowheads="1"/>
          </p:cNvSpPr>
          <p:nvPr/>
        </p:nvSpPr>
        <p:spPr bwMode="auto">
          <a:xfrm>
            <a:off x="5856288" y="2133600"/>
            <a:ext cx="2895600" cy="3886200"/>
          </a:xfrm>
          <a:prstGeom prst="rect">
            <a:avLst/>
          </a:prstGeom>
          <a:noFill/>
          <a:ln w="2857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30758" name="Line 55"/>
          <p:cNvSpPr>
            <a:spLocks noChangeShapeType="1"/>
          </p:cNvSpPr>
          <p:nvPr/>
        </p:nvSpPr>
        <p:spPr bwMode="auto">
          <a:xfrm flipH="1">
            <a:off x="5551488" y="4038600"/>
            <a:ext cx="457200"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59" name="Line 56"/>
          <p:cNvSpPr>
            <a:spLocks noChangeShapeType="1"/>
          </p:cNvSpPr>
          <p:nvPr/>
        </p:nvSpPr>
        <p:spPr bwMode="auto">
          <a:xfrm flipV="1">
            <a:off x="2732088" y="2667000"/>
            <a:ext cx="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60" name="AutoShape 57"/>
          <p:cNvSpPr>
            <a:spLocks/>
          </p:cNvSpPr>
          <p:nvPr/>
        </p:nvSpPr>
        <p:spPr bwMode="auto">
          <a:xfrm rot="16200000" flipV="1">
            <a:off x="3288506" y="4244182"/>
            <a:ext cx="106363" cy="1524000"/>
          </a:xfrm>
          <a:prstGeom prst="leftBrace">
            <a:avLst>
              <a:gd name="adj1" fmla="val 119402"/>
              <a:gd name="adj2" fmla="val 50000"/>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30761" name="Line 58"/>
          <p:cNvSpPr>
            <a:spLocks noChangeShapeType="1"/>
          </p:cNvSpPr>
          <p:nvPr/>
        </p:nvSpPr>
        <p:spPr bwMode="auto">
          <a:xfrm flipV="1">
            <a:off x="3341688" y="5257800"/>
            <a:ext cx="3962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62" name="Line 59"/>
          <p:cNvSpPr>
            <a:spLocks noChangeShapeType="1"/>
          </p:cNvSpPr>
          <p:nvPr/>
        </p:nvSpPr>
        <p:spPr bwMode="auto">
          <a:xfrm flipV="1">
            <a:off x="3341688" y="3505200"/>
            <a:ext cx="3962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63" name="Line 60"/>
          <p:cNvSpPr>
            <a:spLocks noChangeShapeType="1"/>
          </p:cNvSpPr>
          <p:nvPr/>
        </p:nvSpPr>
        <p:spPr bwMode="auto">
          <a:xfrm>
            <a:off x="3341688" y="3505200"/>
            <a:ext cx="0" cy="22860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64" name="Line 61"/>
          <p:cNvSpPr>
            <a:spLocks noChangeShapeType="1"/>
          </p:cNvSpPr>
          <p:nvPr/>
        </p:nvSpPr>
        <p:spPr bwMode="auto">
          <a:xfrm flipV="1">
            <a:off x="7304088" y="5240338"/>
            <a:ext cx="14287" cy="936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65" name="Text Box 62"/>
          <p:cNvSpPr txBox="1">
            <a:spLocks noChangeArrowheads="1"/>
          </p:cNvSpPr>
          <p:nvPr/>
        </p:nvSpPr>
        <p:spPr bwMode="auto">
          <a:xfrm>
            <a:off x="2274888" y="5029200"/>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描述符</a:t>
            </a:r>
          </a:p>
        </p:txBody>
      </p:sp>
      <p:sp>
        <p:nvSpPr>
          <p:cNvPr id="30766" name="Line 63"/>
          <p:cNvSpPr>
            <a:spLocks noChangeShapeType="1"/>
          </p:cNvSpPr>
          <p:nvPr/>
        </p:nvSpPr>
        <p:spPr bwMode="auto">
          <a:xfrm flipV="1">
            <a:off x="4103688" y="4114800"/>
            <a:ext cx="485775"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67" name="Line 64"/>
          <p:cNvSpPr>
            <a:spLocks noChangeShapeType="1"/>
          </p:cNvSpPr>
          <p:nvPr/>
        </p:nvSpPr>
        <p:spPr bwMode="auto">
          <a:xfrm flipV="1">
            <a:off x="4103688" y="4648200"/>
            <a:ext cx="457200"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68" name="Line 65"/>
          <p:cNvSpPr>
            <a:spLocks noChangeShapeType="1"/>
          </p:cNvSpPr>
          <p:nvPr/>
        </p:nvSpPr>
        <p:spPr bwMode="auto">
          <a:xfrm flipV="1">
            <a:off x="7304088" y="3352800"/>
            <a:ext cx="0"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69" name="Line 68"/>
          <p:cNvSpPr>
            <a:spLocks noChangeShapeType="1"/>
          </p:cNvSpPr>
          <p:nvPr/>
        </p:nvSpPr>
        <p:spPr bwMode="auto">
          <a:xfrm flipH="1">
            <a:off x="5551488" y="4724400"/>
            <a:ext cx="457200"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70" name="Line 69"/>
          <p:cNvSpPr>
            <a:spLocks noChangeShapeType="1"/>
          </p:cNvSpPr>
          <p:nvPr/>
        </p:nvSpPr>
        <p:spPr bwMode="auto">
          <a:xfrm flipV="1">
            <a:off x="2732088" y="3048000"/>
            <a:ext cx="3276600"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71" name="Line 70"/>
          <p:cNvSpPr>
            <a:spLocks noChangeShapeType="1"/>
          </p:cNvSpPr>
          <p:nvPr/>
        </p:nvSpPr>
        <p:spPr bwMode="auto">
          <a:xfrm flipV="1">
            <a:off x="2122488" y="5715000"/>
            <a:ext cx="3886200"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772" name="Line 71"/>
          <p:cNvSpPr>
            <a:spLocks noChangeShapeType="1"/>
          </p:cNvSpPr>
          <p:nvPr/>
        </p:nvSpPr>
        <p:spPr bwMode="auto">
          <a:xfrm flipV="1">
            <a:off x="2122488" y="2667000"/>
            <a:ext cx="0" cy="3048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pPr eaLnBrk="1" hangingPunct="1">
              <a:defRPr/>
            </a:pPr>
            <a:r>
              <a:rPr lang="zh-CN" altLang="en-US" smtClean="0"/>
              <a:t>描述二维阵列</a:t>
            </a:r>
            <a:br>
              <a:rPr lang="zh-CN" altLang="en-US" smtClean="0"/>
            </a:br>
            <a:r>
              <a:rPr lang="zh-CN" altLang="en-US" smtClean="0"/>
              <a:t>（按行存储）</a:t>
            </a:r>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自定义数据表示</a:t>
            </a:r>
            <a:endParaRPr lang="zh-CN" altLang="en-US" sz="1200" b="0">
              <a:latin typeface="Times New Roman" pitchFamily="18" charset="0"/>
              <a:ea typeface="幼圆" pitchFamily="49" charset="-122"/>
            </a:endParaRPr>
          </a:p>
        </p:txBody>
      </p:sp>
      <p:grpSp>
        <p:nvGrpSpPr>
          <p:cNvPr id="31748" name="Group 4"/>
          <p:cNvGrpSpPr>
            <a:grpSpLocks/>
          </p:cNvGrpSpPr>
          <p:nvPr/>
        </p:nvGrpSpPr>
        <p:grpSpPr bwMode="auto">
          <a:xfrm>
            <a:off x="3348038" y="2133600"/>
            <a:ext cx="5334000" cy="4076700"/>
            <a:chOff x="672" y="336"/>
            <a:chExt cx="4464" cy="3696"/>
          </a:xfrm>
        </p:grpSpPr>
        <p:sp>
          <p:nvSpPr>
            <p:cNvPr id="31752" name="Rectangle 5"/>
            <p:cNvSpPr>
              <a:spLocks noChangeArrowheads="1"/>
            </p:cNvSpPr>
            <p:nvPr/>
          </p:nvSpPr>
          <p:spPr bwMode="auto">
            <a:xfrm>
              <a:off x="960" y="1152"/>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101</a:t>
              </a:r>
            </a:p>
          </p:txBody>
        </p:sp>
        <p:sp>
          <p:nvSpPr>
            <p:cNvPr id="31753" name="Rectangle 6"/>
            <p:cNvSpPr>
              <a:spLocks noChangeArrowheads="1"/>
            </p:cNvSpPr>
            <p:nvPr/>
          </p:nvSpPr>
          <p:spPr bwMode="auto">
            <a:xfrm>
              <a:off x="1392" y="1152"/>
              <a:ext cx="528"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标志</a:t>
              </a:r>
            </a:p>
          </p:txBody>
        </p:sp>
        <p:sp>
          <p:nvSpPr>
            <p:cNvPr id="31754" name="Rectangle 7"/>
            <p:cNvSpPr>
              <a:spLocks noChangeArrowheads="1"/>
            </p:cNvSpPr>
            <p:nvPr/>
          </p:nvSpPr>
          <p:spPr bwMode="auto">
            <a:xfrm>
              <a:off x="1920" y="1152"/>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3</a:t>
              </a:r>
            </a:p>
          </p:txBody>
        </p:sp>
        <p:sp>
          <p:nvSpPr>
            <p:cNvPr id="31755" name="Rectangle 8"/>
            <p:cNvSpPr>
              <a:spLocks noChangeArrowheads="1"/>
            </p:cNvSpPr>
            <p:nvPr/>
          </p:nvSpPr>
          <p:spPr bwMode="auto">
            <a:xfrm>
              <a:off x="2352" y="1152"/>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endParaRPr lang="zh-CN" altLang="en-US" sz="2000">
                <a:solidFill>
                  <a:schemeClr val="tx2"/>
                </a:solidFill>
              </a:endParaRPr>
            </a:p>
          </p:txBody>
        </p:sp>
        <p:sp>
          <p:nvSpPr>
            <p:cNvPr id="31756" name="Rectangle 9"/>
            <p:cNvSpPr>
              <a:spLocks noChangeArrowheads="1"/>
            </p:cNvSpPr>
            <p:nvPr/>
          </p:nvSpPr>
          <p:spPr bwMode="auto">
            <a:xfrm>
              <a:off x="960" y="1440"/>
              <a:ext cx="1824"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endParaRPr lang="zh-CN" altLang="en-US" sz="2000">
                <a:solidFill>
                  <a:schemeClr val="tx2"/>
                </a:solidFill>
              </a:endParaRPr>
            </a:p>
          </p:txBody>
        </p:sp>
        <p:sp>
          <p:nvSpPr>
            <p:cNvPr id="31757" name="Rectangle 10"/>
            <p:cNvSpPr>
              <a:spLocks noChangeArrowheads="1"/>
            </p:cNvSpPr>
            <p:nvPr/>
          </p:nvSpPr>
          <p:spPr bwMode="auto">
            <a:xfrm>
              <a:off x="960" y="1728"/>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101</a:t>
              </a:r>
            </a:p>
          </p:txBody>
        </p:sp>
        <p:sp>
          <p:nvSpPr>
            <p:cNvPr id="31758" name="Rectangle 11"/>
            <p:cNvSpPr>
              <a:spLocks noChangeArrowheads="1"/>
            </p:cNvSpPr>
            <p:nvPr/>
          </p:nvSpPr>
          <p:spPr bwMode="auto">
            <a:xfrm>
              <a:off x="1392" y="1728"/>
              <a:ext cx="528"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标志</a:t>
              </a:r>
            </a:p>
          </p:txBody>
        </p:sp>
        <p:sp>
          <p:nvSpPr>
            <p:cNvPr id="31759" name="Rectangle 12"/>
            <p:cNvSpPr>
              <a:spLocks noChangeArrowheads="1"/>
            </p:cNvSpPr>
            <p:nvPr/>
          </p:nvSpPr>
          <p:spPr bwMode="auto">
            <a:xfrm>
              <a:off x="1920" y="1728"/>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4</a:t>
              </a:r>
            </a:p>
          </p:txBody>
        </p:sp>
        <p:sp>
          <p:nvSpPr>
            <p:cNvPr id="31760" name="Rectangle 13"/>
            <p:cNvSpPr>
              <a:spLocks noChangeArrowheads="1"/>
            </p:cNvSpPr>
            <p:nvPr/>
          </p:nvSpPr>
          <p:spPr bwMode="auto">
            <a:xfrm>
              <a:off x="2352" y="1728"/>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endParaRPr lang="zh-CN" altLang="en-US" sz="2000">
                <a:solidFill>
                  <a:schemeClr val="tx2"/>
                </a:solidFill>
              </a:endParaRPr>
            </a:p>
          </p:txBody>
        </p:sp>
        <p:sp>
          <p:nvSpPr>
            <p:cNvPr id="31761" name="Rectangle 14"/>
            <p:cNvSpPr>
              <a:spLocks noChangeArrowheads="1"/>
            </p:cNvSpPr>
            <p:nvPr/>
          </p:nvSpPr>
          <p:spPr bwMode="auto">
            <a:xfrm>
              <a:off x="960" y="2016"/>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101</a:t>
              </a:r>
            </a:p>
          </p:txBody>
        </p:sp>
        <p:sp>
          <p:nvSpPr>
            <p:cNvPr id="31762" name="Rectangle 15"/>
            <p:cNvSpPr>
              <a:spLocks noChangeArrowheads="1"/>
            </p:cNvSpPr>
            <p:nvPr/>
          </p:nvSpPr>
          <p:spPr bwMode="auto">
            <a:xfrm>
              <a:off x="1392" y="2016"/>
              <a:ext cx="528"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标志</a:t>
              </a:r>
            </a:p>
          </p:txBody>
        </p:sp>
        <p:sp>
          <p:nvSpPr>
            <p:cNvPr id="31763" name="Rectangle 16"/>
            <p:cNvSpPr>
              <a:spLocks noChangeArrowheads="1"/>
            </p:cNvSpPr>
            <p:nvPr/>
          </p:nvSpPr>
          <p:spPr bwMode="auto">
            <a:xfrm>
              <a:off x="1920" y="2016"/>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4</a:t>
              </a:r>
            </a:p>
          </p:txBody>
        </p:sp>
        <p:sp>
          <p:nvSpPr>
            <p:cNvPr id="31764" name="Rectangle 17"/>
            <p:cNvSpPr>
              <a:spLocks noChangeArrowheads="1"/>
            </p:cNvSpPr>
            <p:nvPr/>
          </p:nvSpPr>
          <p:spPr bwMode="auto">
            <a:xfrm>
              <a:off x="2352" y="2016"/>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endParaRPr lang="zh-CN" altLang="en-US" sz="2000">
                <a:solidFill>
                  <a:schemeClr val="tx2"/>
                </a:solidFill>
              </a:endParaRPr>
            </a:p>
          </p:txBody>
        </p:sp>
        <p:sp>
          <p:nvSpPr>
            <p:cNvPr id="31765" name="Rectangle 18"/>
            <p:cNvSpPr>
              <a:spLocks noChangeArrowheads="1"/>
            </p:cNvSpPr>
            <p:nvPr/>
          </p:nvSpPr>
          <p:spPr bwMode="auto">
            <a:xfrm>
              <a:off x="960" y="2304"/>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101</a:t>
              </a:r>
            </a:p>
          </p:txBody>
        </p:sp>
        <p:sp>
          <p:nvSpPr>
            <p:cNvPr id="31766" name="Rectangle 19"/>
            <p:cNvSpPr>
              <a:spLocks noChangeArrowheads="1"/>
            </p:cNvSpPr>
            <p:nvPr/>
          </p:nvSpPr>
          <p:spPr bwMode="auto">
            <a:xfrm>
              <a:off x="1392" y="2304"/>
              <a:ext cx="528"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3600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标志</a:t>
              </a:r>
            </a:p>
          </p:txBody>
        </p:sp>
        <p:sp>
          <p:nvSpPr>
            <p:cNvPr id="31767" name="Rectangle 20"/>
            <p:cNvSpPr>
              <a:spLocks noChangeArrowheads="1"/>
            </p:cNvSpPr>
            <p:nvPr/>
          </p:nvSpPr>
          <p:spPr bwMode="auto">
            <a:xfrm>
              <a:off x="1920" y="2304"/>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4</a:t>
              </a:r>
            </a:p>
          </p:txBody>
        </p:sp>
        <p:sp>
          <p:nvSpPr>
            <p:cNvPr id="31768" name="Rectangle 21"/>
            <p:cNvSpPr>
              <a:spLocks noChangeArrowheads="1"/>
            </p:cNvSpPr>
            <p:nvPr/>
          </p:nvSpPr>
          <p:spPr bwMode="auto">
            <a:xfrm>
              <a:off x="2352" y="2304"/>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endParaRPr lang="zh-CN" altLang="en-US" sz="2000">
                <a:solidFill>
                  <a:schemeClr val="tx2"/>
                </a:solidFill>
              </a:endParaRPr>
            </a:p>
          </p:txBody>
        </p:sp>
        <p:sp>
          <p:nvSpPr>
            <p:cNvPr id="31769" name="Rectangle 22"/>
            <p:cNvSpPr>
              <a:spLocks noChangeArrowheads="1"/>
            </p:cNvSpPr>
            <p:nvPr/>
          </p:nvSpPr>
          <p:spPr bwMode="auto">
            <a:xfrm>
              <a:off x="960" y="2880"/>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70" name="Rectangle 23"/>
            <p:cNvSpPr>
              <a:spLocks noChangeArrowheads="1"/>
            </p:cNvSpPr>
            <p:nvPr/>
          </p:nvSpPr>
          <p:spPr bwMode="auto">
            <a:xfrm>
              <a:off x="1392" y="2880"/>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11</a:t>
              </a:r>
            </a:p>
          </p:txBody>
        </p:sp>
        <p:sp>
          <p:nvSpPr>
            <p:cNvPr id="31771" name="Rectangle 24"/>
            <p:cNvSpPr>
              <a:spLocks noChangeArrowheads="1"/>
            </p:cNvSpPr>
            <p:nvPr/>
          </p:nvSpPr>
          <p:spPr bwMode="auto">
            <a:xfrm>
              <a:off x="960" y="3168"/>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72" name="Rectangle 25"/>
            <p:cNvSpPr>
              <a:spLocks noChangeArrowheads="1"/>
            </p:cNvSpPr>
            <p:nvPr/>
          </p:nvSpPr>
          <p:spPr bwMode="auto">
            <a:xfrm>
              <a:off x="1392" y="3168"/>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12</a:t>
              </a:r>
            </a:p>
          </p:txBody>
        </p:sp>
        <p:sp>
          <p:nvSpPr>
            <p:cNvPr id="31773" name="Rectangle 26"/>
            <p:cNvSpPr>
              <a:spLocks noChangeArrowheads="1"/>
            </p:cNvSpPr>
            <p:nvPr/>
          </p:nvSpPr>
          <p:spPr bwMode="auto">
            <a:xfrm>
              <a:off x="960" y="3456"/>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74" name="Rectangle 27"/>
            <p:cNvSpPr>
              <a:spLocks noChangeArrowheads="1"/>
            </p:cNvSpPr>
            <p:nvPr/>
          </p:nvSpPr>
          <p:spPr bwMode="auto">
            <a:xfrm>
              <a:off x="1392" y="3456"/>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13</a:t>
              </a:r>
            </a:p>
          </p:txBody>
        </p:sp>
        <p:sp>
          <p:nvSpPr>
            <p:cNvPr id="31775" name="Rectangle 28"/>
            <p:cNvSpPr>
              <a:spLocks noChangeArrowheads="1"/>
            </p:cNvSpPr>
            <p:nvPr/>
          </p:nvSpPr>
          <p:spPr bwMode="auto">
            <a:xfrm>
              <a:off x="960" y="3744"/>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76" name="Rectangle 29"/>
            <p:cNvSpPr>
              <a:spLocks noChangeArrowheads="1"/>
            </p:cNvSpPr>
            <p:nvPr/>
          </p:nvSpPr>
          <p:spPr bwMode="auto">
            <a:xfrm>
              <a:off x="1392" y="3744"/>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14</a:t>
              </a:r>
            </a:p>
          </p:txBody>
        </p:sp>
        <p:sp>
          <p:nvSpPr>
            <p:cNvPr id="31777" name="Rectangle 30"/>
            <p:cNvSpPr>
              <a:spLocks noChangeArrowheads="1"/>
            </p:cNvSpPr>
            <p:nvPr/>
          </p:nvSpPr>
          <p:spPr bwMode="auto">
            <a:xfrm>
              <a:off x="3312" y="864"/>
              <a:ext cx="1824"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p>
          </p:txBody>
        </p:sp>
        <p:sp>
          <p:nvSpPr>
            <p:cNvPr id="31778" name="Rectangle 31"/>
            <p:cNvSpPr>
              <a:spLocks noChangeArrowheads="1"/>
            </p:cNvSpPr>
            <p:nvPr/>
          </p:nvSpPr>
          <p:spPr bwMode="auto">
            <a:xfrm>
              <a:off x="3312" y="1152"/>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79" name="Rectangle 32"/>
            <p:cNvSpPr>
              <a:spLocks noChangeArrowheads="1"/>
            </p:cNvSpPr>
            <p:nvPr/>
          </p:nvSpPr>
          <p:spPr bwMode="auto">
            <a:xfrm>
              <a:off x="3744" y="1152"/>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21</a:t>
              </a:r>
            </a:p>
          </p:txBody>
        </p:sp>
        <p:sp>
          <p:nvSpPr>
            <p:cNvPr id="31780" name="Rectangle 33"/>
            <p:cNvSpPr>
              <a:spLocks noChangeArrowheads="1"/>
            </p:cNvSpPr>
            <p:nvPr/>
          </p:nvSpPr>
          <p:spPr bwMode="auto">
            <a:xfrm>
              <a:off x="3312" y="1440"/>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81" name="Rectangle 34"/>
            <p:cNvSpPr>
              <a:spLocks noChangeArrowheads="1"/>
            </p:cNvSpPr>
            <p:nvPr/>
          </p:nvSpPr>
          <p:spPr bwMode="auto">
            <a:xfrm>
              <a:off x="3744" y="1440"/>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22</a:t>
              </a:r>
            </a:p>
          </p:txBody>
        </p:sp>
        <p:sp>
          <p:nvSpPr>
            <p:cNvPr id="31782" name="Rectangle 35"/>
            <p:cNvSpPr>
              <a:spLocks noChangeArrowheads="1"/>
            </p:cNvSpPr>
            <p:nvPr/>
          </p:nvSpPr>
          <p:spPr bwMode="auto">
            <a:xfrm>
              <a:off x="3312" y="1728"/>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83" name="Rectangle 36"/>
            <p:cNvSpPr>
              <a:spLocks noChangeArrowheads="1"/>
            </p:cNvSpPr>
            <p:nvPr/>
          </p:nvSpPr>
          <p:spPr bwMode="auto">
            <a:xfrm>
              <a:off x="3744" y="1728"/>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23</a:t>
              </a:r>
            </a:p>
          </p:txBody>
        </p:sp>
        <p:sp>
          <p:nvSpPr>
            <p:cNvPr id="31784" name="Rectangle 37"/>
            <p:cNvSpPr>
              <a:spLocks noChangeArrowheads="1"/>
            </p:cNvSpPr>
            <p:nvPr/>
          </p:nvSpPr>
          <p:spPr bwMode="auto">
            <a:xfrm>
              <a:off x="3312" y="2016"/>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85" name="Rectangle 38"/>
            <p:cNvSpPr>
              <a:spLocks noChangeArrowheads="1"/>
            </p:cNvSpPr>
            <p:nvPr/>
          </p:nvSpPr>
          <p:spPr bwMode="auto">
            <a:xfrm>
              <a:off x="3744" y="2016"/>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24</a:t>
              </a:r>
            </a:p>
          </p:txBody>
        </p:sp>
        <p:sp>
          <p:nvSpPr>
            <p:cNvPr id="31786" name="Rectangle 39"/>
            <p:cNvSpPr>
              <a:spLocks noChangeArrowheads="1"/>
            </p:cNvSpPr>
            <p:nvPr/>
          </p:nvSpPr>
          <p:spPr bwMode="auto">
            <a:xfrm>
              <a:off x="3312" y="2592"/>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87" name="Rectangle 40"/>
            <p:cNvSpPr>
              <a:spLocks noChangeArrowheads="1"/>
            </p:cNvSpPr>
            <p:nvPr/>
          </p:nvSpPr>
          <p:spPr bwMode="auto">
            <a:xfrm>
              <a:off x="3744" y="2592"/>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31</a:t>
              </a:r>
            </a:p>
          </p:txBody>
        </p:sp>
        <p:sp>
          <p:nvSpPr>
            <p:cNvPr id="31788" name="Rectangle 41"/>
            <p:cNvSpPr>
              <a:spLocks noChangeArrowheads="1"/>
            </p:cNvSpPr>
            <p:nvPr/>
          </p:nvSpPr>
          <p:spPr bwMode="auto">
            <a:xfrm>
              <a:off x="3312" y="2880"/>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89" name="Rectangle 42"/>
            <p:cNvSpPr>
              <a:spLocks noChangeArrowheads="1"/>
            </p:cNvSpPr>
            <p:nvPr/>
          </p:nvSpPr>
          <p:spPr bwMode="auto">
            <a:xfrm>
              <a:off x="3744" y="2880"/>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32</a:t>
              </a:r>
            </a:p>
          </p:txBody>
        </p:sp>
        <p:sp>
          <p:nvSpPr>
            <p:cNvPr id="31790" name="Rectangle 43"/>
            <p:cNvSpPr>
              <a:spLocks noChangeArrowheads="1"/>
            </p:cNvSpPr>
            <p:nvPr/>
          </p:nvSpPr>
          <p:spPr bwMode="auto">
            <a:xfrm>
              <a:off x="3312" y="3168"/>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91" name="Rectangle 44"/>
            <p:cNvSpPr>
              <a:spLocks noChangeArrowheads="1"/>
            </p:cNvSpPr>
            <p:nvPr/>
          </p:nvSpPr>
          <p:spPr bwMode="auto">
            <a:xfrm>
              <a:off x="3744" y="3168"/>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33</a:t>
              </a:r>
            </a:p>
          </p:txBody>
        </p:sp>
        <p:sp>
          <p:nvSpPr>
            <p:cNvPr id="31792" name="Rectangle 45"/>
            <p:cNvSpPr>
              <a:spLocks noChangeArrowheads="1"/>
            </p:cNvSpPr>
            <p:nvPr/>
          </p:nvSpPr>
          <p:spPr bwMode="auto">
            <a:xfrm>
              <a:off x="3312" y="3456"/>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000</a:t>
              </a:r>
            </a:p>
          </p:txBody>
        </p:sp>
        <p:sp>
          <p:nvSpPr>
            <p:cNvPr id="31793" name="Rectangle 46"/>
            <p:cNvSpPr>
              <a:spLocks noChangeArrowheads="1"/>
            </p:cNvSpPr>
            <p:nvPr/>
          </p:nvSpPr>
          <p:spPr bwMode="auto">
            <a:xfrm>
              <a:off x="3744" y="3456"/>
              <a:ext cx="139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a</a:t>
              </a:r>
              <a:r>
                <a:rPr lang="en-US" altLang="zh-CN" sz="2000" baseline="-25000">
                  <a:solidFill>
                    <a:schemeClr val="tx2"/>
                  </a:solidFill>
                </a:rPr>
                <a:t>34</a:t>
              </a:r>
            </a:p>
          </p:txBody>
        </p:sp>
        <p:sp>
          <p:nvSpPr>
            <p:cNvPr id="31794" name="Rectangle 47"/>
            <p:cNvSpPr>
              <a:spLocks noChangeArrowheads="1"/>
            </p:cNvSpPr>
            <p:nvPr/>
          </p:nvSpPr>
          <p:spPr bwMode="auto">
            <a:xfrm>
              <a:off x="3312" y="2304"/>
              <a:ext cx="1824"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p>
          </p:txBody>
        </p:sp>
        <p:sp>
          <p:nvSpPr>
            <p:cNvPr id="31795" name="Rectangle 48"/>
            <p:cNvSpPr>
              <a:spLocks noChangeArrowheads="1"/>
            </p:cNvSpPr>
            <p:nvPr/>
          </p:nvSpPr>
          <p:spPr bwMode="auto">
            <a:xfrm>
              <a:off x="3312" y="3744"/>
              <a:ext cx="1824"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p>
          </p:txBody>
        </p:sp>
        <p:sp>
          <p:nvSpPr>
            <p:cNvPr id="31796" name="Rectangle 49"/>
            <p:cNvSpPr>
              <a:spLocks noChangeArrowheads="1"/>
            </p:cNvSpPr>
            <p:nvPr/>
          </p:nvSpPr>
          <p:spPr bwMode="auto">
            <a:xfrm>
              <a:off x="960" y="864"/>
              <a:ext cx="1824"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p>
          </p:txBody>
        </p:sp>
        <p:sp>
          <p:nvSpPr>
            <p:cNvPr id="31797" name="Rectangle 50"/>
            <p:cNvSpPr>
              <a:spLocks noChangeArrowheads="1"/>
            </p:cNvSpPr>
            <p:nvPr/>
          </p:nvSpPr>
          <p:spPr bwMode="auto">
            <a:xfrm>
              <a:off x="960" y="2592"/>
              <a:ext cx="1824"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p>
          </p:txBody>
        </p:sp>
        <p:sp>
          <p:nvSpPr>
            <p:cNvPr id="31798" name="Line 51"/>
            <p:cNvSpPr>
              <a:spLocks noChangeShapeType="1"/>
            </p:cNvSpPr>
            <p:nvPr/>
          </p:nvSpPr>
          <p:spPr bwMode="auto">
            <a:xfrm>
              <a:off x="2592" y="1296"/>
              <a:ext cx="0" cy="288"/>
            </a:xfrm>
            <a:prstGeom prst="line">
              <a:avLst/>
            </a:prstGeom>
            <a:noFill/>
            <a:ln w="2857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9" name="Line 52"/>
            <p:cNvSpPr>
              <a:spLocks noChangeShapeType="1"/>
            </p:cNvSpPr>
            <p:nvPr/>
          </p:nvSpPr>
          <p:spPr bwMode="auto">
            <a:xfrm flipH="1">
              <a:off x="768" y="1584"/>
              <a:ext cx="182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0" name="Line 53"/>
            <p:cNvSpPr>
              <a:spLocks noChangeShapeType="1"/>
            </p:cNvSpPr>
            <p:nvPr/>
          </p:nvSpPr>
          <p:spPr bwMode="auto">
            <a:xfrm>
              <a:off x="768" y="1584"/>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1" name="Line 54"/>
            <p:cNvSpPr>
              <a:spLocks noChangeShapeType="1"/>
            </p:cNvSpPr>
            <p:nvPr/>
          </p:nvSpPr>
          <p:spPr bwMode="auto">
            <a:xfrm>
              <a:off x="768" y="1872"/>
              <a:ext cx="1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2" name="Line 55"/>
            <p:cNvSpPr>
              <a:spLocks noChangeShapeType="1"/>
            </p:cNvSpPr>
            <p:nvPr/>
          </p:nvSpPr>
          <p:spPr bwMode="auto">
            <a:xfrm>
              <a:off x="2496" y="1872"/>
              <a:ext cx="0" cy="864"/>
            </a:xfrm>
            <a:prstGeom prst="line">
              <a:avLst/>
            </a:prstGeom>
            <a:noFill/>
            <a:ln w="2857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3" name="Line 56"/>
            <p:cNvSpPr>
              <a:spLocks noChangeShapeType="1"/>
            </p:cNvSpPr>
            <p:nvPr/>
          </p:nvSpPr>
          <p:spPr bwMode="auto">
            <a:xfrm flipH="1">
              <a:off x="768" y="2736"/>
              <a:ext cx="17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4" name="Line 57"/>
            <p:cNvSpPr>
              <a:spLocks noChangeShapeType="1"/>
            </p:cNvSpPr>
            <p:nvPr/>
          </p:nvSpPr>
          <p:spPr bwMode="auto">
            <a:xfrm>
              <a:off x="768" y="273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5" name="Line 58"/>
            <p:cNvSpPr>
              <a:spLocks noChangeShapeType="1"/>
            </p:cNvSpPr>
            <p:nvPr/>
          </p:nvSpPr>
          <p:spPr bwMode="auto">
            <a:xfrm>
              <a:off x="768" y="3024"/>
              <a:ext cx="1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6" name="Line 59"/>
            <p:cNvSpPr>
              <a:spLocks noChangeShapeType="1"/>
            </p:cNvSpPr>
            <p:nvPr/>
          </p:nvSpPr>
          <p:spPr bwMode="auto">
            <a:xfrm flipV="1">
              <a:off x="2640" y="2160"/>
              <a:ext cx="432" cy="0"/>
            </a:xfrm>
            <a:prstGeom prst="line">
              <a:avLst/>
            </a:prstGeom>
            <a:noFill/>
            <a:ln w="2857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7" name="Line 60"/>
            <p:cNvSpPr>
              <a:spLocks noChangeShapeType="1"/>
            </p:cNvSpPr>
            <p:nvPr/>
          </p:nvSpPr>
          <p:spPr bwMode="auto">
            <a:xfrm flipH="1">
              <a:off x="3072" y="1296"/>
              <a:ext cx="0" cy="8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8" name="Line 61"/>
            <p:cNvSpPr>
              <a:spLocks noChangeShapeType="1"/>
            </p:cNvSpPr>
            <p:nvPr/>
          </p:nvSpPr>
          <p:spPr bwMode="auto">
            <a:xfrm>
              <a:off x="3072" y="1296"/>
              <a:ext cx="24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9" name="Line 62"/>
            <p:cNvSpPr>
              <a:spLocks noChangeShapeType="1"/>
            </p:cNvSpPr>
            <p:nvPr/>
          </p:nvSpPr>
          <p:spPr bwMode="auto">
            <a:xfrm flipV="1">
              <a:off x="2640" y="2448"/>
              <a:ext cx="432" cy="0"/>
            </a:xfrm>
            <a:prstGeom prst="line">
              <a:avLst/>
            </a:prstGeom>
            <a:noFill/>
            <a:ln w="2857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10" name="Line 63"/>
            <p:cNvSpPr>
              <a:spLocks noChangeShapeType="1"/>
            </p:cNvSpPr>
            <p:nvPr/>
          </p:nvSpPr>
          <p:spPr bwMode="auto">
            <a:xfrm flipH="1">
              <a:off x="3072" y="2448"/>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11" name="Line 64"/>
            <p:cNvSpPr>
              <a:spLocks noChangeShapeType="1"/>
            </p:cNvSpPr>
            <p:nvPr/>
          </p:nvSpPr>
          <p:spPr bwMode="auto">
            <a:xfrm>
              <a:off x="3072" y="2736"/>
              <a:ext cx="24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12" name="Rectangle 65"/>
            <p:cNvSpPr>
              <a:spLocks noChangeArrowheads="1"/>
            </p:cNvSpPr>
            <p:nvPr/>
          </p:nvSpPr>
          <p:spPr bwMode="auto">
            <a:xfrm>
              <a:off x="672" y="336"/>
              <a:ext cx="624"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OPC</a:t>
              </a:r>
            </a:p>
          </p:txBody>
        </p:sp>
        <p:sp>
          <p:nvSpPr>
            <p:cNvPr id="31813" name="Rectangle 66"/>
            <p:cNvSpPr>
              <a:spLocks noChangeArrowheads="1"/>
            </p:cNvSpPr>
            <p:nvPr/>
          </p:nvSpPr>
          <p:spPr bwMode="auto">
            <a:xfrm>
              <a:off x="1296" y="336"/>
              <a:ext cx="528"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X</a:t>
              </a:r>
            </a:p>
          </p:txBody>
        </p:sp>
        <p:sp>
          <p:nvSpPr>
            <p:cNvPr id="31814" name="Rectangle 67"/>
            <p:cNvSpPr>
              <a:spLocks noChangeArrowheads="1"/>
            </p:cNvSpPr>
            <p:nvPr/>
          </p:nvSpPr>
          <p:spPr bwMode="auto">
            <a:xfrm>
              <a:off x="1824" y="336"/>
              <a:ext cx="432" cy="288"/>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Y</a:t>
              </a:r>
            </a:p>
          </p:txBody>
        </p:sp>
        <p:sp>
          <p:nvSpPr>
            <p:cNvPr id="31815" name="Line 68"/>
            <p:cNvSpPr>
              <a:spLocks noChangeShapeType="1"/>
            </p:cNvSpPr>
            <p:nvPr/>
          </p:nvSpPr>
          <p:spPr bwMode="auto">
            <a:xfrm>
              <a:off x="768" y="768"/>
              <a:ext cx="0"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16" name="Line 69"/>
            <p:cNvSpPr>
              <a:spLocks noChangeShapeType="1"/>
            </p:cNvSpPr>
            <p:nvPr/>
          </p:nvSpPr>
          <p:spPr bwMode="auto">
            <a:xfrm>
              <a:off x="768" y="1296"/>
              <a:ext cx="19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17" name="Line 70"/>
            <p:cNvSpPr>
              <a:spLocks noChangeShapeType="1"/>
            </p:cNvSpPr>
            <p:nvPr/>
          </p:nvSpPr>
          <p:spPr bwMode="auto">
            <a:xfrm flipH="1">
              <a:off x="768" y="768"/>
              <a:ext cx="8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18" name="Line 71"/>
            <p:cNvSpPr>
              <a:spLocks noChangeShapeType="1"/>
            </p:cNvSpPr>
            <p:nvPr/>
          </p:nvSpPr>
          <p:spPr bwMode="auto">
            <a:xfrm>
              <a:off x="1584" y="62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31749" name="Object 72"/>
          <p:cNvGraphicFramePr>
            <a:graphicFrameLocks noChangeAspect="1"/>
          </p:cNvGraphicFramePr>
          <p:nvPr/>
        </p:nvGraphicFramePr>
        <p:xfrm>
          <a:off x="757238" y="2362200"/>
          <a:ext cx="2403475" cy="1425575"/>
        </p:xfrm>
        <a:graphic>
          <a:graphicData uri="http://schemas.openxmlformats.org/presentationml/2006/ole">
            <mc:AlternateContent xmlns:mc="http://schemas.openxmlformats.org/markup-compatibility/2006">
              <mc:Choice xmlns:v="urn:schemas-microsoft-com:vml" Requires="v">
                <p:oleObj spid="_x0000_s31870" name="Equation" r:id="rId7" imgW="1587500" imgH="711200" progId="Equation.3">
                  <p:embed/>
                </p:oleObj>
              </mc:Choice>
              <mc:Fallback>
                <p:oleObj name="Equation" r:id="rId7" imgW="1587500" imgH="711200" progId="Equation.3">
                  <p:embed/>
                  <p:pic>
                    <p:nvPicPr>
                      <p:cNvPr id="0" name="Object 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7238" y="2362200"/>
                        <a:ext cx="2403475" cy="1425575"/>
                      </a:xfrm>
                      <a:prstGeom prst="rect">
                        <a:avLst/>
                      </a:prstGeom>
                      <a:solidFill>
                        <a:srgbClr val="FFFF00"/>
                      </a:solidFill>
                      <a:ln>
                        <a:noFill/>
                      </a:ln>
                      <a:effectLst>
                        <a:outerShdw dist="107763"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1750" name="AutoShape 73"/>
          <p:cNvSpPr>
            <a:spLocks noChangeArrowheads="1"/>
          </p:cNvSpPr>
          <p:nvPr/>
        </p:nvSpPr>
        <p:spPr bwMode="auto">
          <a:xfrm rot="-2655575">
            <a:off x="2413000" y="3983038"/>
            <a:ext cx="685800" cy="1524000"/>
          </a:xfrm>
          <a:prstGeom prst="curvedRightArrow">
            <a:avLst>
              <a:gd name="adj1" fmla="val 44444"/>
              <a:gd name="adj2" fmla="val 88889"/>
              <a:gd name="adj3" fmla="val 33333"/>
            </a:avLst>
          </a:prstGeom>
          <a:solidFill>
            <a:srgbClr val="FF00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31751" name="Text Box 7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4</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pPr eaLnBrk="1" hangingPunct="1">
              <a:defRPr/>
            </a:pPr>
            <a:r>
              <a:rPr lang="zh-CN" altLang="en-US" smtClean="0"/>
              <a:t>特  点</a:t>
            </a:r>
          </a:p>
        </p:txBody>
      </p:sp>
      <p:sp>
        <p:nvSpPr>
          <p:cNvPr id="327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自定义数据表示</a:t>
            </a:r>
            <a:endParaRPr lang="zh-CN" altLang="en-US" sz="1200" b="0">
              <a:latin typeface="Times New Roman" pitchFamily="18" charset="0"/>
              <a:ea typeface="幼圆" pitchFamily="49" charset="-122"/>
            </a:endParaRPr>
          </a:p>
        </p:txBody>
      </p:sp>
      <p:sp>
        <p:nvSpPr>
          <p:cNvPr id="267268" name="Rectangle 4"/>
          <p:cNvSpPr>
            <a:spLocks noGrp="1" noChangeArrowheads="1"/>
          </p:cNvSpPr>
          <p:nvPr>
            <p:ph type="body" idx="1"/>
          </p:nvPr>
        </p:nvSpPr>
        <p:spPr/>
        <p:txBody>
          <a:bodyPr/>
          <a:lstStyle/>
          <a:p>
            <a:pPr marL="0" indent="0" eaLnBrk="1" hangingPunct="1">
              <a:lnSpc>
                <a:spcPct val="120000"/>
              </a:lnSpc>
              <a:buClr>
                <a:srgbClr val="FF3300"/>
              </a:buClr>
              <a:defRPr/>
            </a:pPr>
            <a:r>
              <a:rPr lang="zh-CN" altLang="en-US" dirty="0" smtClean="0"/>
              <a:t>  </a:t>
            </a:r>
            <a:r>
              <a:rPr lang="zh-CN" altLang="en-US" dirty="0" smtClean="0">
                <a:solidFill>
                  <a:srgbClr val="FF3300"/>
                </a:solidFill>
                <a:effectLst>
                  <a:outerShdw blurRad="38100" dist="38100" dir="2700000" algn="tl">
                    <a:srgbClr val="C0C0C0"/>
                  </a:outerShdw>
                </a:effectLst>
              </a:rPr>
              <a:t>优点</a:t>
            </a:r>
          </a:p>
          <a:p>
            <a:pPr marL="765175" lvl="1" eaLnBrk="1" hangingPunct="1">
              <a:lnSpc>
                <a:spcPct val="120000"/>
              </a:lnSpc>
              <a:buFont typeface="Wingdings" pitchFamily="2" charset="2"/>
              <a:buChar char="Ø"/>
              <a:defRPr/>
            </a:pPr>
            <a:r>
              <a:rPr lang="zh-CN" altLang="en-US" dirty="0" smtClean="0"/>
              <a:t>整块数据可一次性操作</a:t>
            </a:r>
          </a:p>
          <a:p>
            <a:pPr marL="765175" lvl="1" eaLnBrk="1" hangingPunct="1">
              <a:lnSpc>
                <a:spcPct val="120000"/>
              </a:lnSpc>
              <a:buFont typeface="Wingdings" pitchFamily="2" charset="2"/>
              <a:buChar char="Ø"/>
              <a:defRPr/>
            </a:pPr>
            <a:r>
              <a:rPr lang="zh-CN" altLang="en-US" dirty="0" smtClean="0"/>
              <a:t>简化编译中的代码生成</a:t>
            </a:r>
          </a:p>
          <a:p>
            <a:pPr marL="0" indent="0" eaLnBrk="1" hangingPunct="1">
              <a:lnSpc>
                <a:spcPct val="120000"/>
              </a:lnSpc>
              <a:buClr>
                <a:srgbClr val="FF3300"/>
              </a:buClr>
              <a:defRPr/>
            </a:pPr>
            <a:r>
              <a:rPr lang="zh-CN" altLang="en-US" dirty="0" smtClean="0">
                <a:solidFill>
                  <a:srgbClr val="FF3300"/>
                </a:solidFill>
                <a:effectLst>
                  <a:outerShdw blurRad="38100" dist="38100" dir="2700000" algn="tl">
                    <a:srgbClr val="C0C0C0"/>
                  </a:outerShdw>
                </a:effectLst>
              </a:rPr>
              <a:t>  比较</a:t>
            </a:r>
          </a:p>
          <a:p>
            <a:pPr marL="0" indent="0" eaLnBrk="1" hangingPunct="1">
              <a:lnSpc>
                <a:spcPct val="120000"/>
              </a:lnSpc>
              <a:buFont typeface="Wingdings" pitchFamily="2" charset="2"/>
              <a:buNone/>
              <a:defRPr/>
            </a:pPr>
            <a:r>
              <a:rPr lang="zh-CN" altLang="en-US" dirty="0" smtClean="0"/>
              <a:t>      </a:t>
            </a:r>
            <a:r>
              <a:rPr lang="zh-CN" altLang="en-US" sz="2800" dirty="0" smtClean="0"/>
              <a:t>标志符是和每个数据相连，合存于一个存储单元中，</a:t>
            </a:r>
            <a:r>
              <a:rPr lang="zh-CN" altLang="en-US" sz="2800" dirty="0" smtClean="0">
                <a:solidFill>
                  <a:srgbClr val="FF3300"/>
                </a:solidFill>
                <a:effectLst>
                  <a:outerShdw blurRad="38100" dist="38100" dir="2700000" algn="tl">
                    <a:srgbClr val="C0C0C0"/>
                  </a:outerShdw>
                </a:effectLst>
              </a:rPr>
              <a:t>描述单个数据的类型特征</a:t>
            </a:r>
            <a:r>
              <a:rPr lang="zh-CN" altLang="en-US" sz="2800" dirty="0" smtClean="0"/>
              <a:t>；描述符是和数据分开存放的，</a:t>
            </a:r>
            <a:r>
              <a:rPr lang="zh-CN" altLang="en-US" sz="2800" dirty="0" smtClean="0">
                <a:solidFill>
                  <a:srgbClr val="FF3300"/>
                </a:solidFill>
                <a:effectLst>
                  <a:outerShdw blurRad="38100" dist="38100" dir="2700000" algn="tl">
                    <a:srgbClr val="C0C0C0"/>
                  </a:outerShdw>
                </a:effectLst>
              </a:rPr>
              <a:t>专门用来描述一组数据</a:t>
            </a:r>
            <a:r>
              <a:rPr lang="zh-CN" altLang="en-US" sz="2800" dirty="0" smtClean="0"/>
              <a:t>。</a:t>
            </a:r>
          </a:p>
        </p:txBody>
      </p:sp>
      <p:sp>
        <p:nvSpPr>
          <p:cNvPr id="327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pPr eaLnBrk="1" hangingPunct="1">
              <a:defRPr/>
            </a:pPr>
            <a:r>
              <a:rPr lang="zh-CN" altLang="en-US" smtClean="0"/>
              <a:t>数据表示设计</a:t>
            </a:r>
          </a:p>
        </p:txBody>
      </p:sp>
      <p:sp>
        <p:nvSpPr>
          <p:cNvPr id="337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endParaRPr lang="zh-CN" altLang="en-US" sz="1200" b="0">
              <a:latin typeface="Times New Roman" pitchFamily="18" charset="0"/>
              <a:ea typeface="幼圆" pitchFamily="49" charset="-122"/>
            </a:endParaRPr>
          </a:p>
        </p:txBody>
      </p:sp>
      <p:sp>
        <p:nvSpPr>
          <p:cNvPr id="33796" name="Rectangle 6"/>
          <p:cNvSpPr>
            <a:spLocks noGrp="1" noChangeArrowheads="1"/>
          </p:cNvSpPr>
          <p:nvPr>
            <p:ph type="body" idx="1"/>
          </p:nvPr>
        </p:nvSpPr>
        <p:spPr>
          <a:xfrm>
            <a:off x="900113" y="2349500"/>
            <a:ext cx="7958137" cy="1524000"/>
          </a:xfrm>
        </p:spPr>
        <p:txBody>
          <a:bodyPr/>
          <a:lstStyle/>
          <a:p>
            <a:pPr marL="0" indent="0" eaLnBrk="1" hangingPunct="1">
              <a:lnSpc>
                <a:spcPct val="130000"/>
              </a:lnSpc>
              <a:buFont typeface="Wingdings" pitchFamily="2" charset="2"/>
              <a:buNone/>
            </a:pPr>
            <a:r>
              <a:rPr lang="zh-CN" altLang="en-US" smtClean="0"/>
              <a:t>       确定哪些数据类型用数据表示来实现的原则主要有：</a:t>
            </a:r>
          </a:p>
        </p:txBody>
      </p:sp>
      <p:sp>
        <p:nvSpPr>
          <p:cNvPr id="33797" name="Rectangle 7"/>
          <p:cNvSpPr>
            <a:spLocks noChangeArrowheads="1"/>
          </p:cNvSpPr>
          <p:nvPr/>
        </p:nvSpPr>
        <p:spPr bwMode="auto">
          <a:xfrm>
            <a:off x="3429000" y="3962400"/>
            <a:ext cx="22860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74650" indent="-374650" eaLnBrk="0" hangingPunct="0">
              <a:buChar char="w"/>
              <a:defRPr kumimoji="1" sz="3200" b="1">
                <a:solidFill>
                  <a:schemeClr val="tx1"/>
                </a:solidFill>
                <a:latin typeface="Arial" charset="0"/>
                <a:ea typeface="楷体_GB2312" pitchFamily="49" charset="-122"/>
              </a:defRPr>
            </a:lvl1pPr>
            <a:lvl2pPr marL="850900" indent="-285750" eaLnBrk="0" hangingPunct="0">
              <a:buSzPct val="55000"/>
              <a:buChar char="n"/>
              <a:defRPr kumimoji="1" sz="2800" b="1">
                <a:solidFill>
                  <a:schemeClr val="tx1"/>
                </a:solidFill>
                <a:latin typeface="Arial" charset="0"/>
                <a:ea typeface="楷体_GB2312" pitchFamily="49" charset="-122"/>
              </a:defRPr>
            </a:lvl2pPr>
            <a:lvl3pPr marL="1270000" indent="-228600" eaLnBrk="0" hangingPunct="0">
              <a:buSzPct val="65000"/>
              <a:buChar char="l"/>
              <a:defRPr kumimoji="1" sz="2400" b="1">
                <a:solidFill>
                  <a:schemeClr val="tx1"/>
                </a:solidFill>
                <a:latin typeface="Arial" charset="0"/>
                <a:ea typeface="楷体_GB2312" pitchFamily="49" charset="-122"/>
              </a:defRPr>
            </a:lvl3pPr>
            <a:lvl4pPr marL="1689100" indent="-228600" eaLnBrk="0" hangingPunct="0">
              <a:buSzPct val="85000"/>
              <a:buChar char="w"/>
              <a:defRPr kumimoji="1" sz="2000" b="1">
                <a:solidFill>
                  <a:schemeClr val="tx1"/>
                </a:solidFill>
                <a:latin typeface="Arial" charset="0"/>
                <a:ea typeface="楷体_GB2312" pitchFamily="49" charset="-122"/>
              </a:defRPr>
            </a:lvl4pPr>
            <a:lvl5pPr marL="2108200" indent="-228600" eaLnBrk="0" hangingPunct="0">
              <a:buSzPct val="80000"/>
              <a:buChar char="§"/>
              <a:defRPr kumimoji="1" b="1">
                <a:solidFill>
                  <a:schemeClr val="tx1"/>
                </a:solidFill>
                <a:latin typeface="Arial"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50000"/>
              </a:lnSpc>
            </a:pPr>
            <a:r>
              <a:rPr lang="zh-CN" altLang="en-US">
                <a:latin typeface="Times New Roman" pitchFamily="18" charset="0"/>
                <a:hlinkClick r:id="rId5" action="ppaction://hlinksldjump"/>
              </a:rPr>
              <a:t>原则一</a:t>
            </a:r>
            <a:endParaRPr lang="zh-CN" altLang="en-US">
              <a:latin typeface="Times New Roman" pitchFamily="18" charset="0"/>
            </a:endParaRPr>
          </a:p>
          <a:p>
            <a:pPr eaLnBrk="1" hangingPunct="1">
              <a:lnSpc>
                <a:spcPct val="150000"/>
              </a:lnSpc>
            </a:pPr>
            <a:r>
              <a:rPr lang="zh-CN" altLang="en-US">
                <a:latin typeface="Times New Roman" pitchFamily="18" charset="0"/>
                <a:hlinkClick r:id="rId6" action="ppaction://hlinksldjump"/>
              </a:rPr>
              <a:t>原则二</a:t>
            </a:r>
            <a:endParaRPr lang="zh-CN" altLang="en-US">
              <a:latin typeface="Times New Roman" pitchFamily="18" charset="0"/>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pPr eaLnBrk="1" hangingPunct="1">
              <a:defRPr/>
            </a:pPr>
            <a:r>
              <a:rPr lang="zh-CN" altLang="en-US" smtClean="0"/>
              <a:t>设计原则一</a:t>
            </a:r>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数据表示设计</a:t>
            </a:r>
            <a:endParaRPr lang="zh-CN" altLang="en-US" sz="1200" b="0">
              <a:latin typeface="Times New Roman" pitchFamily="18" charset="0"/>
              <a:ea typeface="幼圆" pitchFamily="49" charset="-122"/>
            </a:endParaRPr>
          </a:p>
        </p:txBody>
      </p:sp>
      <p:sp>
        <p:nvSpPr>
          <p:cNvPr id="271367" name="Rectangle 7"/>
          <p:cNvSpPr>
            <a:spLocks noGrp="1" noChangeArrowheads="1"/>
          </p:cNvSpPr>
          <p:nvPr>
            <p:ph type="body" idx="1"/>
          </p:nvPr>
        </p:nvSpPr>
        <p:spPr>
          <a:xfrm>
            <a:off x="809625" y="1916113"/>
            <a:ext cx="7958138" cy="4484687"/>
          </a:xfrm>
        </p:spPr>
        <p:txBody>
          <a:bodyPr/>
          <a:lstStyle/>
          <a:p>
            <a:pPr marL="0" indent="0" eaLnBrk="1" hangingPunct="1">
              <a:lnSpc>
                <a:spcPct val="95000"/>
              </a:lnSpc>
              <a:buFont typeface="Wingdings" pitchFamily="2" charset="2"/>
              <a:buNone/>
              <a:defRPr/>
            </a:pPr>
            <a:r>
              <a:rPr lang="zh-CN" altLang="en-US" sz="2800" dirty="0" smtClean="0"/>
              <a:t>    </a:t>
            </a:r>
            <a:r>
              <a:rPr lang="zh-CN" altLang="en-US" sz="2800" dirty="0" smtClean="0">
                <a:solidFill>
                  <a:srgbClr val="3333FF"/>
                </a:solidFill>
                <a:effectLst>
                  <a:outerShdw blurRad="38100" dist="38100" dir="2700000" algn="tl">
                    <a:srgbClr val="C0C0C0"/>
                  </a:outerShdw>
                </a:effectLst>
                <a:ea typeface="方正舒体" pitchFamily="2" charset="-122"/>
              </a:rPr>
              <a:t>是否提高系统的效率，即：是否减少了实现时间和所需的存储空间。</a:t>
            </a:r>
          </a:p>
          <a:p>
            <a:pPr marL="0" indent="0" eaLnBrk="1" hangingPunct="1">
              <a:lnSpc>
                <a:spcPct val="95000"/>
              </a:lnSpc>
              <a:buClr>
                <a:srgbClr val="FF0000"/>
              </a:buClr>
              <a:defRPr/>
            </a:pPr>
            <a:r>
              <a:rPr lang="zh-CN" altLang="en-US" sz="2800" dirty="0" smtClean="0">
                <a:solidFill>
                  <a:srgbClr val="FF0000"/>
                </a:solidFill>
                <a:effectLst>
                  <a:outerShdw blurRad="38100" dist="38100" dir="2700000" algn="tl">
                    <a:srgbClr val="C0C0C0"/>
                  </a:outerShdw>
                </a:effectLst>
              </a:rPr>
              <a:t>  实现时间的衡量</a:t>
            </a:r>
          </a:p>
          <a:p>
            <a:pPr marL="765175" lvl="1" eaLnBrk="1" hangingPunct="1">
              <a:lnSpc>
                <a:spcPct val="95000"/>
              </a:lnSpc>
              <a:buFont typeface="Wingdings" pitchFamily="2" charset="2"/>
              <a:buChar char="Ø"/>
              <a:defRPr/>
            </a:pPr>
            <a:r>
              <a:rPr lang="zh-CN" altLang="en-US" sz="2400" dirty="0" smtClean="0"/>
              <a:t>主存和处理机间所需传送的消息量有否减少</a:t>
            </a:r>
          </a:p>
          <a:p>
            <a:pPr marL="765175" lvl="1" eaLnBrk="1" hangingPunct="1">
              <a:lnSpc>
                <a:spcPct val="95000"/>
              </a:lnSpc>
              <a:buFont typeface="Wingdings" pitchFamily="2" charset="2"/>
              <a:buChar char="Ø"/>
              <a:defRPr/>
            </a:pPr>
            <a:r>
              <a:rPr lang="zh-CN" altLang="en-US" sz="2400" dirty="0" smtClean="0"/>
              <a:t>高速运算部件是否节省了时间</a:t>
            </a:r>
          </a:p>
          <a:p>
            <a:pPr marL="765175" lvl="1" eaLnBrk="1" hangingPunct="1">
              <a:lnSpc>
                <a:spcPct val="95000"/>
              </a:lnSpc>
              <a:buFont typeface="Wingdings" pitchFamily="2" charset="2"/>
              <a:buChar char="Ø"/>
              <a:defRPr/>
            </a:pPr>
            <a:r>
              <a:rPr lang="zh-CN" altLang="en-US" sz="2400" dirty="0" smtClean="0"/>
              <a:t>是否节省了大量的辅助操作（由硬件完成）</a:t>
            </a:r>
          </a:p>
          <a:p>
            <a:pPr marL="765175" lvl="1" eaLnBrk="1" hangingPunct="1">
              <a:lnSpc>
                <a:spcPct val="95000"/>
              </a:lnSpc>
              <a:buFont typeface="Wingdings" pitchFamily="2" charset="2"/>
              <a:buChar char="Ø"/>
              <a:defRPr/>
            </a:pPr>
            <a:r>
              <a:rPr lang="zh-CN" altLang="en-US" sz="2400" dirty="0" smtClean="0"/>
              <a:t>是否节省了编译所需要的时间</a:t>
            </a:r>
          </a:p>
          <a:p>
            <a:pPr marL="0" indent="0" eaLnBrk="1" hangingPunct="1">
              <a:lnSpc>
                <a:spcPct val="95000"/>
              </a:lnSpc>
              <a:buClr>
                <a:srgbClr val="FF0000"/>
              </a:buClr>
              <a:defRPr/>
            </a:pPr>
            <a:r>
              <a:rPr lang="zh-CN" altLang="en-US" sz="2800" dirty="0" smtClean="0">
                <a:solidFill>
                  <a:srgbClr val="FF0000"/>
                </a:solidFill>
                <a:effectLst>
                  <a:outerShdw blurRad="38100" dist="38100" dir="2700000" algn="tl">
                    <a:srgbClr val="C0C0C0"/>
                  </a:outerShdw>
                </a:effectLst>
              </a:rPr>
              <a:t>  例子</a:t>
            </a:r>
          </a:p>
          <a:p>
            <a:pPr marL="0" indent="0" eaLnBrk="1" hangingPunct="1">
              <a:lnSpc>
                <a:spcPct val="95000"/>
              </a:lnSpc>
              <a:buFont typeface="Wingdings" pitchFamily="2" charset="2"/>
              <a:buNone/>
              <a:defRPr/>
            </a:pPr>
            <a:r>
              <a:rPr lang="zh-CN" altLang="en-US" sz="2400" dirty="0" smtClean="0"/>
              <a:t>     向量数据表示的引入（例如：两个200×200的定点数矩阵相加）。</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pPr eaLnBrk="1" hangingPunct="1">
              <a:defRPr/>
            </a:pPr>
            <a:r>
              <a:rPr lang="zh-CN" altLang="en-US" smtClean="0"/>
              <a:t>设计原则二</a:t>
            </a:r>
          </a:p>
        </p:txBody>
      </p:sp>
      <p:sp>
        <p:nvSpPr>
          <p:cNvPr id="35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数据表示 </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数据表示设计</a:t>
            </a:r>
            <a:endParaRPr lang="zh-CN" altLang="en-US" sz="1200" b="0">
              <a:latin typeface="Times New Roman" pitchFamily="18" charset="0"/>
              <a:ea typeface="幼圆" pitchFamily="49" charset="-122"/>
            </a:endParaRPr>
          </a:p>
        </p:txBody>
      </p:sp>
      <p:sp>
        <p:nvSpPr>
          <p:cNvPr id="272389" name="Rectangle 5"/>
          <p:cNvSpPr>
            <a:spLocks noGrp="1" noChangeArrowheads="1"/>
          </p:cNvSpPr>
          <p:nvPr>
            <p:ph type="body" idx="1"/>
          </p:nvPr>
        </p:nvSpPr>
        <p:spPr>
          <a:xfrm>
            <a:off x="809625" y="1916113"/>
            <a:ext cx="7958138" cy="4408487"/>
          </a:xfrm>
        </p:spPr>
        <p:txBody>
          <a:bodyPr/>
          <a:lstStyle/>
          <a:p>
            <a:pPr marL="0" indent="0" eaLnBrk="1" hangingPunct="1">
              <a:lnSpc>
                <a:spcPct val="110000"/>
              </a:lnSpc>
              <a:buFont typeface="Wingdings" pitchFamily="2" charset="2"/>
              <a:buNone/>
              <a:defRPr/>
            </a:pPr>
            <a:r>
              <a:rPr lang="zh-CN" altLang="en-US" sz="2800" dirty="0" smtClean="0"/>
              <a:t>         </a:t>
            </a:r>
            <a:r>
              <a:rPr lang="zh-CN" altLang="en-US" sz="2800" dirty="0" smtClean="0">
                <a:solidFill>
                  <a:srgbClr val="3333FF"/>
                </a:solidFill>
                <a:effectLst>
                  <a:outerShdw blurRad="38100" dist="38100" dir="2700000" algn="tl">
                    <a:srgbClr val="C0C0C0"/>
                  </a:outerShdw>
                </a:effectLst>
                <a:ea typeface="方正舒体" pitchFamily="2" charset="-122"/>
              </a:rPr>
              <a:t>通用性和利用率是否高。</a:t>
            </a:r>
          </a:p>
          <a:p>
            <a:pPr marL="0" indent="0" eaLnBrk="1" hangingPunct="1">
              <a:lnSpc>
                <a:spcPct val="110000"/>
              </a:lnSpc>
              <a:buClr>
                <a:srgbClr val="FF0000"/>
              </a:buClr>
              <a:defRPr/>
            </a:pPr>
            <a:r>
              <a:rPr lang="zh-CN" altLang="en-US" sz="2800" dirty="0" smtClean="0">
                <a:solidFill>
                  <a:srgbClr val="FF0000"/>
                </a:solidFill>
                <a:effectLst>
                  <a:outerShdw blurRad="38100" dist="38100" dir="2700000" algn="tl">
                    <a:srgbClr val="C0C0C0"/>
                  </a:outerShdw>
                </a:effectLst>
              </a:rPr>
              <a:t>  堆栈机</a:t>
            </a:r>
          </a:p>
          <a:p>
            <a:pPr marL="0" indent="0" eaLnBrk="1" hangingPunct="1">
              <a:lnSpc>
                <a:spcPct val="110000"/>
              </a:lnSpc>
              <a:buFont typeface="Wingdings" pitchFamily="2" charset="2"/>
              <a:buNone/>
              <a:defRPr/>
            </a:pPr>
            <a:r>
              <a:rPr lang="zh-CN" altLang="en-US" sz="2800" dirty="0" smtClean="0"/>
              <a:t>    </a:t>
            </a:r>
            <a:r>
              <a:rPr lang="zh-CN" altLang="en-US" sz="2400" dirty="0" smtClean="0"/>
              <a:t>尽管堆栈操作速度很快，但矩阵运算效率却降低了。</a:t>
            </a:r>
          </a:p>
          <a:p>
            <a:pPr marL="0" indent="0" eaLnBrk="1" hangingPunct="1">
              <a:lnSpc>
                <a:spcPct val="110000"/>
              </a:lnSpc>
              <a:buClr>
                <a:srgbClr val="FF0000"/>
              </a:buClr>
              <a:defRPr/>
            </a:pPr>
            <a:r>
              <a:rPr lang="zh-CN" altLang="en-US" sz="2800" dirty="0" smtClean="0">
                <a:solidFill>
                  <a:srgbClr val="FF0000"/>
                </a:solidFill>
                <a:effectLst>
                  <a:outerShdw blurRad="38100" dist="38100" dir="2700000" algn="tl">
                    <a:srgbClr val="C0C0C0"/>
                  </a:outerShdw>
                </a:effectLst>
              </a:rPr>
              <a:t>  阵列机</a:t>
            </a:r>
          </a:p>
          <a:p>
            <a:pPr marL="0" indent="0" eaLnBrk="1" hangingPunct="1">
              <a:lnSpc>
                <a:spcPct val="110000"/>
              </a:lnSpc>
              <a:buFont typeface="Wingdings" pitchFamily="2" charset="2"/>
              <a:buNone/>
              <a:defRPr/>
            </a:pPr>
            <a:r>
              <a:rPr lang="zh-CN" altLang="en-US" sz="2800" dirty="0" smtClean="0"/>
              <a:t>    </a:t>
            </a:r>
            <a:r>
              <a:rPr lang="zh-CN" altLang="en-US" sz="2400" dirty="0" smtClean="0"/>
              <a:t>还需要解决通用性问题、如何高效地实现不同的数据结构、如何确定阵列型数据表示的规模等。</a:t>
            </a:r>
          </a:p>
          <a:p>
            <a:pPr marL="0" indent="0" eaLnBrk="1" hangingPunct="1">
              <a:lnSpc>
                <a:spcPct val="110000"/>
              </a:lnSpc>
              <a:buClr>
                <a:srgbClr val="FF0000"/>
              </a:buClr>
              <a:defRPr/>
            </a:pPr>
            <a:r>
              <a:rPr lang="zh-CN" altLang="en-US" sz="2800" dirty="0" smtClean="0">
                <a:solidFill>
                  <a:srgbClr val="FF0000"/>
                </a:solidFill>
                <a:effectLst>
                  <a:outerShdw blurRad="38100" dist="38100" dir="2700000" algn="tl">
                    <a:srgbClr val="C0C0C0"/>
                  </a:outerShdw>
                </a:effectLst>
              </a:rPr>
              <a:t>  树型结构机器</a:t>
            </a:r>
          </a:p>
          <a:p>
            <a:pPr marL="0" indent="0" eaLnBrk="1" hangingPunct="1">
              <a:lnSpc>
                <a:spcPct val="110000"/>
              </a:lnSpc>
              <a:buFont typeface="Wingdings" pitchFamily="2" charset="2"/>
              <a:buNone/>
              <a:defRPr/>
            </a:pPr>
            <a:r>
              <a:rPr lang="zh-CN" altLang="en-US" sz="2800" dirty="0" smtClean="0"/>
              <a:t>    </a:t>
            </a:r>
            <a:r>
              <a:rPr lang="zh-CN" altLang="en-US" sz="2400" dirty="0" smtClean="0"/>
              <a:t>堆栈、向量、链表等结构的实现低效。</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pPr eaLnBrk="1" hangingPunct="1">
              <a:defRPr/>
            </a:pPr>
            <a:r>
              <a:rPr lang="zh-CN" altLang="en-US" smtClean="0"/>
              <a:t>寻址技术</a:t>
            </a:r>
          </a:p>
        </p:txBody>
      </p:sp>
      <p:sp>
        <p:nvSpPr>
          <p:cNvPr id="225286" name="Rectangle 6"/>
          <p:cNvSpPr>
            <a:spLocks noGrp="1" noChangeArrowheads="1"/>
          </p:cNvSpPr>
          <p:nvPr>
            <p:ph type="body" sz="half" idx="1"/>
          </p:nvPr>
        </p:nvSpPr>
        <p:spPr>
          <a:xfrm>
            <a:off x="809625" y="1916113"/>
            <a:ext cx="3902075" cy="4408487"/>
          </a:xfrm>
          <a:solidFill>
            <a:srgbClr val="CC99FF"/>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20000"/>
              </a:lnSpc>
              <a:buClr>
                <a:srgbClr val="FF3300"/>
              </a:buClr>
              <a:buFont typeface="Wingdings" pitchFamily="2" charset="2"/>
              <a:buChar char="Ø"/>
              <a:defRPr/>
            </a:pPr>
            <a:r>
              <a:rPr lang="zh-CN" altLang="en-US" dirty="0" smtClean="0">
                <a:solidFill>
                  <a:srgbClr val="FF3300"/>
                </a:solidFill>
                <a:effectLst>
                  <a:outerShdw blurRad="38100" dist="38100" dir="2700000" algn="tl">
                    <a:srgbClr val="000000"/>
                  </a:outerShdw>
                </a:effectLst>
              </a:rPr>
              <a:t>  概念</a:t>
            </a:r>
          </a:p>
          <a:p>
            <a:pPr marL="0" indent="0" eaLnBrk="1" hangingPunct="1">
              <a:lnSpc>
                <a:spcPct val="120000"/>
              </a:lnSpc>
              <a:buFont typeface="Wingdings" pitchFamily="2" charset="2"/>
              <a:buNone/>
              <a:defRPr/>
            </a:pPr>
            <a:r>
              <a:rPr lang="zh-CN" altLang="en-US" dirty="0" smtClean="0"/>
              <a:t>     </a:t>
            </a:r>
            <a:r>
              <a:rPr lang="zh-CN" altLang="en-US" sz="2400" dirty="0" smtClean="0"/>
              <a:t>寻址技术就是寻找操作数及其他信息的地址的技术，它是软件和硬件的一个主要分界面。</a:t>
            </a:r>
          </a:p>
          <a:p>
            <a:pPr marL="0" indent="0" eaLnBrk="1" hangingPunct="1">
              <a:lnSpc>
                <a:spcPct val="120000"/>
              </a:lnSpc>
              <a:buClr>
                <a:srgbClr val="FF3300"/>
              </a:buClr>
              <a:buFont typeface="Wingdings" pitchFamily="2" charset="2"/>
              <a:buChar char="Ø"/>
              <a:defRPr/>
            </a:pPr>
            <a:r>
              <a:rPr lang="zh-CN" altLang="en-US" dirty="0" smtClean="0">
                <a:solidFill>
                  <a:srgbClr val="FF3300"/>
                </a:solidFill>
                <a:effectLst>
                  <a:outerShdw blurRad="38100" dist="38100" dir="2700000" algn="tl">
                    <a:srgbClr val="000000"/>
                  </a:outerShdw>
                </a:effectLst>
              </a:rPr>
              <a:t>  对象</a:t>
            </a:r>
          </a:p>
          <a:p>
            <a:pPr marL="0" indent="0" eaLnBrk="1" hangingPunct="1">
              <a:lnSpc>
                <a:spcPct val="120000"/>
              </a:lnSpc>
              <a:buFont typeface="Wingdings" pitchFamily="2" charset="2"/>
              <a:buNone/>
              <a:defRPr/>
            </a:pPr>
            <a:r>
              <a:rPr lang="zh-CN" altLang="en-US" dirty="0" smtClean="0"/>
              <a:t>     </a:t>
            </a:r>
            <a:r>
              <a:rPr lang="zh-CN" altLang="en-US" sz="2400" dirty="0" smtClean="0"/>
              <a:t>寄存器、主存储器、堆栈和输入输出设备。</a:t>
            </a:r>
            <a:r>
              <a:rPr lang="zh-CN" altLang="en-US" dirty="0" smtClean="0"/>
              <a:t>       </a:t>
            </a:r>
          </a:p>
        </p:txBody>
      </p:sp>
      <p:sp>
        <p:nvSpPr>
          <p:cNvPr id="225288" name="Rectangle 8"/>
          <p:cNvSpPr>
            <a:spLocks noGrp="1" noChangeArrowheads="1"/>
          </p:cNvSpPr>
          <p:nvPr>
            <p:ph type="body" sz="half" idx="2"/>
          </p:nvPr>
        </p:nvSpPr>
        <p:spPr>
          <a:xfrm>
            <a:off x="4859338" y="1916113"/>
            <a:ext cx="3903662" cy="4408487"/>
          </a:xfrm>
          <a:solidFill>
            <a:srgbClr val="C0C0C0"/>
          </a:solidFill>
          <a:ln w="57150" cmpd="thickThin">
            <a:solidFill>
              <a:schemeClr val="tx1"/>
            </a:solidFill>
            <a:miter lim="800000"/>
            <a:headEnd/>
            <a:tailEnd/>
          </a:ln>
          <a:effectLst>
            <a:outerShdw dist="35921" dir="2700000" algn="ctr" rotWithShape="0">
              <a:schemeClr val="bg2"/>
            </a:outerShdw>
          </a:effectLst>
        </p:spPr>
        <p:txBody>
          <a:bodyPr/>
          <a:lstStyle/>
          <a:p>
            <a:pPr eaLnBrk="1" hangingPunct="1">
              <a:lnSpc>
                <a:spcPct val="150000"/>
              </a:lnSpc>
              <a:buClr>
                <a:srgbClr val="FF3300"/>
              </a:buClr>
              <a:buFont typeface="Wingdings" pitchFamily="2" charset="2"/>
              <a:buChar char="Ø"/>
              <a:defRPr/>
            </a:pPr>
            <a:r>
              <a:rPr lang="zh-CN" altLang="en-US" dirty="0" smtClean="0">
                <a:solidFill>
                  <a:srgbClr val="FF3300"/>
                </a:solidFill>
                <a:effectLst>
                  <a:outerShdw blurRad="38100" dist="38100" dir="2700000" algn="tl">
                    <a:srgbClr val="000000"/>
                  </a:outerShdw>
                </a:effectLst>
              </a:rPr>
              <a:t> 内容</a:t>
            </a:r>
          </a:p>
          <a:p>
            <a:pPr eaLnBrk="1" hangingPunct="1">
              <a:buFont typeface="Wingdings" pitchFamily="2" charset="2"/>
              <a:buNone/>
              <a:defRPr/>
            </a:pPr>
            <a:endParaRPr lang="zh-CN" altLang="en-US" dirty="0" smtClean="0">
              <a:solidFill>
                <a:srgbClr val="FF3300"/>
              </a:solidFill>
              <a:effectLst>
                <a:outerShdw blurRad="38100" dist="38100" dir="2700000" algn="tl">
                  <a:srgbClr val="000000"/>
                </a:outerShdw>
              </a:effectLst>
            </a:endParaRPr>
          </a:p>
          <a:p>
            <a:pPr eaLnBrk="1" hangingPunct="1">
              <a:buFont typeface="Wingdings" pitchFamily="2" charset="2"/>
              <a:buNone/>
              <a:defRPr/>
            </a:pPr>
            <a:endParaRPr lang="zh-CN" altLang="en-US" dirty="0" smtClean="0">
              <a:solidFill>
                <a:srgbClr val="FF3300"/>
              </a:solidFill>
              <a:effectLst>
                <a:outerShdw blurRad="38100" dist="38100" dir="2700000" algn="tl">
                  <a:srgbClr val="000000"/>
                </a:outerShdw>
              </a:effectLst>
            </a:endParaRPr>
          </a:p>
          <a:p>
            <a:pPr eaLnBrk="1" hangingPunct="1">
              <a:buFont typeface="Wingdings" pitchFamily="2" charset="2"/>
              <a:buNone/>
              <a:defRPr/>
            </a:pPr>
            <a:endParaRPr lang="zh-CN" altLang="en-US" dirty="0" smtClean="0">
              <a:solidFill>
                <a:srgbClr val="FF3300"/>
              </a:solidFill>
              <a:effectLst>
                <a:outerShdw blurRad="38100" dist="38100" dir="2700000" algn="tl">
                  <a:srgbClr val="000000"/>
                </a:outerShdw>
              </a:effectLst>
            </a:endParaRPr>
          </a:p>
          <a:p>
            <a:pPr eaLnBrk="1" hangingPunct="1">
              <a:lnSpc>
                <a:spcPct val="150000"/>
              </a:lnSpc>
              <a:spcBef>
                <a:spcPct val="0"/>
              </a:spcBef>
              <a:buClr>
                <a:srgbClr val="FF3300"/>
              </a:buClr>
              <a:buFont typeface="Wingdings" pitchFamily="2" charset="2"/>
              <a:buChar char="Ø"/>
              <a:defRPr/>
            </a:pPr>
            <a:r>
              <a:rPr lang="zh-CN" altLang="en-US" dirty="0" smtClean="0">
                <a:solidFill>
                  <a:srgbClr val="FF3300"/>
                </a:solidFill>
                <a:effectLst>
                  <a:outerShdw blurRad="38100" dist="38100" dir="2700000" algn="tl">
                    <a:srgbClr val="000000"/>
                  </a:outerShdw>
                </a:effectLst>
              </a:rPr>
              <a:t>方法</a:t>
            </a:r>
          </a:p>
          <a:p>
            <a:pPr eaLnBrk="1" hangingPunct="1">
              <a:buFont typeface="Wingdings" pitchFamily="2" charset="2"/>
              <a:buNone/>
              <a:defRPr/>
            </a:pPr>
            <a:r>
              <a:rPr lang="zh-CN" altLang="en-US" dirty="0" smtClean="0"/>
              <a:t>         </a:t>
            </a:r>
            <a:r>
              <a:rPr lang="zh-CN" altLang="en-US" sz="2400" dirty="0" smtClean="0"/>
              <a:t>分析各种寻址技术的优缺点，如何选择和确定寻址技术。</a:t>
            </a:r>
          </a:p>
        </p:txBody>
      </p:sp>
      <p:sp>
        <p:nvSpPr>
          <p:cNvPr id="3686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36870" name="Text Box 10"/>
          <p:cNvSpPr txBox="1">
            <a:spLocks noChangeArrowheads="1"/>
          </p:cNvSpPr>
          <p:nvPr/>
        </p:nvSpPr>
        <p:spPr bwMode="auto">
          <a:xfrm>
            <a:off x="5795963" y="2781300"/>
            <a:ext cx="1981200" cy="13335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r>
              <a:rPr lang="zh-CN" altLang="en-US" sz="2400">
                <a:latin typeface="楷体_GB2312" pitchFamily="49" charset="-122"/>
              </a:rPr>
              <a:t>  </a:t>
            </a:r>
            <a:r>
              <a:rPr lang="zh-CN" altLang="en-US" sz="2400">
                <a:latin typeface="楷体_GB2312" pitchFamily="49" charset="-122"/>
                <a:hlinkClick r:id="rId4" action="ppaction://hlinksldjump"/>
              </a:rPr>
              <a:t>编址方式</a:t>
            </a:r>
            <a:endParaRPr lang="zh-CN" altLang="en-US" sz="2400">
              <a:latin typeface="楷体_GB2312" pitchFamily="49" charset="-122"/>
            </a:endParaRPr>
          </a:p>
          <a:p>
            <a:pPr eaLnBrk="1" hangingPunct="1"/>
            <a:r>
              <a:rPr lang="zh-CN" altLang="en-US" sz="2400">
                <a:latin typeface="楷体_GB2312" pitchFamily="49" charset="-122"/>
              </a:rPr>
              <a:t>  </a:t>
            </a:r>
            <a:r>
              <a:rPr lang="zh-CN" altLang="en-US" sz="2400">
                <a:latin typeface="楷体_GB2312" pitchFamily="49" charset="-122"/>
                <a:hlinkClick r:id="rId5" action="ppaction://hlinksldjump"/>
              </a:rPr>
              <a:t>寻址方式</a:t>
            </a:r>
            <a:endParaRPr lang="zh-CN" altLang="en-US" sz="2400">
              <a:latin typeface="楷体_GB2312" pitchFamily="49" charset="-122"/>
            </a:endParaRPr>
          </a:p>
          <a:p>
            <a:pPr eaLnBrk="1" hangingPunct="1"/>
            <a:r>
              <a:rPr lang="zh-CN" altLang="en-US" sz="2400">
                <a:latin typeface="楷体_GB2312" pitchFamily="49" charset="-122"/>
              </a:rPr>
              <a:t>  </a:t>
            </a:r>
            <a:r>
              <a:rPr lang="zh-CN" altLang="en-US" sz="2400">
                <a:latin typeface="楷体_GB2312" pitchFamily="49" charset="-122"/>
                <a:hlinkClick r:id="rId6" action="ppaction://hlinksldjump"/>
              </a:rPr>
              <a:t>定位方式</a:t>
            </a:r>
            <a:endParaRPr lang="zh-CN" altLang="en-US" sz="2800">
              <a:latin typeface="楷体_GB2312"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pPr eaLnBrk="1" hangingPunct="1">
              <a:defRPr/>
            </a:pPr>
            <a:r>
              <a:rPr lang="zh-CN" altLang="en-US" smtClean="0"/>
              <a:t>编址方式</a:t>
            </a:r>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endParaRPr lang="zh-CN" altLang="en-US" sz="1200" b="0">
              <a:latin typeface="Times New Roman" pitchFamily="18" charset="0"/>
              <a:ea typeface="幼圆" pitchFamily="49" charset="-122"/>
            </a:endParaRPr>
          </a:p>
        </p:txBody>
      </p:sp>
      <p:sp>
        <p:nvSpPr>
          <p:cNvPr id="37892" name="Rectangle 5"/>
          <p:cNvSpPr>
            <a:spLocks noGrp="1" noChangeArrowheads="1"/>
          </p:cNvSpPr>
          <p:nvPr>
            <p:ph type="body" idx="1"/>
          </p:nvPr>
        </p:nvSpPr>
        <p:spPr>
          <a:xfrm>
            <a:off x="2357438" y="2262188"/>
            <a:ext cx="5110162" cy="4030662"/>
          </a:xfrm>
        </p:spPr>
        <p:txBody>
          <a:bodyPr/>
          <a:lstStyle/>
          <a:p>
            <a:pPr eaLnBrk="1" hangingPunct="1">
              <a:lnSpc>
                <a:spcPct val="150000"/>
              </a:lnSpc>
            </a:pPr>
            <a:r>
              <a:rPr lang="zh-CN" altLang="en-US" smtClean="0">
                <a:hlinkClick r:id="rId5" action="ppaction://hlinksldjump"/>
              </a:rPr>
              <a:t>编址单位</a:t>
            </a:r>
            <a:endParaRPr lang="zh-CN" altLang="en-US" smtClean="0"/>
          </a:p>
          <a:p>
            <a:pPr eaLnBrk="1" hangingPunct="1">
              <a:lnSpc>
                <a:spcPct val="150000"/>
              </a:lnSpc>
            </a:pPr>
            <a:r>
              <a:rPr lang="zh-CN" altLang="en-US" smtClean="0">
                <a:hlinkClick r:id="rId6" action="ppaction://hlinksldjump"/>
              </a:rPr>
              <a:t>零地址空间个数</a:t>
            </a:r>
            <a:endParaRPr lang="zh-CN" altLang="en-US" smtClean="0"/>
          </a:p>
          <a:p>
            <a:pPr eaLnBrk="1" hangingPunct="1">
              <a:lnSpc>
                <a:spcPct val="150000"/>
              </a:lnSpc>
            </a:pPr>
            <a:r>
              <a:rPr lang="en-US" altLang="zh-CN" smtClean="0">
                <a:hlinkClick r:id="rId7" action="ppaction://hlinksldjump"/>
              </a:rPr>
              <a:t>I/O</a:t>
            </a:r>
            <a:r>
              <a:rPr lang="zh-CN" altLang="en-US" smtClean="0">
                <a:hlinkClick r:id="rId7" action="ppaction://hlinksldjump"/>
              </a:rPr>
              <a:t>设备的编址技术</a:t>
            </a:r>
            <a:endParaRPr lang="zh-CN" altLang="en-US" smtClean="0"/>
          </a:p>
          <a:p>
            <a:pPr eaLnBrk="1" hangingPunct="1">
              <a:lnSpc>
                <a:spcPct val="150000"/>
              </a:lnSpc>
            </a:pPr>
            <a:r>
              <a:rPr lang="zh-CN" altLang="en-US" smtClean="0">
                <a:hlinkClick r:id="rId8" action="ppaction://hlinksldjump"/>
              </a:rPr>
              <a:t>并行存储器的编址技术</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pPr eaLnBrk="1" hangingPunct="1">
              <a:defRPr/>
            </a:pPr>
            <a:r>
              <a:rPr lang="zh-CN" altLang="en-US" smtClean="0"/>
              <a:t>编址单位</a:t>
            </a:r>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endParaRPr lang="zh-CN" altLang="en-US" sz="1200" b="0">
              <a:latin typeface="Times New Roman" pitchFamily="18" charset="0"/>
              <a:ea typeface="幼圆" pitchFamily="49" charset="-122"/>
            </a:endParaRPr>
          </a:p>
        </p:txBody>
      </p:sp>
      <p:sp>
        <p:nvSpPr>
          <p:cNvPr id="38916" name="Rectangle 5"/>
          <p:cNvSpPr>
            <a:spLocks noGrp="1" noChangeArrowheads="1"/>
          </p:cNvSpPr>
          <p:nvPr>
            <p:ph type="body" idx="1"/>
          </p:nvPr>
        </p:nvSpPr>
        <p:spPr>
          <a:xfrm>
            <a:off x="2987675" y="2349500"/>
            <a:ext cx="2895600" cy="3325813"/>
          </a:xfrm>
        </p:spPr>
        <p:txBody>
          <a:bodyPr/>
          <a:lstStyle/>
          <a:p>
            <a:pPr eaLnBrk="1" hangingPunct="1">
              <a:lnSpc>
                <a:spcPct val="170000"/>
              </a:lnSpc>
            </a:pPr>
            <a:r>
              <a:rPr lang="zh-CN" altLang="en-US" smtClean="0">
                <a:hlinkClick r:id="rId6" action="ppaction://hlinksldjump"/>
              </a:rPr>
              <a:t>字编址</a:t>
            </a:r>
            <a:endParaRPr lang="zh-CN" altLang="en-US" smtClean="0"/>
          </a:p>
          <a:p>
            <a:pPr eaLnBrk="1" hangingPunct="1">
              <a:lnSpc>
                <a:spcPct val="170000"/>
              </a:lnSpc>
            </a:pPr>
            <a:r>
              <a:rPr lang="zh-CN" altLang="en-US" smtClean="0">
                <a:hlinkClick r:id="rId7" action="ppaction://hlinksldjump"/>
              </a:rPr>
              <a:t>字节编址</a:t>
            </a:r>
            <a:endParaRPr lang="zh-CN" altLang="en-US" smtClean="0"/>
          </a:p>
          <a:p>
            <a:pPr eaLnBrk="1" hangingPunct="1">
              <a:lnSpc>
                <a:spcPct val="170000"/>
              </a:lnSpc>
            </a:pPr>
            <a:r>
              <a:rPr lang="zh-CN" altLang="en-US" smtClean="0">
                <a:hlinkClick r:id="rId8" action="ppaction://hlinksldjump"/>
              </a:rPr>
              <a:t>位编址</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p:txBody>
          <a:bodyPr/>
          <a:lstStyle/>
          <a:p>
            <a:pPr eaLnBrk="1" hangingPunct="1">
              <a:defRPr/>
            </a:pPr>
            <a:r>
              <a:rPr lang="zh-CN" altLang="en-US" smtClean="0"/>
              <a:t>字编址</a:t>
            </a:r>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编址单位</a:t>
            </a:r>
            <a:endParaRPr lang="zh-CN" altLang="en-US" sz="1200" b="0">
              <a:latin typeface="Times New Roman" pitchFamily="18" charset="0"/>
              <a:ea typeface="幼圆" pitchFamily="49" charset="-122"/>
            </a:endParaRPr>
          </a:p>
        </p:txBody>
      </p:sp>
      <p:sp>
        <p:nvSpPr>
          <p:cNvPr id="282629" name="Rectangle 5"/>
          <p:cNvSpPr>
            <a:spLocks noGrp="1" noChangeArrowheads="1"/>
          </p:cNvSpPr>
          <p:nvPr>
            <p:ph type="body" idx="1"/>
          </p:nvPr>
        </p:nvSpPr>
        <p:spPr/>
        <p:txBody>
          <a:bodyPr/>
          <a:lstStyle/>
          <a:p>
            <a:pPr marL="0" indent="0" eaLnBrk="1" hangingPunct="1">
              <a:lnSpc>
                <a:spcPct val="110000"/>
              </a:lnSpc>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方法</a:t>
            </a:r>
          </a:p>
          <a:p>
            <a:pPr marL="0" indent="0" eaLnBrk="1" hangingPunct="1">
              <a:lnSpc>
                <a:spcPct val="110000"/>
              </a:lnSpc>
              <a:buFont typeface="Wingdings" pitchFamily="2" charset="2"/>
              <a:buNone/>
              <a:defRPr/>
            </a:pPr>
            <a:r>
              <a:rPr lang="zh-CN" altLang="en-US" sz="2800" smtClean="0"/>
              <a:t>     </a:t>
            </a:r>
            <a:r>
              <a:rPr lang="zh-CN" altLang="en-US" sz="2400" smtClean="0">
                <a:effectLst>
                  <a:outerShdw blurRad="38100" dist="38100" dir="2700000" algn="tl">
                    <a:srgbClr val="C0C0C0"/>
                  </a:outerShdw>
                </a:effectLst>
              </a:rPr>
              <a:t>每个编址单位与设备的访问单位相一致</a:t>
            </a:r>
            <a:r>
              <a:rPr lang="zh-CN" altLang="en-US" sz="2400" smtClean="0"/>
              <a:t>。即，每个编址单位所包含的信息量（例：二进制位数）与访问一次设备（指读或写）所获得的信息量是相同的。</a:t>
            </a:r>
          </a:p>
          <a:p>
            <a:pPr marL="0" indent="0" eaLnBrk="1" hangingPunct="1">
              <a:lnSpc>
                <a:spcPct val="110000"/>
              </a:lnSpc>
              <a:buClr>
                <a:srgbClr val="FF3300"/>
              </a:buClr>
              <a:buFont typeface="Wingdings" pitchFamily="2" charset="2"/>
              <a:buChar char="Ø"/>
              <a:defRPr/>
            </a:pPr>
            <a:r>
              <a:rPr lang="zh-CN" altLang="en-US" sz="2800" smtClean="0"/>
              <a:t>  </a:t>
            </a:r>
            <a:r>
              <a:rPr lang="zh-CN" altLang="en-US" sz="2800" smtClean="0">
                <a:solidFill>
                  <a:srgbClr val="FF3300"/>
                </a:solidFill>
                <a:effectLst>
                  <a:outerShdw blurRad="38100" dist="38100" dir="2700000" algn="tl">
                    <a:srgbClr val="C0C0C0"/>
                  </a:outerShdw>
                </a:effectLst>
              </a:rPr>
              <a:t>优点</a:t>
            </a:r>
          </a:p>
          <a:p>
            <a:pPr marL="0" indent="0" eaLnBrk="1" hangingPunct="1">
              <a:lnSpc>
                <a:spcPct val="110000"/>
              </a:lnSpc>
              <a:buFont typeface="Wingdings" pitchFamily="2" charset="2"/>
              <a:buNone/>
              <a:defRPr/>
            </a:pPr>
            <a:r>
              <a:rPr lang="zh-CN" altLang="en-US" sz="2400" smtClean="0"/>
              <a:t>      实现很简单，地址信息、存储器容量等没有任何浪费。</a:t>
            </a:r>
          </a:p>
          <a:p>
            <a:pPr marL="0" indent="0" eaLnBrk="1" hangingPunct="1">
              <a:lnSpc>
                <a:spcPct val="110000"/>
              </a:lnSpc>
              <a:buClr>
                <a:srgbClr val="FF3300"/>
              </a:buClr>
              <a:buFont typeface="Wingdings" pitchFamily="2" charset="2"/>
              <a:buChar char="Ø"/>
              <a:defRPr/>
            </a:pPr>
            <a:r>
              <a:rPr lang="zh-CN" altLang="en-US" sz="2800" smtClean="0"/>
              <a:t>  </a:t>
            </a:r>
            <a:r>
              <a:rPr lang="zh-CN" altLang="en-US" sz="2800" smtClean="0">
                <a:solidFill>
                  <a:srgbClr val="FF3300"/>
                </a:solidFill>
                <a:effectLst>
                  <a:outerShdw blurRad="38100" dist="38100" dir="2700000" algn="tl">
                    <a:srgbClr val="C0C0C0"/>
                  </a:outerShdw>
                </a:effectLst>
              </a:rPr>
              <a:t>缺点</a:t>
            </a:r>
          </a:p>
          <a:p>
            <a:pPr marL="0" indent="0" eaLnBrk="1" hangingPunct="1">
              <a:lnSpc>
                <a:spcPct val="110000"/>
              </a:lnSpc>
              <a:buFont typeface="Wingdings" pitchFamily="2" charset="2"/>
              <a:buNone/>
              <a:defRPr/>
            </a:pPr>
            <a:r>
              <a:rPr lang="zh-CN" altLang="en-US" sz="2800" smtClean="0"/>
              <a:t>     </a:t>
            </a:r>
            <a:r>
              <a:rPr lang="zh-CN" altLang="en-US" sz="2400" smtClean="0"/>
              <a:t>没有对非数值计算的应用（要求按字节编址，因为它的基本寻址单位是字节）提供支持。</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pPr eaLnBrk="1" hangingPunct="1">
              <a:defRPr/>
            </a:pPr>
            <a:r>
              <a:rPr lang="zh-CN" altLang="en-US" smtClean="0"/>
              <a:t>字节编址</a:t>
            </a:r>
          </a:p>
        </p:txBody>
      </p:sp>
      <p:sp>
        <p:nvSpPr>
          <p:cNvPr id="283653" name="Rectangle 5"/>
          <p:cNvSpPr>
            <a:spLocks noGrp="1" noChangeArrowheads="1"/>
          </p:cNvSpPr>
          <p:nvPr>
            <p:ph type="body" sz="half" idx="1"/>
          </p:nvPr>
        </p:nvSpPr>
        <p:spPr>
          <a:solidFill>
            <a:srgbClr val="CC99FF"/>
          </a:solidFill>
          <a:ln w="57150" cmpd="thickThin">
            <a:solidFill>
              <a:schemeClr val="tx1"/>
            </a:solidFill>
            <a:miter lim="800000"/>
            <a:headEnd/>
            <a:tailEnd/>
          </a:ln>
        </p:spPr>
        <p:txBody>
          <a:bodyPr/>
          <a:lstStyle/>
          <a:p>
            <a:pPr marL="0" indent="0" eaLnBrk="1" hangingPunct="1">
              <a:lnSpc>
                <a:spcPct val="120000"/>
              </a:lnSpc>
              <a:buClr>
                <a:srgbClr val="FF3300"/>
              </a:buClr>
              <a:defRPr/>
            </a:pPr>
            <a:r>
              <a:rPr lang="zh-CN" altLang="en-US" smtClean="0">
                <a:solidFill>
                  <a:srgbClr val="FF3300"/>
                </a:solidFill>
                <a:effectLst>
                  <a:outerShdw blurRad="38100" dist="38100" dir="2700000" algn="tl">
                    <a:srgbClr val="000000"/>
                  </a:outerShdw>
                </a:effectLst>
              </a:rPr>
              <a:t>  方法</a:t>
            </a:r>
          </a:p>
          <a:p>
            <a:pPr marL="0" indent="0" eaLnBrk="1" hangingPunct="1">
              <a:lnSpc>
                <a:spcPct val="120000"/>
              </a:lnSpc>
              <a:buFont typeface="Wingdings" pitchFamily="2" charset="2"/>
              <a:buNone/>
              <a:defRPr/>
            </a:pPr>
            <a:r>
              <a:rPr lang="zh-CN" altLang="en-US" sz="2400" smtClean="0"/>
              <a:t>     每个编址单位是字节。</a:t>
            </a:r>
          </a:p>
          <a:p>
            <a:pPr marL="0" indent="0" eaLnBrk="1" hangingPunct="1">
              <a:lnSpc>
                <a:spcPct val="120000"/>
              </a:lnSpc>
              <a:buClr>
                <a:srgbClr val="FF3300"/>
              </a:buClr>
              <a:defRPr/>
            </a:pPr>
            <a:r>
              <a:rPr lang="zh-CN" altLang="en-US" smtClean="0"/>
              <a:t>  </a:t>
            </a:r>
            <a:r>
              <a:rPr lang="zh-CN" altLang="en-US" smtClean="0">
                <a:solidFill>
                  <a:srgbClr val="FF3300"/>
                </a:solidFill>
                <a:effectLst>
                  <a:outerShdw blurRad="38100" dist="38100" dir="2700000" algn="tl">
                    <a:srgbClr val="000000"/>
                  </a:outerShdw>
                </a:effectLst>
              </a:rPr>
              <a:t>优点</a:t>
            </a:r>
          </a:p>
          <a:p>
            <a:pPr marL="0" indent="0" eaLnBrk="1" hangingPunct="1">
              <a:lnSpc>
                <a:spcPct val="120000"/>
              </a:lnSpc>
              <a:buFont typeface="Wingdings" pitchFamily="2" charset="2"/>
              <a:buNone/>
              <a:defRPr/>
            </a:pPr>
            <a:r>
              <a:rPr lang="zh-CN" altLang="en-US" sz="2400" smtClean="0"/>
              <a:t>     编址单位与信息的基本单位（一个字节）相一致。</a:t>
            </a:r>
          </a:p>
          <a:p>
            <a:pPr marL="0" indent="0" eaLnBrk="1" hangingPunct="1">
              <a:lnSpc>
                <a:spcPct val="120000"/>
              </a:lnSpc>
              <a:buClr>
                <a:srgbClr val="FF3300"/>
              </a:buClr>
              <a:defRPr/>
            </a:pPr>
            <a:r>
              <a:rPr lang="zh-CN" altLang="en-US" smtClean="0"/>
              <a:t>  </a:t>
            </a:r>
            <a:r>
              <a:rPr lang="zh-CN" altLang="en-US" smtClean="0">
                <a:solidFill>
                  <a:srgbClr val="FF3300"/>
                </a:solidFill>
                <a:effectLst>
                  <a:outerShdw blurRad="38100" dist="38100" dir="2700000" algn="tl">
                    <a:srgbClr val="000000"/>
                  </a:outerShdw>
                </a:effectLst>
              </a:rPr>
              <a:t>缺点</a:t>
            </a:r>
          </a:p>
          <a:p>
            <a:pPr marL="0" indent="0" eaLnBrk="1" hangingPunct="1">
              <a:lnSpc>
                <a:spcPct val="120000"/>
              </a:lnSpc>
              <a:buFont typeface="Wingdings" pitchFamily="2" charset="2"/>
              <a:buNone/>
              <a:defRPr/>
            </a:pPr>
            <a:r>
              <a:rPr lang="zh-CN" altLang="en-US" sz="2400" smtClean="0"/>
              <a:t>     地址空间的浪费。</a:t>
            </a:r>
          </a:p>
        </p:txBody>
      </p:sp>
      <p:sp>
        <p:nvSpPr>
          <p:cNvPr id="283654" name="Rectangle 6"/>
          <p:cNvSpPr>
            <a:spLocks noGrp="1" noChangeArrowheads="1"/>
          </p:cNvSpPr>
          <p:nvPr>
            <p:ph type="body" sz="half" idx="2"/>
          </p:nvPr>
        </p:nvSpPr>
        <p:spPr>
          <a:solidFill>
            <a:srgbClr val="FFFF00"/>
          </a:solidFill>
          <a:ln w="57150" cmpd="thickThin">
            <a:solidFill>
              <a:schemeClr val="tx1"/>
            </a:solidFill>
            <a:miter lim="800000"/>
            <a:headEnd/>
            <a:tailEnd/>
          </a:ln>
        </p:spPr>
        <p:txBody>
          <a:bodyPr/>
          <a:lstStyle/>
          <a:p>
            <a:pPr marL="0" indent="0" eaLnBrk="1" hangingPunct="1">
              <a:lnSpc>
                <a:spcPct val="105000"/>
              </a:lnSpc>
              <a:buClr>
                <a:srgbClr val="FF3300"/>
              </a:buClr>
              <a:buFont typeface="Wingdings" pitchFamily="2" charset="2"/>
              <a:buChar char="Ø"/>
              <a:defRPr/>
            </a:pPr>
            <a:r>
              <a:rPr lang="zh-CN" altLang="en-US" smtClean="0"/>
              <a:t>  </a:t>
            </a:r>
            <a:r>
              <a:rPr lang="zh-CN" altLang="en-US" smtClean="0">
                <a:solidFill>
                  <a:srgbClr val="FF3300"/>
                </a:solidFill>
                <a:effectLst>
                  <a:outerShdw blurRad="38100" dist="38100" dir="2700000" algn="tl">
                    <a:srgbClr val="000000"/>
                  </a:outerShdw>
                </a:effectLst>
              </a:rPr>
              <a:t>问题</a:t>
            </a:r>
          </a:p>
          <a:p>
            <a:pPr marL="0" indent="0" eaLnBrk="1" hangingPunct="1">
              <a:lnSpc>
                <a:spcPct val="105000"/>
              </a:lnSpc>
              <a:buFont typeface="Wingdings" pitchFamily="2" charset="2"/>
              <a:buNone/>
              <a:defRPr/>
            </a:pPr>
            <a:r>
              <a:rPr lang="zh-CN" altLang="en-US" sz="2400" smtClean="0"/>
              <a:t>      因为每个编址单位所包含的信息量（一个字节）与访问一次设备所获得的信息量（通常是一个字：字节的4倍以上）不相同，从而就产生了数据如何在存储器里存放的问题。</a:t>
            </a:r>
          </a:p>
          <a:p>
            <a:pPr marL="0" indent="0" eaLnBrk="1" hangingPunct="1">
              <a:lnSpc>
                <a:spcPct val="105000"/>
              </a:lnSpc>
              <a:buClr>
                <a:srgbClr val="FF3300"/>
              </a:buClr>
              <a:buFont typeface="Wingdings" pitchFamily="2" charset="2"/>
              <a:buChar char="Ø"/>
              <a:defRPr/>
            </a:pPr>
            <a:r>
              <a:rPr lang="zh-CN" altLang="en-US" smtClean="0"/>
              <a:t>  </a:t>
            </a:r>
            <a:r>
              <a:rPr lang="zh-CN" altLang="en-US" smtClean="0">
                <a:solidFill>
                  <a:srgbClr val="FF3300"/>
                </a:solidFill>
                <a:effectLst>
                  <a:outerShdw blurRad="38100" dist="38100" dir="2700000" algn="tl">
                    <a:srgbClr val="000000"/>
                  </a:outerShdw>
                </a:effectLst>
              </a:rPr>
              <a:t>解决</a:t>
            </a:r>
          </a:p>
          <a:p>
            <a:pPr marL="0" indent="0" eaLnBrk="1" hangingPunct="1">
              <a:lnSpc>
                <a:spcPct val="105000"/>
              </a:lnSpc>
              <a:buFont typeface="Wingdings" pitchFamily="2" charset="2"/>
              <a:buNone/>
              <a:defRPr/>
            </a:pPr>
            <a:r>
              <a:rPr lang="zh-CN" altLang="en-US" sz="2400" smtClean="0"/>
              <a:t>     有三种：（</a:t>
            </a:r>
            <a:r>
              <a:rPr lang="zh-CN" altLang="en-US" sz="2400" smtClean="0">
                <a:hlinkClick r:id="rId3" action="ppaction://hlinksldjump"/>
              </a:rPr>
              <a:t>1</a:t>
            </a:r>
            <a:r>
              <a:rPr lang="zh-CN" altLang="en-US" sz="2400" smtClean="0"/>
              <a:t>、</a:t>
            </a:r>
            <a:r>
              <a:rPr lang="zh-CN" altLang="en-US" sz="2400" smtClean="0">
                <a:hlinkClick r:id="rId4" action="ppaction://hlinksldjump"/>
              </a:rPr>
              <a:t>2</a:t>
            </a:r>
            <a:r>
              <a:rPr lang="zh-CN" altLang="en-US" sz="2400" smtClean="0"/>
              <a:t>、</a:t>
            </a:r>
            <a:r>
              <a:rPr lang="zh-CN" altLang="en-US" sz="2400" smtClean="0">
                <a:hlinkClick r:id="rId5" action="ppaction://hlinksldjump"/>
              </a:rPr>
              <a:t>3</a:t>
            </a:r>
            <a:r>
              <a:rPr lang="zh-CN" altLang="en-US" sz="2400" smtClean="0"/>
              <a:t>）</a:t>
            </a:r>
          </a:p>
        </p:txBody>
      </p:sp>
      <p:sp>
        <p:nvSpPr>
          <p:cNvPr id="4096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6"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8" action="ppaction://hlinksldjump"/>
              </a:rPr>
              <a:t>编址方式</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9" action="ppaction://hlinksldjump"/>
              </a:rPr>
              <a:t>编址单位</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p:txBody>
          <a:bodyPr/>
          <a:lstStyle/>
          <a:p>
            <a:pPr eaLnBrk="1" hangingPunct="1">
              <a:defRPr/>
            </a:pPr>
            <a:r>
              <a:rPr lang="zh-CN" altLang="en-US" smtClean="0"/>
              <a:t>从任意位置开始存储</a:t>
            </a:r>
          </a:p>
        </p:txBody>
      </p:sp>
      <p:sp>
        <p:nvSpPr>
          <p:cNvPr id="286723" name="Rectangle 3"/>
          <p:cNvSpPr>
            <a:spLocks noGrp="1" noChangeArrowheads="1"/>
          </p:cNvSpPr>
          <p:nvPr>
            <p:ph type="body" sz="half" idx="2"/>
          </p:nvPr>
        </p:nvSpPr>
        <p:spPr>
          <a:xfrm>
            <a:off x="1763713" y="5013325"/>
            <a:ext cx="3657600" cy="1143000"/>
          </a:xfrm>
          <a:solidFill>
            <a:srgbClr val="CC99FF"/>
          </a:solidFill>
          <a:ln w="57150" cmpd="thickThin">
            <a:solidFill>
              <a:schemeClr val="tx1"/>
            </a:solidFill>
            <a:miter lim="800000"/>
            <a:headEnd/>
            <a:tailEnd/>
          </a:ln>
        </p:spPr>
        <p:txBody>
          <a:bodyPr/>
          <a:lstStyle/>
          <a:p>
            <a:pPr marL="0" indent="0" eaLnBrk="1" hangingPunct="1">
              <a:lnSpc>
                <a:spcPct val="150000"/>
              </a:lnSpc>
              <a:buClr>
                <a:srgbClr val="FF3300"/>
              </a:buClr>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优点</a:t>
            </a:r>
            <a:endParaRPr lang="en-US" altLang="zh-CN" sz="2400" smtClean="0">
              <a:solidFill>
                <a:srgbClr val="FF3300"/>
              </a:solidFill>
              <a:effectLst>
                <a:outerShdw blurRad="38100" dist="38100" dir="2700000" algn="tl">
                  <a:srgbClr val="000000"/>
                </a:outerShdw>
              </a:effectLst>
            </a:endParaRPr>
          </a:p>
          <a:p>
            <a:pPr marL="0" indent="0" eaLnBrk="1" hangingPunct="1">
              <a:buFont typeface="Wingdings" pitchFamily="2" charset="2"/>
              <a:buNone/>
              <a:defRPr/>
            </a:pPr>
            <a:r>
              <a:rPr lang="zh-CN" altLang="en-US" sz="2400" smtClean="0"/>
              <a:t>     不浪费存储器资源。</a:t>
            </a:r>
          </a:p>
        </p:txBody>
      </p:sp>
      <p:sp>
        <p:nvSpPr>
          <p:cNvPr id="4198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编址单位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字节编址</a:t>
            </a:r>
            <a:endParaRPr lang="zh-CN" altLang="en-US" sz="1200" b="0">
              <a:latin typeface="Times New Roman" pitchFamily="18" charset="0"/>
              <a:ea typeface="幼圆" pitchFamily="49" charset="-122"/>
            </a:endParaRPr>
          </a:p>
        </p:txBody>
      </p:sp>
      <p:sp>
        <p:nvSpPr>
          <p:cNvPr id="286725" name="Rectangle 5"/>
          <p:cNvSpPr>
            <a:spLocks noChangeArrowheads="1"/>
          </p:cNvSpPr>
          <p:nvPr/>
        </p:nvSpPr>
        <p:spPr bwMode="auto">
          <a:xfrm>
            <a:off x="6553200" y="2065338"/>
            <a:ext cx="2362200" cy="4114800"/>
          </a:xfrm>
          <a:prstGeom prst="rect">
            <a:avLst/>
          </a:prstGeom>
          <a:solidFill>
            <a:srgbClr val="FFCC99"/>
          </a:solidFill>
          <a:ln w="57150"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lstStyle>
            <a:lvl1pPr>
              <a:spcBef>
                <a:spcPct val="0"/>
              </a:spcBef>
              <a:defRPr kumimoji="1" sz="2400">
                <a:solidFill>
                  <a:schemeClr val="tx1"/>
                </a:solidFill>
                <a:latin typeface="Times New Roman" pitchFamily="18" charset="0"/>
                <a:ea typeface="宋体" pitchFamily="2" charset="-122"/>
              </a:defRPr>
            </a:lvl1pPr>
            <a:lvl2pPr marL="765175" indent="-285750">
              <a:spcBef>
                <a:spcPct val="0"/>
              </a:spcBef>
              <a:defRPr kumimoji="1" sz="2400">
                <a:solidFill>
                  <a:schemeClr val="tx1"/>
                </a:solidFill>
                <a:latin typeface="Times New Roman" pitchFamily="18" charset="0"/>
                <a:ea typeface="宋体" pitchFamily="2" charset="-122"/>
              </a:defRPr>
            </a:lvl2pPr>
            <a:lvl3pPr marL="1184275" indent="-228600">
              <a:spcBef>
                <a:spcPct val="0"/>
              </a:spcBef>
              <a:defRPr kumimoji="1" sz="2400">
                <a:solidFill>
                  <a:schemeClr val="tx1"/>
                </a:solidFill>
                <a:latin typeface="Times New Roman" pitchFamily="18" charset="0"/>
                <a:ea typeface="宋体" pitchFamily="2" charset="-122"/>
              </a:defRPr>
            </a:lvl3pPr>
            <a:lvl4pPr marL="1603375" indent="-228600">
              <a:spcBef>
                <a:spcPct val="0"/>
              </a:spcBef>
              <a:defRPr kumimoji="1" sz="2400">
                <a:solidFill>
                  <a:schemeClr val="tx1"/>
                </a:solidFill>
                <a:latin typeface="Times New Roman" pitchFamily="18" charset="0"/>
                <a:ea typeface="宋体" pitchFamily="2" charset="-122"/>
              </a:defRPr>
            </a:lvl4pPr>
            <a:lvl5pPr marL="2022475" indent="-228600">
              <a:spcBef>
                <a:spcPct val="0"/>
              </a:spcBef>
              <a:defRPr kumimoji="1" sz="2400">
                <a:solidFill>
                  <a:schemeClr val="tx1"/>
                </a:solidFill>
                <a:latin typeface="Times New Roman" pitchFamily="18" charset="0"/>
                <a:ea typeface="宋体" pitchFamily="2" charset="-122"/>
              </a:defRPr>
            </a:lvl5pPr>
            <a:lvl6pPr marL="2479675" indent="-228600" fontAlgn="base">
              <a:spcBef>
                <a:spcPct val="0"/>
              </a:spcBef>
              <a:spcAft>
                <a:spcPct val="0"/>
              </a:spcAft>
              <a:defRPr kumimoji="1" sz="2400">
                <a:solidFill>
                  <a:schemeClr val="tx1"/>
                </a:solidFill>
                <a:latin typeface="Times New Roman" pitchFamily="18" charset="0"/>
                <a:ea typeface="宋体" pitchFamily="2" charset="-122"/>
              </a:defRPr>
            </a:lvl6pPr>
            <a:lvl7pPr marL="2936875" indent="-228600" fontAlgn="base">
              <a:spcBef>
                <a:spcPct val="0"/>
              </a:spcBef>
              <a:spcAft>
                <a:spcPct val="0"/>
              </a:spcAft>
              <a:defRPr kumimoji="1" sz="2400">
                <a:solidFill>
                  <a:schemeClr val="tx1"/>
                </a:solidFill>
                <a:latin typeface="Times New Roman" pitchFamily="18" charset="0"/>
                <a:ea typeface="宋体" pitchFamily="2" charset="-122"/>
              </a:defRPr>
            </a:lvl7pPr>
            <a:lvl8pPr marL="3394075" indent="-228600" fontAlgn="base">
              <a:spcBef>
                <a:spcPct val="0"/>
              </a:spcBef>
              <a:spcAft>
                <a:spcPct val="0"/>
              </a:spcAft>
              <a:defRPr kumimoji="1" sz="2400">
                <a:solidFill>
                  <a:schemeClr val="tx1"/>
                </a:solidFill>
                <a:latin typeface="Times New Roman" pitchFamily="18" charset="0"/>
                <a:ea typeface="宋体" pitchFamily="2" charset="-122"/>
              </a:defRPr>
            </a:lvl8pPr>
            <a:lvl9pPr marL="385127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50000"/>
              </a:lnSpc>
              <a:spcBef>
                <a:spcPct val="20000"/>
              </a:spcBef>
              <a:buClr>
                <a:srgbClr val="FF3300"/>
              </a:buClr>
              <a:buFont typeface="Wingdings" pitchFamily="2" charset="2"/>
              <a:buChar char="Ø"/>
              <a:defRPr/>
            </a:pPr>
            <a:r>
              <a:rPr lang="zh-CN" altLang="en-US" b="1" smtClean="0">
                <a:solidFill>
                  <a:srgbClr val="FF3300"/>
                </a:solidFill>
                <a:effectLst>
                  <a:outerShdw blurRad="38100" dist="38100" dir="2700000" algn="tl">
                    <a:srgbClr val="000000"/>
                  </a:outerShdw>
                </a:effectLst>
                <a:latin typeface="楷体_GB2312" pitchFamily="49" charset="-122"/>
                <a:ea typeface="楷体_GB2312" pitchFamily="49" charset="-122"/>
              </a:rPr>
              <a:t> 缺点</a:t>
            </a:r>
          </a:p>
          <a:p>
            <a:pPr lvl="1">
              <a:lnSpc>
                <a:spcPct val="90000"/>
              </a:lnSpc>
              <a:spcBef>
                <a:spcPct val="20000"/>
              </a:spcBef>
              <a:buSzPct val="55000"/>
              <a:buFont typeface="Wingdings" pitchFamily="2" charset="2"/>
              <a:buChar char="n"/>
              <a:defRPr/>
            </a:pPr>
            <a:r>
              <a:rPr lang="zh-CN" altLang="en-US" b="1" smtClean="0">
                <a:latin typeface="楷体_GB2312" pitchFamily="49" charset="-122"/>
                <a:ea typeface="楷体_GB2312" pitchFamily="49" charset="-122"/>
              </a:rPr>
              <a:t>增加读取时间（可能需要两个存储周期）</a:t>
            </a:r>
          </a:p>
          <a:p>
            <a:pPr lvl="1">
              <a:lnSpc>
                <a:spcPct val="90000"/>
              </a:lnSpc>
              <a:spcBef>
                <a:spcPct val="20000"/>
              </a:spcBef>
              <a:buSzPct val="55000"/>
              <a:buFont typeface="Wingdings" pitchFamily="2" charset="2"/>
              <a:buChar char="n"/>
              <a:defRPr/>
            </a:pPr>
            <a:r>
              <a:rPr lang="zh-CN" altLang="en-US" b="1" smtClean="0">
                <a:latin typeface="楷体_GB2312" pitchFamily="49" charset="-122"/>
                <a:ea typeface="楷体_GB2312" pitchFamily="49" charset="-122"/>
              </a:rPr>
              <a:t>存储器的读写控制比较复杂</a:t>
            </a:r>
          </a:p>
        </p:txBody>
      </p:sp>
      <p:sp>
        <p:nvSpPr>
          <p:cNvPr id="41990" name="Rectangle 7"/>
          <p:cNvSpPr>
            <a:spLocks noChangeArrowheads="1"/>
          </p:cNvSpPr>
          <p:nvPr/>
        </p:nvSpPr>
        <p:spPr bwMode="auto">
          <a:xfrm>
            <a:off x="5648325" y="410368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1" name="Rectangle 8"/>
          <p:cNvSpPr>
            <a:spLocks noChangeArrowheads="1"/>
          </p:cNvSpPr>
          <p:nvPr/>
        </p:nvSpPr>
        <p:spPr bwMode="auto">
          <a:xfrm>
            <a:off x="4972050" y="410368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2" name="Rectangle 9"/>
          <p:cNvSpPr>
            <a:spLocks noChangeArrowheads="1"/>
          </p:cNvSpPr>
          <p:nvPr/>
        </p:nvSpPr>
        <p:spPr bwMode="auto">
          <a:xfrm>
            <a:off x="4295775" y="410368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3" name="Rectangle 10"/>
          <p:cNvSpPr>
            <a:spLocks noChangeArrowheads="1"/>
          </p:cNvSpPr>
          <p:nvPr/>
        </p:nvSpPr>
        <p:spPr bwMode="auto">
          <a:xfrm>
            <a:off x="3619500" y="410368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4" name="Rectangle 11"/>
          <p:cNvSpPr>
            <a:spLocks noChangeArrowheads="1"/>
          </p:cNvSpPr>
          <p:nvPr/>
        </p:nvSpPr>
        <p:spPr bwMode="auto">
          <a:xfrm>
            <a:off x="2943225" y="410368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5" name="Rectangle 12"/>
          <p:cNvSpPr>
            <a:spLocks noChangeArrowheads="1"/>
          </p:cNvSpPr>
          <p:nvPr/>
        </p:nvSpPr>
        <p:spPr bwMode="auto">
          <a:xfrm>
            <a:off x="2266950" y="410368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6" name="Rectangle 13"/>
          <p:cNvSpPr>
            <a:spLocks noChangeArrowheads="1"/>
          </p:cNvSpPr>
          <p:nvPr/>
        </p:nvSpPr>
        <p:spPr bwMode="auto">
          <a:xfrm>
            <a:off x="1590675" y="410368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7" name="Rectangle 14"/>
          <p:cNvSpPr>
            <a:spLocks noChangeArrowheads="1"/>
          </p:cNvSpPr>
          <p:nvPr/>
        </p:nvSpPr>
        <p:spPr bwMode="auto">
          <a:xfrm>
            <a:off x="914400" y="410368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8" name="Rectangle 15"/>
          <p:cNvSpPr>
            <a:spLocks noChangeArrowheads="1"/>
          </p:cNvSpPr>
          <p:nvPr/>
        </p:nvSpPr>
        <p:spPr bwMode="auto">
          <a:xfrm>
            <a:off x="5648325" y="3708400"/>
            <a:ext cx="6762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1999" name="Rectangle 16"/>
          <p:cNvSpPr>
            <a:spLocks noChangeArrowheads="1"/>
          </p:cNvSpPr>
          <p:nvPr/>
        </p:nvSpPr>
        <p:spPr bwMode="auto">
          <a:xfrm>
            <a:off x="4972050" y="3708400"/>
            <a:ext cx="6762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2000" name="Rectangle 17"/>
          <p:cNvSpPr>
            <a:spLocks noChangeArrowheads="1"/>
          </p:cNvSpPr>
          <p:nvPr/>
        </p:nvSpPr>
        <p:spPr bwMode="auto">
          <a:xfrm>
            <a:off x="4295775" y="3708400"/>
            <a:ext cx="6762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2001" name="Rectangle 18"/>
          <p:cNvSpPr>
            <a:spLocks noChangeArrowheads="1"/>
          </p:cNvSpPr>
          <p:nvPr/>
        </p:nvSpPr>
        <p:spPr bwMode="auto">
          <a:xfrm>
            <a:off x="3619500" y="3708400"/>
            <a:ext cx="6762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2002" name="Rectangle 19"/>
          <p:cNvSpPr>
            <a:spLocks noChangeArrowheads="1"/>
          </p:cNvSpPr>
          <p:nvPr/>
        </p:nvSpPr>
        <p:spPr bwMode="auto">
          <a:xfrm>
            <a:off x="2943225" y="3708400"/>
            <a:ext cx="6762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2003" name="Rectangle 20"/>
          <p:cNvSpPr>
            <a:spLocks noChangeArrowheads="1"/>
          </p:cNvSpPr>
          <p:nvPr/>
        </p:nvSpPr>
        <p:spPr bwMode="auto">
          <a:xfrm>
            <a:off x="2266950" y="3708400"/>
            <a:ext cx="6762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endParaRPr lang="zh-CN" altLang="en-US" sz="2000">
              <a:latin typeface="楷体_GB2312" pitchFamily="49" charset="-122"/>
            </a:endParaRPr>
          </a:p>
        </p:txBody>
      </p:sp>
      <p:sp>
        <p:nvSpPr>
          <p:cNvPr id="42004" name="Rectangle 21"/>
          <p:cNvSpPr>
            <a:spLocks noChangeArrowheads="1"/>
          </p:cNvSpPr>
          <p:nvPr/>
        </p:nvSpPr>
        <p:spPr bwMode="auto">
          <a:xfrm>
            <a:off x="914400" y="3708400"/>
            <a:ext cx="1352550" cy="395288"/>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字</a:t>
            </a:r>
          </a:p>
        </p:txBody>
      </p:sp>
      <p:sp>
        <p:nvSpPr>
          <p:cNvPr id="42005" name="Rectangle 22"/>
          <p:cNvSpPr>
            <a:spLocks noChangeArrowheads="1"/>
          </p:cNvSpPr>
          <p:nvPr/>
        </p:nvSpPr>
        <p:spPr bwMode="auto">
          <a:xfrm>
            <a:off x="4972050" y="3313113"/>
            <a:ext cx="1352550" cy="395287"/>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单-</a:t>
            </a:r>
          </a:p>
        </p:txBody>
      </p:sp>
      <p:sp>
        <p:nvSpPr>
          <p:cNvPr id="42006" name="Rectangle 23"/>
          <p:cNvSpPr>
            <a:spLocks noChangeArrowheads="1"/>
          </p:cNvSpPr>
          <p:nvPr/>
        </p:nvSpPr>
        <p:spPr bwMode="auto">
          <a:xfrm>
            <a:off x="4295775" y="3313113"/>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字节</a:t>
            </a:r>
          </a:p>
        </p:txBody>
      </p:sp>
      <p:sp>
        <p:nvSpPr>
          <p:cNvPr id="42007" name="Rectangle 24"/>
          <p:cNvSpPr>
            <a:spLocks noChangeArrowheads="1"/>
          </p:cNvSpPr>
          <p:nvPr/>
        </p:nvSpPr>
        <p:spPr bwMode="auto">
          <a:xfrm>
            <a:off x="1590675" y="3313113"/>
            <a:ext cx="270510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单字</a:t>
            </a:r>
          </a:p>
        </p:txBody>
      </p:sp>
      <p:sp>
        <p:nvSpPr>
          <p:cNvPr id="42008" name="Rectangle 25"/>
          <p:cNvSpPr>
            <a:spLocks noChangeArrowheads="1"/>
          </p:cNvSpPr>
          <p:nvPr/>
        </p:nvSpPr>
        <p:spPr bwMode="auto">
          <a:xfrm>
            <a:off x="914400" y="3313113"/>
            <a:ext cx="676275" cy="39528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字</a:t>
            </a:r>
          </a:p>
        </p:txBody>
      </p:sp>
      <p:sp>
        <p:nvSpPr>
          <p:cNvPr id="42009" name="Rectangle 26"/>
          <p:cNvSpPr>
            <a:spLocks noChangeArrowheads="1"/>
          </p:cNvSpPr>
          <p:nvPr/>
        </p:nvSpPr>
        <p:spPr bwMode="auto">
          <a:xfrm>
            <a:off x="5648325" y="2917825"/>
            <a:ext cx="676275" cy="39528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半-</a:t>
            </a:r>
          </a:p>
        </p:txBody>
      </p:sp>
      <p:sp>
        <p:nvSpPr>
          <p:cNvPr id="42010" name="Rectangle 27"/>
          <p:cNvSpPr>
            <a:spLocks noChangeArrowheads="1"/>
          </p:cNvSpPr>
          <p:nvPr/>
        </p:nvSpPr>
        <p:spPr bwMode="auto">
          <a:xfrm>
            <a:off x="2943225" y="2917825"/>
            <a:ext cx="270510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单字</a:t>
            </a:r>
          </a:p>
        </p:txBody>
      </p:sp>
      <p:sp>
        <p:nvSpPr>
          <p:cNvPr id="42011" name="Rectangle 28"/>
          <p:cNvSpPr>
            <a:spLocks noChangeArrowheads="1"/>
          </p:cNvSpPr>
          <p:nvPr/>
        </p:nvSpPr>
        <p:spPr bwMode="auto">
          <a:xfrm>
            <a:off x="914400" y="2917825"/>
            <a:ext cx="2028825" cy="39528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字</a:t>
            </a:r>
          </a:p>
        </p:txBody>
      </p:sp>
      <p:sp>
        <p:nvSpPr>
          <p:cNvPr id="42012" name="Rectangle 29"/>
          <p:cNvSpPr>
            <a:spLocks noChangeArrowheads="1"/>
          </p:cNvSpPr>
          <p:nvPr/>
        </p:nvSpPr>
        <p:spPr bwMode="auto">
          <a:xfrm>
            <a:off x="2943225" y="2522538"/>
            <a:ext cx="3381375" cy="39528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双-</a:t>
            </a:r>
          </a:p>
        </p:txBody>
      </p:sp>
      <p:sp>
        <p:nvSpPr>
          <p:cNvPr id="42013" name="Rectangle 30"/>
          <p:cNvSpPr>
            <a:spLocks noChangeArrowheads="1"/>
          </p:cNvSpPr>
          <p:nvPr/>
        </p:nvSpPr>
        <p:spPr bwMode="auto">
          <a:xfrm>
            <a:off x="1590675" y="2522538"/>
            <a:ext cx="13525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半字</a:t>
            </a:r>
          </a:p>
        </p:txBody>
      </p:sp>
      <p:sp>
        <p:nvSpPr>
          <p:cNvPr id="42014" name="Rectangle 31"/>
          <p:cNvSpPr>
            <a:spLocks noChangeArrowheads="1"/>
          </p:cNvSpPr>
          <p:nvPr/>
        </p:nvSpPr>
        <p:spPr bwMode="auto">
          <a:xfrm>
            <a:off x="914400" y="2522538"/>
            <a:ext cx="67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857250" indent="-228600" eaLnBrk="0" hangingPunct="0">
              <a:buSzPct val="65000"/>
              <a:buChar char="l"/>
              <a:defRPr kumimoji="1" sz="2400" b="1">
                <a:solidFill>
                  <a:schemeClr val="tx1"/>
                </a:solidFill>
                <a:latin typeface="Arial" charset="0"/>
                <a:ea typeface="楷体_GB2312" pitchFamily="49" charset="-122"/>
              </a:defRPr>
            </a:lvl3pPr>
            <a:lvl4pPr marL="1200150" indent="-228600" eaLnBrk="0" hangingPunct="0">
              <a:buSzPct val="85000"/>
              <a:buChar char="w"/>
              <a:defRPr kumimoji="1" sz="2000" b="1">
                <a:solidFill>
                  <a:schemeClr val="tx1"/>
                </a:solidFill>
                <a:latin typeface="Arial" charset="0"/>
                <a:ea typeface="楷体_GB2312" pitchFamily="49" charset="-122"/>
              </a:defRPr>
            </a:lvl4pPr>
            <a:lvl5pPr marL="1543050" indent="-228600" eaLnBrk="0" hangingPunct="0">
              <a:buSzPct val="80000"/>
              <a:buChar char="§"/>
              <a:defRPr kumimoji="1" b="1">
                <a:solidFill>
                  <a:schemeClr val="tx1"/>
                </a:solidFill>
                <a:latin typeface="Arial"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latin typeface="楷体_GB2312" pitchFamily="49" charset="-122"/>
              </a:rPr>
              <a:t>字节</a:t>
            </a:r>
          </a:p>
        </p:txBody>
      </p:sp>
      <p:sp>
        <p:nvSpPr>
          <p:cNvPr id="42015" name="Line 32"/>
          <p:cNvSpPr>
            <a:spLocks noChangeShapeType="1"/>
          </p:cNvSpPr>
          <p:nvPr/>
        </p:nvSpPr>
        <p:spPr bwMode="auto">
          <a:xfrm>
            <a:off x="914400" y="2917825"/>
            <a:ext cx="5410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16" name="Line 33"/>
          <p:cNvSpPr>
            <a:spLocks noChangeShapeType="1"/>
          </p:cNvSpPr>
          <p:nvPr/>
        </p:nvSpPr>
        <p:spPr bwMode="auto">
          <a:xfrm>
            <a:off x="914400" y="3313113"/>
            <a:ext cx="5410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17" name="Line 34"/>
          <p:cNvSpPr>
            <a:spLocks noChangeShapeType="1"/>
          </p:cNvSpPr>
          <p:nvPr/>
        </p:nvSpPr>
        <p:spPr bwMode="auto">
          <a:xfrm>
            <a:off x="914400" y="3708400"/>
            <a:ext cx="5410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18" name="Line 35"/>
          <p:cNvSpPr>
            <a:spLocks noChangeShapeType="1"/>
          </p:cNvSpPr>
          <p:nvPr/>
        </p:nvSpPr>
        <p:spPr bwMode="auto">
          <a:xfrm>
            <a:off x="914400" y="4103688"/>
            <a:ext cx="5410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19" name="Line 36"/>
          <p:cNvSpPr>
            <a:spLocks noChangeShapeType="1"/>
          </p:cNvSpPr>
          <p:nvPr/>
        </p:nvSpPr>
        <p:spPr bwMode="auto">
          <a:xfrm>
            <a:off x="1590675" y="2522538"/>
            <a:ext cx="0" cy="3952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0" name="Line 37"/>
          <p:cNvSpPr>
            <a:spLocks noChangeShapeType="1"/>
          </p:cNvSpPr>
          <p:nvPr/>
        </p:nvSpPr>
        <p:spPr bwMode="auto">
          <a:xfrm>
            <a:off x="2943225" y="2522538"/>
            <a:ext cx="0" cy="7905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1" name="Line 38"/>
          <p:cNvSpPr>
            <a:spLocks noChangeShapeType="1"/>
          </p:cNvSpPr>
          <p:nvPr/>
        </p:nvSpPr>
        <p:spPr bwMode="auto">
          <a:xfrm>
            <a:off x="5648325" y="2917825"/>
            <a:ext cx="0" cy="395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2" name="Line 39"/>
          <p:cNvSpPr>
            <a:spLocks noChangeShapeType="1"/>
          </p:cNvSpPr>
          <p:nvPr/>
        </p:nvSpPr>
        <p:spPr bwMode="auto">
          <a:xfrm>
            <a:off x="1590675" y="3313113"/>
            <a:ext cx="0" cy="3952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3" name="Line 40"/>
          <p:cNvSpPr>
            <a:spLocks noChangeShapeType="1"/>
          </p:cNvSpPr>
          <p:nvPr/>
        </p:nvSpPr>
        <p:spPr bwMode="auto">
          <a:xfrm>
            <a:off x="4295775" y="3313113"/>
            <a:ext cx="0" cy="11858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4" name="Line 41"/>
          <p:cNvSpPr>
            <a:spLocks noChangeShapeType="1"/>
          </p:cNvSpPr>
          <p:nvPr/>
        </p:nvSpPr>
        <p:spPr bwMode="auto">
          <a:xfrm>
            <a:off x="4972050" y="3313113"/>
            <a:ext cx="0" cy="11858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5" name="Line 42"/>
          <p:cNvSpPr>
            <a:spLocks noChangeShapeType="1"/>
          </p:cNvSpPr>
          <p:nvPr/>
        </p:nvSpPr>
        <p:spPr bwMode="auto">
          <a:xfrm>
            <a:off x="2266950" y="3708400"/>
            <a:ext cx="0" cy="7905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6" name="Line 43"/>
          <p:cNvSpPr>
            <a:spLocks noChangeShapeType="1"/>
          </p:cNvSpPr>
          <p:nvPr/>
        </p:nvSpPr>
        <p:spPr bwMode="auto">
          <a:xfrm>
            <a:off x="2943225" y="3708400"/>
            <a:ext cx="0" cy="7905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7" name="Line 44"/>
          <p:cNvSpPr>
            <a:spLocks noChangeShapeType="1"/>
          </p:cNvSpPr>
          <p:nvPr/>
        </p:nvSpPr>
        <p:spPr bwMode="auto">
          <a:xfrm>
            <a:off x="3619500" y="3708400"/>
            <a:ext cx="0" cy="7905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8" name="Line 45"/>
          <p:cNvSpPr>
            <a:spLocks noChangeShapeType="1"/>
          </p:cNvSpPr>
          <p:nvPr/>
        </p:nvSpPr>
        <p:spPr bwMode="auto">
          <a:xfrm>
            <a:off x="5648325" y="3708400"/>
            <a:ext cx="0" cy="7905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29" name="Line 46"/>
          <p:cNvSpPr>
            <a:spLocks noChangeShapeType="1"/>
          </p:cNvSpPr>
          <p:nvPr/>
        </p:nvSpPr>
        <p:spPr bwMode="auto">
          <a:xfrm>
            <a:off x="1590675" y="4103688"/>
            <a:ext cx="0" cy="3952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30" name="Line 47"/>
          <p:cNvSpPr>
            <a:spLocks noChangeShapeType="1"/>
          </p:cNvSpPr>
          <p:nvPr/>
        </p:nvSpPr>
        <p:spPr bwMode="auto">
          <a:xfrm>
            <a:off x="914400" y="2522538"/>
            <a:ext cx="5410200"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31" name="Line 48"/>
          <p:cNvSpPr>
            <a:spLocks noChangeShapeType="1"/>
          </p:cNvSpPr>
          <p:nvPr/>
        </p:nvSpPr>
        <p:spPr bwMode="auto">
          <a:xfrm>
            <a:off x="914400" y="2522538"/>
            <a:ext cx="0" cy="1976437"/>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32" name="Line 49"/>
          <p:cNvSpPr>
            <a:spLocks noChangeShapeType="1"/>
          </p:cNvSpPr>
          <p:nvPr/>
        </p:nvSpPr>
        <p:spPr bwMode="auto">
          <a:xfrm>
            <a:off x="6324600" y="2522538"/>
            <a:ext cx="0" cy="1976437"/>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33" name="Line 50"/>
          <p:cNvSpPr>
            <a:spLocks noChangeShapeType="1"/>
          </p:cNvSpPr>
          <p:nvPr/>
        </p:nvSpPr>
        <p:spPr bwMode="auto">
          <a:xfrm>
            <a:off x="914400" y="4498975"/>
            <a:ext cx="5410200"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endParaRPr lang="zh-CN" altLang="en-US"/>
          </a:p>
        </p:txBody>
      </p:sp>
      <p:sp>
        <p:nvSpPr>
          <p:cNvPr id="42034" name="Text Box 51"/>
          <p:cNvSpPr txBox="1">
            <a:spLocks noChangeArrowheads="1"/>
          </p:cNvSpPr>
          <p:nvPr/>
        </p:nvSpPr>
        <p:spPr bwMode="auto">
          <a:xfrm>
            <a:off x="2051050" y="4508500"/>
            <a:ext cx="32019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latin typeface="楷体_GB2312" pitchFamily="49" charset="-122"/>
              </a:rPr>
              <a:t>存储字长：64位（8字节）</a:t>
            </a:r>
          </a:p>
        </p:txBody>
      </p:sp>
      <p:sp>
        <p:nvSpPr>
          <p:cNvPr id="42035" name="Line 52"/>
          <p:cNvSpPr>
            <a:spLocks noChangeShapeType="1"/>
          </p:cNvSpPr>
          <p:nvPr/>
        </p:nvSpPr>
        <p:spPr bwMode="auto">
          <a:xfrm>
            <a:off x="914400" y="4470400"/>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2036" name="Line 53"/>
          <p:cNvSpPr>
            <a:spLocks noChangeShapeType="1"/>
          </p:cNvSpPr>
          <p:nvPr/>
        </p:nvSpPr>
        <p:spPr bwMode="auto">
          <a:xfrm>
            <a:off x="6324600" y="4470400"/>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2037" name="Line 54"/>
          <p:cNvSpPr>
            <a:spLocks noChangeShapeType="1"/>
          </p:cNvSpPr>
          <p:nvPr/>
        </p:nvSpPr>
        <p:spPr bwMode="auto">
          <a:xfrm flipH="1">
            <a:off x="5181600" y="4732338"/>
            <a:ext cx="1143000"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2038" name="Line 55"/>
          <p:cNvSpPr>
            <a:spLocks noChangeShapeType="1"/>
          </p:cNvSpPr>
          <p:nvPr/>
        </p:nvSpPr>
        <p:spPr bwMode="auto">
          <a:xfrm flipH="1" flipV="1">
            <a:off x="990600" y="4732338"/>
            <a:ext cx="1066800"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2039" name="Text Box 56"/>
          <p:cNvSpPr txBox="1">
            <a:spLocks noChangeArrowheads="1"/>
          </p:cNvSpPr>
          <p:nvPr/>
        </p:nvSpPr>
        <p:spPr bwMode="auto">
          <a:xfrm>
            <a:off x="2286000" y="2065338"/>
            <a:ext cx="251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latin typeface="楷体_GB2312" pitchFamily="49" charset="-122"/>
              </a:rPr>
              <a:t>主存空间</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pPr eaLnBrk="1" hangingPunct="1">
              <a:defRPr/>
            </a:pPr>
            <a:r>
              <a:rPr lang="zh-CN" altLang="en-US" smtClean="0"/>
              <a:t>从存储字起始位置</a:t>
            </a:r>
            <a:br>
              <a:rPr lang="zh-CN" altLang="en-US" smtClean="0"/>
            </a:br>
            <a:r>
              <a:rPr lang="zh-CN" altLang="en-US" smtClean="0"/>
              <a:t>开始存储</a:t>
            </a:r>
          </a:p>
        </p:txBody>
      </p:sp>
      <p:sp>
        <p:nvSpPr>
          <p:cNvPr id="287747" name="Rectangle 3"/>
          <p:cNvSpPr>
            <a:spLocks noGrp="1" noChangeArrowheads="1"/>
          </p:cNvSpPr>
          <p:nvPr>
            <p:ph type="body" sz="half" idx="2"/>
          </p:nvPr>
        </p:nvSpPr>
        <p:spPr>
          <a:xfrm>
            <a:off x="1738313" y="5016500"/>
            <a:ext cx="3657600" cy="1143000"/>
          </a:xfrm>
          <a:solidFill>
            <a:srgbClr val="CC99FF"/>
          </a:solidFill>
          <a:ln w="57150" cmpd="thickThin">
            <a:solidFill>
              <a:schemeClr val="tx1"/>
            </a:solidFill>
            <a:miter lim="800000"/>
            <a:headEnd/>
            <a:tailEnd/>
          </a:ln>
        </p:spPr>
        <p:txBody>
          <a:bodyPr/>
          <a:lstStyle/>
          <a:p>
            <a:pPr marL="0" indent="0" eaLnBrk="1" hangingPunct="1">
              <a:lnSpc>
                <a:spcPct val="150000"/>
              </a:lnSpc>
              <a:buClr>
                <a:srgbClr val="FF3300"/>
              </a:buClr>
              <a:buFont typeface="Wingdings" pitchFamily="2" charset="2"/>
              <a:buChar char="Ø"/>
              <a:defRPr/>
            </a:pPr>
            <a:r>
              <a:rPr lang="zh-CN" altLang="en-US" sz="2400" smtClean="0"/>
              <a:t>  </a:t>
            </a:r>
            <a:r>
              <a:rPr lang="zh-CN" altLang="en-US" sz="2400" smtClean="0">
                <a:solidFill>
                  <a:srgbClr val="FF3300"/>
                </a:solidFill>
                <a:effectLst>
                  <a:outerShdw blurRad="38100" dist="38100" dir="2700000" algn="tl">
                    <a:srgbClr val="000000"/>
                  </a:outerShdw>
                </a:effectLst>
              </a:rPr>
              <a:t>缺点</a:t>
            </a:r>
            <a:endParaRPr lang="en-US" altLang="zh-CN" sz="2400" smtClean="0">
              <a:solidFill>
                <a:srgbClr val="FF3300"/>
              </a:solidFill>
              <a:effectLst>
                <a:outerShdw blurRad="38100" dist="38100" dir="2700000" algn="tl">
                  <a:srgbClr val="000000"/>
                </a:outerShdw>
              </a:effectLst>
            </a:endParaRPr>
          </a:p>
          <a:p>
            <a:pPr marL="0" indent="0" eaLnBrk="1" hangingPunct="1">
              <a:buFont typeface="Wingdings" pitchFamily="2" charset="2"/>
              <a:buNone/>
              <a:defRPr/>
            </a:pPr>
            <a:r>
              <a:rPr lang="zh-CN" altLang="en-US" sz="2400" smtClean="0"/>
              <a:t>     浪费存储器资源。</a:t>
            </a:r>
          </a:p>
        </p:txBody>
      </p:sp>
      <p:sp>
        <p:nvSpPr>
          <p:cNvPr id="4301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编址单位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字节编址</a:t>
            </a:r>
            <a:endParaRPr lang="zh-CN" altLang="en-US" sz="1200" b="0">
              <a:latin typeface="Times New Roman" pitchFamily="18" charset="0"/>
              <a:ea typeface="幼圆" pitchFamily="49" charset="-122"/>
            </a:endParaRPr>
          </a:p>
        </p:txBody>
      </p:sp>
      <p:sp>
        <p:nvSpPr>
          <p:cNvPr id="287749" name="Rectangle 5"/>
          <p:cNvSpPr>
            <a:spLocks noChangeArrowheads="1"/>
          </p:cNvSpPr>
          <p:nvPr/>
        </p:nvSpPr>
        <p:spPr bwMode="auto">
          <a:xfrm>
            <a:off x="6538913" y="2044700"/>
            <a:ext cx="2362200" cy="4114800"/>
          </a:xfrm>
          <a:prstGeom prst="rect">
            <a:avLst/>
          </a:prstGeom>
          <a:solidFill>
            <a:srgbClr val="FFCC99"/>
          </a:solidFill>
          <a:ln w="57150"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lstStyle>
            <a:lvl1pPr>
              <a:spcBef>
                <a:spcPct val="0"/>
              </a:spcBef>
              <a:defRPr kumimoji="1" sz="2400">
                <a:solidFill>
                  <a:schemeClr val="tx1"/>
                </a:solidFill>
                <a:latin typeface="Times New Roman" pitchFamily="18" charset="0"/>
                <a:ea typeface="宋体" pitchFamily="2" charset="-122"/>
              </a:defRPr>
            </a:lvl1pPr>
            <a:lvl2pPr marL="765175" indent="-285750">
              <a:spcBef>
                <a:spcPct val="0"/>
              </a:spcBef>
              <a:defRPr kumimoji="1" sz="2400">
                <a:solidFill>
                  <a:schemeClr val="tx1"/>
                </a:solidFill>
                <a:latin typeface="Times New Roman" pitchFamily="18" charset="0"/>
                <a:ea typeface="宋体" pitchFamily="2" charset="-122"/>
              </a:defRPr>
            </a:lvl2pPr>
            <a:lvl3pPr marL="1184275" indent="-228600">
              <a:spcBef>
                <a:spcPct val="0"/>
              </a:spcBef>
              <a:defRPr kumimoji="1" sz="2400">
                <a:solidFill>
                  <a:schemeClr val="tx1"/>
                </a:solidFill>
                <a:latin typeface="Times New Roman" pitchFamily="18" charset="0"/>
                <a:ea typeface="宋体" pitchFamily="2" charset="-122"/>
              </a:defRPr>
            </a:lvl3pPr>
            <a:lvl4pPr marL="1603375" indent="-228600">
              <a:spcBef>
                <a:spcPct val="0"/>
              </a:spcBef>
              <a:defRPr kumimoji="1" sz="2400">
                <a:solidFill>
                  <a:schemeClr val="tx1"/>
                </a:solidFill>
                <a:latin typeface="Times New Roman" pitchFamily="18" charset="0"/>
                <a:ea typeface="宋体" pitchFamily="2" charset="-122"/>
              </a:defRPr>
            </a:lvl4pPr>
            <a:lvl5pPr marL="2022475" indent="-228600">
              <a:spcBef>
                <a:spcPct val="0"/>
              </a:spcBef>
              <a:defRPr kumimoji="1" sz="2400">
                <a:solidFill>
                  <a:schemeClr val="tx1"/>
                </a:solidFill>
                <a:latin typeface="Times New Roman" pitchFamily="18" charset="0"/>
                <a:ea typeface="宋体" pitchFamily="2" charset="-122"/>
              </a:defRPr>
            </a:lvl5pPr>
            <a:lvl6pPr marL="2479675" indent="-228600" fontAlgn="base">
              <a:spcBef>
                <a:spcPct val="0"/>
              </a:spcBef>
              <a:spcAft>
                <a:spcPct val="0"/>
              </a:spcAft>
              <a:defRPr kumimoji="1" sz="2400">
                <a:solidFill>
                  <a:schemeClr val="tx1"/>
                </a:solidFill>
                <a:latin typeface="Times New Roman" pitchFamily="18" charset="0"/>
                <a:ea typeface="宋体" pitchFamily="2" charset="-122"/>
              </a:defRPr>
            </a:lvl6pPr>
            <a:lvl7pPr marL="2936875" indent="-228600" fontAlgn="base">
              <a:spcBef>
                <a:spcPct val="0"/>
              </a:spcBef>
              <a:spcAft>
                <a:spcPct val="0"/>
              </a:spcAft>
              <a:defRPr kumimoji="1" sz="2400">
                <a:solidFill>
                  <a:schemeClr val="tx1"/>
                </a:solidFill>
                <a:latin typeface="Times New Roman" pitchFamily="18" charset="0"/>
                <a:ea typeface="宋体" pitchFamily="2" charset="-122"/>
              </a:defRPr>
            </a:lvl7pPr>
            <a:lvl8pPr marL="3394075" indent="-228600" fontAlgn="base">
              <a:spcBef>
                <a:spcPct val="0"/>
              </a:spcBef>
              <a:spcAft>
                <a:spcPct val="0"/>
              </a:spcAft>
              <a:defRPr kumimoji="1" sz="2400">
                <a:solidFill>
                  <a:schemeClr val="tx1"/>
                </a:solidFill>
                <a:latin typeface="Times New Roman" pitchFamily="18" charset="0"/>
                <a:ea typeface="宋体" pitchFamily="2" charset="-122"/>
              </a:defRPr>
            </a:lvl8pPr>
            <a:lvl9pPr marL="385127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150000"/>
              </a:lnSpc>
              <a:spcBef>
                <a:spcPct val="20000"/>
              </a:spcBef>
              <a:buClr>
                <a:srgbClr val="FF3300"/>
              </a:buClr>
              <a:buFont typeface="Wingdings" pitchFamily="2" charset="2"/>
              <a:buChar char="Ø"/>
              <a:defRPr/>
            </a:pPr>
            <a:r>
              <a:rPr lang="zh-CN" altLang="en-US" b="1" smtClean="0">
                <a:solidFill>
                  <a:srgbClr val="FF3300"/>
                </a:solidFill>
                <a:effectLst>
                  <a:outerShdw blurRad="38100" dist="38100" dir="2700000" algn="tl">
                    <a:srgbClr val="000000"/>
                  </a:outerShdw>
                </a:effectLst>
                <a:latin typeface="Arial" charset="0"/>
                <a:ea typeface="楷体_GB2312" pitchFamily="49" charset="-122"/>
              </a:rPr>
              <a:t>  优点</a:t>
            </a:r>
          </a:p>
          <a:p>
            <a:pPr lvl="1">
              <a:lnSpc>
                <a:spcPct val="90000"/>
              </a:lnSpc>
              <a:spcBef>
                <a:spcPct val="20000"/>
              </a:spcBef>
              <a:buSzPct val="55000"/>
              <a:buFont typeface="Wingdings" pitchFamily="2" charset="2"/>
              <a:buChar char="n"/>
              <a:defRPr/>
            </a:pPr>
            <a:r>
              <a:rPr lang="zh-CN" altLang="en-US" b="1" smtClean="0">
                <a:latin typeface="Arial" charset="0"/>
                <a:ea typeface="楷体_GB2312" pitchFamily="49" charset="-122"/>
              </a:rPr>
              <a:t>读取都可以在一个存储周期内完成</a:t>
            </a:r>
          </a:p>
          <a:p>
            <a:pPr lvl="1">
              <a:lnSpc>
                <a:spcPct val="90000"/>
              </a:lnSpc>
              <a:spcBef>
                <a:spcPct val="20000"/>
              </a:spcBef>
              <a:buSzPct val="55000"/>
              <a:buFont typeface="Wingdings" pitchFamily="2" charset="2"/>
              <a:buChar char="n"/>
              <a:defRPr/>
            </a:pPr>
            <a:r>
              <a:rPr lang="zh-CN" altLang="en-US" b="1" smtClean="0">
                <a:latin typeface="Arial" charset="0"/>
                <a:ea typeface="楷体_GB2312" pitchFamily="49" charset="-122"/>
              </a:rPr>
              <a:t>存储器的读写控制比较简单</a:t>
            </a:r>
          </a:p>
        </p:txBody>
      </p:sp>
      <p:sp>
        <p:nvSpPr>
          <p:cNvPr id="43014" name="Text Box 51"/>
          <p:cNvSpPr txBox="1">
            <a:spLocks noChangeArrowheads="1"/>
          </p:cNvSpPr>
          <p:nvPr/>
        </p:nvSpPr>
        <p:spPr bwMode="auto">
          <a:xfrm>
            <a:off x="2036763" y="4487863"/>
            <a:ext cx="32019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存储字长：64位（8字节）</a:t>
            </a:r>
          </a:p>
        </p:txBody>
      </p:sp>
      <p:sp>
        <p:nvSpPr>
          <p:cNvPr id="43015" name="Line 52"/>
          <p:cNvSpPr>
            <a:spLocks noChangeShapeType="1"/>
          </p:cNvSpPr>
          <p:nvPr/>
        </p:nvSpPr>
        <p:spPr bwMode="auto">
          <a:xfrm>
            <a:off x="900113" y="4449763"/>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3016" name="Line 53"/>
          <p:cNvSpPr>
            <a:spLocks noChangeShapeType="1"/>
          </p:cNvSpPr>
          <p:nvPr/>
        </p:nvSpPr>
        <p:spPr bwMode="auto">
          <a:xfrm>
            <a:off x="6310313" y="4449763"/>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3017" name="Line 54"/>
          <p:cNvSpPr>
            <a:spLocks noChangeShapeType="1"/>
          </p:cNvSpPr>
          <p:nvPr/>
        </p:nvSpPr>
        <p:spPr bwMode="auto">
          <a:xfrm flipH="1">
            <a:off x="5167313" y="4711700"/>
            <a:ext cx="1143000"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3018" name="Line 55"/>
          <p:cNvSpPr>
            <a:spLocks noChangeShapeType="1"/>
          </p:cNvSpPr>
          <p:nvPr/>
        </p:nvSpPr>
        <p:spPr bwMode="auto">
          <a:xfrm flipH="1" flipV="1">
            <a:off x="976313" y="4711700"/>
            <a:ext cx="1066800"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3019" name="Text Box 56"/>
          <p:cNvSpPr txBox="1">
            <a:spLocks noChangeArrowheads="1"/>
          </p:cNvSpPr>
          <p:nvPr/>
        </p:nvSpPr>
        <p:spPr bwMode="auto">
          <a:xfrm>
            <a:off x="2271713" y="1892300"/>
            <a:ext cx="251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主存空间</a:t>
            </a:r>
          </a:p>
        </p:txBody>
      </p:sp>
      <p:graphicFrame>
        <p:nvGraphicFramePr>
          <p:cNvPr id="287959" name="Group 215"/>
          <p:cNvGraphicFramePr>
            <a:graphicFrameLocks noGrp="1"/>
          </p:cNvGraphicFramePr>
          <p:nvPr/>
        </p:nvGraphicFramePr>
        <p:xfrm>
          <a:off x="900113" y="2349500"/>
          <a:ext cx="5410200" cy="2144713"/>
        </p:xfrm>
        <a:graphic>
          <a:graphicData uri="http://schemas.openxmlformats.org/drawingml/2006/table">
            <a:tbl>
              <a:tblPr/>
              <a:tblGrid>
                <a:gridCol w="676275"/>
                <a:gridCol w="676275"/>
                <a:gridCol w="676275"/>
                <a:gridCol w="676275"/>
                <a:gridCol w="676275"/>
                <a:gridCol w="676275"/>
                <a:gridCol w="676275"/>
                <a:gridCol w="676275"/>
              </a:tblGrid>
              <a:tr h="396357">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字节</a:t>
                      </a:r>
                    </a:p>
                  </a:txBody>
                  <a:tcPr marL="0" marR="0" marT="45734" marB="45734"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7">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浪费</a:t>
                      </a:r>
                    </a:p>
                  </a:txBody>
                  <a:tcPr marL="0" marR="0" marT="45734" marB="45734"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692">
                <a:tc gridSpan="2">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半字</a:t>
                      </a:r>
                    </a:p>
                  </a:txBody>
                  <a:tcPr marL="0" marR="0" marT="45734" marB="45734"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6">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浪费</a:t>
                      </a:r>
                    </a:p>
                  </a:txBody>
                  <a:tcPr marL="0" marR="0" marT="45734" marB="45734"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8280">
                <a:tc gridSpan="4">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单字</a:t>
                      </a:r>
                    </a:p>
                  </a:txBody>
                  <a:tcPr marL="0" marR="0" marT="45734" marB="45734"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浪费</a:t>
                      </a:r>
                    </a:p>
                  </a:txBody>
                  <a:tcPr marL="0" marR="0" marT="45734" marB="45734"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692">
                <a:tc gridSpan="8">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双字</a:t>
                      </a:r>
                    </a:p>
                  </a:txBody>
                  <a:tcPr marL="0" marR="0" marT="45734" marB="45734"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692">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4" marB="45734"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4" marB="45734"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4" marB="45734"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4" marB="45734"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4" marB="45734"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4" marB="45734"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4" marB="45734"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4" marB="45734"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p:txBody>
          <a:bodyPr/>
          <a:lstStyle/>
          <a:p>
            <a:pPr eaLnBrk="1" hangingPunct="1">
              <a:defRPr/>
            </a:pPr>
            <a:r>
              <a:rPr lang="zh-CN" altLang="en-US" smtClean="0"/>
              <a:t>从地址整数倍位置</a:t>
            </a:r>
            <a:br>
              <a:rPr lang="zh-CN" altLang="en-US" smtClean="0"/>
            </a:br>
            <a:r>
              <a:rPr lang="zh-CN" altLang="en-US" smtClean="0"/>
              <a:t>开始存储</a:t>
            </a:r>
          </a:p>
        </p:txBody>
      </p:sp>
      <p:sp>
        <p:nvSpPr>
          <p:cNvPr id="44035" name="Rectangle 3"/>
          <p:cNvSpPr>
            <a:spLocks noGrp="1" noChangeArrowheads="1"/>
          </p:cNvSpPr>
          <p:nvPr>
            <p:ph type="body" sz="half" idx="2"/>
          </p:nvPr>
        </p:nvSpPr>
        <p:spPr>
          <a:xfrm>
            <a:off x="7812088" y="2205038"/>
            <a:ext cx="823912" cy="3870325"/>
          </a:xfrm>
          <a:solidFill>
            <a:srgbClr val="FFFF00"/>
          </a:solidFill>
          <a:ln w="57150" cmpd="thickThin">
            <a:solidFill>
              <a:schemeClr val="tx1"/>
            </a:solidFill>
            <a:miter lim="800000"/>
            <a:headEnd/>
            <a:tailEnd/>
          </a:ln>
          <a:effectLst>
            <a:outerShdw dist="35921" dir="2700000" algn="ctr" rotWithShape="0">
              <a:schemeClr val="bg2"/>
            </a:outerShdw>
          </a:effectLst>
        </p:spPr>
        <p:txBody>
          <a:bodyPr vert="eaVert"/>
          <a:lstStyle/>
          <a:p>
            <a:pPr marL="0" indent="0" algn="ctr" eaLnBrk="1" hangingPunct="1">
              <a:lnSpc>
                <a:spcPct val="150000"/>
              </a:lnSpc>
              <a:buClr>
                <a:srgbClr val="FF3300"/>
              </a:buClr>
              <a:buFont typeface="Wingdings" pitchFamily="2" charset="2"/>
              <a:buNone/>
            </a:pPr>
            <a:r>
              <a:rPr lang="zh-CN" altLang="en-US" sz="2400" smtClean="0"/>
              <a:t>性能是前两种方法的折中 </a:t>
            </a:r>
          </a:p>
        </p:txBody>
      </p:sp>
      <p:sp>
        <p:nvSpPr>
          <p:cNvPr id="4403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编址单位</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字节编址</a:t>
            </a:r>
            <a:endParaRPr lang="zh-CN" altLang="en-US" sz="1200" b="0">
              <a:latin typeface="Times New Roman" pitchFamily="18" charset="0"/>
              <a:ea typeface="幼圆" pitchFamily="49" charset="-122"/>
            </a:endParaRPr>
          </a:p>
        </p:txBody>
      </p:sp>
      <p:sp>
        <p:nvSpPr>
          <p:cNvPr id="44037" name="Text Box 6"/>
          <p:cNvSpPr txBox="1">
            <a:spLocks noChangeArrowheads="1"/>
          </p:cNvSpPr>
          <p:nvPr/>
        </p:nvSpPr>
        <p:spPr bwMode="auto">
          <a:xfrm>
            <a:off x="3059113" y="5516563"/>
            <a:ext cx="318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存储字长：64位（8字节）</a:t>
            </a:r>
          </a:p>
        </p:txBody>
      </p:sp>
      <p:sp>
        <p:nvSpPr>
          <p:cNvPr id="44038" name="Line 7"/>
          <p:cNvSpPr>
            <a:spLocks noChangeShapeType="1"/>
          </p:cNvSpPr>
          <p:nvPr/>
        </p:nvSpPr>
        <p:spPr bwMode="auto">
          <a:xfrm>
            <a:off x="1908175" y="5467350"/>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4039" name="Line 8"/>
          <p:cNvSpPr>
            <a:spLocks noChangeShapeType="1"/>
          </p:cNvSpPr>
          <p:nvPr/>
        </p:nvSpPr>
        <p:spPr bwMode="auto">
          <a:xfrm>
            <a:off x="7318375" y="5467350"/>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4040" name="Line 9"/>
          <p:cNvSpPr>
            <a:spLocks noChangeShapeType="1"/>
          </p:cNvSpPr>
          <p:nvPr/>
        </p:nvSpPr>
        <p:spPr bwMode="auto">
          <a:xfrm flipH="1">
            <a:off x="6175375" y="5729288"/>
            <a:ext cx="1143000" cy="0"/>
          </a:xfrm>
          <a:prstGeom prst="line">
            <a:avLst/>
          </a:prstGeom>
          <a:noFill/>
          <a:ln w="2857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4041" name="Line 10"/>
          <p:cNvSpPr>
            <a:spLocks noChangeShapeType="1"/>
          </p:cNvSpPr>
          <p:nvPr/>
        </p:nvSpPr>
        <p:spPr bwMode="auto">
          <a:xfrm flipH="1" flipV="1">
            <a:off x="1984375" y="5729288"/>
            <a:ext cx="1066800" cy="0"/>
          </a:xfrm>
          <a:prstGeom prst="line">
            <a:avLst/>
          </a:prstGeom>
          <a:noFill/>
          <a:ln w="2857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4042" name="Text Box 11"/>
          <p:cNvSpPr txBox="1">
            <a:spLocks noChangeArrowheads="1"/>
          </p:cNvSpPr>
          <p:nvPr/>
        </p:nvSpPr>
        <p:spPr bwMode="auto">
          <a:xfrm>
            <a:off x="3089275" y="2039938"/>
            <a:ext cx="251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主存空间</a:t>
            </a:r>
          </a:p>
        </p:txBody>
      </p:sp>
      <p:graphicFrame>
        <p:nvGraphicFramePr>
          <p:cNvPr id="288849" name="Group 81"/>
          <p:cNvGraphicFramePr>
            <a:graphicFrameLocks noGrp="1"/>
          </p:cNvGraphicFramePr>
          <p:nvPr/>
        </p:nvGraphicFramePr>
        <p:xfrm>
          <a:off x="1908175" y="2420938"/>
          <a:ext cx="5410200" cy="3017835"/>
        </p:xfrm>
        <a:graphic>
          <a:graphicData uri="http://schemas.openxmlformats.org/drawingml/2006/table">
            <a:tbl>
              <a:tblPr/>
              <a:tblGrid>
                <a:gridCol w="676275"/>
                <a:gridCol w="25400"/>
                <a:gridCol w="650875"/>
                <a:gridCol w="1352550"/>
                <a:gridCol w="676275"/>
                <a:gridCol w="676275"/>
                <a:gridCol w="676275"/>
                <a:gridCol w="676275"/>
              </a:tblGrid>
              <a:tr h="396323">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字节</a:t>
                      </a:r>
                    </a:p>
                  </a:txBody>
                  <a:tcPr marL="0" marR="0" marT="45730" marB="45730"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7">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浪费</a:t>
                      </a:r>
                    </a:p>
                  </a:txBody>
                  <a:tcPr marL="0" marR="0" marT="45730" marB="45730"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654">
                <a:tc gridSpan="8">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双字</a:t>
                      </a:r>
                    </a:p>
                  </a:txBody>
                  <a:tcPr marL="0" marR="0" marT="45730" marB="4573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8242">
                <a:tc gridSpan="4">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单字</a:t>
                      </a:r>
                    </a:p>
                  </a:txBody>
                  <a:tcPr marL="0" marR="0" marT="45730" marB="45730"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浪费</a:t>
                      </a:r>
                    </a:p>
                  </a:txBody>
                  <a:tcPr marL="0" marR="0" marT="45730" marB="45730"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654">
                <a:tc gridSpan="8">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双字</a:t>
                      </a:r>
                    </a:p>
                  </a:txBody>
                  <a:tcPr marL="0" marR="0" marT="45730" marB="4573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654">
                <a:tc gridSpan="2">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字节</a:t>
                      </a:r>
                    </a:p>
                  </a:txBody>
                  <a:tcPr marL="0" marR="0" marT="45730" marB="45730"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浪费</a:t>
                      </a:r>
                    </a:p>
                  </a:txBody>
                  <a:tcPr marL="0" marR="0"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gridSpan="4">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单字</a:t>
                      </a:r>
                    </a:p>
                  </a:txBody>
                  <a:tcPr marL="0" marR="0" marT="45730" marB="45730"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654">
                <a:tc gridSpan="8">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双字</a:t>
                      </a:r>
                    </a:p>
                  </a:txBody>
                  <a:tcPr marL="0" marR="0" marT="45730" marB="4573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654">
                <a:tc gridSpan="2">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字节</a:t>
                      </a:r>
                    </a:p>
                  </a:txBody>
                  <a:tcPr marL="0" marR="0" marT="45730" marB="45730"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浪费</a:t>
                      </a:r>
                    </a:p>
                  </a:txBody>
                  <a:tcPr marL="0" marR="0" marT="45730" marB="45730"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半字</a:t>
                      </a:r>
                    </a:p>
                  </a:txBody>
                  <a:tcPr marL="0" marR="0" marT="45730" marB="45730"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0" marB="45730"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0" marB="45730"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0" marB="45730"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Arial" charset="0"/>
                        <a:ea typeface="楷体_GB2312" pitchFamily="49" charset="-122"/>
                      </a:endParaRPr>
                    </a:p>
                  </a:txBody>
                  <a:tcPr marL="0" marR="0" marT="45730" marB="45730"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4081" name="Text Box 82"/>
          <p:cNvSpPr txBox="1">
            <a:spLocks noChangeArrowheads="1"/>
          </p:cNvSpPr>
          <p:nvPr/>
        </p:nvSpPr>
        <p:spPr bwMode="auto">
          <a:xfrm>
            <a:off x="917575" y="2420938"/>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r>
              <a:rPr lang="en-US" altLang="zh-CN" sz="2000"/>
              <a:t>xx00</a:t>
            </a:r>
          </a:p>
        </p:txBody>
      </p:sp>
      <p:sp>
        <p:nvSpPr>
          <p:cNvPr id="44082" name="Text Box 83"/>
          <p:cNvSpPr txBox="1">
            <a:spLocks noChangeArrowheads="1"/>
          </p:cNvSpPr>
          <p:nvPr/>
        </p:nvSpPr>
        <p:spPr bwMode="auto">
          <a:xfrm>
            <a:off x="917575" y="2878138"/>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r>
              <a:rPr lang="en-US" altLang="zh-CN" sz="2000"/>
              <a:t>xx08</a:t>
            </a:r>
          </a:p>
        </p:txBody>
      </p:sp>
      <p:sp>
        <p:nvSpPr>
          <p:cNvPr id="44083" name="Text Box 84"/>
          <p:cNvSpPr txBox="1">
            <a:spLocks noChangeArrowheads="1"/>
          </p:cNvSpPr>
          <p:nvPr/>
        </p:nvSpPr>
        <p:spPr bwMode="auto">
          <a:xfrm>
            <a:off x="917575" y="3259138"/>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r>
              <a:rPr lang="en-US" altLang="zh-CN" sz="2000"/>
              <a:t>xx10</a:t>
            </a:r>
          </a:p>
        </p:txBody>
      </p:sp>
      <p:sp>
        <p:nvSpPr>
          <p:cNvPr id="44084" name="Text Box 85"/>
          <p:cNvSpPr txBox="1">
            <a:spLocks noChangeArrowheads="1"/>
          </p:cNvSpPr>
          <p:nvPr/>
        </p:nvSpPr>
        <p:spPr bwMode="auto">
          <a:xfrm>
            <a:off x="917575" y="3716338"/>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r>
              <a:rPr lang="en-US" altLang="zh-CN" sz="2000"/>
              <a:t>xx18</a:t>
            </a:r>
          </a:p>
        </p:txBody>
      </p:sp>
      <p:sp>
        <p:nvSpPr>
          <p:cNvPr id="44085" name="Text Box 86"/>
          <p:cNvSpPr txBox="1">
            <a:spLocks noChangeArrowheads="1"/>
          </p:cNvSpPr>
          <p:nvPr/>
        </p:nvSpPr>
        <p:spPr bwMode="auto">
          <a:xfrm>
            <a:off x="917575" y="4173538"/>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r>
              <a:rPr lang="en-US" altLang="zh-CN" sz="2000"/>
              <a:t>xx20</a:t>
            </a:r>
          </a:p>
        </p:txBody>
      </p:sp>
      <p:sp>
        <p:nvSpPr>
          <p:cNvPr id="44086" name="Text Box 87"/>
          <p:cNvSpPr txBox="1">
            <a:spLocks noChangeArrowheads="1"/>
          </p:cNvSpPr>
          <p:nvPr/>
        </p:nvSpPr>
        <p:spPr bwMode="auto">
          <a:xfrm>
            <a:off x="917575" y="4554538"/>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r>
              <a:rPr lang="en-US" altLang="zh-CN" sz="2000"/>
              <a:t>xx28</a:t>
            </a:r>
          </a:p>
        </p:txBody>
      </p:sp>
      <p:sp>
        <p:nvSpPr>
          <p:cNvPr id="44087" name="Text Box 88"/>
          <p:cNvSpPr txBox="1">
            <a:spLocks noChangeArrowheads="1"/>
          </p:cNvSpPr>
          <p:nvPr/>
        </p:nvSpPr>
        <p:spPr bwMode="auto">
          <a:xfrm>
            <a:off x="917575" y="5011738"/>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a:t>
            </a:r>
            <a:r>
              <a:rPr lang="en-US" altLang="zh-CN" sz="2000"/>
              <a:t>xx30</a:t>
            </a:r>
          </a:p>
        </p:txBody>
      </p:sp>
      <p:sp>
        <p:nvSpPr>
          <p:cNvPr id="44088" name="Text Box 89"/>
          <p:cNvSpPr txBox="1">
            <a:spLocks noChangeArrowheads="1"/>
          </p:cNvSpPr>
          <p:nvPr/>
        </p:nvSpPr>
        <p:spPr bwMode="auto">
          <a:xfrm>
            <a:off x="993775" y="2039938"/>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000"/>
              <a:t>地址</a:t>
            </a:r>
            <a:endParaRPr lang="en-US" altLang="zh-CN" sz="200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p:txBody>
          <a:bodyPr/>
          <a:lstStyle/>
          <a:p>
            <a:pPr eaLnBrk="1" hangingPunct="1">
              <a:defRPr/>
            </a:pPr>
            <a:r>
              <a:rPr lang="zh-CN" altLang="en-US" smtClean="0"/>
              <a:t>位编址</a:t>
            </a:r>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编址单位</a:t>
            </a:r>
            <a:endParaRPr lang="zh-CN" altLang="en-US" sz="1200" b="0">
              <a:latin typeface="Times New Roman" pitchFamily="18" charset="0"/>
              <a:ea typeface="幼圆" pitchFamily="49" charset="-122"/>
            </a:endParaRPr>
          </a:p>
        </p:txBody>
      </p:sp>
      <p:sp>
        <p:nvSpPr>
          <p:cNvPr id="289796" name="Rectangle 4"/>
          <p:cNvSpPr>
            <a:spLocks noGrp="1" noChangeArrowheads="1"/>
          </p:cNvSpPr>
          <p:nvPr>
            <p:ph type="body" idx="1"/>
          </p:nvPr>
        </p:nvSpPr>
        <p:spPr>
          <a:xfrm>
            <a:off x="809625" y="1916113"/>
            <a:ext cx="7958138" cy="2711450"/>
          </a:xfrm>
        </p:spPr>
        <p:txBody>
          <a:bodyPr/>
          <a:lstStyle/>
          <a:p>
            <a:pPr marL="0" indent="0" eaLnBrk="1" hangingPunct="1">
              <a:lnSpc>
                <a:spcPct val="90000"/>
              </a:lnSpc>
              <a:buClr>
                <a:srgbClr val="FF3300"/>
              </a:buClr>
              <a:buFont typeface="Wingdings" pitchFamily="2" charset="2"/>
              <a:buChar char="Ø"/>
              <a:defRPr/>
            </a:pPr>
            <a:r>
              <a:rPr lang="zh-CN" altLang="en-US" sz="3600" smtClean="0">
                <a:solidFill>
                  <a:srgbClr val="FF3300"/>
                </a:solidFill>
                <a:effectLst>
                  <a:outerShdw blurRad="38100" dist="38100" dir="2700000" algn="tl">
                    <a:srgbClr val="C0C0C0"/>
                  </a:outerShdw>
                </a:effectLst>
              </a:rPr>
              <a:t>  方法</a:t>
            </a:r>
          </a:p>
          <a:p>
            <a:pPr marL="0" indent="0" eaLnBrk="1" hangingPunct="1">
              <a:lnSpc>
                <a:spcPct val="90000"/>
              </a:lnSpc>
              <a:buFont typeface="Wingdings" pitchFamily="2" charset="2"/>
              <a:buNone/>
              <a:defRPr/>
            </a:pPr>
            <a:r>
              <a:rPr lang="zh-CN" altLang="en-US" smtClean="0"/>
              <a:t>      每个编址单位是位。</a:t>
            </a:r>
          </a:p>
          <a:p>
            <a:pPr marL="0" indent="0" eaLnBrk="1" hangingPunct="1">
              <a:lnSpc>
                <a:spcPct val="90000"/>
              </a:lnSpc>
              <a:buClr>
                <a:srgbClr val="FF3300"/>
              </a:buClr>
              <a:buFont typeface="Wingdings" pitchFamily="2" charset="2"/>
              <a:buChar char="Ø"/>
              <a:defRPr/>
            </a:pPr>
            <a:r>
              <a:rPr lang="zh-CN" altLang="en-US" sz="3600" smtClean="0"/>
              <a:t>  </a:t>
            </a:r>
            <a:r>
              <a:rPr lang="zh-CN" altLang="en-US" sz="3600" smtClean="0">
                <a:solidFill>
                  <a:srgbClr val="FF3300"/>
                </a:solidFill>
                <a:effectLst>
                  <a:outerShdw blurRad="38100" dist="38100" dir="2700000" algn="tl">
                    <a:srgbClr val="C0C0C0"/>
                  </a:outerShdw>
                </a:effectLst>
              </a:rPr>
              <a:t>特点</a:t>
            </a:r>
          </a:p>
          <a:p>
            <a:pPr marL="0" indent="0" eaLnBrk="1" hangingPunct="1">
              <a:lnSpc>
                <a:spcPct val="90000"/>
              </a:lnSpc>
              <a:buFont typeface="Wingdings" pitchFamily="2" charset="2"/>
              <a:buNone/>
              <a:defRPr/>
            </a:pPr>
            <a:r>
              <a:rPr lang="zh-CN" altLang="en-US" smtClean="0"/>
              <a:t>      同字节编址，只不过地址信息的浪费更大。</a:t>
            </a:r>
          </a:p>
        </p:txBody>
      </p:sp>
      <p:sp>
        <p:nvSpPr>
          <p:cNvPr id="289797" name="Rectangle 5"/>
          <p:cNvSpPr>
            <a:spLocks noChangeArrowheads="1"/>
          </p:cNvSpPr>
          <p:nvPr/>
        </p:nvSpPr>
        <p:spPr bwMode="auto">
          <a:xfrm>
            <a:off x="990600" y="4800600"/>
            <a:ext cx="7543800" cy="1519238"/>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a:spcBef>
                <a:spcPct val="0"/>
              </a:spcBef>
              <a:defRPr kumimoji="1" sz="2400">
                <a:solidFill>
                  <a:schemeClr val="tx1"/>
                </a:solidFill>
                <a:latin typeface="Times New Roman" pitchFamily="18" charset="0"/>
                <a:ea typeface="宋体" pitchFamily="2" charset="-122"/>
              </a:defRPr>
            </a:lvl1pPr>
            <a:lvl2pPr marL="765175" indent="-285750">
              <a:spcBef>
                <a:spcPct val="0"/>
              </a:spcBef>
              <a:defRPr kumimoji="1" sz="2400">
                <a:solidFill>
                  <a:schemeClr val="tx1"/>
                </a:solidFill>
                <a:latin typeface="Times New Roman" pitchFamily="18" charset="0"/>
                <a:ea typeface="宋体" pitchFamily="2" charset="-122"/>
              </a:defRPr>
            </a:lvl2pPr>
            <a:lvl3pPr marL="1184275" indent="-228600">
              <a:spcBef>
                <a:spcPct val="0"/>
              </a:spcBef>
              <a:defRPr kumimoji="1" sz="2400">
                <a:solidFill>
                  <a:schemeClr val="tx1"/>
                </a:solidFill>
                <a:latin typeface="Times New Roman" pitchFamily="18" charset="0"/>
                <a:ea typeface="宋体" pitchFamily="2" charset="-122"/>
              </a:defRPr>
            </a:lvl3pPr>
            <a:lvl4pPr marL="1603375" indent="-228600">
              <a:spcBef>
                <a:spcPct val="0"/>
              </a:spcBef>
              <a:defRPr kumimoji="1" sz="2400">
                <a:solidFill>
                  <a:schemeClr val="tx1"/>
                </a:solidFill>
                <a:latin typeface="Times New Roman" pitchFamily="18" charset="0"/>
                <a:ea typeface="宋体" pitchFamily="2" charset="-122"/>
              </a:defRPr>
            </a:lvl4pPr>
            <a:lvl5pPr marL="2022475" indent="-228600">
              <a:spcBef>
                <a:spcPct val="0"/>
              </a:spcBef>
              <a:defRPr kumimoji="1" sz="2400">
                <a:solidFill>
                  <a:schemeClr val="tx1"/>
                </a:solidFill>
                <a:latin typeface="Times New Roman" pitchFamily="18" charset="0"/>
                <a:ea typeface="宋体" pitchFamily="2" charset="-122"/>
              </a:defRPr>
            </a:lvl5pPr>
            <a:lvl6pPr marL="2479675" indent="-228600" fontAlgn="base">
              <a:spcBef>
                <a:spcPct val="0"/>
              </a:spcBef>
              <a:spcAft>
                <a:spcPct val="0"/>
              </a:spcAft>
              <a:defRPr kumimoji="1" sz="2400">
                <a:solidFill>
                  <a:schemeClr val="tx1"/>
                </a:solidFill>
                <a:latin typeface="Times New Roman" pitchFamily="18" charset="0"/>
                <a:ea typeface="宋体" pitchFamily="2" charset="-122"/>
              </a:defRPr>
            </a:lvl6pPr>
            <a:lvl7pPr marL="2936875" indent="-228600" fontAlgn="base">
              <a:spcBef>
                <a:spcPct val="0"/>
              </a:spcBef>
              <a:spcAft>
                <a:spcPct val="0"/>
              </a:spcAft>
              <a:defRPr kumimoji="1" sz="2400">
                <a:solidFill>
                  <a:schemeClr val="tx1"/>
                </a:solidFill>
                <a:latin typeface="Times New Roman" pitchFamily="18" charset="0"/>
                <a:ea typeface="宋体" pitchFamily="2" charset="-122"/>
              </a:defRPr>
            </a:lvl7pPr>
            <a:lvl8pPr marL="3394075" indent="-228600" fontAlgn="base">
              <a:spcBef>
                <a:spcPct val="0"/>
              </a:spcBef>
              <a:spcAft>
                <a:spcPct val="0"/>
              </a:spcAft>
              <a:defRPr kumimoji="1" sz="2400">
                <a:solidFill>
                  <a:schemeClr val="tx1"/>
                </a:solidFill>
                <a:latin typeface="Times New Roman" pitchFamily="18" charset="0"/>
                <a:ea typeface="宋体" pitchFamily="2" charset="-122"/>
              </a:defRPr>
            </a:lvl8pPr>
            <a:lvl9pPr marL="385127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buClr>
                <a:srgbClr val="FF3300"/>
              </a:buClr>
              <a:defRPr/>
            </a:pPr>
            <a:r>
              <a:rPr lang="zh-CN" altLang="en-US" sz="2800" smtClean="0"/>
              <a:t>        </a:t>
            </a:r>
            <a:r>
              <a:rPr lang="zh-CN" altLang="en-US" sz="2800" smtClean="0">
                <a:solidFill>
                  <a:srgbClr val="FF3300"/>
                </a:solidFill>
                <a:effectLst>
                  <a:outerShdw blurRad="38100" dist="38100" dir="2700000" algn="tl">
                    <a:srgbClr val="000000"/>
                  </a:outerShdw>
                </a:effectLst>
                <a:ea typeface="方正舒体" pitchFamily="2" charset="-122"/>
              </a:rPr>
              <a:t>早期的计算机大多采用字编址，目前使用最普遍的是字节编址，而位编址是一种很有应用前景的编址方式。</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eaLnBrk="1" hangingPunct="1">
              <a:defRPr/>
            </a:pPr>
            <a:r>
              <a:rPr lang="zh-CN" altLang="en-US" sz="4000" dirty="0" smtClean="0"/>
              <a:t>几种编址设备的性能比较</a:t>
            </a:r>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endParaRPr lang="zh-CN" altLang="en-US" sz="1200" b="0">
              <a:latin typeface="Times New Roman" pitchFamily="18" charset="0"/>
              <a:ea typeface="幼圆" pitchFamily="49" charset="-122"/>
            </a:endParaRPr>
          </a:p>
        </p:txBody>
      </p:sp>
      <p:graphicFrame>
        <p:nvGraphicFramePr>
          <p:cNvPr id="3" name="内容占位符 2"/>
          <p:cNvGraphicFramePr>
            <a:graphicFrameLocks noGrp="1"/>
          </p:cNvGraphicFramePr>
          <p:nvPr>
            <p:ph idx="1"/>
            <p:extLst>
              <p:ext uri="{D42A27DB-BD31-4B8C-83A1-F6EECF244321}">
                <p14:modId xmlns:p14="http://schemas.microsoft.com/office/powerpoint/2010/main" val="2606646174"/>
              </p:ext>
            </p:extLst>
          </p:nvPr>
        </p:nvGraphicFramePr>
        <p:xfrm>
          <a:off x="809625" y="1916113"/>
          <a:ext cx="7958140" cy="1854200"/>
        </p:xfrm>
        <a:graphic>
          <a:graphicData uri="http://schemas.openxmlformats.org/drawingml/2006/table">
            <a:tbl>
              <a:tblPr firstRow="1" bandRow="1">
                <a:tableStyleId>{5C22544A-7EE6-4342-B048-85BDC9FD1C3A}</a:tableStyleId>
              </a:tblPr>
              <a:tblGrid>
                <a:gridCol w="1746151"/>
                <a:gridCol w="1080120"/>
                <a:gridCol w="1512168"/>
                <a:gridCol w="1944216"/>
                <a:gridCol w="1675485"/>
              </a:tblGrid>
              <a:tr h="370840">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存储设备</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容量</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工作速度</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寻址种类</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编址方式</a:t>
                      </a:r>
                      <a:endParaRPr lang="zh-CN" altLang="en-US" dirty="0">
                        <a:solidFill>
                          <a:schemeClr val="tx1"/>
                        </a:solidFill>
                        <a:latin typeface="华文新魏" panose="02010800040101010101" pitchFamily="2" charset="-122"/>
                        <a:ea typeface="华文新魏" panose="02010800040101010101" pitchFamily="2" charset="-122"/>
                      </a:endParaRPr>
                    </a:p>
                  </a:txBody>
                  <a:tcPr/>
                </a:tc>
              </a:tr>
              <a:tr h="370840">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通用寄存器</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小</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很快</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单一直接寻址</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单字或双字</a:t>
                      </a:r>
                      <a:endParaRPr lang="zh-CN" altLang="en-US" dirty="0">
                        <a:solidFill>
                          <a:schemeClr val="tx1"/>
                        </a:solidFill>
                        <a:latin typeface="华文新魏" panose="02010800040101010101" pitchFamily="2" charset="-122"/>
                        <a:ea typeface="华文新魏" panose="02010800040101010101" pitchFamily="2" charset="-122"/>
                      </a:endParaRPr>
                    </a:p>
                  </a:txBody>
                  <a:tcPr/>
                </a:tc>
              </a:tr>
              <a:tr h="370840">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主存储器</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大</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较慢</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多种寻址方式</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字、字节或位</a:t>
                      </a:r>
                      <a:endParaRPr lang="zh-CN" altLang="en-US" dirty="0">
                        <a:solidFill>
                          <a:schemeClr val="tx1"/>
                        </a:solidFill>
                        <a:latin typeface="华文新魏" panose="02010800040101010101" pitchFamily="2" charset="-122"/>
                        <a:ea typeface="华文新魏" panose="02010800040101010101" pitchFamily="2" charset="-122"/>
                      </a:endParaRPr>
                    </a:p>
                  </a:txBody>
                  <a:tcPr/>
                </a:tc>
              </a:tr>
              <a:tr h="370840">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输入输出设备</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较小</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很慢</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单一直接寻址</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多种编址</a:t>
                      </a:r>
                      <a:endParaRPr lang="zh-CN" altLang="en-US" dirty="0">
                        <a:solidFill>
                          <a:schemeClr val="tx1"/>
                        </a:solidFill>
                        <a:latin typeface="华文新魏" panose="02010800040101010101" pitchFamily="2" charset="-122"/>
                        <a:ea typeface="华文新魏" panose="02010800040101010101" pitchFamily="2" charset="-122"/>
                      </a:endParaRPr>
                    </a:p>
                  </a:txBody>
                  <a:tcPr/>
                </a:tc>
              </a:tr>
              <a:tr h="370840">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堆栈</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较小</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较慢</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隐含寻址</a:t>
                      </a:r>
                      <a:endParaRPr lang="zh-CN" altLang="en-US" dirty="0">
                        <a:solidFill>
                          <a:schemeClr val="tx1"/>
                        </a:solidFill>
                        <a:latin typeface="华文新魏" panose="02010800040101010101" pitchFamily="2" charset="-122"/>
                        <a:ea typeface="华文新魏" panose="02010800040101010101" pitchFamily="2" charset="-122"/>
                      </a:endParaRPr>
                    </a:p>
                  </a:txBody>
                  <a:tcPr/>
                </a:tc>
                <a:tc>
                  <a:txBody>
                    <a:bodyPr/>
                    <a:lstStyle/>
                    <a:p>
                      <a:pPr algn="ctr"/>
                      <a:r>
                        <a:rPr lang="zh-CN" altLang="en-US" dirty="0" smtClean="0">
                          <a:solidFill>
                            <a:schemeClr val="tx1"/>
                          </a:solidFill>
                          <a:latin typeface="华文新魏" panose="02010800040101010101" pitchFamily="2" charset="-122"/>
                          <a:ea typeface="华文新魏" panose="02010800040101010101" pitchFamily="2" charset="-122"/>
                        </a:rPr>
                        <a:t>不编址</a:t>
                      </a:r>
                      <a:endParaRPr lang="zh-CN" altLang="en-US" dirty="0">
                        <a:solidFill>
                          <a:schemeClr val="tx1"/>
                        </a:solidFill>
                        <a:latin typeface="华文新魏" panose="02010800040101010101" pitchFamily="2" charset="-122"/>
                        <a:ea typeface="华文新魏" panose="02010800040101010101" pitchFamily="2" charset="-122"/>
                      </a:endParaRPr>
                    </a:p>
                  </a:txBody>
                  <a:tcPr/>
                </a:tc>
              </a:tr>
            </a:tbl>
          </a:graphicData>
        </a:graphic>
      </p:graphicFrame>
      <p:sp>
        <p:nvSpPr>
          <p:cNvPr id="4" name="矩形 3"/>
          <p:cNvSpPr/>
          <p:nvPr/>
        </p:nvSpPr>
        <p:spPr>
          <a:xfrm>
            <a:off x="3131840" y="3861048"/>
            <a:ext cx="2698175" cy="523220"/>
          </a:xfrm>
          <a:prstGeom prst="rect">
            <a:avLst/>
          </a:prstGeom>
        </p:spPr>
        <p:txBody>
          <a:bodyPr wrap="none">
            <a:spAutoFit/>
          </a:bodyPr>
          <a:lstStyle/>
          <a:p>
            <a:r>
              <a:rPr lang="zh-CN" altLang="en-US" dirty="0">
                <a:latin typeface="华文新魏" panose="02010800040101010101" pitchFamily="2" charset="-122"/>
                <a:ea typeface="华文新魏" panose="02010800040101010101" pitchFamily="2" charset="-122"/>
              </a:rPr>
              <a:t>零地址空间个数</a:t>
            </a:r>
          </a:p>
        </p:txBody>
      </p:sp>
      <p:sp>
        <p:nvSpPr>
          <p:cNvPr id="8" name="Rectangle 4"/>
          <p:cNvSpPr txBox="1">
            <a:spLocks noChangeArrowheads="1"/>
          </p:cNvSpPr>
          <p:nvPr/>
        </p:nvSpPr>
        <p:spPr bwMode="auto">
          <a:xfrm>
            <a:off x="3131840" y="4387676"/>
            <a:ext cx="3072123" cy="1997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eaLnBrk="1" hangingPunct="1">
              <a:lnSpc>
                <a:spcPct val="105000"/>
              </a:lnSpc>
              <a:buClrTx/>
              <a:defRPr/>
            </a:pPr>
            <a:r>
              <a:rPr lang="zh-CN" altLang="en-US" sz="2400" b="0" kern="0" dirty="0" smtClean="0">
                <a:latin typeface="华文新魏" panose="02010800040101010101" pitchFamily="2" charset="-122"/>
                <a:ea typeface="华文新魏" panose="02010800040101010101" pitchFamily="2" charset="-122"/>
                <a:hlinkClick r:id="rId6" action="ppaction://hlinksldjump"/>
              </a:rPr>
              <a:t>三个零地址空间</a:t>
            </a:r>
            <a:endParaRPr lang="zh-CN" altLang="en-US" sz="2400" b="0" kern="0" dirty="0" smtClean="0">
              <a:latin typeface="华文新魏" panose="02010800040101010101" pitchFamily="2" charset="-122"/>
              <a:ea typeface="华文新魏" panose="02010800040101010101" pitchFamily="2" charset="-122"/>
            </a:endParaRPr>
          </a:p>
          <a:p>
            <a:pPr eaLnBrk="1" hangingPunct="1">
              <a:lnSpc>
                <a:spcPct val="105000"/>
              </a:lnSpc>
              <a:defRPr/>
            </a:pPr>
            <a:r>
              <a:rPr lang="zh-CN" altLang="en-US" sz="2400" b="0" kern="0" dirty="0" smtClean="0">
                <a:latin typeface="华文新魏" panose="02010800040101010101" pitchFamily="2" charset="-122"/>
                <a:ea typeface="华文新魏" panose="02010800040101010101" pitchFamily="2" charset="-122"/>
                <a:hlinkClick r:id="rId7" action="ppaction://hlinksldjump"/>
              </a:rPr>
              <a:t>两个零地址空间</a:t>
            </a:r>
            <a:endParaRPr lang="zh-CN" altLang="en-US" sz="2400" b="0" kern="0" dirty="0" smtClean="0">
              <a:latin typeface="华文新魏" panose="02010800040101010101" pitchFamily="2" charset="-122"/>
              <a:ea typeface="华文新魏" panose="02010800040101010101" pitchFamily="2" charset="-122"/>
            </a:endParaRPr>
          </a:p>
          <a:p>
            <a:pPr eaLnBrk="1" hangingPunct="1">
              <a:lnSpc>
                <a:spcPct val="105000"/>
              </a:lnSpc>
              <a:defRPr/>
            </a:pPr>
            <a:r>
              <a:rPr lang="zh-CN" altLang="en-US" sz="2400" b="0" kern="0" dirty="0" smtClean="0">
                <a:latin typeface="华文新魏" panose="02010800040101010101" pitchFamily="2" charset="-122"/>
                <a:ea typeface="华文新魏" panose="02010800040101010101" pitchFamily="2" charset="-122"/>
                <a:hlinkClick r:id="rId8" action="ppaction://hlinksldjump"/>
              </a:rPr>
              <a:t>一个零地址空间</a:t>
            </a:r>
            <a:endParaRPr lang="zh-CN" altLang="en-US" sz="2400" b="0" kern="0" dirty="0" smtClean="0">
              <a:latin typeface="华文新魏" panose="02010800040101010101" pitchFamily="2" charset="-122"/>
              <a:ea typeface="华文新魏" panose="02010800040101010101" pitchFamily="2" charset="-122"/>
            </a:endParaRPr>
          </a:p>
          <a:p>
            <a:pPr eaLnBrk="1" hangingPunct="1">
              <a:lnSpc>
                <a:spcPct val="105000"/>
              </a:lnSpc>
              <a:defRPr/>
            </a:pPr>
            <a:r>
              <a:rPr lang="zh-CN" altLang="en-US" sz="2400" b="0" kern="0" dirty="0" smtClean="0">
                <a:latin typeface="华文新魏" panose="02010800040101010101" pitchFamily="2" charset="-122"/>
                <a:ea typeface="华文新魏" panose="02010800040101010101" pitchFamily="2" charset="-122"/>
                <a:hlinkClick r:id="rId8" action="ppaction://hlinksldjump"/>
              </a:rPr>
              <a:t>没有零地址空间</a:t>
            </a:r>
            <a:endParaRPr lang="zh-CN" altLang="en-US" sz="2400" b="0" kern="0" dirty="0" smtClean="0">
              <a:latin typeface="华文新魏" panose="02010800040101010101" pitchFamily="2" charset="-122"/>
              <a:ea typeface="华文新魏" panose="02010800040101010101"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eaLnBrk="1" hangingPunct="1">
              <a:defRPr/>
            </a:pPr>
            <a:r>
              <a:rPr lang="zh-CN" altLang="en-US" dirty="0"/>
              <a:t>三个零地址空间</a:t>
            </a:r>
            <a:endParaRPr lang="zh-CN" altLang="en-US" dirty="0" smtClean="0"/>
          </a:p>
        </p:txBody>
      </p:sp>
      <p:sp>
        <p:nvSpPr>
          <p:cNvPr id="46083" name="Text Box 3"/>
          <p:cNvSpPr txBox="1">
            <a:spLocks noChangeArrowheads="1"/>
          </p:cNvSpPr>
          <p:nvPr/>
        </p:nvSpPr>
        <p:spPr bwMode="auto">
          <a:xfrm>
            <a:off x="1346200" y="87313"/>
            <a:ext cx="75692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寻址技术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编址</a:t>
            </a:r>
            <a:r>
              <a:rPr lang="zh-CN" altLang="en-US" sz="1200" b="0" dirty="0" smtClean="0">
                <a:latin typeface="Times New Roman" pitchFamily="18" charset="0"/>
                <a:ea typeface="幼圆" pitchFamily="49" charset="-122"/>
                <a:hlinkClick r:id="rId5" action="ppaction://hlinksldjump"/>
              </a:rPr>
              <a:t>方式</a:t>
            </a:r>
            <a:r>
              <a:rPr lang="en-US" altLang="zh-CN" sz="1200" b="0" dirty="0" smtClean="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零地址空间个数</a:t>
            </a:r>
            <a:endParaRPr lang="zh-CN" altLang="en-US" sz="1200" b="0" dirty="0">
              <a:latin typeface="Times New Roman" pitchFamily="18" charset="0"/>
              <a:ea typeface="幼圆" pitchFamily="49" charset="-122"/>
            </a:endParaRPr>
          </a:p>
          <a:p>
            <a:pPr eaLnBrk="1" hangingPunct="1">
              <a:spcBef>
                <a:spcPct val="50000"/>
              </a:spcBef>
              <a:buFont typeface="Wingdings" pitchFamily="2" charset="2"/>
              <a:buNone/>
            </a:pPr>
            <a:endParaRPr lang="zh-CN" altLang="en-US" sz="1200" b="0" dirty="0">
              <a:latin typeface="Times New Roman" pitchFamily="18" charset="0"/>
              <a:ea typeface="幼圆" pitchFamily="49" charset="-122"/>
            </a:endParaRPr>
          </a:p>
        </p:txBody>
      </p:sp>
      <p:sp>
        <p:nvSpPr>
          <p:cNvPr id="279556" name="Rectangle 4"/>
          <p:cNvSpPr>
            <a:spLocks noGrp="1" noChangeArrowheads="1"/>
          </p:cNvSpPr>
          <p:nvPr>
            <p:ph type="body" idx="1"/>
          </p:nvPr>
        </p:nvSpPr>
        <p:spPr/>
        <p:txBody>
          <a:bodyPr/>
          <a:lstStyle/>
          <a:p>
            <a:pPr eaLnBrk="1" hangingPunct="1">
              <a:lnSpc>
                <a:spcPct val="125000"/>
              </a:lnSpc>
              <a:buClrTx/>
              <a:defRPr/>
            </a:pPr>
            <a:r>
              <a:rPr lang="zh-CN" altLang="en-US" sz="2400" dirty="0" smtClean="0"/>
              <a:t>通用寄存器、主存储器和输入输出设备均独立编址。</a:t>
            </a:r>
            <a:endParaRPr lang="en-US" altLang="zh-CN" sz="2400" dirty="0" smtClean="0"/>
          </a:p>
          <a:p>
            <a:pPr eaLnBrk="1" hangingPunct="1">
              <a:lnSpc>
                <a:spcPct val="125000"/>
              </a:lnSpc>
              <a:buClrTx/>
              <a:defRPr/>
            </a:pPr>
            <a:r>
              <a:rPr lang="zh-CN" altLang="en-US" sz="2400" dirty="0" smtClean="0">
                <a:solidFill>
                  <a:srgbClr val="FF0000"/>
                </a:solidFill>
              </a:rPr>
              <a:t>优点：</a:t>
            </a:r>
            <a:r>
              <a:rPr lang="zh-CN" altLang="en-US" sz="2400" dirty="0" smtClean="0"/>
              <a:t>能够满足不同存储设备的需要</a:t>
            </a:r>
            <a:endParaRPr lang="en-US" altLang="zh-CN" sz="2400" dirty="0" smtClean="0"/>
          </a:p>
          <a:p>
            <a:pPr eaLnBrk="1" hangingPunct="1">
              <a:lnSpc>
                <a:spcPct val="125000"/>
              </a:lnSpc>
              <a:buClrTx/>
              <a:defRPr/>
            </a:pPr>
            <a:r>
              <a:rPr lang="zh-CN" altLang="en-US" sz="2400" dirty="0" smtClean="0">
                <a:solidFill>
                  <a:srgbClr val="FF0000"/>
                </a:solidFill>
              </a:rPr>
              <a:t>缺点：</a:t>
            </a:r>
            <a:r>
              <a:rPr lang="zh-CN" altLang="en-US" sz="2400" dirty="0" smtClean="0"/>
              <a:t>指令系统中通常要有三类操作指令，例如：三类的数据传送指令、运算指令、移位指令等</a:t>
            </a:r>
            <a:endParaRPr lang="en-US" altLang="zh-CN" sz="2400" dirty="0" smtClean="0"/>
          </a:p>
          <a:p>
            <a:pPr lvl="1" eaLnBrk="1" hangingPunct="1">
              <a:lnSpc>
                <a:spcPct val="125000"/>
              </a:lnSpc>
              <a:buClrTx/>
              <a:defRPr/>
            </a:pPr>
            <a:r>
              <a:rPr lang="en-US" altLang="zh-CN" sz="2400" dirty="0" smtClean="0">
                <a:solidFill>
                  <a:srgbClr val="3333FF"/>
                </a:solidFill>
              </a:rPr>
              <a:t>RISC</a:t>
            </a:r>
            <a:r>
              <a:rPr lang="zh-CN" altLang="en-US" sz="2400" dirty="0" smtClean="0">
                <a:solidFill>
                  <a:srgbClr val="3333FF"/>
                </a:solidFill>
              </a:rPr>
              <a:t>计算机</a:t>
            </a:r>
            <a:r>
              <a:rPr lang="zh-CN" altLang="en-US" sz="2400" dirty="0" smtClean="0"/>
              <a:t>：为简化指令系统，一般规定所有的运算、移位和测试等操作只能在通用寄存器中进行，只有访问操作在三类存储设备中都能进行</a:t>
            </a:r>
            <a:endParaRPr lang="en-US" altLang="zh-CN" sz="2400" dirty="0" smtClean="0"/>
          </a:p>
          <a:p>
            <a:pPr lvl="1" eaLnBrk="1" hangingPunct="1">
              <a:lnSpc>
                <a:spcPct val="125000"/>
              </a:lnSpc>
              <a:buClrTx/>
              <a:defRPr/>
            </a:pPr>
            <a:r>
              <a:rPr lang="en-US" altLang="zh-CN" sz="2400" dirty="0" smtClean="0">
                <a:solidFill>
                  <a:srgbClr val="3333FF"/>
                </a:solidFill>
              </a:rPr>
              <a:t>CISC</a:t>
            </a:r>
            <a:r>
              <a:rPr lang="zh-CN" altLang="en-US" sz="2400" dirty="0" smtClean="0">
                <a:solidFill>
                  <a:srgbClr val="3333FF"/>
                </a:solidFill>
              </a:rPr>
              <a:t>计算机：</a:t>
            </a:r>
            <a:r>
              <a:rPr lang="zh-CN" altLang="en-US" sz="2400" dirty="0" smtClean="0"/>
              <a:t>通常所有操作都能在三类存储设备上进行</a:t>
            </a:r>
          </a:p>
          <a:p>
            <a:pPr marL="0" indent="0" eaLnBrk="1" hangingPunct="1">
              <a:lnSpc>
                <a:spcPct val="125000"/>
              </a:lnSpc>
              <a:buClr>
                <a:srgbClr val="FF3300"/>
              </a:buClr>
              <a:buNone/>
              <a:defRPr/>
            </a:pPr>
            <a:endParaRPr lang="zh-CN" altLang="en-US" sz="2400" dirty="0" smtClean="0"/>
          </a:p>
        </p:txBody>
      </p:sp>
    </p:spTree>
    <p:extLst>
      <p:ext uri="{BB962C8B-B14F-4D97-AF65-F5344CB8AC3E}">
        <p14:creationId xmlns:p14="http://schemas.microsoft.com/office/powerpoint/2010/main" val="175395948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eaLnBrk="1" hangingPunct="1">
              <a:defRPr/>
            </a:pPr>
            <a:r>
              <a:rPr lang="zh-CN" altLang="en-US" dirty="0"/>
              <a:t>两</a:t>
            </a:r>
            <a:r>
              <a:rPr lang="zh-CN" altLang="en-US" dirty="0" smtClean="0"/>
              <a:t>个</a:t>
            </a:r>
            <a:r>
              <a:rPr lang="zh-CN" altLang="en-US" dirty="0"/>
              <a:t>零地址空间</a:t>
            </a:r>
            <a:endParaRPr lang="zh-CN" altLang="en-US" dirty="0" smtClean="0"/>
          </a:p>
        </p:txBody>
      </p:sp>
      <p:sp>
        <p:nvSpPr>
          <p:cNvPr id="46083" name="Text Box 3"/>
          <p:cNvSpPr txBox="1">
            <a:spLocks noChangeArrowheads="1"/>
          </p:cNvSpPr>
          <p:nvPr/>
        </p:nvSpPr>
        <p:spPr bwMode="auto">
          <a:xfrm>
            <a:off x="1346200" y="87313"/>
            <a:ext cx="75692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寻址技术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编址</a:t>
            </a:r>
            <a:r>
              <a:rPr lang="zh-CN" altLang="en-US" sz="1200" b="0" dirty="0" smtClean="0">
                <a:latin typeface="Times New Roman" pitchFamily="18" charset="0"/>
                <a:ea typeface="幼圆" pitchFamily="49" charset="-122"/>
                <a:hlinkClick r:id="rId5" action="ppaction://hlinksldjump"/>
              </a:rPr>
              <a:t>方式</a:t>
            </a:r>
            <a:r>
              <a:rPr lang="en-US" altLang="zh-CN" sz="1200" b="0" dirty="0" smtClean="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零地址空间个数</a:t>
            </a:r>
            <a:endParaRPr lang="zh-CN" altLang="en-US" sz="1200" b="0" dirty="0">
              <a:latin typeface="Times New Roman" pitchFamily="18" charset="0"/>
              <a:ea typeface="幼圆" pitchFamily="49" charset="-122"/>
            </a:endParaRPr>
          </a:p>
          <a:p>
            <a:pPr eaLnBrk="1" hangingPunct="1">
              <a:spcBef>
                <a:spcPct val="50000"/>
              </a:spcBef>
              <a:buFont typeface="Wingdings" pitchFamily="2" charset="2"/>
              <a:buNone/>
            </a:pPr>
            <a:endParaRPr lang="zh-CN" altLang="en-US" sz="1200" b="0" dirty="0">
              <a:latin typeface="Times New Roman" pitchFamily="18" charset="0"/>
              <a:ea typeface="幼圆" pitchFamily="49" charset="-122"/>
            </a:endParaRPr>
          </a:p>
        </p:txBody>
      </p:sp>
      <p:sp>
        <p:nvSpPr>
          <p:cNvPr id="279556" name="Rectangle 4"/>
          <p:cNvSpPr>
            <a:spLocks noGrp="1" noChangeArrowheads="1"/>
          </p:cNvSpPr>
          <p:nvPr>
            <p:ph type="body" idx="1"/>
          </p:nvPr>
        </p:nvSpPr>
        <p:spPr/>
        <p:txBody>
          <a:bodyPr/>
          <a:lstStyle/>
          <a:p>
            <a:pPr eaLnBrk="1" hangingPunct="1">
              <a:lnSpc>
                <a:spcPct val="125000"/>
              </a:lnSpc>
              <a:buClrTx/>
              <a:defRPr/>
            </a:pPr>
            <a:r>
              <a:rPr lang="zh-CN" altLang="en-US" sz="2400" dirty="0"/>
              <a:t>通用寄存器单独编址，主存储器与输入输出设备统一</a:t>
            </a:r>
            <a:r>
              <a:rPr lang="zh-CN" altLang="en-US" sz="2400" dirty="0" smtClean="0"/>
              <a:t>编址。</a:t>
            </a:r>
            <a:endParaRPr lang="en-US" altLang="zh-CN" sz="2400" dirty="0" smtClean="0"/>
          </a:p>
          <a:p>
            <a:pPr eaLnBrk="1" hangingPunct="1">
              <a:lnSpc>
                <a:spcPct val="125000"/>
              </a:lnSpc>
              <a:buClrTx/>
              <a:defRPr/>
            </a:pPr>
            <a:r>
              <a:rPr lang="zh-CN" altLang="en-US" sz="2400" dirty="0" smtClean="0">
                <a:solidFill>
                  <a:srgbClr val="FF0000"/>
                </a:solidFill>
              </a:rPr>
              <a:t>优点：</a:t>
            </a:r>
            <a:r>
              <a:rPr lang="zh-CN" altLang="en-US" sz="2400" dirty="0" smtClean="0"/>
              <a:t>能够简化指令系统，因为无需另外设置</a:t>
            </a:r>
            <a:r>
              <a:rPr lang="en-US" altLang="zh-CN" sz="2400" dirty="0" smtClean="0"/>
              <a:t>I/O</a:t>
            </a:r>
            <a:r>
              <a:rPr lang="zh-CN" altLang="en-US" sz="2400" dirty="0" smtClean="0"/>
              <a:t>指令</a:t>
            </a:r>
            <a:endParaRPr lang="en-US" altLang="zh-CN" sz="2400" dirty="0" smtClean="0"/>
          </a:p>
          <a:p>
            <a:pPr eaLnBrk="1" hangingPunct="1">
              <a:lnSpc>
                <a:spcPct val="125000"/>
              </a:lnSpc>
              <a:buClrTx/>
              <a:defRPr/>
            </a:pPr>
            <a:r>
              <a:rPr lang="zh-CN" altLang="en-US" sz="2400" dirty="0" smtClean="0">
                <a:solidFill>
                  <a:srgbClr val="FF0000"/>
                </a:solidFill>
              </a:rPr>
              <a:t>缺点：</a:t>
            </a:r>
            <a:r>
              <a:rPr lang="zh-CN" altLang="en-US" sz="2400" dirty="0" smtClean="0"/>
              <a:t>指令执行过程复杂，执行时间要加长；因为所有访问主存储器的操作都需判断是否访问</a:t>
            </a:r>
            <a:r>
              <a:rPr lang="en-US" altLang="zh-CN" sz="2400" dirty="0" smtClean="0"/>
              <a:t>I/O</a:t>
            </a:r>
            <a:r>
              <a:rPr lang="zh-CN" altLang="en-US" sz="2400" dirty="0" smtClean="0"/>
              <a:t>设备</a:t>
            </a:r>
            <a:endParaRPr lang="en-US" altLang="zh-CN" sz="2400" dirty="0" smtClean="0"/>
          </a:p>
          <a:p>
            <a:pPr lvl="1" eaLnBrk="1" hangingPunct="1">
              <a:lnSpc>
                <a:spcPct val="125000"/>
              </a:lnSpc>
              <a:buClrTx/>
              <a:defRPr/>
            </a:pPr>
            <a:r>
              <a:rPr lang="en-US" altLang="zh-CN" sz="2400" dirty="0" smtClean="0">
                <a:solidFill>
                  <a:srgbClr val="3333FF"/>
                </a:solidFill>
              </a:rPr>
              <a:t>RISC</a:t>
            </a:r>
            <a:r>
              <a:rPr lang="zh-CN" altLang="en-US" sz="2400" dirty="0" smtClean="0">
                <a:solidFill>
                  <a:srgbClr val="3333FF"/>
                </a:solidFill>
              </a:rPr>
              <a:t>计算机</a:t>
            </a:r>
            <a:r>
              <a:rPr lang="zh-CN" altLang="en-US" sz="2400" dirty="0" smtClean="0"/>
              <a:t>：尤为不利，因为具体操作都需涉及</a:t>
            </a:r>
            <a:r>
              <a:rPr lang="en-US" altLang="zh-CN" sz="2400" dirty="0" smtClean="0"/>
              <a:t>Load/Store</a:t>
            </a:r>
            <a:r>
              <a:rPr lang="zh-CN" altLang="en-US" sz="2400" dirty="0" smtClean="0"/>
              <a:t>指令。</a:t>
            </a:r>
            <a:endParaRPr lang="en-US" altLang="zh-CN" sz="2400" dirty="0" smtClean="0"/>
          </a:p>
          <a:p>
            <a:pPr lvl="1" eaLnBrk="1" hangingPunct="1">
              <a:lnSpc>
                <a:spcPct val="125000"/>
              </a:lnSpc>
              <a:buClrTx/>
              <a:defRPr/>
            </a:pPr>
            <a:r>
              <a:rPr lang="en-US" altLang="zh-CN" sz="2400" dirty="0" smtClean="0">
                <a:solidFill>
                  <a:srgbClr val="3333FF"/>
                </a:solidFill>
              </a:rPr>
              <a:t>CISC</a:t>
            </a:r>
            <a:r>
              <a:rPr lang="zh-CN" altLang="en-US" sz="2400" dirty="0" smtClean="0">
                <a:solidFill>
                  <a:srgbClr val="3333FF"/>
                </a:solidFill>
              </a:rPr>
              <a:t>计算机：</a:t>
            </a:r>
            <a:r>
              <a:rPr lang="zh-CN" altLang="en-US" sz="2400" dirty="0" smtClean="0"/>
              <a:t>对于</a:t>
            </a:r>
            <a:r>
              <a:rPr lang="en-US" altLang="zh-CN" sz="2400" dirty="0" smtClean="0"/>
              <a:t>I/O</a:t>
            </a:r>
            <a:r>
              <a:rPr lang="zh-CN" altLang="en-US" sz="2400" dirty="0" smtClean="0"/>
              <a:t>设备许多复杂的运算指令根本用不上</a:t>
            </a:r>
          </a:p>
          <a:p>
            <a:pPr marL="0" indent="0" eaLnBrk="1" hangingPunct="1">
              <a:lnSpc>
                <a:spcPct val="125000"/>
              </a:lnSpc>
              <a:buClr>
                <a:srgbClr val="FF3300"/>
              </a:buClr>
              <a:buNone/>
              <a:defRPr/>
            </a:pPr>
            <a:endParaRPr lang="zh-CN" altLang="en-US" sz="2400" dirty="0" smtClean="0"/>
          </a:p>
        </p:txBody>
      </p:sp>
    </p:spTree>
    <p:extLst>
      <p:ext uri="{BB962C8B-B14F-4D97-AF65-F5344CB8AC3E}">
        <p14:creationId xmlns:p14="http://schemas.microsoft.com/office/powerpoint/2010/main" val="104122133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eaLnBrk="1" hangingPunct="1">
              <a:defRPr/>
            </a:pPr>
            <a:r>
              <a:rPr lang="zh-CN" altLang="en-US" dirty="0" smtClean="0"/>
              <a:t>一个</a:t>
            </a:r>
            <a:r>
              <a:rPr lang="en-US" altLang="zh-CN" dirty="0" smtClean="0"/>
              <a:t>/</a:t>
            </a:r>
            <a:r>
              <a:rPr lang="zh-CN" altLang="en-US" dirty="0" smtClean="0"/>
              <a:t>没有零</a:t>
            </a:r>
            <a:r>
              <a:rPr lang="zh-CN" altLang="en-US" dirty="0"/>
              <a:t>地址空间</a:t>
            </a:r>
            <a:endParaRPr lang="zh-CN" altLang="en-US" dirty="0" smtClean="0"/>
          </a:p>
        </p:txBody>
      </p:sp>
      <p:sp>
        <p:nvSpPr>
          <p:cNvPr id="46083" name="Text Box 3"/>
          <p:cNvSpPr txBox="1">
            <a:spLocks noChangeArrowheads="1"/>
          </p:cNvSpPr>
          <p:nvPr/>
        </p:nvSpPr>
        <p:spPr bwMode="auto">
          <a:xfrm>
            <a:off x="1346200" y="87313"/>
            <a:ext cx="75692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寻址技术</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5" action="ppaction://hlinksldjump"/>
              </a:rPr>
              <a:t>编址</a:t>
            </a:r>
            <a:r>
              <a:rPr lang="zh-CN" altLang="en-US" sz="1200" b="0" dirty="0" smtClean="0">
                <a:latin typeface="Times New Roman" pitchFamily="18" charset="0"/>
                <a:ea typeface="幼圆" pitchFamily="49" charset="-122"/>
                <a:hlinkClick r:id="rId5" action="ppaction://hlinksldjump"/>
              </a:rPr>
              <a:t>方式</a:t>
            </a:r>
            <a:r>
              <a:rPr lang="en-US" altLang="zh-CN" sz="1200" b="0" dirty="0" smtClean="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零地址空间个数</a:t>
            </a:r>
            <a:endParaRPr lang="zh-CN" altLang="en-US" sz="1200" b="0" dirty="0">
              <a:latin typeface="Times New Roman" pitchFamily="18" charset="0"/>
              <a:ea typeface="幼圆" pitchFamily="49" charset="-122"/>
            </a:endParaRPr>
          </a:p>
          <a:p>
            <a:pPr eaLnBrk="1" hangingPunct="1">
              <a:spcBef>
                <a:spcPct val="50000"/>
              </a:spcBef>
              <a:buFont typeface="Wingdings" pitchFamily="2" charset="2"/>
              <a:buNone/>
            </a:pPr>
            <a:endParaRPr lang="zh-CN" altLang="en-US" sz="1200" b="0" dirty="0">
              <a:latin typeface="Times New Roman" pitchFamily="18" charset="0"/>
              <a:ea typeface="幼圆" pitchFamily="49" charset="-122"/>
            </a:endParaRPr>
          </a:p>
        </p:txBody>
      </p:sp>
      <p:sp>
        <p:nvSpPr>
          <p:cNvPr id="279556" name="Rectangle 4"/>
          <p:cNvSpPr>
            <a:spLocks noGrp="1" noChangeArrowheads="1"/>
          </p:cNvSpPr>
          <p:nvPr>
            <p:ph type="body" idx="1"/>
          </p:nvPr>
        </p:nvSpPr>
        <p:spPr/>
        <p:txBody>
          <a:bodyPr/>
          <a:lstStyle/>
          <a:p>
            <a:pPr marL="0" indent="0" eaLnBrk="1" hangingPunct="1">
              <a:lnSpc>
                <a:spcPct val="125000"/>
              </a:lnSpc>
              <a:buClr>
                <a:srgbClr val="FF3300"/>
              </a:buClr>
              <a:defRPr/>
            </a:pPr>
            <a:r>
              <a:rPr lang="zh-CN" altLang="en-US" sz="2800" dirty="0" smtClean="0">
                <a:solidFill>
                  <a:srgbClr val="FF3300"/>
                </a:solidFill>
                <a:effectLst>
                  <a:outerShdw blurRad="38100" dist="38100" dir="2700000" algn="tl">
                    <a:srgbClr val="C0C0C0"/>
                  </a:outerShdw>
                </a:effectLst>
              </a:rPr>
              <a:t>  一个零地址空间</a:t>
            </a:r>
          </a:p>
          <a:p>
            <a:pPr marL="0" indent="0" eaLnBrk="1" hangingPunct="1">
              <a:lnSpc>
                <a:spcPct val="125000"/>
              </a:lnSpc>
              <a:buFont typeface="Wingdings" pitchFamily="2" charset="2"/>
              <a:buNone/>
              <a:defRPr/>
            </a:pPr>
            <a:r>
              <a:rPr lang="zh-CN" altLang="en-US" sz="2400" dirty="0" smtClean="0"/>
              <a:t>     所有存储设备统一编址，最低端是通用寄存器，最高端是输入输出设备，中间为主存储器。</a:t>
            </a:r>
            <a:endParaRPr lang="en-US" altLang="zh-CN" sz="2400" dirty="0" smtClean="0"/>
          </a:p>
          <a:p>
            <a:pPr marL="0" indent="0" eaLnBrk="1" hangingPunct="1">
              <a:lnSpc>
                <a:spcPct val="125000"/>
              </a:lnSpc>
              <a:buNone/>
              <a:defRPr/>
            </a:pPr>
            <a:r>
              <a:rPr lang="en-US" altLang="zh-CN" sz="2400" dirty="0"/>
              <a:t> </a:t>
            </a:r>
            <a:r>
              <a:rPr lang="en-US" altLang="zh-CN" sz="2400" dirty="0" smtClean="0"/>
              <a:t>    </a:t>
            </a:r>
            <a:r>
              <a:rPr lang="zh-CN" altLang="en-US" sz="2400" dirty="0" smtClean="0"/>
              <a:t>此类计算机中通常有一个存储容量比较大的高速存储器，有多个进程或线程存放在高速存储器中，并且可以通过硬件进行</a:t>
            </a:r>
            <a:r>
              <a:rPr lang="zh-CN" altLang="en-US" sz="2400" dirty="0"/>
              <a:t>进程或</a:t>
            </a:r>
            <a:r>
              <a:rPr lang="zh-CN" altLang="en-US" sz="2400" dirty="0" smtClean="0"/>
              <a:t>线程的切换。</a:t>
            </a:r>
          </a:p>
          <a:p>
            <a:pPr marL="0" indent="0" eaLnBrk="1" hangingPunct="1">
              <a:lnSpc>
                <a:spcPct val="125000"/>
              </a:lnSpc>
              <a:buClr>
                <a:srgbClr val="FF3300"/>
              </a:buClr>
              <a:defRPr/>
            </a:pPr>
            <a:r>
              <a:rPr lang="zh-CN" altLang="en-US" sz="2800" dirty="0" smtClean="0">
                <a:solidFill>
                  <a:srgbClr val="FF3300"/>
                </a:solidFill>
                <a:effectLst>
                  <a:outerShdw blurRad="38100" dist="38100" dir="2700000" algn="tl">
                    <a:srgbClr val="C0C0C0"/>
                  </a:outerShdw>
                </a:effectLst>
              </a:rPr>
              <a:t>  没有零地址空间（隐含编址方式）</a:t>
            </a:r>
          </a:p>
          <a:p>
            <a:pPr marL="0" indent="0" eaLnBrk="1" hangingPunct="1">
              <a:lnSpc>
                <a:spcPct val="125000"/>
              </a:lnSpc>
              <a:buFont typeface="Wingdings" pitchFamily="2" charset="2"/>
              <a:buNone/>
              <a:defRPr/>
            </a:pPr>
            <a:r>
              <a:rPr lang="zh-CN" altLang="en-US" sz="2400" dirty="0" smtClean="0"/>
              <a:t>     所有存储设备都无需编址，例如：堆栈、</a:t>
            </a:r>
            <a:r>
              <a:rPr lang="en-US" altLang="zh-CN" sz="2400" dirty="0" smtClean="0"/>
              <a:t>Cache</a:t>
            </a:r>
            <a:r>
              <a:rPr lang="zh-CN" altLang="en-US" sz="2400" dirty="0" smtClean="0"/>
              <a:t>等。</a:t>
            </a:r>
          </a:p>
        </p:txBody>
      </p:sp>
    </p:spTree>
    <p:extLst>
      <p:ext uri="{BB962C8B-B14F-4D97-AF65-F5344CB8AC3E}">
        <p14:creationId xmlns:p14="http://schemas.microsoft.com/office/powerpoint/2010/main" val="3506851330"/>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pPr eaLnBrk="1" hangingPunct="1">
              <a:defRPr/>
            </a:pPr>
            <a:r>
              <a:rPr lang="en-US" altLang="zh-CN" smtClean="0"/>
              <a:t>I/O</a:t>
            </a:r>
            <a:r>
              <a:rPr lang="zh-CN" altLang="en-US" smtClean="0"/>
              <a:t>设备的编址技术</a:t>
            </a:r>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endParaRPr lang="zh-CN" altLang="en-US" sz="1200" b="0">
              <a:latin typeface="Times New Roman" pitchFamily="18" charset="0"/>
              <a:ea typeface="幼圆" pitchFamily="49" charset="-122"/>
            </a:endParaRPr>
          </a:p>
        </p:txBody>
      </p:sp>
      <p:sp>
        <p:nvSpPr>
          <p:cNvPr id="281604" name="Rectangle 4"/>
          <p:cNvSpPr>
            <a:spLocks noGrp="1" noChangeArrowheads="1"/>
          </p:cNvSpPr>
          <p:nvPr>
            <p:ph type="body" idx="1"/>
          </p:nvPr>
        </p:nvSpPr>
        <p:spPr>
          <a:xfrm>
            <a:off x="809625" y="1916113"/>
            <a:ext cx="7958138" cy="4332287"/>
          </a:xfrm>
        </p:spPr>
        <p:txBody>
          <a:bodyPr/>
          <a:lstStyle/>
          <a:p>
            <a:pPr marL="0" indent="0" eaLnBrk="1" hangingPunct="1">
              <a:lnSpc>
                <a:spcPct val="120000"/>
              </a:lnSpc>
              <a:buClr>
                <a:srgbClr val="FF3300"/>
              </a:buClr>
              <a:defRPr/>
            </a:pPr>
            <a:r>
              <a:rPr lang="zh-CN" altLang="en-US" sz="2400" dirty="0" smtClean="0">
                <a:solidFill>
                  <a:srgbClr val="FF3300"/>
                </a:solidFill>
                <a:effectLst>
                  <a:outerShdw blurRad="38100" dist="38100" dir="2700000" algn="tl">
                    <a:srgbClr val="C0C0C0"/>
                  </a:outerShdw>
                </a:effectLst>
              </a:rPr>
              <a:t>  一台设备一个地址</a:t>
            </a:r>
          </a:p>
          <a:p>
            <a:pPr lvl="1" eaLnBrk="1" hangingPunct="1">
              <a:lnSpc>
                <a:spcPct val="120000"/>
              </a:lnSpc>
              <a:defRPr/>
            </a:pPr>
            <a:r>
              <a:rPr lang="zh-CN" altLang="en-US" sz="2400" dirty="0" smtClean="0"/>
              <a:t>对</a:t>
            </a:r>
            <a:r>
              <a:rPr lang="en-US" altLang="zh-CN" sz="2400" dirty="0" smtClean="0"/>
              <a:t>I/O</a:t>
            </a:r>
            <a:r>
              <a:rPr lang="zh-CN" altLang="en-US" sz="2400" dirty="0" smtClean="0"/>
              <a:t>设备本身进行编址，没有对寄存器进行编址。</a:t>
            </a:r>
            <a:endParaRPr lang="en-US" altLang="zh-CN" sz="2400" dirty="0" smtClean="0"/>
          </a:p>
          <a:p>
            <a:pPr lvl="1" eaLnBrk="1" hangingPunct="1">
              <a:lnSpc>
                <a:spcPct val="120000"/>
              </a:lnSpc>
              <a:defRPr/>
            </a:pPr>
            <a:r>
              <a:rPr lang="zh-CN" altLang="en-US" sz="2400" dirty="0" smtClean="0"/>
              <a:t>通过指令中的操作码来识别该</a:t>
            </a:r>
            <a:r>
              <a:rPr lang="en-US" altLang="zh-CN" sz="2400" dirty="0" smtClean="0"/>
              <a:t>I/O</a:t>
            </a:r>
            <a:r>
              <a:rPr lang="zh-CN" altLang="en-US" sz="2400" dirty="0" smtClean="0"/>
              <a:t>设备上的有关寄存器：通常要设置对数据寄存器进行读写的指令和设置对控制寄存器或状态寄存器进行操作的指令等。</a:t>
            </a:r>
            <a:endParaRPr lang="en-US" altLang="zh-CN" sz="2400" dirty="0" smtClean="0"/>
          </a:p>
          <a:p>
            <a:pPr lvl="1" eaLnBrk="1" hangingPunct="1">
              <a:lnSpc>
                <a:spcPct val="120000"/>
              </a:lnSpc>
              <a:defRPr/>
            </a:pPr>
            <a:r>
              <a:rPr lang="zh-CN" altLang="en-US" sz="2400" dirty="0" smtClean="0">
                <a:solidFill>
                  <a:srgbClr val="3333FF"/>
                </a:solidFill>
              </a:rPr>
              <a:t>应用：</a:t>
            </a:r>
            <a:r>
              <a:rPr lang="zh-CN" altLang="en-US" sz="2400" dirty="0" smtClean="0"/>
              <a:t>早期广泛应用，现在许多微型、小型机普遍使用。</a:t>
            </a:r>
            <a:endParaRPr lang="en-US" altLang="zh-CN" sz="2400" dirty="0" smtClean="0"/>
          </a:p>
          <a:p>
            <a:pPr lvl="1" eaLnBrk="1" hangingPunct="1">
              <a:lnSpc>
                <a:spcPct val="120000"/>
              </a:lnSpc>
              <a:defRPr/>
            </a:pPr>
            <a:r>
              <a:rPr lang="zh-CN" altLang="en-US" sz="2400" dirty="0" smtClean="0">
                <a:solidFill>
                  <a:srgbClr val="3333FF"/>
                </a:solidFill>
              </a:rPr>
              <a:t>优点：</a:t>
            </a:r>
            <a:r>
              <a:rPr lang="en-US" altLang="zh-CN" sz="2400" dirty="0" smtClean="0"/>
              <a:t>I/O</a:t>
            </a:r>
            <a:r>
              <a:rPr lang="zh-CN" altLang="en-US" sz="2400" dirty="0" smtClean="0"/>
              <a:t>设备的地址很规整，地址码的长度很短</a:t>
            </a:r>
            <a:endParaRPr lang="en-US" altLang="zh-CN" sz="2400" dirty="0" smtClean="0"/>
          </a:p>
          <a:p>
            <a:pPr lvl="1" eaLnBrk="1" hangingPunct="1">
              <a:lnSpc>
                <a:spcPct val="120000"/>
              </a:lnSpc>
              <a:defRPr/>
            </a:pPr>
            <a:r>
              <a:rPr lang="zh-CN" altLang="en-US" sz="2400" dirty="0" smtClean="0">
                <a:solidFill>
                  <a:srgbClr val="3333FF"/>
                </a:solidFill>
              </a:rPr>
              <a:t>缺点：</a:t>
            </a:r>
            <a:r>
              <a:rPr lang="zh-CN" altLang="en-US" sz="2400" dirty="0" smtClean="0"/>
              <a:t>指令系统比较复杂</a:t>
            </a:r>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2</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1</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pPr eaLnBrk="1" hangingPunct="1">
              <a:defRPr/>
            </a:pPr>
            <a:r>
              <a:rPr lang="en-US" altLang="zh-CN" smtClean="0"/>
              <a:t>I/O</a:t>
            </a:r>
            <a:r>
              <a:rPr lang="zh-CN" altLang="en-US" smtClean="0"/>
              <a:t>设备的编址技术</a:t>
            </a:r>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endParaRPr lang="zh-CN" altLang="en-US" sz="1200" b="0">
              <a:latin typeface="Times New Roman" pitchFamily="18" charset="0"/>
              <a:ea typeface="幼圆" pitchFamily="49" charset="-122"/>
            </a:endParaRPr>
          </a:p>
        </p:txBody>
      </p:sp>
      <p:sp>
        <p:nvSpPr>
          <p:cNvPr id="281604" name="Rectangle 4"/>
          <p:cNvSpPr>
            <a:spLocks noGrp="1" noChangeArrowheads="1"/>
          </p:cNvSpPr>
          <p:nvPr>
            <p:ph type="body" idx="1"/>
          </p:nvPr>
        </p:nvSpPr>
        <p:spPr>
          <a:xfrm>
            <a:off x="809625" y="1844824"/>
            <a:ext cx="7958138" cy="4465215"/>
          </a:xfrm>
        </p:spPr>
        <p:txBody>
          <a:bodyPr/>
          <a:lstStyle/>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一台设备两个地址</a:t>
            </a:r>
          </a:p>
          <a:p>
            <a:pPr lvl="1" eaLnBrk="1" hangingPunct="1">
              <a:defRPr/>
            </a:pPr>
            <a:r>
              <a:rPr lang="zh-CN" altLang="en-US" sz="2400" dirty="0" smtClean="0"/>
              <a:t>一个地址是数据寄存器，另一个是状态或控制寄存器。</a:t>
            </a:r>
            <a:endParaRPr lang="en-US" altLang="zh-CN" sz="2400" dirty="0" smtClean="0"/>
          </a:p>
          <a:p>
            <a:pPr lvl="1" eaLnBrk="1" hangingPunct="1">
              <a:defRPr/>
            </a:pPr>
            <a:r>
              <a:rPr lang="zh-CN" altLang="en-US" sz="2400" dirty="0" smtClean="0">
                <a:solidFill>
                  <a:srgbClr val="3333FF"/>
                </a:solidFill>
              </a:rPr>
              <a:t>应用：</a:t>
            </a:r>
            <a:r>
              <a:rPr lang="zh-CN" altLang="en-US" sz="2400" dirty="0" smtClean="0"/>
              <a:t>适用于大多数</a:t>
            </a:r>
            <a:r>
              <a:rPr lang="en-US" altLang="zh-CN" sz="2400" dirty="0" smtClean="0"/>
              <a:t>I/O</a:t>
            </a:r>
            <a:r>
              <a:rPr lang="zh-CN" altLang="en-US" sz="2400" dirty="0" smtClean="0"/>
              <a:t>设备，因为绝大多数</a:t>
            </a:r>
            <a:r>
              <a:rPr lang="en-US" altLang="zh-CN" sz="2400" dirty="0" smtClean="0"/>
              <a:t>I/O</a:t>
            </a:r>
            <a:r>
              <a:rPr lang="zh-CN" altLang="en-US" sz="2400" dirty="0" smtClean="0"/>
              <a:t>设备的接口上只有这两个要编址的寄存器。</a:t>
            </a:r>
            <a:endParaRPr lang="en-US" altLang="zh-CN" sz="2400" dirty="0" smtClean="0"/>
          </a:p>
          <a:p>
            <a:pPr lvl="1" eaLnBrk="1" hangingPunct="1">
              <a:defRPr/>
            </a:pPr>
            <a:r>
              <a:rPr lang="zh-CN" altLang="en-US" sz="2400" dirty="0" smtClean="0">
                <a:solidFill>
                  <a:srgbClr val="3333FF"/>
                </a:solidFill>
              </a:rPr>
              <a:t>特点：</a:t>
            </a:r>
            <a:r>
              <a:rPr lang="zh-CN" altLang="en-US" sz="2400" dirty="0" smtClean="0"/>
              <a:t>虽然设备地址扩大了一倍，但是用于</a:t>
            </a:r>
            <a:r>
              <a:rPr lang="en-US" altLang="zh-CN" sz="2400" dirty="0" smtClean="0"/>
              <a:t>I/O</a:t>
            </a:r>
            <a:r>
              <a:rPr lang="zh-CN" altLang="en-US" sz="2400" dirty="0" smtClean="0"/>
              <a:t>的指令系统简单了。</a:t>
            </a:r>
            <a:endParaRPr lang="en-US" altLang="zh-CN" sz="2400" dirty="0" smtClean="0"/>
          </a:p>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一</a:t>
            </a:r>
            <a:r>
              <a:rPr lang="zh-CN" altLang="en-US" sz="2400" dirty="0">
                <a:solidFill>
                  <a:srgbClr val="FF3300"/>
                </a:solidFill>
                <a:effectLst>
                  <a:outerShdw blurRad="38100" dist="38100" dir="2700000" algn="tl">
                    <a:srgbClr val="C0C0C0"/>
                  </a:outerShdw>
                </a:effectLst>
              </a:rPr>
              <a:t>台设备多个地址</a:t>
            </a:r>
          </a:p>
          <a:p>
            <a:pPr lvl="1" eaLnBrk="1" hangingPunct="1">
              <a:defRPr/>
            </a:pPr>
            <a:r>
              <a:rPr lang="zh-CN" altLang="en-US" sz="2400" dirty="0" smtClean="0"/>
              <a:t>根据</a:t>
            </a:r>
            <a:r>
              <a:rPr lang="en-US" altLang="zh-CN" sz="2400" dirty="0" smtClean="0"/>
              <a:t>I/O</a:t>
            </a:r>
            <a:r>
              <a:rPr lang="zh-CN" altLang="en-US" sz="2400" dirty="0"/>
              <a:t>设备的不同需要为它分配不同数据的地址。</a:t>
            </a:r>
          </a:p>
          <a:p>
            <a:pPr lvl="1" eaLnBrk="1" hangingPunct="1">
              <a:defRPr/>
            </a:pPr>
            <a:r>
              <a:rPr lang="zh-CN" altLang="en-US" sz="2400" dirty="0" smtClean="0">
                <a:solidFill>
                  <a:srgbClr val="3333FF"/>
                </a:solidFill>
              </a:rPr>
              <a:t>应用：</a:t>
            </a:r>
            <a:r>
              <a:rPr lang="zh-CN" altLang="en-US" sz="2400" dirty="0" smtClean="0"/>
              <a:t>适用于主存与</a:t>
            </a:r>
            <a:r>
              <a:rPr lang="en-US" altLang="zh-CN" sz="2400" dirty="0" smtClean="0"/>
              <a:t>I/O</a:t>
            </a:r>
            <a:r>
              <a:rPr lang="zh-CN" altLang="en-US" sz="2400" dirty="0" smtClean="0"/>
              <a:t>设备合用一个零地址空间的计算机系统中。</a:t>
            </a:r>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2</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2</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186659303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eaLnBrk="1" hangingPunct="1">
              <a:defRPr/>
            </a:pPr>
            <a:r>
              <a:rPr lang="zh-CN" altLang="en-US" smtClean="0"/>
              <a:t>并行存储器的</a:t>
            </a:r>
            <a:br>
              <a:rPr lang="zh-CN" altLang="en-US" smtClean="0"/>
            </a:br>
            <a:r>
              <a:rPr lang="zh-CN" altLang="en-US" smtClean="0"/>
              <a:t>编址技术</a:t>
            </a:r>
          </a:p>
        </p:txBody>
      </p:sp>
      <p:sp>
        <p:nvSpPr>
          <p:cNvPr id="48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endParaRPr lang="zh-CN" altLang="en-US" sz="1200" b="0">
              <a:latin typeface="Times New Roman" pitchFamily="18" charset="0"/>
              <a:ea typeface="幼圆" pitchFamily="49" charset="-122"/>
            </a:endParaRPr>
          </a:p>
        </p:txBody>
      </p:sp>
      <p:sp>
        <p:nvSpPr>
          <p:cNvPr id="48132" name="Rectangle 4"/>
          <p:cNvSpPr>
            <a:spLocks noGrp="1" noChangeArrowheads="1"/>
          </p:cNvSpPr>
          <p:nvPr>
            <p:ph type="body" idx="1"/>
          </p:nvPr>
        </p:nvSpPr>
        <p:spPr>
          <a:xfrm>
            <a:off x="899592" y="2060575"/>
            <a:ext cx="7868171" cy="4320753"/>
          </a:xfrm>
        </p:spPr>
        <p:txBody>
          <a:bodyPr/>
          <a:lstStyle/>
          <a:p>
            <a:pPr eaLnBrk="1" hangingPunct="1"/>
            <a:r>
              <a:rPr lang="zh-CN" altLang="en-US" sz="2400" dirty="0" smtClean="0">
                <a:hlinkClick r:id="rId6" action="ppaction://hlinksldjump"/>
              </a:rPr>
              <a:t>高位交叉编址</a:t>
            </a:r>
            <a:endParaRPr lang="zh-CN" altLang="en-US" sz="2400" dirty="0" smtClean="0"/>
          </a:p>
          <a:p>
            <a:pPr lvl="1" eaLnBrk="1" hangingPunct="1"/>
            <a:r>
              <a:rPr lang="zh-CN" altLang="en-US" sz="2400" dirty="0" smtClean="0">
                <a:solidFill>
                  <a:srgbClr val="3333FF"/>
                </a:solidFill>
              </a:rPr>
              <a:t>目的：</a:t>
            </a:r>
            <a:r>
              <a:rPr lang="zh-CN" altLang="en-US" sz="2400" dirty="0" smtClean="0"/>
              <a:t>用来扩大存储器容量。</a:t>
            </a:r>
            <a:endParaRPr lang="en-US" altLang="zh-CN" sz="2400" dirty="0" smtClean="0"/>
          </a:p>
          <a:p>
            <a:pPr lvl="1" eaLnBrk="1" hangingPunct="1"/>
            <a:r>
              <a:rPr lang="zh-CN" altLang="en-US" sz="2400" dirty="0" smtClean="0">
                <a:solidFill>
                  <a:srgbClr val="3333FF"/>
                </a:solidFill>
              </a:rPr>
              <a:t>优点：</a:t>
            </a:r>
            <a:r>
              <a:rPr lang="zh-CN" altLang="en-US" sz="2400" dirty="0" smtClean="0"/>
              <a:t>模块化结构好，用户可以很方便地扩充自己的主存储器。</a:t>
            </a:r>
            <a:endParaRPr lang="en-US" altLang="zh-CN" sz="2400" dirty="0" smtClean="0"/>
          </a:p>
          <a:p>
            <a:pPr lvl="1" eaLnBrk="1" hangingPunct="1"/>
            <a:r>
              <a:rPr lang="zh-CN" altLang="en-US" sz="2400" dirty="0" smtClean="0">
                <a:solidFill>
                  <a:srgbClr val="3333FF"/>
                </a:solidFill>
              </a:rPr>
              <a:t>缺点：</a:t>
            </a:r>
            <a:r>
              <a:rPr lang="zh-CN" altLang="en-US" sz="2400" dirty="0" smtClean="0"/>
              <a:t>控制部件的数量增加了。</a:t>
            </a:r>
            <a:endParaRPr lang="en-US" altLang="zh-CN" sz="2400" dirty="0" smtClean="0"/>
          </a:p>
          <a:p>
            <a:pPr eaLnBrk="1" hangingPunct="1"/>
            <a:r>
              <a:rPr lang="zh-CN" altLang="en-US" sz="2400" dirty="0" smtClean="0">
                <a:hlinkClick r:id="rId7" action="ppaction://hlinksldjump"/>
              </a:rPr>
              <a:t>低位交叉编址</a:t>
            </a:r>
            <a:endParaRPr lang="zh-CN" altLang="en-US" sz="2400" dirty="0" smtClean="0"/>
          </a:p>
          <a:p>
            <a:pPr lvl="1" eaLnBrk="1" hangingPunct="1"/>
            <a:r>
              <a:rPr lang="zh-CN" altLang="en-US" sz="2400" dirty="0" smtClean="0">
                <a:solidFill>
                  <a:srgbClr val="3333FF"/>
                </a:solidFill>
              </a:rPr>
              <a:t>目的：</a:t>
            </a:r>
            <a:r>
              <a:rPr lang="zh-CN" altLang="en-US" sz="2400" dirty="0" smtClean="0"/>
              <a:t>提高存储器</a:t>
            </a:r>
            <a:r>
              <a:rPr lang="zh-CN" altLang="en-US" sz="2400" dirty="0"/>
              <a:t>速度，</a:t>
            </a:r>
            <a:r>
              <a:rPr lang="zh-CN" altLang="en-US" sz="2400" dirty="0" smtClean="0"/>
              <a:t>存储器容量也相应增加了。</a:t>
            </a:r>
            <a:endParaRPr lang="en-US" altLang="zh-CN" sz="2400" dirty="0" smtClean="0"/>
          </a:p>
          <a:p>
            <a:pPr lvl="1" eaLnBrk="1" hangingPunct="1"/>
            <a:r>
              <a:rPr lang="zh-CN" altLang="en-US" sz="2400" dirty="0" smtClean="0"/>
              <a:t>在一个存储周期内，</a:t>
            </a:r>
            <a:r>
              <a:rPr lang="en-US" altLang="zh-CN" sz="2400" dirty="0" smtClean="0"/>
              <a:t>n</a:t>
            </a:r>
            <a:r>
              <a:rPr lang="zh-CN" altLang="en-US" sz="2400" dirty="0" smtClean="0"/>
              <a:t>个存储体必须分时启动，采用流水线工作</a:t>
            </a:r>
            <a:endParaRPr lang="en-US" altLang="zh-CN" sz="2400" dirty="0" smtClean="0"/>
          </a:p>
          <a:p>
            <a:pPr lvl="1" eaLnBrk="1" hangingPunct="1"/>
            <a:r>
              <a:rPr lang="zh-CN" altLang="en-US" sz="2400" dirty="0" smtClean="0">
                <a:solidFill>
                  <a:srgbClr val="3333FF"/>
                </a:solidFill>
              </a:rPr>
              <a:t>缺点：</a:t>
            </a:r>
            <a:r>
              <a:rPr lang="zh-CN" altLang="en-US" sz="2400" dirty="0" smtClean="0"/>
              <a:t>存在访问冲突问题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8"/>
          <p:cNvSpPr>
            <a:spLocks noChangeAspect="1" noChangeArrowheads="1"/>
          </p:cNvSpPr>
          <p:nvPr/>
        </p:nvSpPr>
        <p:spPr bwMode="auto">
          <a:xfrm>
            <a:off x="2436813" y="4424363"/>
            <a:ext cx="9144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a:t>
            </a:r>
          </a:p>
        </p:txBody>
      </p:sp>
      <p:sp>
        <p:nvSpPr>
          <p:cNvPr id="290818" name="Rectangle 2"/>
          <p:cNvSpPr>
            <a:spLocks noGrp="1" noChangeArrowheads="1"/>
          </p:cNvSpPr>
          <p:nvPr>
            <p:ph type="title"/>
          </p:nvPr>
        </p:nvSpPr>
        <p:spPr/>
        <p:txBody>
          <a:bodyPr/>
          <a:lstStyle/>
          <a:p>
            <a:pPr eaLnBrk="1" hangingPunct="1">
              <a:defRPr/>
            </a:pPr>
            <a:r>
              <a:rPr lang="zh-CN" altLang="en-US" smtClean="0"/>
              <a:t>高位交叉编址</a:t>
            </a:r>
          </a:p>
        </p:txBody>
      </p:sp>
      <p:sp>
        <p:nvSpPr>
          <p:cNvPr id="4915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并行存储器的编址技术</a:t>
            </a:r>
            <a:endParaRPr lang="zh-CN" altLang="en-US" sz="1200" b="0">
              <a:latin typeface="Times New Roman" pitchFamily="18" charset="0"/>
              <a:ea typeface="幼圆" pitchFamily="49" charset="-122"/>
            </a:endParaRPr>
          </a:p>
        </p:txBody>
      </p:sp>
      <p:sp>
        <p:nvSpPr>
          <p:cNvPr id="49157" name="Rectangle 6"/>
          <p:cNvSpPr>
            <a:spLocks noChangeAspect="1" noChangeArrowheads="1"/>
          </p:cNvSpPr>
          <p:nvPr/>
        </p:nvSpPr>
        <p:spPr bwMode="auto">
          <a:xfrm>
            <a:off x="2276475" y="2062163"/>
            <a:ext cx="1060450" cy="315912"/>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MBR</a:t>
            </a:r>
          </a:p>
        </p:txBody>
      </p:sp>
      <p:sp>
        <p:nvSpPr>
          <p:cNvPr id="49158" name="Rectangle 7"/>
          <p:cNvSpPr>
            <a:spLocks noChangeAspect="1" noChangeArrowheads="1"/>
          </p:cNvSpPr>
          <p:nvPr/>
        </p:nvSpPr>
        <p:spPr bwMode="auto">
          <a:xfrm>
            <a:off x="2276475" y="2536825"/>
            <a:ext cx="1060450" cy="949325"/>
          </a:xfrm>
          <a:prstGeom prst="rect">
            <a:avLst/>
          </a:prstGeom>
          <a:solidFill>
            <a:srgbClr val="FFFFFF"/>
          </a:solidFill>
          <a:ln w="28575">
            <a:solidFill>
              <a:srgbClr val="000000"/>
            </a:solidFill>
            <a:miter lim="800000"/>
            <a:headEnd/>
            <a:tailEnd/>
          </a:ln>
        </p:spPr>
        <p:txBody>
          <a:bodyPr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存储体0</a:t>
            </a:r>
          </a:p>
        </p:txBody>
      </p:sp>
      <p:sp>
        <p:nvSpPr>
          <p:cNvPr id="49159" name="Rectangle 8"/>
          <p:cNvSpPr>
            <a:spLocks noChangeAspect="1" noChangeArrowheads="1"/>
          </p:cNvSpPr>
          <p:nvPr/>
        </p:nvSpPr>
        <p:spPr bwMode="auto">
          <a:xfrm>
            <a:off x="2276475" y="3644900"/>
            <a:ext cx="1060450" cy="315913"/>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MAR</a:t>
            </a:r>
          </a:p>
        </p:txBody>
      </p:sp>
      <p:sp>
        <p:nvSpPr>
          <p:cNvPr id="49160" name="Rectangle 9"/>
          <p:cNvSpPr>
            <a:spLocks noChangeAspect="1" noChangeArrowheads="1"/>
          </p:cNvSpPr>
          <p:nvPr/>
        </p:nvSpPr>
        <p:spPr bwMode="auto">
          <a:xfrm>
            <a:off x="1217613" y="2536825"/>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0..00..0</a:t>
            </a:r>
          </a:p>
        </p:txBody>
      </p:sp>
      <p:sp>
        <p:nvSpPr>
          <p:cNvPr id="49161" name="Rectangle 10"/>
          <p:cNvSpPr>
            <a:spLocks noChangeAspect="1" noChangeArrowheads="1"/>
          </p:cNvSpPr>
          <p:nvPr/>
        </p:nvSpPr>
        <p:spPr bwMode="auto">
          <a:xfrm>
            <a:off x="1217613" y="31702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0..0</a:t>
            </a:r>
            <a:r>
              <a:rPr kumimoji="0" lang="en-US" altLang="zh-CN" sz="2000"/>
              <a:t>F..F</a:t>
            </a:r>
          </a:p>
        </p:txBody>
      </p:sp>
      <p:sp>
        <p:nvSpPr>
          <p:cNvPr id="49162" name="Rectangle 11"/>
          <p:cNvSpPr>
            <a:spLocks noChangeAspect="1" noChangeArrowheads="1"/>
          </p:cNvSpPr>
          <p:nvPr/>
        </p:nvSpPr>
        <p:spPr bwMode="auto">
          <a:xfrm>
            <a:off x="4572000" y="2062163"/>
            <a:ext cx="1058863" cy="315912"/>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MBR</a:t>
            </a:r>
          </a:p>
        </p:txBody>
      </p:sp>
      <p:sp>
        <p:nvSpPr>
          <p:cNvPr id="49163" name="Rectangle 12"/>
          <p:cNvSpPr>
            <a:spLocks noChangeAspect="1" noChangeArrowheads="1"/>
          </p:cNvSpPr>
          <p:nvPr/>
        </p:nvSpPr>
        <p:spPr bwMode="auto">
          <a:xfrm>
            <a:off x="4572000" y="2536825"/>
            <a:ext cx="1058863" cy="949325"/>
          </a:xfrm>
          <a:prstGeom prst="rect">
            <a:avLst/>
          </a:prstGeom>
          <a:solidFill>
            <a:srgbClr val="FFFFFF"/>
          </a:solidFill>
          <a:ln w="28575">
            <a:solidFill>
              <a:srgbClr val="000000"/>
            </a:solidFill>
            <a:miter lim="800000"/>
            <a:headEnd/>
            <a:tailEnd/>
          </a:ln>
        </p:spPr>
        <p:txBody>
          <a:bodyPr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存储体1</a:t>
            </a:r>
          </a:p>
        </p:txBody>
      </p:sp>
      <p:sp>
        <p:nvSpPr>
          <p:cNvPr id="49164" name="Rectangle 13"/>
          <p:cNvSpPr>
            <a:spLocks noChangeAspect="1" noChangeArrowheads="1"/>
          </p:cNvSpPr>
          <p:nvPr/>
        </p:nvSpPr>
        <p:spPr bwMode="auto">
          <a:xfrm>
            <a:off x="4572000" y="3644900"/>
            <a:ext cx="1058863" cy="315913"/>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MAR</a:t>
            </a:r>
          </a:p>
        </p:txBody>
      </p:sp>
      <p:sp>
        <p:nvSpPr>
          <p:cNvPr id="49165" name="Rectangle 14"/>
          <p:cNvSpPr>
            <a:spLocks noChangeAspect="1" noChangeArrowheads="1"/>
          </p:cNvSpPr>
          <p:nvPr/>
        </p:nvSpPr>
        <p:spPr bwMode="auto">
          <a:xfrm>
            <a:off x="3513138" y="2536825"/>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0..10..0</a:t>
            </a:r>
          </a:p>
        </p:txBody>
      </p:sp>
      <p:sp>
        <p:nvSpPr>
          <p:cNvPr id="49166" name="Rectangle 15"/>
          <p:cNvSpPr>
            <a:spLocks noChangeAspect="1" noChangeArrowheads="1"/>
          </p:cNvSpPr>
          <p:nvPr/>
        </p:nvSpPr>
        <p:spPr bwMode="auto">
          <a:xfrm>
            <a:off x="3513138" y="31702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0..1</a:t>
            </a:r>
            <a:r>
              <a:rPr kumimoji="0" lang="en-US" altLang="zh-CN" sz="2000"/>
              <a:t>F..F</a:t>
            </a:r>
          </a:p>
        </p:txBody>
      </p:sp>
      <p:sp>
        <p:nvSpPr>
          <p:cNvPr id="49167" name="Rectangle 16"/>
          <p:cNvSpPr>
            <a:spLocks noChangeAspect="1" noChangeArrowheads="1"/>
          </p:cNvSpPr>
          <p:nvPr/>
        </p:nvSpPr>
        <p:spPr bwMode="auto">
          <a:xfrm>
            <a:off x="7397750" y="2062163"/>
            <a:ext cx="1058863" cy="315912"/>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MBR</a:t>
            </a:r>
          </a:p>
        </p:txBody>
      </p:sp>
      <p:sp>
        <p:nvSpPr>
          <p:cNvPr id="49168" name="Rectangle 17"/>
          <p:cNvSpPr>
            <a:spLocks noChangeAspect="1" noChangeArrowheads="1"/>
          </p:cNvSpPr>
          <p:nvPr/>
        </p:nvSpPr>
        <p:spPr bwMode="auto">
          <a:xfrm>
            <a:off x="7397750" y="2536825"/>
            <a:ext cx="1058863" cy="949325"/>
          </a:xfrm>
          <a:prstGeom prst="rect">
            <a:avLst/>
          </a:prstGeom>
          <a:solidFill>
            <a:srgbClr val="FFFFFF"/>
          </a:solidFill>
          <a:ln w="28575">
            <a:solidFill>
              <a:srgbClr val="000000"/>
            </a:solidFill>
            <a:miter lim="800000"/>
            <a:headEnd/>
            <a:tailEnd/>
          </a:ln>
        </p:spPr>
        <p:txBody>
          <a:bodyPr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存储体</a:t>
            </a:r>
          </a:p>
          <a:p>
            <a:pPr algn="ctr">
              <a:spcBef>
                <a:spcPct val="0"/>
              </a:spcBef>
              <a:buClrTx/>
              <a:buFontTx/>
              <a:buNone/>
            </a:pPr>
            <a:r>
              <a:rPr kumimoji="0" lang="en-US" altLang="zh-CN" sz="2000"/>
              <a:t>n-1</a:t>
            </a:r>
          </a:p>
        </p:txBody>
      </p:sp>
      <p:sp>
        <p:nvSpPr>
          <p:cNvPr id="49169" name="Rectangle 18"/>
          <p:cNvSpPr>
            <a:spLocks noChangeAspect="1" noChangeArrowheads="1"/>
          </p:cNvSpPr>
          <p:nvPr/>
        </p:nvSpPr>
        <p:spPr bwMode="auto">
          <a:xfrm>
            <a:off x="7397750" y="3644900"/>
            <a:ext cx="1058863" cy="315913"/>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MAR</a:t>
            </a:r>
          </a:p>
        </p:txBody>
      </p:sp>
      <p:sp>
        <p:nvSpPr>
          <p:cNvPr id="49170" name="Rectangle 19"/>
          <p:cNvSpPr>
            <a:spLocks noChangeAspect="1" noChangeArrowheads="1"/>
          </p:cNvSpPr>
          <p:nvPr/>
        </p:nvSpPr>
        <p:spPr bwMode="auto">
          <a:xfrm>
            <a:off x="6337300" y="2536825"/>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F..F0..0</a:t>
            </a:r>
          </a:p>
        </p:txBody>
      </p:sp>
      <p:sp>
        <p:nvSpPr>
          <p:cNvPr id="49171" name="Rectangle 20"/>
          <p:cNvSpPr>
            <a:spLocks noChangeAspect="1" noChangeArrowheads="1"/>
          </p:cNvSpPr>
          <p:nvPr/>
        </p:nvSpPr>
        <p:spPr bwMode="auto">
          <a:xfrm>
            <a:off x="6300788" y="3170238"/>
            <a:ext cx="919162"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F..FF..F</a:t>
            </a:r>
          </a:p>
        </p:txBody>
      </p:sp>
      <p:sp>
        <p:nvSpPr>
          <p:cNvPr id="49172" name="Rectangle 21"/>
          <p:cNvSpPr>
            <a:spLocks noChangeAspect="1" noChangeArrowheads="1"/>
          </p:cNvSpPr>
          <p:nvPr/>
        </p:nvSpPr>
        <p:spPr bwMode="auto">
          <a:xfrm>
            <a:off x="5808663" y="2852738"/>
            <a:ext cx="52863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a:t>
            </a:r>
          </a:p>
        </p:txBody>
      </p:sp>
      <p:sp>
        <p:nvSpPr>
          <p:cNvPr id="49173" name="Rectangle 22"/>
          <p:cNvSpPr>
            <a:spLocks noChangeAspect="1" noChangeArrowheads="1"/>
          </p:cNvSpPr>
          <p:nvPr/>
        </p:nvSpPr>
        <p:spPr bwMode="auto">
          <a:xfrm>
            <a:off x="2276475" y="4751388"/>
            <a:ext cx="1060450" cy="31750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译码器</a:t>
            </a:r>
          </a:p>
        </p:txBody>
      </p:sp>
      <p:sp>
        <p:nvSpPr>
          <p:cNvPr id="49174" name="Rectangle 23"/>
          <p:cNvSpPr>
            <a:spLocks noChangeAspect="1" noChangeArrowheads="1"/>
          </p:cNvSpPr>
          <p:nvPr/>
        </p:nvSpPr>
        <p:spPr bwMode="auto">
          <a:xfrm>
            <a:off x="2276475" y="5543550"/>
            <a:ext cx="4046538" cy="327025"/>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just">
              <a:spcBef>
                <a:spcPct val="0"/>
              </a:spcBef>
              <a:buClrTx/>
              <a:buFontTx/>
              <a:buNone/>
            </a:pPr>
            <a:r>
              <a:rPr kumimoji="0" lang="zh-CN" altLang="en-US" sz="2000"/>
              <a:t>    高位            </a:t>
            </a:r>
            <a:r>
              <a:rPr kumimoji="0" lang="zh-CN" altLang="en-US" sz="2000">
                <a:solidFill>
                  <a:srgbClr val="FF0000"/>
                </a:solidFill>
              </a:rPr>
              <a:t>地址寄存器（低位）</a:t>
            </a:r>
            <a:endParaRPr kumimoji="0" lang="zh-CN" altLang="en-US" sz="2000"/>
          </a:p>
        </p:txBody>
      </p:sp>
      <p:sp>
        <p:nvSpPr>
          <p:cNvPr id="49175" name="Line 24"/>
          <p:cNvSpPr>
            <a:spLocks noChangeAspect="1" noChangeShapeType="1"/>
          </p:cNvSpPr>
          <p:nvPr/>
        </p:nvSpPr>
        <p:spPr bwMode="auto">
          <a:xfrm>
            <a:off x="3336925" y="5546725"/>
            <a:ext cx="0" cy="3159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6" name="Line 25"/>
          <p:cNvSpPr>
            <a:spLocks noChangeAspect="1" noChangeShapeType="1"/>
          </p:cNvSpPr>
          <p:nvPr/>
        </p:nvSpPr>
        <p:spPr bwMode="auto">
          <a:xfrm flipV="1">
            <a:off x="2454275" y="3963988"/>
            <a:ext cx="0" cy="79057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7" name="Line 26"/>
          <p:cNvSpPr>
            <a:spLocks noChangeAspect="1" noChangeShapeType="1"/>
          </p:cNvSpPr>
          <p:nvPr/>
        </p:nvSpPr>
        <p:spPr bwMode="auto">
          <a:xfrm flipV="1">
            <a:off x="2817813" y="5033963"/>
            <a:ext cx="0" cy="474662"/>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8" name="Line 27"/>
          <p:cNvSpPr>
            <a:spLocks noChangeAspect="1" noChangeShapeType="1"/>
          </p:cNvSpPr>
          <p:nvPr/>
        </p:nvSpPr>
        <p:spPr bwMode="auto">
          <a:xfrm flipV="1">
            <a:off x="5454650" y="4279900"/>
            <a:ext cx="0" cy="12668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9" name="Line 28"/>
          <p:cNvSpPr>
            <a:spLocks noChangeAspect="1" noChangeShapeType="1"/>
          </p:cNvSpPr>
          <p:nvPr/>
        </p:nvSpPr>
        <p:spPr bwMode="auto">
          <a:xfrm>
            <a:off x="3159125" y="4276725"/>
            <a:ext cx="512127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0" name="Line 29"/>
          <p:cNvSpPr>
            <a:spLocks noChangeAspect="1" noChangeShapeType="1"/>
          </p:cNvSpPr>
          <p:nvPr/>
        </p:nvSpPr>
        <p:spPr bwMode="auto">
          <a:xfrm flipV="1">
            <a:off x="3159125" y="3960813"/>
            <a:ext cx="0" cy="3159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1" name="Line 30"/>
          <p:cNvSpPr>
            <a:spLocks noChangeAspect="1" noChangeShapeType="1"/>
          </p:cNvSpPr>
          <p:nvPr/>
        </p:nvSpPr>
        <p:spPr bwMode="auto">
          <a:xfrm flipV="1">
            <a:off x="8280400" y="3960813"/>
            <a:ext cx="0" cy="3159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2" name="Line 31"/>
          <p:cNvSpPr>
            <a:spLocks noChangeAspect="1" noChangeShapeType="1"/>
          </p:cNvSpPr>
          <p:nvPr/>
        </p:nvSpPr>
        <p:spPr bwMode="auto">
          <a:xfrm flipV="1">
            <a:off x="5454650" y="3960813"/>
            <a:ext cx="0" cy="3159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3" name="Line 32"/>
          <p:cNvSpPr>
            <a:spLocks noChangeAspect="1" noChangeShapeType="1"/>
          </p:cNvSpPr>
          <p:nvPr/>
        </p:nvSpPr>
        <p:spPr bwMode="auto">
          <a:xfrm flipV="1">
            <a:off x="2630488" y="4435475"/>
            <a:ext cx="0" cy="3159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4" name="Line 33"/>
          <p:cNvSpPr>
            <a:spLocks noChangeAspect="1" noChangeShapeType="1"/>
          </p:cNvSpPr>
          <p:nvPr/>
        </p:nvSpPr>
        <p:spPr bwMode="auto">
          <a:xfrm>
            <a:off x="2630488" y="4435475"/>
            <a:ext cx="2117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5" name="Line 34"/>
          <p:cNvSpPr>
            <a:spLocks noChangeAspect="1" noChangeShapeType="1"/>
          </p:cNvSpPr>
          <p:nvPr/>
        </p:nvSpPr>
        <p:spPr bwMode="auto">
          <a:xfrm flipV="1">
            <a:off x="4748213" y="3960813"/>
            <a:ext cx="0" cy="474662"/>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6" name="Line 35"/>
          <p:cNvSpPr>
            <a:spLocks noChangeAspect="1" noChangeShapeType="1"/>
          </p:cNvSpPr>
          <p:nvPr/>
        </p:nvSpPr>
        <p:spPr bwMode="auto">
          <a:xfrm flipV="1">
            <a:off x="3159125" y="4594225"/>
            <a:ext cx="0" cy="1571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7" name="Line 36"/>
          <p:cNvSpPr>
            <a:spLocks noChangeAspect="1" noChangeShapeType="1"/>
          </p:cNvSpPr>
          <p:nvPr/>
        </p:nvSpPr>
        <p:spPr bwMode="auto">
          <a:xfrm>
            <a:off x="3159125" y="4594225"/>
            <a:ext cx="44148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8" name="Line 37"/>
          <p:cNvSpPr>
            <a:spLocks noChangeAspect="1" noChangeShapeType="1"/>
          </p:cNvSpPr>
          <p:nvPr/>
        </p:nvSpPr>
        <p:spPr bwMode="auto">
          <a:xfrm flipV="1">
            <a:off x="7573963" y="3960813"/>
            <a:ext cx="0" cy="633412"/>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0855" name="Rectangle 39"/>
          <p:cNvSpPr>
            <a:spLocks noChangeArrowheads="1"/>
          </p:cNvSpPr>
          <p:nvPr/>
        </p:nvSpPr>
        <p:spPr bwMode="auto">
          <a:xfrm>
            <a:off x="6588125" y="4868863"/>
            <a:ext cx="1828800" cy="131127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spcBef>
                <a:spcPct val="0"/>
              </a:spcBef>
              <a:buClr>
                <a:srgbClr val="FF3300"/>
              </a:buClr>
              <a:buFont typeface="Wingdings" pitchFamily="2" charset="2"/>
              <a:buChar char="Ø"/>
              <a:defRPr/>
            </a:pPr>
            <a:r>
              <a:rPr lang="en-US" altLang="zh-CN" sz="2000" b="1">
                <a:solidFill>
                  <a:srgbClr val="FF3300"/>
                </a:solidFill>
                <a:effectLst>
                  <a:outerShdw blurRad="38100" dist="38100" dir="2700000" algn="tl">
                    <a:srgbClr val="000000"/>
                  </a:outerShdw>
                </a:effectLst>
                <a:latin typeface="Arial" charset="0"/>
                <a:ea typeface="楷体_GB2312" pitchFamily="49" charset="-122"/>
              </a:rPr>
              <a:t>  MBR</a:t>
            </a:r>
          </a:p>
          <a:p>
            <a:pPr>
              <a:spcBef>
                <a:spcPct val="0"/>
              </a:spcBef>
              <a:buClrTx/>
              <a:buFontTx/>
              <a:buNone/>
              <a:defRPr/>
            </a:pPr>
            <a:r>
              <a:rPr lang="zh-CN" altLang="en-US" sz="2000" b="1">
                <a:latin typeface="Arial" charset="0"/>
                <a:ea typeface="楷体_GB2312" pitchFamily="49" charset="-122"/>
              </a:rPr>
              <a:t>     数据寄存器</a:t>
            </a:r>
          </a:p>
          <a:p>
            <a:pPr>
              <a:spcBef>
                <a:spcPct val="0"/>
              </a:spcBef>
              <a:buClr>
                <a:srgbClr val="FF3300"/>
              </a:buClr>
              <a:buFont typeface="Wingdings" pitchFamily="2" charset="2"/>
              <a:buChar char="Ø"/>
              <a:defRPr/>
            </a:pPr>
            <a:r>
              <a:rPr lang="en-US" altLang="zh-CN" sz="2000" b="1">
                <a:solidFill>
                  <a:srgbClr val="FF3300"/>
                </a:solidFill>
                <a:effectLst>
                  <a:outerShdw blurRad="38100" dist="38100" dir="2700000" algn="tl">
                    <a:srgbClr val="000000"/>
                  </a:outerShdw>
                </a:effectLst>
                <a:latin typeface="Arial" charset="0"/>
                <a:ea typeface="楷体_GB2312" pitchFamily="49" charset="-122"/>
              </a:rPr>
              <a:t>  MAR</a:t>
            </a:r>
          </a:p>
          <a:p>
            <a:pPr>
              <a:spcBef>
                <a:spcPct val="0"/>
              </a:spcBef>
              <a:buClrTx/>
              <a:buFontTx/>
              <a:buNone/>
              <a:defRPr/>
            </a:pPr>
            <a:r>
              <a:rPr lang="zh-CN" altLang="en-US" sz="2000" b="1">
                <a:latin typeface="Arial" charset="0"/>
                <a:ea typeface="楷体_GB2312" pitchFamily="49" charset="-122"/>
              </a:rPr>
              <a:t>     地址寄存器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p:txBody>
          <a:bodyPr/>
          <a:lstStyle/>
          <a:p>
            <a:pPr eaLnBrk="1" hangingPunct="1">
              <a:defRPr/>
            </a:pPr>
            <a:r>
              <a:rPr lang="zh-CN" altLang="en-US" smtClean="0"/>
              <a:t>低位交叉编址</a:t>
            </a:r>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编址方式</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并行存储器的编址技术</a:t>
            </a:r>
            <a:endParaRPr lang="zh-CN" altLang="en-US" sz="1200" b="0">
              <a:latin typeface="Times New Roman" pitchFamily="18" charset="0"/>
              <a:ea typeface="幼圆" pitchFamily="49" charset="-122"/>
            </a:endParaRPr>
          </a:p>
        </p:txBody>
      </p:sp>
      <p:sp>
        <p:nvSpPr>
          <p:cNvPr id="50180" name="Rectangle 38"/>
          <p:cNvSpPr>
            <a:spLocks noChangeAspect="1" noChangeArrowheads="1"/>
          </p:cNvSpPr>
          <p:nvPr/>
        </p:nvSpPr>
        <p:spPr bwMode="auto">
          <a:xfrm>
            <a:off x="7732713" y="4567238"/>
            <a:ext cx="36195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a:t>
            </a:r>
          </a:p>
        </p:txBody>
      </p:sp>
      <p:sp>
        <p:nvSpPr>
          <p:cNvPr id="50181" name="Rectangle 6"/>
          <p:cNvSpPr>
            <a:spLocks noChangeAspect="1" noChangeArrowheads="1"/>
          </p:cNvSpPr>
          <p:nvPr/>
        </p:nvSpPr>
        <p:spPr bwMode="auto">
          <a:xfrm>
            <a:off x="2149475" y="2205038"/>
            <a:ext cx="1085850" cy="32385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MBR</a:t>
            </a:r>
          </a:p>
        </p:txBody>
      </p:sp>
      <p:sp>
        <p:nvSpPr>
          <p:cNvPr id="50182" name="Rectangle 7"/>
          <p:cNvSpPr>
            <a:spLocks noChangeAspect="1" noChangeArrowheads="1"/>
          </p:cNvSpPr>
          <p:nvPr/>
        </p:nvSpPr>
        <p:spPr bwMode="auto">
          <a:xfrm>
            <a:off x="2149475" y="2690813"/>
            <a:ext cx="1085850" cy="971550"/>
          </a:xfrm>
          <a:prstGeom prst="rect">
            <a:avLst/>
          </a:prstGeom>
          <a:solidFill>
            <a:srgbClr val="FFFFFF"/>
          </a:solidFill>
          <a:ln w="28575">
            <a:solidFill>
              <a:srgbClr val="000000"/>
            </a:solidFill>
            <a:miter lim="800000"/>
            <a:headEnd/>
            <a:tailEnd/>
          </a:ln>
        </p:spPr>
        <p:txBody>
          <a:bodyPr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存储体0</a:t>
            </a:r>
          </a:p>
        </p:txBody>
      </p:sp>
      <p:sp>
        <p:nvSpPr>
          <p:cNvPr id="50183" name="Rectangle 8"/>
          <p:cNvSpPr>
            <a:spLocks noChangeAspect="1" noChangeArrowheads="1"/>
          </p:cNvSpPr>
          <p:nvPr/>
        </p:nvSpPr>
        <p:spPr bwMode="auto">
          <a:xfrm>
            <a:off x="2149475" y="3824288"/>
            <a:ext cx="1085850" cy="32385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MAR</a:t>
            </a:r>
          </a:p>
        </p:txBody>
      </p:sp>
      <p:sp>
        <p:nvSpPr>
          <p:cNvPr id="50184" name="Rectangle 9"/>
          <p:cNvSpPr>
            <a:spLocks noChangeAspect="1" noChangeArrowheads="1"/>
          </p:cNvSpPr>
          <p:nvPr/>
        </p:nvSpPr>
        <p:spPr bwMode="auto">
          <a:xfrm>
            <a:off x="1065213" y="2690813"/>
            <a:ext cx="9032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0..00..0</a:t>
            </a:r>
          </a:p>
        </p:txBody>
      </p:sp>
      <p:sp>
        <p:nvSpPr>
          <p:cNvPr id="50185" name="Rectangle 10"/>
          <p:cNvSpPr>
            <a:spLocks noChangeAspect="1" noChangeArrowheads="1"/>
          </p:cNvSpPr>
          <p:nvPr/>
        </p:nvSpPr>
        <p:spPr bwMode="auto">
          <a:xfrm>
            <a:off x="1065213" y="3338513"/>
            <a:ext cx="9032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F..F0..0</a:t>
            </a:r>
          </a:p>
        </p:txBody>
      </p:sp>
      <p:sp>
        <p:nvSpPr>
          <p:cNvPr id="50186" name="Rectangle 11"/>
          <p:cNvSpPr>
            <a:spLocks noChangeAspect="1" noChangeArrowheads="1"/>
          </p:cNvSpPr>
          <p:nvPr/>
        </p:nvSpPr>
        <p:spPr bwMode="auto">
          <a:xfrm>
            <a:off x="4500563" y="2205038"/>
            <a:ext cx="1084262" cy="32385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MBR</a:t>
            </a:r>
          </a:p>
        </p:txBody>
      </p:sp>
      <p:sp>
        <p:nvSpPr>
          <p:cNvPr id="50187" name="Rectangle 12"/>
          <p:cNvSpPr>
            <a:spLocks noChangeAspect="1" noChangeArrowheads="1"/>
          </p:cNvSpPr>
          <p:nvPr/>
        </p:nvSpPr>
        <p:spPr bwMode="auto">
          <a:xfrm>
            <a:off x="4500563" y="2690813"/>
            <a:ext cx="1084262" cy="971550"/>
          </a:xfrm>
          <a:prstGeom prst="rect">
            <a:avLst/>
          </a:prstGeom>
          <a:solidFill>
            <a:srgbClr val="FFFFFF"/>
          </a:solidFill>
          <a:ln w="28575">
            <a:solidFill>
              <a:srgbClr val="000000"/>
            </a:solidFill>
            <a:miter lim="800000"/>
            <a:headEnd/>
            <a:tailEnd/>
          </a:ln>
        </p:spPr>
        <p:txBody>
          <a:bodyPr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存储体1</a:t>
            </a:r>
          </a:p>
        </p:txBody>
      </p:sp>
      <p:sp>
        <p:nvSpPr>
          <p:cNvPr id="50188" name="Rectangle 13"/>
          <p:cNvSpPr>
            <a:spLocks noChangeAspect="1" noChangeArrowheads="1"/>
          </p:cNvSpPr>
          <p:nvPr/>
        </p:nvSpPr>
        <p:spPr bwMode="auto">
          <a:xfrm>
            <a:off x="4500563" y="3824288"/>
            <a:ext cx="1084262" cy="32385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MAR</a:t>
            </a:r>
          </a:p>
        </p:txBody>
      </p:sp>
      <p:sp>
        <p:nvSpPr>
          <p:cNvPr id="50189" name="Rectangle 14"/>
          <p:cNvSpPr>
            <a:spLocks noChangeAspect="1" noChangeArrowheads="1"/>
          </p:cNvSpPr>
          <p:nvPr/>
        </p:nvSpPr>
        <p:spPr bwMode="auto">
          <a:xfrm>
            <a:off x="3416300" y="2690813"/>
            <a:ext cx="9032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0..00..1</a:t>
            </a:r>
          </a:p>
        </p:txBody>
      </p:sp>
      <p:sp>
        <p:nvSpPr>
          <p:cNvPr id="50190" name="Rectangle 15"/>
          <p:cNvSpPr>
            <a:spLocks noChangeAspect="1" noChangeArrowheads="1"/>
          </p:cNvSpPr>
          <p:nvPr/>
        </p:nvSpPr>
        <p:spPr bwMode="auto">
          <a:xfrm>
            <a:off x="3416300" y="3338513"/>
            <a:ext cx="9032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F..F0..1</a:t>
            </a:r>
          </a:p>
        </p:txBody>
      </p:sp>
      <p:sp>
        <p:nvSpPr>
          <p:cNvPr id="50191" name="Rectangle 16"/>
          <p:cNvSpPr>
            <a:spLocks noChangeAspect="1" noChangeArrowheads="1"/>
          </p:cNvSpPr>
          <p:nvPr/>
        </p:nvSpPr>
        <p:spPr bwMode="auto">
          <a:xfrm>
            <a:off x="7394575" y="2205038"/>
            <a:ext cx="1084263" cy="32385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MBR</a:t>
            </a:r>
          </a:p>
        </p:txBody>
      </p:sp>
      <p:sp>
        <p:nvSpPr>
          <p:cNvPr id="50192" name="Rectangle 17"/>
          <p:cNvSpPr>
            <a:spLocks noChangeAspect="1" noChangeArrowheads="1"/>
          </p:cNvSpPr>
          <p:nvPr/>
        </p:nvSpPr>
        <p:spPr bwMode="auto">
          <a:xfrm>
            <a:off x="7394575" y="2690813"/>
            <a:ext cx="1084263" cy="971550"/>
          </a:xfrm>
          <a:prstGeom prst="rect">
            <a:avLst/>
          </a:prstGeom>
          <a:solidFill>
            <a:srgbClr val="FFFFFF"/>
          </a:solidFill>
          <a:ln w="28575">
            <a:solidFill>
              <a:srgbClr val="000000"/>
            </a:solidFill>
            <a:miter lim="800000"/>
            <a:headEnd/>
            <a:tailEnd/>
          </a:ln>
        </p:spPr>
        <p:txBody>
          <a:bodyPr lIns="0" tIns="0" rIns="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存储体</a:t>
            </a:r>
          </a:p>
          <a:p>
            <a:pPr algn="ctr">
              <a:spcBef>
                <a:spcPct val="0"/>
              </a:spcBef>
              <a:buClrTx/>
              <a:buFontTx/>
              <a:buNone/>
            </a:pPr>
            <a:r>
              <a:rPr kumimoji="0" lang="en-US" altLang="zh-CN" sz="2000"/>
              <a:t>n-1</a:t>
            </a:r>
          </a:p>
        </p:txBody>
      </p:sp>
      <p:sp>
        <p:nvSpPr>
          <p:cNvPr id="50193" name="Rectangle 18"/>
          <p:cNvSpPr>
            <a:spLocks noChangeAspect="1" noChangeArrowheads="1"/>
          </p:cNvSpPr>
          <p:nvPr/>
        </p:nvSpPr>
        <p:spPr bwMode="auto">
          <a:xfrm>
            <a:off x="7394575" y="3824288"/>
            <a:ext cx="1084263" cy="32385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MAR</a:t>
            </a:r>
          </a:p>
        </p:txBody>
      </p:sp>
      <p:sp>
        <p:nvSpPr>
          <p:cNvPr id="50194" name="Rectangle 19"/>
          <p:cNvSpPr>
            <a:spLocks noChangeAspect="1" noChangeArrowheads="1"/>
          </p:cNvSpPr>
          <p:nvPr/>
        </p:nvSpPr>
        <p:spPr bwMode="auto">
          <a:xfrm>
            <a:off x="6308725" y="2690813"/>
            <a:ext cx="9048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0..0</a:t>
            </a:r>
            <a:r>
              <a:rPr kumimoji="0" lang="en-US" altLang="zh-CN" sz="2000"/>
              <a:t>F..F</a:t>
            </a:r>
          </a:p>
        </p:txBody>
      </p:sp>
      <p:sp>
        <p:nvSpPr>
          <p:cNvPr id="50195" name="Rectangle 20"/>
          <p:cNvSpPr>
            <a:spLocks noChangeAspect="1" noChangeArrowheads="1"/>
          </p:cNvSpPr>
          <p:nvPr/>
        </p:nvSpPr>
        <p:spPr bwMode="auto">
          <a:xfrm>
            <a:off x="6286500" y="3338513"/>
            <a:ext cx="9271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en-US" altLang="zh-CN" sz="2000"/>
              <a:t>F..FF..F</a:t>
            </a:r>
          </a:p>
        </p:txBody>
      </p:sp>
      <p:sp>
        <p:nvSpPr>
          <p:cNvPr id="50196" name="Rectangle 21"/>
          <p:cNvSpPr>
            <a:spLocks noChangeAspect="1" noChangeArrowheads="1"/>
          </p:cNvSpPr>
          <p:nvPr/>
        </p:nvSpPr>
        <p:spPr bwMode="auto">
          <a:xfrm>
            <a:off x="5765800" y="3014663"/>
            <a:ext cx="5429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a:t>
            </a:r>
          </a:p>
        </p:txBody>
      </p:sp>
      <p:sp>
        <p:nvSpPr>
          <p:cNvPr id="50197" name="Rectangle 22"/>
          <p:cNvSpPr>
            <a:spLocks noChangeAspect="1" noChangeArrowheads="1"/>
          </p:cNvSpPr>
          <p:nvPr/>
        </p:nvSpPr>
        <p:spPr bwMode="auto">
          <a:xfrm>
            <a:off x="7394575" y="4957763"/>
            <a:ext cx="1084263" cy="32385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kumimoji="0" lang="zh-CN" altLang="en-US" sz="2000"/>
              <a:t>译码器</a:t>
            </a:r>
          </a:p>
        </p:txBody>
      </p:sp>
      <p:sp>
        <p:nvSpPr>
          <p:cNvPr id="50198" name="Rectangle 23"/>
          <p:cNvSpPr>
            <a:spLocks noChangeAspect="1" noChangeArrowheads="1"/>
          </p:cNvSpPr>
          <p:nvPr/>
        </p:nvSpPr>
        <p:spPr bwMode="auto">
          <a:xfrm>
            <a:off x="3960813" y="5767388"/>
            <a:ext cx="4518025" cy="323850"/>
          </a:xfrm>
          <a:prstGeom prst="rect">
            <a:avLst/>
          </a:prstGeom>
          <a:solidFill>
            <a:srgbClr val="FFFFFF"/>
          </a:solidFill>
          <a:ln w="28575">
            <a:solidFill>
              <a:srgbClr val="000000"/>
            </a:solidFill>
            <a:miter lim="800000"/>
            <a:headEnd/>
            <a:tailEnd/>
          </a:ln>
        </p:spPr>
        <p:txBody>
          <a:bodyPr lIns="0" tIns="0" rIns="0" bIns="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just">
              <a:spcBef>
                <a:spcPct val="0"/>
              </a:spcBef>
              <a:buClrTx/>
              <a:buFontTx/>
              <a:buNone/>
            </a:pPr>
            <a:r>
              <a:rPr kumimoji="0" lang="zh-CN" altLang="en-US" sz="2000"/>
              <a:t>      </a:t>
            </a:r>
            <a:r>
              <a:rPr kumimoji="0" lang="zh-CN" altLang="en-US" sz="2000">
                <a:solidFill>
                  <a:srgbClr val="FF0000"/>
                </a:solidFill>
              </a:rPr>
              <a:t>地址寄存器（高位）</a:t>
            </a:r>
            <a:r>
              <a:rPr kumimoji="0" lang="zh-CN" altLang="en-US" sz="2000"/>
              <a:t>          （低位）</a:t>
            </a:r>
          </a:p>
        </p:txBody>
      </p:sp>
      <p:sp>
        <p:nvSpPr>
          <p:cNvPr id="50199" name="Line 24"/>
          <p:cNvSpPr>
            <a:spLocks noChangeAspect="1" noChangeShapeType="1"/>
          </p:cNvSpPr>
          <p:nvPr/>
        </p:nvSpPr>
        <p:spPr bwMode="auto">
          <a:xfrm>
            <a:off x="7394575" y="5767388"/>
            <a:ext cx="0" cy="3238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0" name="Line 25"/>
          <p:cNvSpPr>
            <a:spLocks noChangeAspect="1" noChangeShapeType="1"/>
          </p:cNvSpPr>
          <p:nvPr/>
        </p:nvSpPr>
        <p:spPr bwMode="auto">
          <a:xfrm flipV="1">
            <a:off x="8297863" y="4148138"/>
            <a:ext cx="0" cy="8096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1" name="Line 26"/>
          <p:cNvSpPr>
            <a:spLocks noChangeAspect="1" noChangeShapeType="1"/>
          </p:cNvSpPr>
          <p:nvPr/>
        </p:nvSpPr>
        <p:spPr bwMode="auto">
          <a:xfrm flipV="1">
            <a:off x="7935913" y="5287963"/>
            <a:ext cx="0" cy="48577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2" name="Line 27"/>
          <p:cNvSpPr>
            <a:spLocks noChangeAspect="1" noChangeShapeType="1"/>
          </p:cNvSpPr>
          <p:nvPr/>
        </p:nvSpPr>
        <p:spPr bwMode="auto">
          <a:xfrm flipV="1">
            <a:off x="5403850" y="4475163"/>
            <a:ext cx="0" cy="1295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3" name="Line 28"/>
          <p:cNvSpPr>
            <a:spLocks noChangeAspect="1" noChangeShapeType="1"/>
          </p:cNvSpPr>
          <p:nvPr/>
        </p:nvSpPr>
        <p:spPr bwMode="auto">
          <a:xfrm>
            <a:off x="3054350" y="4471988"/>
            <a:ext cx="45212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4" name="Line 29"/>
          <p:cNvSpPr>
            <a:spLocks noChangeAspect="1" noChangeShapeType="1"/>
          </p:cNvSpPr>
          <p:nvPr/>
        </p:nvSpPr>
        <p:spPr bwMode="auto">
          <a:xfrm flipV="1">
            <a:off x="3054350" y="4148138"/>
            <a:ext cx="0" cy="3238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5" name="Line 30"/>
          <p:cNvSpPr>
            <a:spLocks noChangeAspect="1" noChangeShapeType="1"/>
          </p:cNvSpPr>
          <p:nvPr/>
        </p:nvSpPr>
        <p:spPr bwMode="auto">
          <a:xfrm flipV="1">
            <a:off x="7575550" y="4148138"/>
            <a:ext cx="0" cy="3238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6" name="Line 31"/>
          <p:cNvSpPr>
            <a:spLocks noChangeAspect="1" noChangeShapeType="1"/>
          </p:cNvSpPr>
          <p:nvPr/>
        </p:nvSpPr>
        <p:spPr bwMode="auto">
          <a:xfrm flipV="1">
            <a:off x="5403850" y="4148138"/>
            <a:ext cx="0" cy="3238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7" name="Line 32"/>
          <p:cNvSpPr>
            <a:spLocks noChangeAspect="1" noChangeShapeType="1"/>
          </p:cNvSpPr>
          <p:nvPr/>
        </p:nvSpPr>
        <p:spPr bwMode="auto">
          <a:xfrm flipV="1">
            <a:off x="8116888" y="4633913"/>
            <a:ext cx="0" cy="3238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8" name="Line 33"/>
          <p:cNvSpPr>
            <a:spLocks noChangeAspect="1" noChangeShapeType="1"/>
          </p:cNvSpPr>
          <p:nvPr/>
        </p:nvSpPr>
        <p:spPr bwMode="auto">
          <a:xfrm>
            <a:off x="4681538" y="4633913"/>
            <a:ext cx="34353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9" name="Line 34"/>
          <p:cNvSpPr>
            <a:spLocks noChangeAspect="1" noChangeShapeType="1"/>
          </p:cNvSpPr>
          <p:nvPr/>
        </p:nvSpPr>
        <p:spPr bwMode="auto">
          <a:xfrm flipV="1">
            <a:off x="4681538" y="4148138"/>
            <a:ext cx="0" cy="48577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10" name="Line 35"/>
          <p:cNvSpPr>
            <a:spLocks noChangeAspect="1" noChangeShapeType="1"/>
          </p:cNvSpPr>
          <p:nvPr/>
        </p:nvSpPr>
        <p:spPr bwMode="auto">
          <a:xfrm flipV="1">
            <a:off x="7575550" y="4795838"/>
            <a:ext cx="0" cy="1619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1" name="Line 36"/>
          <p:cNvSpPr>
            <a:spLocks noChangeAspect="1" noChangeShapeType="1"/>
          </p:cNvSpPr>
          <p:nvPr/>
        </p:nvSpPr>
        <p:spPr bwMode="auto">
          <a:xfrm>
            <a:off x="2330450" y="4795838"/>
            <a:ext cx="52451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2" name="Line 37"/>
          <p:cNvSpPr>
            <a:spLocks noChangeAspect="1" noChangeShapeType="1"/>
          </p:cNvSpPr>
          <p:nvPr/>
        </p:nvSpPr>
        <p:spPr bwMode="auto">
          <a:xfrm flipV="1">
            <a:off x="2330450" y="4148138"/>
            <a:ext cx="0" cy="6477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1880" name="Rectangle 40"/>
          <p:cNvSpPr>
            <a:spLocks noChangeArrowheads="1"/>
          </p:cNvSpPr>
          <p:nvPr/>
        </p:nvSpPr>
        <p:spPr bwMode="auto">
          <a:xfrm>
            <a:off x="1547813" y="5013325"/>
            <a:ext cx="1828800" cy="131127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spcBef>
                <a:spcPct val="0"/>
              </a:spcBef>
              <a:buClr>
                <a:srgbClr val="FF3300"/>
              </a:buClr>
              <a:buFont typeface="Wingdings" pitchFamily="2" charset="2"/>
              <a:buChar char="Ø"/>
              <a:defRPr/>
            </a:pPr>
            <a:r>
              <a:rPr lang="en-US" altLang="zh-CN" sz="2000" b="1">
                <a:solidFill>
                  <a:srgbClr val="FF3300"/>
                </a:solidFill>
                <a:effectLst>
                  <a:outerShdw blurRad="38100" dist="38100" dir="2700000" algn="tl">
                    <a:srgbClr val="000000"/>
                  </a:outerShdw>
                </a:effectLst>
                <a:latin typeface="Arial" charset="0"/>
                <a:ea typeface="楷体_GB2312" pitchFamily="49" charset="-122"/>
              </a:rPr>
              <a:t>  MBR</a:t>
            </a:r>
          </a:p>
          <a:p>
            <a:pPr>
              <a:spcBef>
                <a:spcPct val="0"/>
              </a:spcBef>
              <a:buClrTx/>
              <a:buFontTx/>
              <a:buNone/>
              <a:defRPr/>
            </a:pPr>
            <a:r>
              <a:rPr lang="zh-CN" altLang="en-US" sz="2000" b="1">
                <a:latin typeface="Arial" charset="0"/>
                <a:ea typeface="楷体_GB2312" pitchFamily="49" charset="-122"/>
              </a:rPr>
              <a:t>     数据寄存器</a:t>
            </a:r>
          </a:p>
          <a:p>
            <a:pPr>
              <a:spcBef>
                <a:spcPct val="0"/>
              </a:spcBef>
              <a:buClr>
                <a:srgbClr val="FF3300"/>
              </a:buClr>
              <a:buFont typeface="Wingdings" pitchFamily="2" charset="2"/>
              <a:buChar char="Ø"/>
              <a:defRPr/>
            </a:pPr>
            <a:r>
              <a:rPr lang="en-US" altLang="zh-CN" sz="2000" b="1">
                <a:solidFill>
                  <a:srgbClr val="FF3300"/>
                </a:solidFill>
                <a:effectLst>
                  <a:outerShdw blurRad="38100" dist="38100" dir="2700000" algn="tl">
                    <a:srgbClr val="000000"/>
                  </a:outerShdw>
                </a:effectLst>
                <a:latin typeface="Arial" charset="0"/>
                <a:ea typeface="楷体_GB2312" pitchFamily="49" charset="-122"/>
              </a:rPr>
              <a:t>  MAR</a:t>
            </a:r>
          </a:p>
          <a:p>
            <a:pPr>
              <a:spcBef>
                <a:spcPct val="0"/>
              </a:spcBef>
              <a:buClrTx/>
              <a:buFontTx/>
              <a:buNone/>
              <a:defRPr/>
            </a:pPr>
            <a:r>
              <a:rPr lang="zh-CN" altLang="en-US" sz="2000" b="1">
                <a:latin typeface="Arial" charset="0"/>
                <a:ea typeface="楷体_GB2312" pitchFamily="49" charset="-122"/>
              </a:rPr>
              <a:t>     地址寄存器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lstStyle/>
          <a:p>
            <a:pPr eaLnBrk="1" hangingPunct="1">
              <a:defRPr/>
            </a:pPr>
            <a:r>
              <a:rPr lang="zh-CN" altLang="en-US" smtClean="0"/>
              <a:t>寻址方式</a:t>
            </a:r>
          </a:p>
        </p:txBody>
      </p:sp>
      <p:sp>
        <p:nvSpPr>
          <p:cNvPr id="51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endParaRPr lang="zh-CN" altLang="en-US" sz="1200" b="0">
              <a:latin typeface="Times New Roman" pitchFamily="18" charset="0"/>
              <a:ea typeface="幼圆" pitchFamily="49" charset="-122"/>
            </a:endParaRPr>
          </a:p>
        </p:txBody>
      </p:sp>
      <p:sp>
        <p:nvSpPr>
          <p:cNvPr id="51204" name="Rectangle 4"/>
          <p:cNvSpPr>
            <a:spLocks noGrp="1" noChangeArrowheads="1"/>
          </p:cNvSpPr>
          <p:nvPr>
            <p:ph type="body" idx="1"/>
          </p:nvPr>
        </p:nvSpPr>
        <p:spPr>
          <a:xfrm>
            <a:off x="2590800" y="2525713"/>
            <a:ext cx="4933950" cy="3135312"/>
          </a:xfrm>
        </p:spPr>
        <p:txBody>
          <a:bodyPr/>
          <a:lstStyle/>
          <a:p>
            <a:pPr eaLnBrk="1" hangingPunct="1">
              <a:lnSpc>
                <a:spcPct val="170000"/>
              </a:lnSpc>
            </a:pPr>
            <a:r>
              <a:rPr lang="zh-CN" altLang="en-US" smtClean="0">
                <a:hlinkClick r:id="rId5" action="ppaction://hlinksldjump"/>
              </a:rPr>
              <a:t>常用寻址方式</a:t>
            </a:r>
            <a:endParaRPr lang="zh-CN" altLang="en-US" smtClean="0"/>
          </a:p>
          <a:p>
            <a:pPr eaLnBrk="1" hangingPunct="1">
              <a:lnSpc>
                <a:spcPct val="170000"/>
              </a:lnSpc>
            </a:pPr>
            <a:r>
              <a:rPr lang="zh-CN" altLang="en-US" smtClean="0">
                <a:hlinkClick r:id="rId6" action="ppaction://hlinksldjump"/>
              </a:rPr>
              <a:t>寻址方式选择</a:t>
            </a:r>
            <a:endParaRPr lang="zh-CN" altLang="en-US" smtClean="0"/>
          </a:p>
          <a:p>
            <a:pPr eaLnBrk="1" hangingPunct="1">
              <a:lnSpc>
                <a:spcPct val="170000"/>
              </a:lnSpc>
            </a:pPr>
            <a:r>
              <a:rPr lang="zh-CN" altLang="en-US" smtClean="0">
                <a:hlinkClick r:id="rId7" action="ppaction://hlinksldjump"/>
              </a:rPr>
              <a:t>寻址方式参数大小选择</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874" name="AutoShape 2">
            <a:hlinkClick r:id="rId4"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p>
        </p:txBody>
      </p:sp>
      <p:sp>
        <p:nvSpPr>
          <p:cNvPr id="52227"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pitchFamily="2" charset="-122"/>
            </a:endParaRPr>
          </a:p>
        </p:txBody>
      </p:sp>
      <p:sp>
        <p:nvSpPr>
          <p:cNvPr id="52228" name="Text Box 8"/>
          <p:cNvSpPr txBox="1">
            <a:spLocks noChangeArrowheads="1"/>
          </p:cNvSpPr>
          <p:nvPr/>
        </p:nvSpPr>
        <p:spPr bwMode="auto">
          <a:xfrm>
            <a:off x="8229600" y="1295400"/>
            <a:ext cx="546100" cy="39624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400">
                <a:latin typeface="Times New Roman" pitchFamily="18" charset="0"/>
              </a:rPr>
              <a:t>常用寻址方式的含义和使用</a:t>
            </a:r>
            <a:endParaRPr lang="zh-CN" altLang="en-US" sz="2400">
              <a:solidFill>
                <a:srgbClr val="FF3300"/>
              </a:solidFill>
              <a:latin typeface="Times New Roman" pitchFamily="18" charset="0"/>
            </a:endParaRPr>
          </a:p>
        </p:txBody>
      </p:sp>
      <p:pic>
        <p:nvPicPr>
          <p:cNvPr id="52229"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04800"/>
            <a:ext cx="7467600" cy="626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p:txBody>
          <a:bodyPr/>
          <a:lstStyle/>
          <a:p>
            <a:pPr eaLnBrk="1" hangingPunct="1">
              <a:defRPr/>
            </a:pPr>
            <a:r>
              <a:rPr lang="zh-CN" altLang="en-US" smtClean="0"/>
              <a:t>寻址方式选择</a:t>
            </a:r>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寻址方式</a:t>
            </a:r>
            <a:endParaRPr lang="zh-CN" altLang="en-US" sz="1200" b="0">
              <a:latin typeface="Times New Roman" pitchFamily="18" charset="0"/>
              <a:ea typeface="幼圆" pitchFamily="49" charset="-122"/>
            </a:endParaRPr>
          </a:p>
        </p:txBody>
      </p:sp>
      <p:sp>
        <p:nvSpPr>
          <p:cNvPr id="292869" name="Rectangle 5"/>
          <p:cNvSpPr>
            <a:spLocks noGrp="1" noChangeArrowheads="1"/>
          </p:cNvSpPr>
          <p:nvPr>
            <p:ph type="body" idx="1"/>
          </p:nvPr>
        </p:nvSpPr>
        <p:spPr/>
        <p:txBody>
          <a:bodyPr/>
          <a:lstStyle/>
          <a:p>
            <a:pPr marL="0" indent="0" eaLnBrk="1" hangingPunct="1">
              <a:lnSpc>
                <a:spcPct val="115000"/>
              </a:lnSpc>
              <a:buClr>
                <a:srgbClr val="FF3300"/>
              </a:buClr>
              <a:defRPr/>
            </a:pPr>
            <a:r>
              <a:rPr lang="zh-CN" altLang="en-US" sz="2400" dirty="0" smtClean="0">
                <a:solidFill>
                  <a:srgbClr val="FF3300"/>
                </a:solidFill>
                <a:effectLst>
                  <a:outerShdw blurRad="38100" dist="38100" dir="2700000" algn="tl">
                    <a:srgbClr val="C0C0C0"/>
                  </a:outerShdw>
                </a:effectLst>
              </a:rPr>
              <a:t> 问题</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15000"/>
              </a:lnSpc>
              <a:buFont typeface="Wingdings" pitchFamily="2" charset="2"/>
              <a:buNone/>
              <a:defRPr/>
            </a:pPr>
            <a:r>
              <a:rPr lang="zh-CN" altLang="en-US" sz="2400" dirty="0" smtClean="0"/>
              <a:t>    采用多种寻址方式可以显著减少程序的指令条数，但会增加计算机的实现复杂度以及指令的</a:t>
            </a:r>
            <a:r>
              <a:rPr lang="en-US" altLang="zh-CN" sz="2400" dirty="0" smtClean="0"/>
              <a:t>CPI	</a:t>
            </a:r>
            <a:r>
              <a:rPr lang="zh-CN" altLang="en-US" sz="2400" dirty="0" smtClean="0"/>
              <a:t>。</a:t>
            </a:r>
            <a:endParaRPr lang="en-US" altLang="zh-CN" sz="2400" dirty="0"/>
          </a:p>
          <a:p>
            <a:pPr marL="0" indent="0" eaLnBrk="1" hangingPunct="1">
              <a:lnSpc>
                <a:spcPct val="115000"/>
              </a:lnSpc>
              <a:buClr>
                <a:srgbClr val="FF3300"/>
              </a:buClr>
              <a:defRPr/>
            </a:pPr>
            <a:r>
              <a:rPr lang="zh-CN" altLang="en-US" sz="2400" dirty="0" smtClean="0">
                <a:solidFill>
                  <a:srgbClr val="FF3300"/>
                </a:solidFill>
                <a:effectLst>
                  <a:outerShdw blurRad="38100" dist="38100" dir="2700000" algn="tl">
                    <a:srgbClr val="C0C0C0"/>
                  </a:outerShdw>
                </a:effectLst>
              </a:rPr>
              <a:t>选择方法</a:t>
            </a:r>
          </a:p>
          <a:p>
            <a:pPr marL="0" indent="0" eaLnBrk="1" hangingPunct="1">
              <a:lnSpc>
                <a:spcPct val="115000"/>
              </a:lnSpc>
              <a:buFont typeface="Wingdings" pitchFamily="2" charset="2"/>
              <a:buNone/>
              <a:defRPr/>
            </a:pPr>
            <a:r>
              <a:rPr lang="zh-CN" altLang="en-US" sz="2400" dirty="0" smtClean="0"/>
              <a:t>    使用</a:t>
            </a:r>
            <a:r>
              <a:rPr lang="zh-CN" altLang="en-US" sz="2400" dirty="0" smtClean="0">
                <a:solidFill>
                  <a:srgbClr val="FF3300"/>
                </a:solidFill>
                <a:effectLst>
                  <a:outerShdw blurRad="38100" dist="38100" dir="2700000" algn="tl">
                    <a:srgbClr val="C0C0C0"/>
                  </a:outerShdw>
                </a:effectLst>
              </a:rPr>
              <a:t>频度分析法</a:t>
            </a:r>
            <a:r>
              <a:rPr lang="zh-CN" altLang="en-US" sz="2400" dirty="0" smtClean="0"/>
              <a:t>根据指令系统风格和各种寻址方式的使用频率，选择高频率的寻址方式。</a:t>
            </a:r>
          </a:p>
          <a:p>
            <a:pPr marL="0" indent="0" eaLnBrk="1" hangingPunct="1">
              <a:lnSpc>
                <a:spcPct val="115000"/>
              </a:lnSpc>
              <a:buClr>
                <a:srgbClr val="FF3300"/>
              </a:buClr>
              <a:defRPr/>
            </a:pPr>
            <a:r>
              <a:rPr lang="zh-CN" altLang="en-US" sz="2400" dirty="0" smtClean="0">
                <a:solidFill>
                  <a:srgbClr val="FF3300"/>
                </a:solidFill>
                <a:effectLst>
                  <a:outerShdw blurRad="38100" dist="38100" dir="2700000" algn="tl">
                    <a:srgbClr val="C0C0C0"/>
                  </a:outerShdw>
                </a:effectLst>
              </a:rPr>
              <a:t>  例子</a:t>
            </a:r>
          </a:p>
          <a:p>
            <a:pPr marL="0" indent="0" eaLnBrk="1" hangingPunct="1">
              <a:lnSpc>
                <a:spcPct val="115000"/>
              </a:lnSpc>
              <a:buFont typeface="Wingdings" pitchFamily="2" charset="2"/>
              <a:buNone/>
              <a:defRPr/>
            </a:pPr>
            <a:r>
              <a:rPr lang="zh-CN" altLang="en-US" sz="2400" dirty="0" smtClean="0"/>
              <a:t>    在</a:t>
            </a:r>
            <a:r>
              <a:rPr lang="en-US" altLang="zh-CN" sz="2400" dirty="0" smtClean="0"/>
              <a:t>VAX</a:t>
            </a:r>
            <a:r>
              <a:rPr lang="zh-CN" altLang="en-US" sz="2400" dirty="0" smtClean="0"/>
              <a:t>指令集机器上运行</a:t>
            </a:r>
            <a:r>
              <a:rPr lang="en-US" altLang="zh-CN" sz="2400" dirty="0" err="1" smtClean="0"/>
              <a:t>gcc、Spice</a:t>
            </a:r>
            <a:r>
              <a:rPr lang="zh-CN" altLang="en-US" sz="2400" dirty="0" smtClean="0"/>
              <a:t>和</a:t>
            </a:r>
            <a:r>
              <a:rPr lang="en-US" altLang="zh-CN" sz="2400" dirty="0" err="1" smtClean="0"/>
              <a:t>Tex</a:t>
            </a:r>
            <a:r>
              <a:rPr lang="zh-CN" altLang="en-US" sz="2400" dirty="0" smtClean="0"/>
              <a:t>基准程序，各种寻址方式的分布见</a:t>
            </a:r>
            <a:r>
              <a:rPr lang="zh-CN" altLang="en-US" sz="2400" dirty="0" smtClean="0">
                <a:hlinkClick r:id="rId6" action="ppaction://hlinksldjump"/>
              </a:rPr>
              <a:t>图</a:t>
            </a:r>
            <a:r>
              <a:rPr lang="zh-CN" altLang="en-US" sz="2400" dirty="0" smtClean="0"/>
              <a:t>。</a:t>
            </a:r>
          </a:p>
        </p:txBody>
      </p:sp>
      <p:sp>
        <p:nvSpPr>
          <p:cNvPr id="5325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Text Box 1027"/>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pitchFamily="2" charset="-122"/>
            </a:endParaRPr>
          </a:p>
        </p:txBody>
      </p:sp>
      <p:sp>
        <p:nvSpPr>
          <p:cNvPr id="293892" name="Text Box 1028"/>
          <p:cNvSpPr txBox="1">
            <a:spLocks noChangeArrowheads="1"/>
          </p:cNvSpPr>
          <p:nvPr/>
        </p:nvSpPr>
        <p:spPr bwMode="auto">
          <a:xfrm>
            <a:off x="1042988" y="5373688"/>
            <a:ext cx="6946900" cy="11874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marL="927100" indent="-927100">
              <a:spcBef>
                <a:spcPct val="0"/>
              </a:spcBef>
              <a:defRPr kumimoji="1" sz="2400">
                <a:solidFill>
                  <a:schemeClr val="tx1"/>
                </a:solidFill>
                <a:latin typeface="Times New Roman" pitchFamily="18" charset="0"/>
                <a:ea typeface="宋体" pitchFamily="2" charset="-122"/>
              </a:defRPr>
            </a:lvl1pPr>
            <a:lvl2pPr marL="1169988">
              <a:spcBef>
                <a:spcPct val="0"/>
              </a:spcBef>
              <a:defRPr kumimoji="1" sz="2400">
                <a:solidFill>
                  <a:schemeClr val="tx1"/>
                </a:solidFill>
                <a:latin typeface="Times New Roman" pitchFamily="18" charset="0"/>
                <a:ea typeface="宋体" pitchFamily="2" charset="-122"/>
              </a:defRPr>
            </a:lvl2pPr>
            <a:lvl3pPr marL="1349375">
              <a:spcBef>
                <a:spcPct val="0"/>
              </a:spcBef>
              <a:defRPr kumimoji="1" sz="2400">
                <a:solidFill>
                  <a:schemeClr val="tx1"/>
                </a:solidFill>
                <a:latin typeface="Times New Roman" pitchFamily="18" charset="0"/>
                <a:ea typeface="宋体" pitchFamily="2" charset="-122"/>
              </a:defRPr>
            </a:lvl3pPr>
            <a:lvl4pPr marL="1528763">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defRPr/>
            </a:pPr>
            <a:r>
              <a:rPr lang="zh-CN" altLang="en-US" b="1" smtClean="0">
                <a:solidFill>
                  <a:srgbClr val="FF3300"/>
                </a:solidFill>
                <a:effectLst>
                  <a:outerShdw blurRad="38100" dist="38100" dir="2700000" algn="tl">
                    <a:srgbClr val="000000"/>
                  </a:outerShdw>
                </a:effectLst>
                <a:ea typeface="楷体_GB2312" pitchFamily="49" charset="-122"/>
              </a:rPr>
              <a:t>结论：</a:t>
            </a:r>
            <a:r>
              <a:rPr lang="zh-CN" altLang="en-US" b="1" smtClean="0">
                <a:ea typeface="楷体_GB2312" pitchFamily="49" charset="-122"/>
              </a:rPr>
              <a:t>偏移寻址和立即数使用频率很高，必须支持这两种方式；对其他寻址方式，则应根据软、硬取舍原则进行选择。</a:t>
            </a:r>
          </a:p>
        </p:txBody>
      </p:sp>
      <p:pic>
        <p:nvPicPr>
          <p:cNvPr id="54276" name="Picture 1030" descr="Ch2-fig07"/>
          <p:cNvPicPr>
            <a:picLocks noChangeAspect="1" noChangeArrowheads="1"/>
          </p:cNvPicPr>
          <p:nvPr/>
        </p:nvPicPr>
        <p:blipFill>
          <a:blip r:embed="rId4">
            <a:extLst>
              <a:ext uri="{28A0092B-C50C-407E-A947-70E740481C1C}">
                <a14:useLocalDpi xmlns:a14="http://schemas.microsoft.com/office/drawing/2010/main" val="0"/>
              </a:ext>
            </a:extLst>
          </a:blip>
          <a:srcRect b="13846"/>
          <a:stretch>
            <a:fillRect/>
          </a:stretch>
        </p:blipFill>
        <p:spPr bwMode="auto">
          <a:xfrm>
            <a:off x="900113" y="692150"/>
            <a:ext cx="7115175"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Oval 1031"/>
          <p:cNvSpPr>
            <a:spLocks noChangeArrowheads="1"/>
          </p:cNvSpPr>
          <p:nvPr/>
        </p:nvSpPr>
        <p:spPr bwMode="auto">
          <a:xfrm>
            <a:off x="900113" y="3789363"/>
            <a:ext cx="1371600" cy="3810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54278" name="Oval 1032"/>
          <p:cNvSpPr>
            <a:spLocks noChangeArrowheads="1"/>
          </p:cNvSpPr>
          <p:nvPr/>
        </p:nvSpPr>
        <p:spPr bwMode="auto">
          <a:xfrm>
            <a:off x="900113" y="3141663"/>
            <a:ext cx="1371600" cy="3810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54279" name="Text Box 103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sp>
        <p:nvSpPr>
          <p:cNvPr id="293890" name="AutoShape 1026">
            <a:hlinkClick r:id="rId5" action="ppaction://hlinksldjump" highlightClick="1"/>
          </p:cNvPr>
          <p:cNvSpPr>
            <a:spLocks noChangeArrowheads="1"/>
          </p:cNvSpPr>
          <p:nvPr/>
        </p:nvSpPr>
        <p:spPr bwMode="auto">
          <a:xfrm>
            <a:off x="7956550" y="32131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pPr eaLnBrk="1" hangingPunct="1">
              <a:defRPr/>
            </a:pPr>
            <a:r>
              <a:rPr lang="zh-CN" altLang="en-US" smtClean="0"/>
              <a:t>寻址方式参数</a:t>
            </a:r>
            <a:br>
              <a:rPr lang="zh-CN" altLang="en-US" smtClean="0"/>
            </a:br>
            <a:r>
              <a:rPr lang="zh-CN" altLang="en-US" smtClean="0"/>
              <a:t>大小选择</a:t>
            </a:r>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寻址方式</a:t>
            </a:r>
            <a:endParaRPr lang="zh-CN" altLang="en-US" sz="1200" b="0">
              <a:latin typeface="Times New Roman" pitchFamily="18" charset="0"/>
              <a:ea typeface="幼圆" pitchFamily="49" charset="-122"/>
            </a:endParaRPr>
          </a:p>
        </p:txBody>
      </p:sp>
      <p:sp>
        <p:nvSpPr>
          <p:cNvPr id="295940" name="Rectangle 4"/>
          <p:cNvSpPr>
            <a:spLocks noGrp="1" noChangeArrowheads="1"/>
          </p:cNvSpPr>
          <p:nvPr>
            <p:ph type="body" idx="1"/>
          </p:nvPr>
        </p:nvSpPr>
        <p:spPr>
          <a:xfrm>
            <a:off x="809625" y="1916113"/>
            <a:ext cx="6642100" cy="4465637"/>
          </a:xfrm>
        </p:spPr>
        <p:txBody>
          <a:bodyPr/>
          <a:lstStyle/>
          <a:p>
            <a:pPr marL="0" indent="0" eaLnBrk="1" hangingPunct="1">
              <a:lnSpc>
                <a:spcPct val="150000"/>
              </a:lnSpc>
              <a:buClr>
                <a:srgbClr val="FF3300"/>
              </a:buClr>
              <a:defRPr/>
            </a:pPr>
            <a:r>
              <a:rPr lang="zh-CN" altLang="en-US" smtClean="0">
                <a:solidFill>
                  <a:srgbClr val="FF3300"/>
                </a:solidFill>
                <a:effectLst>
                  <a:outerShdw blurRad="38100" dist="38100" dir="2700000" algn="tl">
                    <a:srgbClr val="C0C0C0"/>
                  </a:outerShdw>
                </a:effectLst>
              </a:rPr>
              <a:t>  选择方法</a:t>
            </a:r>
          </a:p>
          <a:p>
            <a:pPr marL="0" indent="0" eaLnBrk="1" hangingPunct="1">
              <a:lnSpc>
                <a:spcPct val="150000"/>
              </a:lnSpc>
              <a:buFont typeface="Wingdings" pitchFamily="2" charset="2"/>
              <a:buNone/>
              <a:defRPr/>
            </a:pPr>
            <a:r>
              <a:rPr lang="zh-CN" altLang="en-US" smtClean="0"/>
              <a:t>    </a:t>
            </a:r>
            <a:r>
              <a:rPr lang="zh-CN" altLang="en-US" sz="2800" smtClean="0"/>
              <a:t>根据</a:t>
            </a:r>
            <a:r>
              <a:rPr lang="zh-CN" altLang="en-US" sz="2800" smtClean="0">
                <a:solidFill>
                  <a:srgbClr val="FF3300"/>
                </a:solidFill>
                <a:effectLst>
                  <a:outerShdw blurRad="38100" dist="38100" dir="2700000" algn="tl">
                    <a:srgbClr val="C0C0C0"/>
                  </a:outerShdw>
                </a:effectLst>
              </a:rPr>
              <a:t>频度分析法</a:t>
            </a:r>
            <a:r>
              <a:rPr lang="zh-CN" altLang="en-US" sz="2800" smtClean="0"/>
              <a:t>进行分析和选择。</a:t>
            </a:r>
          </a:p>
          <a:p>
            <a:pPr marL="0" indent="0" eaLnBrk="1" hangingPunct="1">
              <a:lnSpc>
                <a:spcPct val="150000"/>
              </a:lnSpc>
              <a:buClr>
                <a:srgbClr val="FF3300"/>
              </a:buClr>
              <a:defRPr/>
            </a:pPr>
            <a:r>
              <a:rPr lang="zh-CN" altLang="en-US" smtClean="0">
                <a:solidFill>
                  <a:srgbClr val="FF3300"/>
                </a:solidFill>
                <a:effectLst>
                  <a:outerShdw blurRad="38100" dist="38100" dir="2700000" algn="tl">
                    <a:srgbClr val="C0C0C0"/>
                  </a:outerShdw>
                </a:effectLst>
              </a:rPr>
              <a:t>  例子</a:t>
            </a:r>
          </a:p>
          <a:p>
            <a:pPr marL="765175" lvl="1" eaLnBrk="1" hangingPunct="1">
              <a:lnSpc>
                <a:spcPct val="150000"/>
              </a:lnSpc>
              <a:buFont typeface="Wingdings" pitchFamily="2" charset="2"/>
              <a:buChar char="Ø"/>
              <a:defRPr/>
            </a:pPr>
            <a:r>
              <a:rPr lang="zh-CN" altLang="en-US" smtClean="0">
                <a:hlinkClick r:id="rId6" action="ppaction://hlinksldjump"/>
              </a:rPr>
              <a:t>偏移寻址参数大小选择</a:t>
            </a:r>
            <a:endParaRPr lang="zh-CN" altLang="en-US" smtClean="0"/>
          </a:p>
          <a:p>
            <a:pPr marL="765175" lvl="1" eaLnBrk="1" hangingPunct="1">
              <a:lnSpc>
                <a:spcPct val="150000"/>
              </a:lnSpc>
              <a:buFont typeface="Wingdings" pitchFamily="2" charset="2"/>
              <a:buChar char="Ø"/>
              <a:defRPr/>
            </a:pPr>
            <a:r>
              <a:rPr lang="zh-CN" altLang="en-US" smtClean="0">
                <a:hlinkClick r:id="rId7" action="ppaction://hlinksldjump"/>
              </a:rPr>
              <a:t>立即数参数大小选择</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62" name="AutoShape 2">
            <a:hlinkClick r:id="rId4" action="ppaction://hlinksldjump" highlightClick="1"/>
          </p:cNvPr>
          <p:cNvSpPr>
            <a:spLocks noChangeArrowheads="1"/>
          </p:cNvSpPr>
          <p:nvPr/>
        </p:nvSpPr>
        <p:spPr bwMode="auto">
          <a:xfrm>
            <a:off x="7885113" y="594995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p>
        </p:txBody>
      </p:sp>
      <p:sp>
        <p:nvSpPr>
          <p:cNvPr id="56323"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pitchFamily="2" charset="-122"/>
            </a:endParaRPr>
          </a:p>
        </p:txBody>
      </p:sp>
      <p:sp>
        <p:nvSpPr>
          <p:cNvPr id="296964" name="Text Box 4"/>
          <p:cNvSpPr txBox="1">
            <a:spLocks noChangeArrowheads="1"/>
          </p:cNvSpPr>
          <p:nvPr/>
        </p:nvSpPr>
        <p:spPr bwMode="auto">
          <a:xfrm>
            <a:off x="3924300" y="4941888"/>
            <a:ext cx="3481388" cy="158908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spcBef>
                <a:spcPct val="50000"/>
              </a:spcBef>
              <a:defRPr/>
            </a:pPr>
            <a:r>
              <a:rPr lang="zh-CN" altLang="en-US" sz="2400" b="1">
                <a:solidFill>
                  <a:srgbClr val="FF3300"/>
                </a:solidFill>
                <a:effectLst>
                  <a:outerShdw blurRad="38100" dist="38100" dir="2700000" algn="tl">
                    <a:srgbClr val="000000"/>
                  </a:outerShdw>
                </a:effectLst>
                <a:latin typeface="Arial" charset="0"/>
                <a:ea typeface="楷体_GB2312" pitchFamily="49" charset="-122"/>
              </a:rPr>
              <a:t>结论：</a:t>
            </a:r>
          </a:p>
          <a:p>
            <a:pPr>
              <a:spcBef>
                <a:spcPct val="10000"/>
              </a:spcBef>
              <a:defRPr/>
            </a:pPr>
            <a:r>
              <a:rPr lang="zh-CN" altLang="en-US" sz="2400" b="1">
                <a:latin typeface="Arial" charset="0"/>
                <a:ea typeface="楷体_GB2312" pitchFamily="49" charset="-122"/>
              </a:rPr>
              <a:t>    偏移寻址方式中的地址长度至少为12～16</a:t>
            </a:r>
            <a:r>
              <a:rPr lang="en-US" altLang="zh-CN" sz="2400" b="1">
                <a:latin typeface="Arial" charset="0"/>
                <a:ea typeface="楷体_GB2312" pitchFamily="49" charset="-122"/>
              </a:rPr>
              <a:t>bit（75%～99%）。</a:t>
            </a:r>
            <a:endParaRPr lang="zh-CN" altLang="en-US" sz="2400" b="1">
              <a:latin typeface="Arial" charset="0"/>
              <a:ea typeface="楷体_GB2312" pitchFamily="49" charset="-122"/>
            </a:endParaRPr>
          </a:p>
        </p:txBody>
      </p:sp>
      <p:pic>
        <p:nvPicPr>
          <p:cNvPr id="56325" name="Picture 6" descr="Ch2-fig08"/>
          <p:cNvPicPr>
            <a:picLocks noChangeAspect="1" noChangeArrowheads="1"/>
          </p:cNvPicPr>
          <p:nvPr/>
        </p:nvPicPr>
        <p:blipFill>
          <a:blip r:embed="rId5">
            <a:extLst>
              <a:ext uri="{28A0092B-C50C-407E-A947-70E740481C1C}">
                <a14:useLocalDpi xmlns:a14="http://schemas.microsoft.com/office/drawing/2010/main" val="0"/>
              </a:ext>
            </a:extLst>
          </a:blip>
          <a:srcRect b="12700"/>
          <a:stretch>
            <a:fillRect/>
          </a:stretch>
        </p:blipFill>
        <p:spPr bwMode="auto">
          <a:xfrm>
            <a:off x="250825" y="836613"/>
            <a:ext cx="7345363"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67" name="Text Box 7"/>
          <p:cNvSpPr txBox="1">
            <a:spLocks noChangeArrowheads="1"/>
          </p:cNvSpPr>
          <p:nvPr/>
        </p:nvSpPr>
        <p:spPr bwMode="auto">
          <a:xfrm>
            <a:off x="539750" y="4941888"/>
            <a:ext cx="3200400" cy="158908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spcBef>
                <a:spcPct val="50000"/>
              </a:spcBef>
              <a:defRPr/>
            </a:pPr>
            <a:r>
              <a:rPr lang="zh-CN" altLang="en-US" sz="2400" b="1">
                <a:solidFill>
                  <a:srgbClr val="FF3300"/>
                </a:solidFill>
                <a:effectLst>
                  <a:outerShdw blurRad="38100" dist="38100" dir="2700000" algn="tl">
                    <a:srgbClr val="000000"/>
                  </a:outerShdw>
                </a:effectLst>
                <a:latin typeface="Arial" charset="0"/>
                <a:ea typeface="楷体_GB2312" pitchFamily="49" charset="-122"/>
              </a:rPr>
              <a:t>问题：</a:t>
            </a:r>
          </a:p>
          <a:p>
            <a:pPr>
              <a:spcBef>
                <a:spcPct val="10000"/>
              </a:spcBef>
              <a:defRPr/>
            </a:pPr>
            <a:r>
              <a:rPr lang="zh-CN" altLang="en-US" sz="2400" b="1">
                <a:solidFill>
                  <a:srgbClr val="FF3300"/>
                </a:solidFill>
                <a:effectLst>
                  <a:outerShdw blurRad="38100" dist="38100" dir="2700000" algn="tl">
                    <a:srgbClr val="000000"/>
                  </a:outerShdw>
                </a:effectLst>
                <a:latin typeface="Arial" charset="0"/>
                <a:ea typeface="楷体_GB2312" pitchFamily="49" charset="-122"/>
              </a:rPr>
              <a:t>    </a:t>
            </a:r>
            <a:r>
              <a:rPr lang="zh-CN" altLang="en-US" sz="2400" b="1">
                <a:latin typeface="Arial" charset="0"/>
                <a:ea typeface="楷体_GB2312" pitchFamily="49" charset="-122"/>
              </a:rPr>
              <a:t>偏移的范围如何确定，因为其大小直接影响指令的长度。</a:t>
            </a:r>
          </a:p>
        </p:txBody>
      </p:sp>
      <p:sp>
        <p:nvSpPr>
          <p:cNvPr id="56327" name="Text Box 9"/>
          <p:cNvSpPr txBox="1">
            <a:spLocks noChangeArrowheads="1"/>
          </p:cNvSpPr>
          <p:nvPr/>
        </p:nvSpPr>
        <p:spPr bwMode="auto">
          <a:xfrm>
            <a:off x="7696200" y="609600"/>
            <a:ext cx="911225" cy="4648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t>    在</a:t>
            </a:r>
            <a:r>
              <a:rPr lang="en-US" altLang="zh-CN" sz="2400"/>
              <a:t>Alpha</a:t>
            </a:r>
            <a:r>
              <a:rPr lang="zh-CN" altLang="en-US" sz="2400"/>
              <a:t>体系结构计算机上使用</a:t>
            </a:r>
            <a:r>
              <a:rPr lang="en-US" altLang="zh-CN" sz="2400"/>
              <a:t>SPEC CPU2000</a:t>
            </a:r>
            <a:r>
              <a:rPr lang="zh-CN" altLang="en-US" sz="2400"/>
              <a:t>测试所得结果</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1058" name="AutoShape 2">
            <a:hlinkClick r:id="rId4" action="ppaction://hlinksldjump" highlightClick="1"/>
          </p:cNvPr>
          <p:cNvSpPr>
            <a:spLocks noChangeArrowheads="1"/>
          </p:cNvSpPr>
          <p:nvPr/>
        </p:nvSpPr>
        <p:spPr bwMode="auto">
          <a:xfrm>
            <a:off x="8172450" y="573405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p>
        </p:txBody>
      </p:sp>
      <p:sp>
        <p:nvSpPr>
          <p:cNvPr id="57347" name="Text Box 3"/>
          <p:cNvSpPr txBox="1">
            <a:spLocks noChangeArrowheads="1"/>
          </p:cNvSpPr>
          <p:nvPr/>
        </p:nvSpPr>
        <p:spPr bwMode="auto">
          <a:xfrm>
            <a:off x="2057400" y="17526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b="0">
              <a:latin typeface="Times New Roman" pitchFamily="18" charset="0"/>
              <a:ea typeface="宋体" pitchFamily="2" charset="-122"/>
            </a:endParaRPr>
          </a:p>
        </p:txBody>
      </p:sp>
      <p:sp>
        <p:nvSpPr>
          <p:cNvPr id="301060" name="Text Box 4"/>
          <p:cNvSpPr txBox="1">
            <a:spLocks noChangeArrowheads="1"/>
          </p:cNvSpPr>
          <p:nvPr/>
        </p:nvSpPr>
        <p:spPr bwMode="auto">
          <a:xfrm>
            <a:off x="4067175" y="5013325"/>
            <a:ext cx="3733800" cy="1589088"/>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lIns="90000" tIns="46800" rIns="90000" bIns="46800">
            <a:spAutoFit/>
          </a:bodyPr>
          <a:lstStyle/>
          <a:p>
            <a:pPr>
              <a:spcBef>
                <a:spcPct val="10000"/>
              </a:spcBef>
              <a:defRPr/>
            </a:pPr>
            <a:r>
              <a:rPr lang="zh-CN" altLang="en-US" sz="2400" b="1">
                <a:solidFill>
                  <a:srgbClr val="FF3300"/>
                </a:solidFill>
                <a:effectLst>
                  <a:outerShdw blurRad="38100" dist="38100" dir="2700000" algn="tl">
                    <a:srgbClr val="000000"/>
                  </a:outerShdw>
                </a:effectLst>
                <a:latin typeface="Arial" charset="0"/>
                <a:ea typeface="楷体_GB2312" pitchFamily="49" charset="-122"/>
              </a:rPr>
              <a:t>结论：</a:t>
            </a:r>
          </a:p>
          <a:p>
            <a:pPr>
              <a:spcBef>
                <a:spcPct val="10000"/>
              </a:spcBef>
              <a:defRPr/>
            </a:pPr>
            <a:r>
              <a:rPr lang="zh-CN" altLang="en-US" sz="2400" b="1">
                <a:latin typeface="Arial" charset="0"/>
                <a:ea typeface="楷体_GB2312" pitchFamily="49" charset="-122"/>
              </a:rPr>
              <a:t>    立即数寻址模式中的立即数字段长度至少为8～16</a:t>
            </a:r>
            <a:r>
              <a:rPr lang="en-US" altLang="zh-CN" sz="2400" b="1">
                <a:latin typeface="Arial" charset="0"/>
                <a:ea typeface="楷体_GB2312" pitchFamily="49" charset="-122"/>
              </a:rPr>
              <a:t>bit（50%～80%）。</a:t>
            </a:r>
            <a:endParaRPr lang="zh-CN" altLang="en-US" sz="2400" b="1">
              <a:latin typeface="Arial" charset="0"/>
              <a:ea typeface="楷体_GB2312" pitchFamily="49" charset="-122"/>
            </a:endParaRPr>
          </a:p>
        </p:txBody>
      </p:sp>
      <p:sp>
        <p:nvSpPr>
          <p:cNvPr id="301062" name="Text Box 6"/>
          <p:cNvSpPr txBox="1">
            <a:spLocks noChangeArrowheads="1"/>
          </p:cNvSpPr>
          <p:nvPr/>
        </p:nvSpPr>
        <p:spPr bwMode="auto">
          <a:xfrm>
            <a:off x="395288" y="5013325"/>
            <a:ext cx="3505200" cy="1589088"/>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lIns="90000" tIns="46800" rIns="90000" bIns="46800">
            <a:spAutoFit/>
          </a:bodyPr>
          <a:lstStyle/>
          <a:p>
            <a:pPr>
              <a:spcBef>
                <a:spcPct val="10000"/>
              </a:spcBef>
              <a:defRPr/>
            </a:pPr>
            <a:r>
              <a:rPr lang="zh-CN" altLang="en-US" sz="2400" b="1">
                <a:solidFill>
                  <a:srgbClr val="FF3300"/>
                </a:solidFill>
                <a:effectLst>
                  <a:outerShdw blurRad="38100" dist="38100" dir="2700000" algn="tl">
                    <a:srgbClr val="000000"/>
                  </a:outerShdw>
                </a:effectLst>
                <a:latin typeface="Arial" charset="0"/>
                <a:ea typeface="楷体_GB2312" pitchFamily="49" charset="-122"/>
              </a:rPr>
              <a:t>问题：</a:t>
            </a:r>
          </a:p>
          <a:p>
            <a:pPr>
              <a:spcBef>
                <a:spcPct val="10000"/>
              </a:spcBef>
              <a:defRPr/>
            </a:pPr>
            <a:r>
              <a:rPr lang="zh-CN" altLang="en-US" sz="2400" b="1">
                <a:latin typeface="Arial" charset="0"/>
                <a:ea typeface="楷体_GB2312" pitchFamily="49" charset="-122"/>
              </a:rPr>
              <a:t>    立即数的取值范围如何确定，因为其大小直接影响指令的长度。</a:t>
            </a:r>
          </a:p>
        </p:txBody>
      </p:sp>
      <p:sp>
        <p:nvSpPr>
          <p:cNvPr id="57350" name="Text Box 7"/>
          <p:cNvSpPr txBox="1">
            <a:spLocks noChangeArrowheads="1"/>
          </p:cNvSpPr>
          <p:nvPr/>
        </p:nvSpPr>
        <p:spPr bwMode="auto">
          <a:xfrm>
            <a:off x="7956550" y="476250"/>
            <a:ext cx="911225" cy="4648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vert="eaVert"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t>    在</a:t>
            </a:r>
            <a:r>
              <a:rPr lang="en-US" altLang="zh-CN" sz="2400"/>
              <a:t>Alpha</a:t>
            </a:r>
            <a:r>
              <a:rPr lang="zh-CN" altLang="en-US" sz="2400"/>
              <a:t>体系结构计算机上使用</a:t>
            </a:r>
            <a:r>
              <a:rPr lang="en-US" altLang="zh-CN" sz="2400"/>
              <a:t>SPEC CPU2000</a:t>
            </a:r>
            <a:r>
              <a:rPr lang="zh-CN" altLang="en-US" sz="2400"/>
              <a:t>测试所得结果</a:t>
            </a:r>
          </a:p>
        </p:txBody>
      </p:sp>
      <p:pic>
        <p:nvPicPr>
          <p:cNvPr id="57351" name="Picture 8" descr="Ch2-fig10"/>
          <p:cNvPicPr>
            <a:picLocks noChangeAspect="1" noChangeArrowheads="1"/>
          </p:cNvPicPr>
          <p:nvPr/>
        </p:nvPicPr>
        <p:blipFill>
          <a:blip r:embed="rId5">
            <a:extLst>
              <a:ext uri="{28A0092B-C50C-407E-A947-70E740481C1C}">
                <a14:useLocalDpi xmlns:a14="http://schemas.microsoft.com/office/drawing/2010/main" val="0"/>
              </a:ext>
            </a:extLst>
          </a:blip>
          <a:srcRect b="11649"/>
          <a:stretch>
            <a:fillRect/>
          </a:stretch>
        </p:blipFill>
        <p:spPr bwMode="auto">
          <a:xfrm>
            <a:off x="468313" y="476250"/>
            <a:ext cx="7200900" cy="4505325"/>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lstStyle/>
          <a:p>
            <a:pPr eaLnBrk="1" hangingPunct="1">
              <a:defRPr/>
            </a:pPr>
            <a:r>
              <a:rPr lang="zh-CN" altLang="en-US" smtClean="0"/>
              <a:t>定位方式</a:t>
            </a:r>
          </a:p>
        </p:txBody>
      </p:sp>
      <p:sp>
        <p:nvSpPr>
          <p:cNvPr id="583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寻址技术</a:t>
            </a:r>
            <a:endParaRPr lang="zh-CN" altLang="en-US" sz="1200" b="0">
              <a:latin typeface="Times New Roman" pitchFamily="18" charset="0"/>
              <a:ea typeface="幼圆" pitchFamily="49" charset="-122"/>
            </a:endParaRPr>
          </a:p>
        </p:txBody>
      </p:sp>
      <p:sp>
        <p:nvSpPr>
          <p:cNvPr id="276484" name="Rectangle 4"/>
          <p:cNvSpPr>
            <a:spLocks noGrp="1" noChangeArrowheads="1"/>
          </p:cNvSpPr>
          <p:nvPr>
            <p:ph type="body" idx="1"/>
          </p:nvPr>
        </p:nvSpPr>
        <p:spPr/>
        <p:txBody>
          <a:bodyPr/>
          <a:lstStyle/>
          <a:p>
            <a:pPr marL="0" indent="0" eaLnBrk="1" hangingPunct="1">
              <a:buClr>
                <a:srgbClr val="FF3300"/>
              </a:buClr>
              <a:buFont typeface="Wingdings" pitchFamily="2" charset="2"/>
              <a:buChar char="Ø"/>
              <a:defRPr/>
            </a:pPr>
            <a:r>
              <a:rPr lang="zh-CN" altLang="en-US" sz="2800" smtClean="0">
                <a:solidFill>
                  <a:srgbClr val="FF3300"/>
                </a:solidFill>
                <a:effectLst>
                  <a:outerShdw blurRad="38100" dist="38100" dir="2700000" algn="tl">
                    <a:srgbClr val="C0C0C0"/>
                  </a:outerShdw>
                </a:effectLst>
              </a:rPr>
              <a:t>  直接定位方式</a:t>
            </a:r>
          </a:p>
          <a:p>
            <a:pPr marL="0" indent="0" eaLnBrk="1" hangingPunct="1">
              <a:buFont typeface="Wingdings" pitchFamily="2" charset="2"/>
              <a:buNone/>
              <a:defRPr/>
            </a:pPr>
            <a:r>
              <a:rPr lang="zh-CN" altLang="en-US" sz="2400" smtClean="0"/>
              <a:t>      在程序装入主存储器之前，程序中的指令和数据的主存物理地址就已经确定了的称为直接定位方式。</a:t>
            </a:r>
          </a:p>
          <a:p>
            <a:pPr marL="0" indent="0" eaLnBrk="1" hangingPunct="1">
              <a:buClr>
                <a:srgbClr val="FF3300"/>
              </a:buClr>
              <a:buFont typeface="Wingdings" pitchFamily="2" charset="2"/>
              <a:buChar char="Ø"/>
              <a:defRPr/>
            </a:pPr>
            <a:r>
              <a:rPr lang="zh-CN" altLang="en-US" sz="2800" smtClean="0"/>
              <a:t>  </a:t>
            </a:r>
            <a:r>
              <a:rPr lang="zh-CN" altLang="en-US" sz="2800" smtClean="0">
                <a:solidFill>
                  <a:srgbClr val="FF3300"/>
                </a:solidFill>
                <a:effectLst>
                  <a:outerShdw blurRad="38100" dist="38100" dir="2700000" algn="tl">
                    <a:srgbClr val="C0C0C0"/>
                  </a:outerShdw>
                </a:effectLst>
              </a:rPr>
              <a:t>静态定位方式</a:t>
            </a:r>
          </a:p>
          <a:p>
            <a:pPr marL="0" indent="0" eaLnBrk="1" hangingPunct="1">
              <a:buFont typeface="Wingdings" pitchFamily="2" charset="2"/>
              <a:buNone/>
              <a:defRPr/>
            </a:pPr>
            <a:r>
              <a:rPr lang="zh-CN" altLang="en-US" sz="2400" smtClean="0"/>
              <a:t>      在程序装入主存储器的过程中随即进行地址变换，确定指令和数据的主存物理地址的称为静态定位方式。</a:t>
            </a:r>
          </a:p>
          <a:p>
            <a:pPr marL="0" indent="0" eaLnBrk="1" hangingPunct="1">
              <a:buClr>
                <a:srgbClr val="FF3300"/>
              </a:buClr>
              <a:buFont typeface="Wingdings" pitchFamily="2" charset="2"/>
              <a:buChar char="Ø"/>
              <a:defRPr/>
            </a:pPr>
            <a:r>
              <a:rPr lang="zh-CN" altLang="en-US" sz="2800" smtClean="0"/>
              <a:t>  </a:t>
            </a:r>
            <a:r>
              <a:rPr lang="zh-CN" altLang="en-US" sz="2800" smtClean="0">
                <a:solidFill>
                  <a:srgbClr val="FF3300"/>
                </a:solidFill>
                <a:effectLst>
                  <a:outerShdw blurRad="38100" dist="38100" dir="2700000" algn="tl">
                    <a:srgbClr val="C0C0C0"/>
                  </a:outerShdw>
                </a:effectLst>
              </a:rPr>
              <a:t>动态定位方式</a:t>
            </a:r>
          </a:p>
          <a:p>
            <a:pPr marL="0" indent="0" eaLnBrk="1" hangingPunct="1">
              <a:buFont typeface="Wingdings" pitchFamily="2" charset="2"/>
              <a:buNone/>
              <a:defRPr/>
            </a:pPr>
            <a:r>
              <a:rPr lang="zh-CN" altLang="en-US" sz="2400" smtClean="0"/>
              <a:t>      在程序执行过程中，当访问到相应的指令或数据时才进行地址变换，确定指令和数据的主存物理地址的称为动态定位方式。</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a:lstStyle/>
          <a:p>
            <a:pPr eaLnBrk="1" hangingPunct="1">
              <a:defRPr/>
            </a:pPr>
            <a:r>
              <a:rPr lang="zh-CN" altLang="en-US" smtClean="0"/>
              <a:t>指令格式的优化设计</a:t>
            </a:r>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59396" name="Rectangle 4"/>
          <p:cNvSpPr>
            <a:spLocks noGrp="1" noChangeArrowheads="1"/>
          </p:cNvSpPr>
          <p:nvPr>
            <p:ph type="body" idx="1"/>
          </p:nvPr>
        </p:nvSpPr>
        <p:spPr>
          <a:xfrm>
            <a:off x="2051050" y="2133600"/>
            <a:ext cx="5057775" cy="3881438"/>
          </a:xfrm>
        </p:spPr>
        <p:txBody>
          <a:bodyPr/>
          <a:lstStyle/>
          <a:p>
            <a:pPr eaLnBrk="1" hangingPunct="1">
              <a:lnSpc>
                <a:spcPct val="150000"/>
              </a:lnSpc>
            </a:pPr>
            <a:r>
              <a:rPr lang="zh-CN" altLang="en-US" dirty="0" smtClean="0">
                <a:hlinkClick r:id="rId4" action="ppaction://hlinksldjump"/>
              </a:rPr>
              <a:t>指令的组成</a:t>
            </a:r>
            <a:endParaRPr lang="zh-CN" altLang="en-US" dirty="0" smtClean="0"/>
          </a:p>
          <a:p>
            <a:pPr eaLnBrk="1" hangingPunct="1">
              <a:lnSpc>
                <a:spcPct val="150000"/>
              </a:lnSpc>
            </a:pPr>
            <a:r>
              <a:rPr lang="zh-CN" altLang="en-US" dirty="0" smtClean="0">
                <a:hlinkClick r:id="rId5" action="ppaction://hlinksldjump"/>
              </a:rPr>
              <a:t>操作码的优化设计</a:t>
            </a:r>
            <a:endParaRPr lang="zh-CN" altLang="en-US" dirty="0" smtClean="0"/>
          </a:p>
          <a:p>
            <a:pPr eaLnBrk="1" hangingPunct="1">
              <a:lnSpc>
                <a:spcPct val="150000"/>
              </a:lnSpc>
            </a:pPr>
            <a:r>
              <a:rPr lang="zh-CN" altLang="en-US" dirty="0" smtClean="0">
                <a:hlinkClick r:id="rId6" action="ppaction://hlinksldjump"/>
              </a:rPr>
              <a:t>地址码的优化设计</a:t>
            </a:r>
            <a:endParaRPr lang="zh-CN" altLang="en-US" dirty="0" smtClean="0"/>
          </a:p>
          <a:p>
            <a:pPr eaLnBrk="1" hangingPunct="1">
              <a:lnSpc>
                <a:spcPct val="150000"/>
              </a:lnSpc>
            </a:pPr>
            <a:r>
              <a:rPr lang="zh-CN" altLang="en-US" dirty="0" smtClean="0">
                <a:hlinkClick r:id="rId7" action="ppaction://hlinksldjump"/>
              </a:rPr>
              <a:t>指令字格式的优化设计</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a:lstStyle/>
          <a:p>
            <a:pPr eaLnBrk="1" hangingPunct="1">
              <a:defRPr/>
            </a:pPr>
            <a:r>
              <a:rPr lang="zh-CN" altLang="en-US" smtClean="0"/>
              <a:t>指令的组成</a:t>
            </a:r>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endParaRPr lang="zh-CN" altLang="en-US" sz="1200" b="0">
              <a:latin typeface="Times New Roman" pitchFamily="18" charset="0"/>
              <a:ea typeface="幼圆" pitchFamily="49" charset="-122"/>
            </a:endParaRPr>
          </a:p>
        </p:txBody>
      </p:sp>
      <p:sp>
        <p:nvSpPr>
          <p:cNvPr id="311301" name="Rectangle 5"/>
          <p:cNvSpPr>
            <a:spLocks noGrp="1" noChangeArrowheads="1"/>
          </p:cNvSpPr>
          <p:nvPr>
            <p:ph type="body" idx="1"/>
          </p:nvPr>
        </p:nvSpPr>
        <p:spPr>
          <a:xfrm>
            <a:off x="755650" y="1916832"/>
            <a:ext cx="7958138" cy="609600"/>
          </a:xfrm>
        </p:spPr>
        <p:txBody>
          <a:bodyPr/>
          <a:lstStyle/>
          <a:p>
            <a:pPr eaLnBrk="1" hangingPunct="1">
              <a:buFont typeface="Wingdings" pitchFamily="2" charset="2"/>
              <a:buNone/>
              <a:defRPr/>
            </a:pPr>
            <a:r>
              <a:rPr lang="zh-CN" altLang="en-US" sz="2400" dirty="0" smtClean="0"/>
              <a:t>       指令一般由两部分组成：</a:t>
            </a:r>
            <a:r>
              <a:rPr lang="zh-CN" altLang="en-US" sz="2400" dirty="0" smtClean="0">
                <a:solidFill>
                  <a:srgbClr val="FF3300"/>
                </a:solidFill>
                <a:effectLst>
                  <a:outerShdw blurRad="38100" dist="38100" dir="2700000" algn="tl">
                    <a:srgbClr val="C0C0C0"/>
                  </a:outerShdw>
                </a:effectLst>
              </a:rPr>
              <a:t>操作码</a:t>
            </a:r>
            <a:r>
              <a:rPr lang="zh-CN" altLang="en-US" sz="2400" dirty="0" smtClean="0"/>
              <a:t>和</a:t>
            </a:r>
            <a:r>
              <a:rPr lang="zh-CN" altLang="en-US" sz="2400" dirty="0" smtClean="0">
                <a:solidFill>
                  <a:srgbClr val="FF3300"/>
                </a:solidFill>
                <a:effectLst>
                  <a:outerShdw blurRad="38100" dist="38100" dir="2700000" algn="tl">
                    <a:srgbClr val="C0C0C0"/>
                  </a:outerShdw>
                </a:effectLst>
              </a:rPr>
              <a:t>地址码</a:t>
            </a:r>
            <a:r>
              <a:rPr lang="zh-CN" altLang="en-US" sz="2400" dirty="0" smtClean="0"/>
              <a:t>。</a:t>
            </a:r>
          </a:p>
        </p:txBody>
      </p:sp>
      <p:sp>
        <p:nvSpPr>
          <p:cNvPr id="311302" name="Rectangle 6"/>
          <p:cNvSpPr>
            <a:spLocks noChangeArrowheads="1"/>
          </p:cNvSpPr>
          <p:nvPr/>
        </p:nvSpPr>
        <p:spPr bwMode="auto">
          <a:xfrm>
            <a:off x="1066800" y="2467744"/>
            <a:ext cx="3657600" cy="2329408"/>
          </a:xfrm>
          <a:prstGeom prst="rect">
            <a:avLst/>
          </a:prstGeom>
          <a:solidFill>
            <a:srgbClr val="FFFF00"/>
          </a:solidFill>
          <a:ln w="57150" cmpd="thickThin">
            <a:solidFill>
              <a:schemeClr val="tx1"/>
            </a:solidFill>
            <a:miter lim="800000"/>
            <a:headEnd/>
            <a:tailEnd/>
          </a:ln>
          <a:effectLst>
            <a:outerShdw dist="35921" dir="2700000" algn="ctr" rotWithShape="0">
              <a:schemeClr val="bg2"/>
            </a:outerShdw>
          </a:effectLst>
        </p:spPr>
        <p:txBody>
          <a:bodyPr/>
          <a:lstStyle>
            <a:lvl1pPr marL="342900" indent="-342900">
              <a:spcBef>
                <a:spcPct val="0"/>
              </a:spcBef>
              <a:defRPr kumimoji="1" sz="2400">
                <a:solidFill>
                  <a:schemeClr val="tx1"/>
                </a:solidFill>
                <a:latin typeface="Times New Roman" pitchFamily="18" charset="0"/>
                <a:ea typeface="宋体" pitchFamily="2" charset="-122"/>
              </a:defRPr>
            </a:lvl1pPr>
            <a:lvl2pPr marL="742950" indent="-285750">
              <a:spcBef>
                <a:spcPct val="0"/>
              </a:spcBef>
              <a:defRPr kumimoji="1" sz="2400">
                <a:solidFill>
                  <a:schemeClr val="tx1"/>
                </a:solidFill>
                <a:latin typeface="Times New Roman" pitchFamily="18" charset="0"/>
                <a:ea typeface="宋体" pitchFamily="2" charset="-122"/>
              </a:defRPr>
            </a:lvl2pPr>
            <a:lvl3pPr marL="1085850" indent="-228600">
              <a:spcBef>
                <a:spcPct val="0"/>
              </a:spcBef>
              <a:defRPr kumimoji="1" sz="2400">
                <a:solidFill>
                  <a:schemeClr val="tx1"/>
                </a:solidFill>
                <a:latin typeface="Times New Roman" pitchFamily="18" charset="0"/>
                <a:ea typeface="宋体" pitchFamily="2" charset="-122"/>
              </a:defRPr>
            </a:lvl3pPr>
            <a:lvl4pPr marL="1428750" indent="-228600">
              <a:spcBef>
                <a:spcPct val="0"/>
              </a:spcBef>
              <a:defRPr kumimoji="1" sz="2400">
                <a:solidFill>
                  <a:schemeClr val="tx1"/>
                </a:solidFill>
                <a:latin typeface="Times New Roman" pitchFamily="18" charset="0"/>
                <a:ea typeface="宋体" pitchFamily="2" charset="-122"/>
              </a:defRPr>
            </a:lvl4pPr>
            <a:lvl5pPr marL="1771650" indent="-228600">
              <a:spcBef>
                <a:spcPct val="0"/>
              </a:spcBef>
              <a:defRPr kumimoji="1" sz="2400">
                <a:solidFill>
                  <a:schemeClr val="tx1"/>
                </a:solidFill>
                <a:latin typeface="Times New Roman" pitchFamily="18" charset="0"/>
                <a:ea typeface="宋体" pitchFamily="2" charset="-122"/>
              </a:defRPr>
            </a:lvl5pPr>
            <a:lvl6pPr marL="2228850" indent="-228600" fontAlgn="base">
              <a:spcBef>
                <a:spcPct val="0"/>
              </a:spcBef>
              <a:spcAft>
                <a:spcPct val="0"/>
              </a:spcAft>
              <a:defRPr kumimoji="1" sz="2400">
                <a:solidFill>
                  <a:schemeClr val="tx1"/>
                </a:solidFill>
                <a:latin typeface="Times New Roman" pitchFamily="18" charset="0"/>
                <a:ea typeface="宋体" pitchFamily="2" charset="-122"/>
              </a:defRPr>
            </a:lvl6pPr>
            <a:lvl7pPr marL="2686050" indent="-228600" fontAlgn="base">
              <a:spcBef>
                <a:spcPct val="0"/>
              </a:spcBef>
              <a:spcAft>
                <a:spcPct val="0"/>
              </a:spcAft>
              <a:defRPr kumimoji="1" sz="2400">
                <a:solidFill>
                  <a:schemeClr val="tx1"/>
                </a:solidFill>
                <a:latin typeface="Times New Roman" pitchFamily="18" charset="0"/>
                <a:ea typeface="宋体" pitchFamily="2" charset="-122"/>
              </a:defRPr>
            </a:lvl7pPr>
            <a:lvl8pPr marL="3143250" indent="-228600" fontAlgn="base">
              <a:spcBef>
                <a:spcPct val="0"/>
              </a:spcBef>
              <a:spcAft>
                <a:spcPct val="0"/>
              </a:spcAft>
              <a:defRPr kumimoji="1" sz="2400">
                <a:solidFill>
                  <a:schemeClr val="tx1"/>
                </a:solidFill>
                <a:latin typeface="Times New Roman" pitchFamily="18" charset="0"/>
                <a:ea typeface="宋体" pitchFamily="2" charset="-122"/>
              </a:defRPr>
            </a:lvl8pPr>
            <a:lvl9pPr marL="3600450"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buClr>
                <a:srgbClr val="FF3300"/>
              </a:buClr>
              <a:buFont typeface="Wingdings" pitchFamily="2" charset="2"/>
              <a:buChar char="w"/>
              <a:defRPr/>
            </a:pPr>
            <a:r>
              <a:rPr lang="zh-CN" altLang="en-US" b="1" dirty="0" smtClean="0">
                <a:solidFill>
                  <a:srgbClr val="FF3300"/>
                </a:solidFill>
                <a:effectLst>
                  <a:outerShdw blurRad="38100" dist="38100" dir="2700000" algn="tl">
                    <a:srgbClr val="000000"/>
                  </a:outerShdw>
                </a:effectLst>
                <a:latin typeface="楷体_GB2312" pitchFamily="49" charset="-122"/>
                <a:ea typeface="楷体_GB2312" pitchFamily="49" charset="-122"/>
              </a:rPr>
              <a:t>操作码</a:t>
            </a:r>
          </a:p>
          <a:p>
            <a:pPr>
              <a:spcBef>
                <a:spcPct val="20000"/>
              </a:spcBef>
              <a:defRPr/>
            </a:pPr>
            <a:r>
              <a:rPr lang="zh-CN" altLang="en-US" b="1" dirty="0" smtClean="0">
                <a:latin typeface="楷体_GB2312" pitchFamily="49" charset="-122"/>
                <a:ea typeface="楷体_GB2312" pitchFamily="49" charset="-122"/>
              </a:rPr>
              <a:t>  由两部分组成：</a:t>
            </a:r>
          </a:p>
          <a:p>
            <a:pPr lvl="1">
              <a:spcBef>
                <a:spcPct val="20000"/>
              </a:spcBef>
              <a:buSzPct val="55000"/>
              <a:buFont typeface="Wingdings" pitchFamily="2" charset="2"/>
              <a:buChar char="Ø"/>
              <a:defRPr/>
            </a:pPr>
            <a:r>
              <a:rPr lang="zh-CN" altLang="en-US" b="1" dirty="0" smtClean="0">
                <a:latin typeface="楷体_GB2312" pitchFamily="49" charset="-122"/>
                <a:ea typeface="楷体_GB2312" pitchFamily="49" charset="-122"/>
              </a:rPr>
              <a:t>指令的操作种类</a:t>
            </a:r>
          </a:p>
          <a:p>
            <a:pPr lvl="1">
              <a:spcBef>
                <a:spcPct val="20000"/>
              </a:spcBef>
              <a:buSzPct val="55000"/>
              <a:buFont typeface="Wingdings" pitchFamily="2" charset="2"/>
              <a:buChar char="Ø"/>
              <a:defRPr/>
            </a:pPr>
            <a:r>
              <a:rPr lang="zh-CN" altLang="en-US" b="1" dirty="0" smtClean="0">
                <a:latin typeface="楷体_GB2312" pitchFamily="49" charset="-122"/>
                <a:ea typeface="楷体_GB2312" pitchFamily="49" charset="-122"/>
              </a:rPr>
              <a:t>所用操作数的类型</a:t>
            </a:r>
          </a:p>
        </p:txBody>
      </p:sp>
      <p:sp>
        <p:nvSpPr>
          <p:cNvPr id="311303" name="Rectangle 7"/>
          <p:cNvSpPr>
            <a:spLocks noChangeArrowheads="1"/>
          </p:cNvSpPr>
          <p:nvPr/>
        </p:nvSpPr>
        <p:spPr bwMode="auto">
          <a:xfrm>
            <a:off x="4953000" y="2467744"/>
            <a:ext cx="3657600" cy="2329408"/>
          </a:xfrm>
          <a:prstGeom prst="rect">
            <a:avLst/>
          </a:prstGeom>
          <a:solidFill>
            <a:srgbClr val="CC99FF"/>
          </a:solidFill>
          <a:ln w="57150" cmpd="thickThin">
            <a:solidFill>
              <a:schemeClr val="tx1"/>
            </a:solidFill>
            <a:miter lim="800000"/>
            <a:headEnd/>
            <a:tailEnd/>
          </a:ln>
          <a:effectLst>
            <a:outerShdw dist="35921" dir="2700000" algn="ctr" rotWithShape="0">
              <a:schemeClr val="bg2"/>
            </a:outerShdw>
          </a:effectLst>
        </p:spPr>
        <p:txBody>
          <a:bodyPr/>
          <a:lstStyle>
            <a:lvl1pPr marL="342900" indent="-342900">
              <a:spcBef>
                <a:spcPct val="0"/>
              </a:spcBef>
              <a:defRPr kumimoji="1" sz="2400">
                <a:solidFill>
                  <a:schemeClr val="tx1"/>
                </a:solidFill>
                <a:latin typeface="Times New Roman" pitchFamily="18" charset="0"/>
                <a:ea typeface="宋体" pitchFamily="2" charset="-122"/>
              </a:defRPr>
            </a:lvl1pPr>
            <a:lvl2pPr marL="742950" indent="-285750">
              <a:spcBef>
                <a:spcPct val="0"/>
              </a:spcBef>
              <a:defRPr kumimoji="1" sz="2400">
                <a:solidFill>
                  <a:schemeClr val="tx1"/>
                </a:solidFill>
                <a:latin typeface="Times New Roman" pitchFamily="18" charset="0"/>
                <a:ea typeface="宋体" pitchFamily="2" charset="-122"/>
              </a:defRPr>
            </a:lvl2pPr>
            <a:lvl3pPr marL="1085850" indent="-228600">
              <a:spcBef>
                <a:spcPct val="0"/>
              </a:spcBef>
              <a:defRPr kumimoji="1" sz="2400">
                <a:solidFill>
                  <a:schemeClr val="tx1"/>
                </a:solidFill>
                <a:latin typeface="Times New Roman" pitchFamily="18" charset="0"/>
                <a:ea typeface="宋体" pitchFamily="2" charset="-122"/>
              </a:defRPr>
            </a:lvl3pPr>
            <a:lvl4pPr marL="1428750" indent="-228600">
              <a:spcBef>
                <a:spcPct val="0"/>
              </a:spcBef>
              <a:defRPr kumimoji="1" sz="2400">
                <a:solidFill>
                  <a:schemeClr val="tx1"/>
                </a:solidFill>
                <a:latin typeface="Times New Roman" pitchFamily="18" charset="0"/>
                <a:ea typeface="宋体" pitchFamily="2" charset="-122"/>
              </a:defRPr>
            </a:lvl4pPr>
            <a:lvl5pPr marL="1771650" indent="-228600">
              <a:spcBef>
                <a:spcPct val="0"/>
              </a:spcBef>
              <a:defRPr kumimoji="1" sz="2400">
                <a:solidFill>
                  <a:schemeClr val="tx1"/>
                </a:solidFill>
                <a:latin typeface="Times New Roman" pitchFamily="18" charset="0"/>
                <a:ea typeface="宋体" pitchFamily="2" charset="-122"/>
              </a:defRPr>
            </a:lvl5pPr>
            <a:lvl6pPr marL="2228850" indent="-228600" fontAlgn="base">
              <a:spcBef>
                <a:spcPct val="0"/>
              </a:spcBef>
              <a:spcAft>
                <a:spcPct val="0"/>
              </a:spcAft>
              <a:defRPr kumimoji="1" sz="2400">
                <a:solidFill>
                  <a:schemeClr val="tx1"/>
                </a:solidFill>
                <a:latin typeface="Times New Roman" pitchFamily="18" charset="0"/>
                <a:ea typeface="宋体" pitchFamily="2" charset="-122"/>
              </a:defRPr>
            </a:lvl6pPr>
            <a:lvl7pPr marL="2686050" indent="-228600" fontAlgn="base">
              <a:spcBef>
                <a:spcPct val="0"/>
              </a:spcBef>
              <a:spcAft>
                <a:spcPct val="0"/>
              </a:spcAft>
              <a:defRPr kumimoji="1" sz="2400">
                <a:solidFill>
                  <a:schemeClr val="tx1"/>
                </a:solidFill>
                <a:latin typeface="Times New Roman" pitchFamily="18" charset="0"/>
                <a:ea typeface="宋体" pitchFamily="2" charset="-122"/>
              </a:defRPr>
            </a:lvl7pPr>
            <a:lvl8pPr marL="3143250" indent="-228600" fontAlgn="base">
              <a:spcBef>
                <a:spcPct val="0"/>
              </a:spcBef>
              <a:spcAft>
                <a:spcPct val="0"/>
              </a:spcAft>
              <a:defRPr kumimoji="1" sz="2400">
                <a:solidFill>
                  <a:schemeClr val="tx1"/>
                </a:solidFill>
                <a:latin typeface="Times New Roman" pitchFamily="18" charset="0"/>
                <a:ea typeface="宋体" pitchFamily="2" charset="-122"/>
              </a:defRPr>
            </a:lvl8pPr>
            <a:lvl9pPr marL="3600450"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buClr>
                <a:srgbClr val="FF3300"/>
              </a:buClr>
              <a:buFont typeface="Wingdings" pitchFamily="2" charset="2"/>
              <a:buChar char="w"/>
              <a:defRPr/>
            </a:pPr>
            <a:r>
              <a:rPr lang="zh-CN" altLang="en-US" b="1" dirty="0" smtClean="0">
                <a:solidFill>
                  <a:srgbClr val="FF3300"/>
                </a:solidFill>
                <a:effectLst>
                  <a:outerShdw blurRad="38100" dist="38100" dir="2700000" algn="tl">
                    <a:srgbClr val="000000"/>
                  </a:outerShdw>
                </a:effectLst>
                <a:latin typeface="楷体_GB2312" pitchFamily="49" charset="-122"/>
                <a:ea typeface="楷体_GB2312" pitchFamily="49" charset="-122"/>
              </a:rPr>
              <a:t>地址码</a:t>
            </a:r>
          </a:p>
          <a:p>
            <a:pPr>
              <a:spcBef>
                <a:spcPct val="20000"/>
              </a:spcBef>
              <a:defRPr/>
            </a:pPr>
            <a:r>
              <a:rPr lang="zh-CN" altLang="en-US" b="1" dirty="0" smtClean="0">
                <a:latin typeface="楷体_GB2312" pitchFamily="49" charset="-122"/>
                <a:ea typeface="楷体_GB2312" pitchFamily="49" charset="-122"/>
              </a:rPr>
              <a:t>  由三部分组成：</a:t>
            </a:r>
          </a:p>
          <a:p>
            <a:pPr lvl="1">
              <a:spcBef>
                <a:spcPct val="20000"/>
              </a:spcBef>
              <a:buSzPct val="55000"/>
              <a:buFont typeface="Wingdings" pitchFamily="2" charset="2"/>
              <a:buChar char="Ø"/>
              <a:defRPr/>
            </a:pPr>
            <a:r>
              <a:rPr lang="zh-CN" altLang="en-US" b="1" dirty="0" smtClean="0">
                <a:latin typeface="楷体_GB2312" pitchFamily="49" charset="-122"/>
                <a:ea typeface="楷体_GB2312" pitchFamily="49" charset="-122"/>
              </a:rPr>
              <a:t>操作数地址</a:t>
            </a:r>
          </a:p>
          <a:p>
            <a:pPr lvl="1">
              <a:spcBef>
                <a:spcPct val="20000"/>
              </a:spcBef>
              <a:buSzPct val="55000"/>
              <a:buFont typeface="Wingdings" pitchFamily="2" charset="2"/>
              <a:buChar char="Ø"/>
              <a:defRPr/>
            </a:pPr>
            <a:r>
              <a:rPr lang="zh-CN" altLang="en-US" b="1" dirty="0" smtClean="0">
                <a:latin typeface="楷体_GB2312" pitchFamily="49" charset="-122"/>
                <a:ea typeface="楷体_GB2312" pitchFamily="49" charset="-122"/>
              </a:rPr>
              <a:t>地址的附加信息</a:t>
            </a:r>
          </a:p>
          <a:p>
            <a:pPr lvl="1">
              <a:spcBef>
                <a:spcPct val="20000"/>
              </a:spcBef>
              <a:buSzPct val="55000"/>
              <a:buFont typeface="Wingdings" pitchFamily="2" charset="2"/>
              <a:buChar char="Ø"/>
              <a:defRPr/>
            </a:pPr>
            <a:r>
              <a:rPr lang="zh-CN" altLang="en-US" b="1" dirty="0" smtClean="0">
                <a:latin typeface="楷体_GB2312" pitchFamily="49" charset="-122"/>
                <a:ea typeface="楷体_GB2312" pitchFamily="49" charset="-122"/>
              </a:rPr>
              <a:t>寻址方式</a:t>
            </a:r>
          </a:p>
        </p:txBody>
      </p:sp>
      <p:sp>
        <p:nvSpPr>
          <p:cNvPr id="8" name="Rectangle 5"/>
          <p:cNvSpPr txBox="1">
            <a:spLocks noChangeArrowheads="1"/>
          </p:cNvSpPr>
          <p:nvPr/>
        </p:nvSpPr>
        <p:spPr bwMode="auto">
          <a:xfrm>
            <a:off x="985837" y="4941168"/>
            <a:ext cx="7624763"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0" indent="0" eaLnBrk="1" hangingPunct="1">
              <a:buNone/>
              <a:defRPr/>
            </a:pPr>
            <a:r>
              <a:rPr lang="zh-CN" altLang="en-US" sz="2400" kern="0" dirty="0">
                <a:effectLst>
                  <a:outerShdw blurRad="38100" dist="38100" dir="2700000" algn="tl">
                    <a:srgbClr val="C0C0C0"/>
                  </a:outerShdw>
                </a:effectLst>
              </a:rPr>
              <a:t>指令格式优化设计</a:t>
            </a:r>
            <a:r>
              <a:rPr lang="zh-CN" altLang="en-US" sz="2400" kern="0" dirty="0" smtClean="0">
                <a:effectLst>
                  <a:outerShdw blurRad="38100" dist="38100" dir="2700000" algn="tl">
                    <a:srgbClr val="C0C0C0"/>
                  </a:outerShdw>
                </a:effectLst>
              </a:rPr>
              <a:t>的目标</a:t>
            </a:r>
            <a:endParaRPr lang="en-US" altLang="zh-CN" sz="2400" kern="0" dirty="0" smtClean="0">
              <a:effectLst>
                <a:outerShdw blurRad="38100" dist="38100" dir="2700000" algn="tl">
                  <a:srgbClr val="C0C0C0"/>
                </a:outerShdw>
              </a:effectLst>
            </a:endParaRPr>
          </a:p>
          <a:p>
            <a:pPr eaLnBrk="1" hangingPunct="1">
              <a:defRPr/>
            </a:pPr>
            <a:r>
              <a:rPr lang="zh-CN" altLang="en-US" sz="2400" kern="0" dirty="0" smtClean="0">
                <a:solidFill>
                  <a:srgbClr val="FF3300"/>
                </a:solidFill>
                <a:effectLst>
                  <a:outerShdw blurRad="38100" dist="38100" dir="2700000" algn="tl">
                    <a:srgbClr val="C0C0C0"/>
                  </a:outerShdw>
                </a:effectLst>
              </a:rPr>
              <a:t>节省</a:t>
            </a:r>
            <a:r>
              <a:rPr lang="zh-CN" altLang="en-US" sz="2400" kern="0" dirty="0" smtClean="0"/>
              <a:t>程序的</a:t>
            </a:r>
            <a:r>
              <a:rPr lang="zh-CN" altLang="en-US" sz="2400" kern="0" dirty="0" smtClean="0">
                <a:solidFill>
                  <a:srgbClr val="FF3300"/>
                </a:solidFill>
                <a:effectLst>
                  <a:outerShdw blurRad="38100" dist="38100" dir="2700000" algn="tl">
                    <a:srgbClr val="C0C0C0"/>
                  </a:outerShdw>
                </a:effectLst>
              </a:rPr>
              <a:t>存储空间</a:t>
            </a:r>
          </a:p>
          <a:p>
            <a:pPr eaLnBrk="1" hangingPunct="1">
              <a:defRPr/>
            </a:pPr>
            <a:r>
              <a:rPr lang="zh-CN" altLang="en-US" sz="2400" kern="0" dirty="0" smtClean="0"/>
              <a:t>指令格式要</a:t>
            </a:r>
            <a:r>
              <a:rPr lang="zh-CN" altLang="en-US" sz="2400" kern="0" dirty="0" smtClean="0">
                <a:solidFill>
                  <a:srgbClr val="FF3300"/>
                </a:solidFill>
                <a:effectLst>
                  <a:outerShdw blurRad="38100" dist="38100" dir="2700000" algn="tl">
                    <a:srgbClr val="C0C0C0"/>
                  </a:outerShdw>
                </a:effectLst>
              </a:rPr>
              <a:t>尽量规整</a:t>
            </a:r>
            <a:r>
              <a:rPr lang="zh-CN" altLang="en-US" sz="2400" kern="0" dirty="0" smtClean="0"/>
              <a:t>，以减少硬件译码的复杂度</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endParaRPr lang="zh-CN" altLang="en-US" sz="1200" b="0">
              <a:latin typeface="Times New Roman" pitchFamily="18" charset="0"/>
              <a:ea typeface="幼圆" pitchFamily="49" charset="-122"/>
            </a:endParaRPr>
          </a:p>
        </p:txBody>
      </p:sp>
      <p:sp>
        <p:nvSpPr>
          <p:cNvPr id="313349" name="Rectangle 5"/>
          <p:cNvSpPr>
            <a:spLocks noGrp="1" noChangeArrowheads="1"/>
          </p:cNvSpPr>
          <p:nvPr>
            <p:ph type="title"/>
          </p:nvPr>
        </p:nvSpPr>
        <p:spPr/>
        <p:txBody>
          <a:bodyPr/>
          <a:lstStyle/>
          <a:p>
            <a:pPr eaLnBrk="1" hangingPunct="1">
              <a:defRPr/>
            </a:pPr>
            <a:r>
              <a:rPr lang="zh-CN" altLang="en-US" smtClean="0"/>
              <a:t>操作码的优化设计</a:t>
            </a:r>
          </a:p>
        </p:txBody>
      </p:sp>
      <p:sp>
        <p:nvSpPr>
          <p:cNvPr id="62468" name="Rectangle 6"/>
          <p:cNvSpPr>
            <a:spLocks noGrp="1" noChangeArrowheads="1"/>
          </p:cNvSpPr>
          <p:nvPr>
            <p:ph type="body" idx="1"/>
          </p:nvPr>
        </p:nvSpPr>
        <p:spPr>
          <a:xfrm>
            <a:off x="2484438" y="2133600"/>
            <a:ext cx="3886200" cy="3944938"/>
          </a:xfrm>
        </p:spPr>
        <p:txBody>
          <a:bodyPr/>
          <a:lstStyle/>
          <a:p>
            <a:pPr eaLnBrk="1" hangingPunct="1">
              <a:lnSpc>
                <a:spcPct val="160000"/>
              </a:lnSpc>
            </a:pPr>
            <a:r>
              <a:rPr lang="zh-CN" altLang="en-US" smtClean="0">
                <a:hlinkClick r:id="rId5" action="ppaction://hlinksldjump"/>
              </a:rPr>
              <a:t>评价方法</a:t>
            </a:r>
            <a:endParaRPr lang="zh-CN" altLang="en-US" smtClean="0"/>
          </a:p>
          <a:p>
            <a:pPr eaLnBrk="1" hangingPunct="1">
              <a:lnSpc>
                <a:spcPct val="160000"/>
              </a:lnSpc>
            </a:pPr>
            <a:r>
              <a:rPr lang="zh-CN" altLang="en-US" smtClean="0">
                <a:hlinkClick r:id="rId6" action="ppaction://hlinksldjump"/>
              </a:rPr>
              <a:t>固定长度操作码</a:t>
            </a:r>
            <a:endParaRPr lang="zh-CN" altLang="en-US" smtClean="0"/>
          </a:p>
          <a:p>
            <a:pPr eaLnBrk="1" hangingPunct="1">
              <a:lnSpc>
                <a:spcPct val="160000"/>
              </a:lnSpc>
            </a:pPr>
            <a:r>
              <a:rPr lang="en-US" altLang="zh-CN" smtClean="0">
                <a:hlinkClick r:id="rId7" action="ppaction://hlinksldjump"/>
              </a:rPr>
              <a:t>Huffman</a:t>
            </a:r>
            <a:r>
              <a:rPr lang="zh-CN" altLang="en-US" smtClean="0">
                <a:hlinkClick r:id="rId7" action="ppaction://hlinksldjump"/>
              </a:rPr>
              <a:t>编码</a:t>
            </a:r>
            <a:endParaRPr lang="zh-CN" altLang="en-US" smtClean="0"/>
          </a:p>
          <a:p>
            <a:pPr eaLnBrk="1" hangingPunct="1">
              <a:lnSpc>
                <a:spcPct val="160000"/>
              </a:lnSpc>
            </a:pPr>
            <a:r>
              <a:rPr lang="zh-CN" altLang="en-US" smtClean="0">
                <a:hlinkClick r:id="rId8" action="ppaction://hlinksldjump"/>
              </a:rPr>
              <a:t>扩展编码法</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操作码的优化设计</a:t>
            </a:r>
            <a:endParaRPr lang="zh-CN" altLang="en-US" sz="1200" b="0">
              <a:latin typeface="Times New Roman" pitchFamily="18" charset="0"/>
              <a:ea typeface="幼圆" pitchFamily="49" charset="-122"/>
            </a:endParaRPr>
          </a:p>
        </p:txBody>
      </p:sp>
      <p:sp>
        <p:nvSpPr>
          <p:cNvPr id="316419" name="Rectangle 3"/>
          <p:cNvSpPr>
            <a:spLocks noGrp="1" noChangeArrowheads="1"/>
          </p:cNvSpPr>
          <p:nvPr>
            <p:ph type="title"/>
          </p:nvPr>
        </p:nvSpPr>
        <p:spPr/>
        <p:txBody>
          <a:bodyPr/>
          <a:lstStyle/>
          <a:p>
            <a:pPr eaLnBrk="1" hangingPunct="1">
              <a:defRPr/>
            </a:pPr>
            <a:r>
              <a:rPr lang="zh-CN" altLang="en-US" smtClean="0"/>
              <a:t>评价方法</a:t>
            </a:r>
          </a:p>
        </p:txBody>
      </p:sp>
      <p:sp>
        <p:nvSpPr>
          <p:cNvPr id="316421" name="Rectangle 5"/>
          <p:cNvSpPr>
            <a:spLocks noGrp="1" noChangeArrowheads="1"/>
          </p:cNvSpPr>
          <p:nvPr>
            <p:ph type="body" sz="half" idx="1"/>
          </p:nvPr>
        </p:nvSpPr>
        <p:spPr>
          <a:ln w="57150" cmpd="thickThin">
            <a:solidFill>
              <a:schemeClr val="tx1"/>
            </a:solidFill>
            <a:miter lim="800000"/>
            <a:headEnd/>
            <a:tailEnd/>
          </a:ln>
        </p:spPr>
        <p:txBody>
          <a:bodyPr/>
          <a:lstStyle/>
          <a:p>
            <a:pPr marL="355600" indent="-355600" eaLnBrk="1" hangingPunct="1">
              <a:buClr>
                <a:srgbClr val="FF3300"/>
              </a:buClr>
              <a:defRPr/>
            </a:pPr>
            <a:r>
              <a:rPr lang="zh-CN" altLang="en-US" sz="2400" dirty="0" smtClean="0">
                <a:solidFill>
                  <a:srgbClr val="FF3300"/>
                </a:solidFill>
                <a:effectLst>
                  <a:outerShdw blurRad="38100" dist="38100" dir="2700000" algn="tl">
                    <a:srgbClr val="C0C0C0"/>
                  </a:outerShdw>
                </a:effectLst>
              </a:rPr>
              <a:t>编码的平均码长</a:t>
            </a:r>
            <a:r>
              <a:rPr lang="en-US" altLang="zh-CN" sz="2400" dirty="0" smtClean="0">
                <a:solidFill>
                  <a:srgbClr val="FF3300"/>
                </a:solidFill>
                <a:effectLst>
                  <a:outerShdw blurRad="38100" dist="38100" dir="2700000" algn="tl">
                    <a:srgbClr val="C0C0C0"/>
                  </a:outerShdw>
                </a:effectLst>
              </a:rPr>
              <a:t>l</a:t>
            </a:r>
          </a:p>
          <a:p>
            <a:pPr marL="355600" indent="-355600" eaLnBrk="1" hangingPunct="1">
              <a:buFont typeface="Wingdings" pitchFamily="2" charset="2"/>
              <a:buNone/>
              <a:defRPr/>
            </a:pPr>
            <a:endParaRPr lang="zh-CN" altLang="en-US" sz="2400" dirty="0" smtClean="0">
              <a:solidFill>
                <a:srgbClr val="FF3300"/>
              </a:solidFill>
              <a:effectLst>
                <a:outerShdw blurRad="38100" dist="38100" dir="2700000" algn="tl">
                  <a:srgbClr val="C0C0C0"/>
                </a:outerShdw>
              </a:effectLst>
            </a:endParaRPr>
          </a:p>
          <a:p>
            <a:pPr marL="355600" indent="-355600" eaLnBrk="1" hangingPunct="1">
              <a:buFont typeface="Wingdings" pitchFamily="2" charset="2"/>
              <a:buNone/>
              <a:defRPr/>
            </a:pPr>
            <a:endParaRPr lang="zh-CN" altLang="en-US" sz="2400" dirty="0" smtClean="0"/>
          </a:p>
          <a:p>
            <a:pPr marL="355600" indent="-355600" eaLnBrk="1" hangingPunct="1">
              <a:buFont typeface="Wingdings" pitchFamily="2" charset="2"/>
              <a:buNone/>
              <a:defRPr/>
            </a:pPr>
            <a:endParaRPr lang="zh-CN" altLang="en-US" sz="2400" dirty="0" smtClean="0"/>
          </a:p>
          <a:p>
            <a:pPr marL="355600" indent="-355600" eaLnBrk="1" hangingPunct="1">
              <a:buFont typeface="Wingdings" pitchFamily="2" charset="2"/>
              <a:buNone/>
              <a:defRPr/>
            </a:pPr>
            <a:r>
              <a:rPr lang="zh-CN" altLang="en-US" sz="2400" dirty="0" smtClean="0"/>
              <a:t>其中：</a:t>
            </a:r>
          </a:p>
          <a:p>
            <a:pPr marL="355600" indent="-355600" eaLnBrk="1" hangingPunct="1">
              <a:buFont typeface="Wingdings" pitchFamily="2" charset="2"/>
              <a:buNone/>
              <a:defRPr/>
            </a:pPr>
            <a:r>
              <a:rPr lang="en-US" altLang="zh-CN" sz="2400" dirty="0" smtClean="0">
                <a:solidFill>
                  <a:srgbClr val="FF3300"/>
                </a:solidFill>
                <a:effectLst>
                  <a:outerShdw blurRad="38100" dist="38100" dir="2700000" algn="tl">
                    <a:srgbClr val="C0C0C0"/>
                  </a:outerShdw>
                </a:effectLst>
              </a:rPr>
              <a:t>p</a:t>
            </a:r>
            <a:r>
              <a:rPr lang="en-US" altLang="zh-CN" sz="2400" baseline="-25000" dirty="0" smtClean="0">
                <a:solidFill>
                  <a:srgbClr val="FF3300"/>
                </a:solidFill>
                <a:effectLst>
                  <a:outerShdw blurRad="38100" dist="38100" dir="2700000" algn="tl">
                    <a:srgbClr val="C0C0C0"/>
                  </a:outerShdw>
                </a:effectLst>
              </a:rPr>
              <a:t>i</a:t>
            </a:r>
            <a:r>
              <a:rPr lang="en-US" altLang="zh-CN" sz="2400" dirty="0" smtClean="0">
                <a:solidFill>
                  <a:srgbClr val="FF3300"/>
                </a:solidFill>
                <a:effectLst>
                  <a:outerShdw blurRad="38100" dist="38100" dir="2700000" algn="tl">
                    <a:srgbClr val="C0C0C0"/>
                  </a:outerShdw>
                </a:effectLst>
              </a:rPr>
              <a:t>: </a:t>
            </a:r>
            <a:r>
              <a:rPr lang="zh-CN" altLang="en-US" sz="2400" dirty="0" smtClean="0"/>
              <a:t>表示第</a:t>
            </a:r>
            <a:r>
              <a:rPr lang="en-US" altLang="zh-CN" sz="2400" dirty="0" err="1" smtClean="0"/>
              <a:t>i</a:t>
            </a:r>
            <a:r>
              <a:rPr lang="zh-CN" altLang="en-US" sz="2400" dirty="0" smtClean="0"/>
              <a:t>种操作码在程序中出现的概率；</a:t>
            </a:r>
          </a:p>
          <a:p>
            <a:pPr marL="355600" indent="-355600" eaLnBrk="1" hangingPunct="1">
              <a:buFont typeface="Wingdings" pitchFamily="2" charset="2"/>
              <a:buNone/>
              <a:defRPr/>
            </a:pPr>
            <a:r>
              <a:rPr lang="en-US" altLang="zh-CN" sz="2400" dirty="0" smtClean="0">
                <a:solidFill>
                  <a:srgbClr val="FF3300"/>
                </a:solidFill>
                <a:effectLst>
                  <a:outerShdw blurRad="38100" dist="38100" dir="2700000" algn="tl">
                    <a:srgbClr val="C0C0C0"/>
                  </a:outerShdw>
                </a:effectLst>
              </a:rPr>
              <a:t>l</a:t>
            </a:r>
            <a:r>
              <a:rPr lang="en-US" altLang="zh-CN" sz="2400" baseline="-25000" dirty="0" smtClean="0">
                <a:solidFill>
                  <a:srgbClr val="FF3300"/>
                </a:solidFill>
                <a:effectLst>
                  <a:outerShdw blurRad="38100" dist="38100" dir="2700000" algn="tl">
                    <a:srgbClr val="C0C0C0"/>
                  </a:outerShdw>
                </a:effectLst>
              </a:rPr>
              <a:t>i </a:t>
            </a:r>
            <a:r>
              <a:rPr lang="en-US" altLang="zh-CN" sz="2400" dirty="0" smtClean="0">
                <a:solidFill>
                  <a:srgbClr val="FF3300"/>
                </a:solidFill>
                <a:effectLst>
                  <a:outerShdw blurRad="38100" dist="38100" dir="2700000" algn="tl">
                    <a:srgbClr val="C0C0C0"/>
                  </a:outerShdw>
                </a:effectLst>
              </a:rPr>
              <a:t>: </a:t>
            </a:r>
            <a:r>
              <a:rPr lang="zh-CN" altLang="en-US" sz="2400" dirty="0" smtClean="0"/>
              <a:t>表示第</a:t>
            </a:r>
            <a:r>
              <a:rPr lang="en-US" altLang="zh-CN" sz="2400" dirty="0" err="1" smtClean="0"/>
              <a:t>i</a:t>
            </a:r>
            <a:r>
              <a:rPr lang="zh-CN" altLang="en-US" sz="2400" dirty="0" smtClean="0"/>
              <a:t>种操作码的编码长度；</a:t>
            </a:r>
            <a:endParaRPr lang="en-US" altLang="zh-CN" sz="2400" dirty="0" smtClean="0">
              <a:solidFill>
                <a:srgbClr val="FF3300"/>
              </a:solidFill>
              <a:effectLst>
                <a:outerShdw blurRad="38100" dist="38100" dir="2700000" algn="tl">
                  <a:srgbClr val="C0C0C0"/>
                </a:outerShdw>
              </a:effectLst>
            </a:endParaRPr>
          </a:p>
          <a:p>
            <a:pPr marL="355600" indent="-355600" eaLnBrk="1" hangingPunct="1">
              <a:buFont typeface="Wingdings" pitchFamily="2" charset="2"/>
              <a:buNone/>
              <a:defRPr/>
            </a:pPr>
            <a:r>
              <a:rPr lang="en-US" altLang="zh-CN" sz="2400" dirty="0" smtClean="0">
                <a:solidFill>
                  <a:srgbClr val="FF3300"/>
                </a:solidFill>
                <a:effectLst>
                  <a:outerShdw blurRad="38100" dist="38100" dir="2700000" algn="tl">
                    <a:srgbClr val="C0C0C0"/>
                  </a:outerShdw>
                </a:effectLst>
              </a:rPr>
              <a:t>n: </a:t>
            </a:r>
            <a:r>
              <a:rPr lang="zh-CN" altLang="en-US" sz="2400" dirty="0" smtClean="0"/>
              <a:t>操作码的总数。</a:t>
            </a:r>
          </a:p>
        </p:txBody>
      </p:sp>
      <p:sp>
        <p:nvSpPr>
          <p:cNvPr id="316426" name="Rectangle 10"/>
          <p:cNvSpPr>
            <a:spLocks noGrp="1" noChangeArrowheads="1"/>
          </p:cNvSpPr>
          <p:nvPr>
            <p:ph type="body" sz="half" idx="2"/>
          </p:nvPr>
        </p:nvSpPr>
        <p:spPr>
          <a:xfrm>
            <a:off x="4859338" y="1916113"/>
            <a:ext cx="3903662" cy="4465637"/>
          </a:xfrm>
          <a:ln w="57150" cmpd="thickThin">
            <a:solidFill>
              <a:schemeClr val="tx1"/>
            </a:solidFill>
            <a:miter lim="800000"/>
            <a:headEnd/>
            <a:tailEnd/>
          </a:ln>
        </p:spPr>
        <p:txBody>
          <a:bodyPr/>
          <a:lstStyle/>
          <a:p>
            <a:pPr marL="355600" indent="-355600" eaLnBrk="1" hangingPunct="1">
              <a:buClr>
                <a:srgbClr val="FF3300"/>
              </a:buClr>
              <a:defRPr/>
            </a:pPr>
            <a:r>
              <a:rPr lang="zh-CN" altLang="en-US" sz="2400" dirty="0" smtClean="0">
                <a:solidFill>
                  <a:srgbClr val="FF3300"/>
                </a:solidFill>
                <a:effectLst>
                  <a:outerShdw blurRad="38100" dist="38100" dir="2700000" algn="tl">
                    <a:srgbClr val="C0C0C0"/>
                  </a:outerShdw>
                </a:effectLst>
              </a:rPr>
              <a:t>编码的信息冗余量</a:t>
            </a:r>
            <a:r>
              <a:rPr lang="en-US" altLang="zh-CN" sz="2400" dirty="0" smtClean="0">
                <a:solidFill>
                  <a:srgbClr val="FF3300"/>
                </a:solidFill>
                <a:effectLst>
                  <a:outerShdw blurRad="38100" dist="38100" dir="2700000" algn="tl">
                    <a:srgbClr val="C0C0C0"/>
                  </a:outerShdw>
                </a:effectLst>
              </a:rPr>
              <a:t>R</a:t>
            </a:r>
          </a:p>
          <a:p>
            <a:pPr marL="355600" indent="-355600" eaLnBrk="1" hangingPunct="1">
              <a:defRPr/>
            </a:pPr>
            <a:endParaRPr lang="en-US" altLang="zh-CN" sz="2400" dirty="0" smtClean="0">
              <a:solidFill>
                <a:srgbClr val="FF3300"/>
              </a:solidFill>
              <a:effectLst>
                <a:outerShdw blurRad="38100" dist="38100" dir="2700000" algn="tl">
                  <a:srgbClr val="C0C0C0"/>
                </a:outerShdw>
              </a:effectLst>
            </a:endParaRPr>
          </a:p>
          <a:p>
            <a:pPr marL="355600" indent="-355600" eaLnBrk="1" hangingPunct="1">
              <a:defRPr/>
            </a:pPr>
            <a:endParaRPr lang="en-US" altLang="zh-CN" sz="2400" dirty="0" smtClean="0">
              <a:solidFill>
                <a:srgbClr val="FF3300"/>
              </a:solidFill>
              <a:effectLst>
                <a:outerShdw blurRad="38100" dist="38100" dir="2700000" algn="tl">
                  <a:srgbClr val="C0C0C0"/>
                </a:outerShdw>
              </a:effectLst>
            </a:endParaRPr>
          </a:p>
          <a:p>
            <a:pPr marL="355600" indent="-355600" eaLnBrk="1" hangingPunct="1">
              <a:buFont typeface="Wingdings" pitchFamily="2" charset="2"/>
              <a:buNone/>
              <a:defRPr/>
            </a:pPr>
            <a:endParaRPr lang="zh-CN" altLang="en-US" sz="2400" dirty="0" smtClean="0"/>
          </a:p>
          <a:p>
            <a:pPr marL="355600" indent="-355600" eaLnBrk="1" hangingPunct="1">
              <a:buFont typeface="Wingdings" pitchFamily="2" charset="2"/>
              <a:buNone/>
              <a:defRPr/>
            </a:pPr>
            <a:r>
              <a:rPr lang="zh-CN" altLang="en-US" sz="2400" dirty="0" smtClean="0"/>
              <a:t>其中：</a:t>
            </a:r>
          </a:p>
          <a:p>
            <a:pPr marL="355600" indent="-355600" eaLnBrk="1" hangingPunct="1">
              <a:buFont typeface="Wingdings" pitchFamily="2" charset="2"/>
              <a:buNone/>
              <a:defRPr/>
            </a:pPr>
            <a:r>
              <a:rPr lang="en-US" altLang="zh-CN" sz="2400" dirty="0" smtClean="0">
                <a:solidFill>
                  <a:srgbClr val="FF3300"/>
                </a:solidFill>
                <a:effectLst>
                  <a:outerShdw blurRad="38100" dist="38100" dir="2700000" algn="tl">
                    <a:srgbClr val="C0C0C0"/>
                  </a:outerShdw>
                </a:effectLst>
              </a:rPr>
              <a:t>H:</a:t>
            </a:r>
            <a:r>
              <a:rPr lang="zh-CN" altLang="en-US" sz="2400" dirty="0" smtClean="0"/>
              <a:t>为信息熵（理论上的最短平均码长）。</a:t>
            </a:r>
          </a:p>
        </p:txBody>
      </p:sp>
      <p:sp>
        <p:nvSpPr>
          <p:cNvPr id="63494" name="Rectangle 7"/>
          <p:cNvSpPr>
            <a:spLocks noChangeArrowheads="1"/>
          </p:cNvSpPr>
          <p:nvPr/>
        </p:nvSpPr>
        <p:spPr bwMode="auto">
          <a:xfrm>
            <a:off x="3924300"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graphicFrame>
        <p:nvGraphicFramePr>
          <p:cNvPr id="63495" name="Object 6"/>
          <p:cNvGraphicFramePr>
            <a:graphicFrameLocks noChangeAspect="1"/>
          </p:cNvGraphicFramePr>
          <p:nvPr/>
        </p:nvGraphicFramePr>
        <p:xfrm>
          <a:off x="5651500" y="5084763"/>
          <a:ext cx="2235200" cy="1016000"/>
        </p:xfrm>
        <a:graphic>
          <a:graphicData uri="http://schemas.openxmlformats.org/presentationml/2006/ole">
            <mc:AlternateContent xmlns:mc="http://schemas.openxmlformats.org/markup-compatibility/2006">
              <mc:Choice xmlns:v="urn:schemas-microsoft-com:vml" Requires="v">
                <p:oleObj spid="_x0000_s63652" name="Equation" r:id="rId7" imgW="1117600" imgH="508000" progId="Equation.3">
                  <p:embed/>
                </p:oleObj>
              </mc:Choice>
              <mc:Fallback>
                <p:oleObj name="Equation" r:id="rId7" imgW="1117600" imgH="5080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1500" y="5084763"/>
                        <a:ext cx="2235200" cy="10160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63496" name="Object 8"/>
          <p:cNvGraphicFramePr>
            <a:graphicFrameLocks noChangeAspect="1"/>
          </p:cNvGraphicFramePr>
          <p:nvPr/>
        </p:nvGraphicFramePr>
        <p:xfrm>
          <a:off x="6227763" y="2636838"/>
          <a:ext cx="1165225" cy="785812"/>
        </p:xfrm>
        <a:graphic>
          <a:graphicData uri="http://schemas.openxmlformats.org/presentationml/2006/ole">
            <mc:AlternateContent xmlns:mc="http://schemas.openxmlformats.org/markup-compatibility/2006">
              <mc:Choice xmlns:v="urn:schemas-microsoft-com:vml" Requires="v">
                <p:oleObj spid="_x0000_s63653" name="Equation" r:id="rId9" imgW="583947" imgH="393529" progId="Equation.3">
                  <p:embed/>
                </p:oleObj>
              </mc:Choice>
              <mc:Fallback>
                <p:oleObj name="Equation" r:id="rId9" imgW="583947" imgH="393529"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27763" y="2636838"/>
                        <a:ext cx="1165225" cy="785812"/>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63497" name="Object 9"/>
          <p:cNvGraphicFramePr>
            <a:graphicFrameLocks noChangeAspect="1"/>
          </p:cNvGraphicFramePr>
          <p:nvPr/>
        </p:nvGraphicFramePr>
        <p:xfrm>
          <a:off x="1763713" y="2565400"/>
          <a:ext cx="1447800" cy="1016000"/>
        </p:xfrm>
        <a:graphic>
          <a:graphicData uri="http://schemas.openxmlformats.org/presentationml/2006/ole">
            <mc:AlternateContent xmlns:mc="http://schemas.openxmlformats.org/markup-compatibility/2006">
              <mc:Choice xmlns:v="urn:schemas-microsoft-com:vml" Requires="v">
                <p:oleObj spid="_x0000_s63654" name="Equation" r:id="rId11" imgW="723586" imgH="507780" progId="Equation.3">
                  <p:embed/>
                </p:oleObj>
              </mc:Choice>
              <mc:Fallback>
                <p:oleObj name="Equation" r:id="rId11" imgW="723586" imgH="50778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3713" y="2565400"/>
                        <a:ext cx="1447800" cy="10160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63498"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21539" name="Rectangle 3"/>
          <p:cNvSpPr>
            <a:spLocks noGrp="1" noChangeArrowheads="1"/>
          </p:cNvSpPr>
          <p:nvPr>
            <p:ph type="title"/>
          </p:nvPr>
        </p:nvSpPr>
        <p:spPr/>
        <p:txBody>
          <a:bodyPr/>
          <a:lstStyle/>
          <a:p>
            <a:pPr eaLnBrk="1" hangingPunct="1">
              <a:defRPr/>
            </a:pPr>
            <a:r>
              <a:rPr lang="zh-CN" altLang="en-US" smtClean="0"/>
              <a:t>例  子</a:t>
            </a:r>
          </a:p>
        </p:txBody>
      </p:sp>
      <p:sp>
        <p:nvSpPr>
          <p:cNvPr id="321540" name="Rectangle 4"/>
          <p:cNvSpPr>
            <a:spLocks noGrp="1" noChangeArrowheads="1"/>
          </p:cNvSpPr>
          <p:nvPr>
            <p:ph type="body" idx="1"/>
          </p:nvPr>
        </p:nvSpPr>
        <p:spPr>
          <a:xfrm>
            <a:off x="809625" y="2060575"/>
            <a:ext cx="7958138" cy="2736850"/>
          </a:xfrm>
        </p:spPr>
        <p:txBody>
          <a:bodyPr/>
          <a:lstStyle/>
          <a:p>
            <a:pPr marL="0" indent="0" eaLnBrk="1" hangingPunct="1">
              <a:lnSpc>
                <a:spcPct val="120000"/>
              </a:lnSpc>
              <a:buFont typeface="Wingdings" pitchFamily="2" charset="2"/>
              <a:buNone/>
              <a:defRPr/>
            </a:pPr>
            <a:r>
              <a:rPr lang="zh-CN" altLang="en-US" dirty="0" smtClean="0"/>
              <a:t>       为增加可比性，对下面介绍的编码方法采用同一例子：</a:t>
            </a:r>
            <a:r>
              <a:rPr lang="zh-CN" altLang="en-US" dirty="0" smtClean="0">
                <a:solidFill>
                  <a:srgbClr val="FF3300"/>
                </a:solidFill>
                <a:effectLst>
                  <a:outerShdw blurRad="38100" dist="38100" dir="2700000" algn="tl">
                    <a:srgbClr val="C0C0C0"/>
                  </a:outerShdw>
                </a:effectLst>
              </a:rPr>
              <a:t>假设一台模型计算机，共有7种不同的指令，已知各种指令在程序中出现的概率如下表</a:t>
            </a:r>
            <a:r>
              <a:rPr lang="zh-CN" altLang="en-US" dirty="0" smtClean="0"/>
              <a:t>。</a:t>
            </a:r>
          </a:p>
        </p:txBody>
      </p:sp>
      <p:sp>
        <p:nvSpPr>
          <p:cNvPr id="6451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2 之 2</a:t>
            </a:r>
          </a:p>
        </p:txBody>
      </p:sp>
      <p:grpSp>
        <p:nvGrpSpPr>
          <p:cNvPr id="64518" name="Group 6"/>
          <p:cNvGrpSpPr>
            <a:grpSpLocks/>
          </p:cNvGrpSpPr>
          <p:nvPr/>
        </p:nvGrpSpPr>
        <p:grpSpPr bwMode="auto">
          <a:xfrm>
            <a:off x="971550" y="4941888"/>
            <a:ext cx="7467600" cy="1066800"/>
            <a:chOff x="528" y="2640"/>
            <a:chExt cx="4704" cy="672"/>
          </a:xfrm>
        </p:grpSpPr>
        <p:sp>
          <p:nvSpPr>
            <p:cNvPr id="64519" name="Rectangle 7"/>
            <p:cNvSpPr>
              <a:spLocks noChangeArrowheads="1"/>
            </p:cNvSpPr>
            <p:nvPr/>
          </p:nvSpPr>
          <p:spPr bwMode="auto">
            <a:xfrm>
              <a:off x="528" y="2640"/>
              <a:ext cx="67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a:solidFill>
                    <a:schemeClr val="tx2"/>
                  </a:solidFill>
                </a:rPr>
                <a:t>指令</a:t>
              </a:r>
            </a:p>
          </p:txBody>
        </p:sp>
        <p:sp>
          <p:nvSpPr>
            <p:cNvPr id="64520" name="Rectangle 8"/>
            <p:cNvSpPr>
              <a:spLocks noChangeArrowheads="1"/>
            </p:cNvSpPr>
            <p:nvPr/>
          </p:nvSpPr>
          <p:spPr bwMode="auto">
            <a:xfrm>
              <a:off x="1200" y="2640"/>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a:solidFill>
                    <a:schemeClr val="tx2"/>
                  </a:solidFill>
                </a:rPr>
                <a:t>I</a:t>
              </a:r>
              <a:r>
                <a:rPr lang="en-US" altLang="zh-CN" baseline="-25000">
                  <a:solidFill>
                    <a:schemeClr val="tx2"/>
                  </a:solidFill>
                </a:rPr>
                <a:t>1</a:t>
              </a:r>
              <a:endParaRPr lang="en-US" altLang="zh-CN">
                <a:solidFill>
                  <a:schemeClr val="tx2"/>
                </a:solidFill>
              </a:endParaRPr>
            </a:p>
          </p:txBody>
        </p:sp>
        <p:sp>
          <p:nvSpPr>
            <p:cNvPr id="64521" name="Rectangle 9"/>
            <p:cNvSpPr>
              <a:spLocks noChangeArrowheads="1"/>
            </p:cNvSpPr>
            <p:nvPr/>
          </p:nvSpPr>
          <p:spPr bwMode="auto">
            <a:xfrm>
              <a:off x="528" y="2976"/>
              <a:ext cx="67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a:solidFill>
                    <a:schemeClr val="tx2"/>
                  </a:solidFill>
                </a:rPr>
                <a:t>概率</a:t>
              </a:r>
            </a:p>
          </p:txBody>
        </p:sp>
        <p:sp>
          <p:nvSpPr>
            <p:cNvPr id="64522" name="Rectangle 10"/>
            <p:cNvSpPr>
              <a:spLocks noChangeArrowheads="1"/>
            </p:cNvSpPr>
            <p:nvPr/>
          </p:nvSpPr>
          <p:spPr bwMode="auto">
            <a:xfrm>
              <a:off x="1200" y="2976"/>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rPr>
                <a:t>0.45</a:t>
              </a:r>
            </a:p>
          </p:txBody>
        </p:sp>
        <p:sp>
          <p:nvSpPr>
            <p:cNvPr id="64523" name="Rectangle 11"/>
            <p:cNvSpPr>
              <a:spLocks noChangeArrowheads="1"/>
            </p:cNvSpPr>
            <p:nvPr/>
          </p:nvSpPr>
          <p:spPr bwMode="auto">
            <a:xfrm>
              <a:off x="1776" y="2640"/>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a:solidFill>
                    <a:schemeClr val="tx2"/>
                  </a:solidFill>
                </a:rPr>
                <a:t>I</a:t>
              </a:r>
              <a:r>
                <a:rPr lang="en-US" altLang="zh-CN" baseline="-25000">
                  <a:solidFill>
                    <a:schemeClr val="tx2"/>
                  </a:solidFill>
                </a:rPr>
                <a:t>2</a:t>
              </a:r>
              <a:endParaRPr lang="en-US" altLang="zh-CN">
                <a:solidFill>
                  <a:schemeClr val="tx2"/>
                </a:solidFill>
              </a:endParaRPr>
            </a:p>
          </p:txBody>
        </p:sp>
        <p:sp>
          <p:nvSpPr>
            <p:cNvPr id="64524" name="Rectangle 12"/>
            <p:cNvSpPr>
              <a:spLocks noChangeArrowheads="1"/>
            </p:cNvSpPr>
            <p:nvPr/>
          </p:nvSpPr>
          <p:spPr bwMode="auto">
            <a:xfrm>
              <a:off x="1776" y="2976"/>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rPr>
                <a:t>0.30</a:t>
              </a:r>
            </a:p>
          </p:txBody>
        </p:sp>
        <p:sp>
          <p:nvSpPr>
            <p:cNvPr id="64525" name="Rectangle 13"/>
            <p:cNvSpPr>
              <a:spLocks noChangeArrowheads="1"/>
            </p:cNvSpPr>
            <p:nvPr/>
          </p:nvSpPr>
          <p:spPr bwMode="auto">
            <a:xfrm>
              <a:off x="2352" y="2640"/>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a:solidFill>
                    <a:schemeClr val="tx2"/>
                  </a:solidFill>
                </a:rPr>
                <a:t>I</a:t>
              </a:r>
              <a:r>
                <a:rPr lang="en-US" altLang="zh-CN" baseline="-25000">
                  <a:solidFill>
                    <a:schemeClr val="tx2"/>
                  </a:solidFill>
                </a:rPr>
                <a:t>3</a:t>
              </a:r>
              <a:endParaRPr lang="en-US" altLang="zh-CN">
                <a:solidFill>
                  <a:schemeClr val="tx2"/>
                </a:solidFill>
              </a:endParaRPr>
            </a:p>
          </p:txBody>
        </p:sp>
        <p:sp>
          <p:nvSpPr>
            <p:cNvPr id="64526" name="Rectangle 14"/>
            <p:cNvSpPr>
              <a:spLocks noChangeArrowheads="1"/>
            </p:cNvSpPr>
            <p:nvPr/>
          </p:nvSpPr>
          <p:spPr bwMode="auto">
            <a:xfrm>
              <a:off x="2352" y="2976"/>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rPr>
                <a:t>0.15</a:t>
              </a:r>
            </a:p>
          </p:txBody>
        </p:sp>
        <p:sp>
          <p:nvSpPr>
            <p:cNvPr id="64527" name="Rectangle 15"/>
            <p:cNvSpPr>
              <a:spLocks noChangeArrowheads="1"/>
            </p:cNvSpPr>
            <p:nvPr/>
          </p:nvSpPr>
          <p:spPr bwMode="auto">
            <a:xfrm>
              <a:off x="2928" y="2640"/>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a:solidFill>
                    <a:schemeClr val="tx2"/>
                  </a:solidFill>
                </a:rPr>
                <a:t>I</a:t>
              </a:r>
              <a:r>
                <a:rPr lang="en-US" altLang="zh-CN" baseline="-25000">
                  <a:solidFill>
                    <a:schemeClr val="tx2"/>
                  </a:solidFill>
                </a:rPr>
                <a:t>4</a:t>
              </a:r>
              <a:endParaRPr lang="en-US" altLang="zh-CN">
                <a:solidFill>
                  <a:schemeClr val="tx2"/>
                </a:solidFill>
              </a:endParaRPr>
            </a:p>
          </p:txBody>
        </p:sp>
        <p:sp>
          <p:nvSpPr>
            <p:cNvPr id="64528" name="Rectangle 16"/>
            <p:cNvSpPr>
              <a:spLocks noChangeArrowheads="1"/>
            </p:cNvSpPr>
            <p:nvPr/>
          </p:nvSpPr>
          <p:spPr bwMode="auto">
            <a:xfrm>
              <a:off x="2928" y="2976"/>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rPr>
                <a:t>0.05</a:t>
              </a:r>
            </a:p>
          </p:txBody>
        </p:sp>
        <p:sp>
          <p:nvSpPr>
            <p:cNvPr id="64529" name="Rectangle 17"/>
            <p:cNvSpPr>
              <a:spLocks noChangeArrowheads="1"/>
            </p:cNvSpPr>
            <p:nvPr/>
          </p:nvSpPr>
          <p:spPr bwMode="auto">
            <a:xfrm>
              <a:off x="3504" y="2640"/>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a:solidFill>
                    <a:schemeClr val="tx2"/>
                  </a:solidFill>
                </a:rPr>
                <a:t>I</a:t>
              </a:r>
              <a:r>
                <a:rPr lang="en-US" altLang="zh-CN" baseline="-25000">
                  <a:solidFill>
                    <a:schemeClr val="tx2"/>
                  </a:solidFill>
                </a:rPr>
                <a:t>5</a:t>
              </a:r>
              <a:endParaRPr lang="en-US" altLang="zh-CN">
                <a:solidFill>
                  <a:schemeClr val="tx2"/>
                </a:solidFill>
              </a:endParaRPr>
            </a:p>
          </p:txBody>
        </p:sp>
        <p:sp>
          <p:nvSpPr>
            <p:cNvPr id="64530" name="Rectangle 18"/>
            <p:cNvSpPr>
              <a:spLocks noChangeArrowheads="1"/>
            </p:cNvSpPr>
            <p:nvPr/>
          </p:nvSpPr>
          <p:spPr bwMode="auto">
            <a:xfrm>
              <a:off x="3504" y="2976"/>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rPr>
                <a:t>0.03</a:t>
              </a:r>
            </a:p>
          </p:txBody>
        </p:sp>
        <p:sp>
          <p:nvSpPr>
            <p:cNvPr id="64531" name="Rectangle 19"/>
            <p:cNvSpPr>
              <a:spLocks noChangeArrowheads="1"/>
            </p:cNvSpPr>
            <p:nvPr/>
          </p:nvSpPr>
          <p:spPr bwMode="auto">
            <a:xfrm>
              <a:off x="4080" y="2640"/>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a:solidFill>
                    <a:schemeClr val="tx2"/>
                  </a:solidFill>
                </a:rPr>
                <a:t>I</a:t>
              </a:r>
              <a:r>
                <a:rPr lang="en-US" altLang="zh-CN" baseline="-25000">
                  <a:solidFill>
                    <a:schemeClr val="tx2"/>
                  </a:solidFill>
                </a:rPr>
                <a:t>6</a:t>
              </a:r>
              <a:endParaRPr lang="en-US" altLang="zh-CN">
                <a:solidFill>
                  <a:schemeClr val="tx2"/>
                </a:solidFill>
              </a:endParaRPr>
            </a:p>
          </p:txBody>
        </p:sp>
        <p:sp>
          <p:nvSpPr>
            <p:cNvPr id="64532" name="Rectangle 20"/>
            <p:cNvSpPr>
              <a:spLocks noChangeArrowheads="1"/>
            </p:cNvSpPr>
            <p:nvPr/>
          </p:nvSpPr>
          <p:spPr bwMode="auto">
            <a:xfrm>
              <a:off x="4080" y="2976"/>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rPr>
                <a:t>0.01</a:t>
              </a:r>
            </a:p>
          </p:txBody>
        </p:sp>
        <p:sp>
          <p:nvSpPr>
            <p:cNvPr id="64533" name="Rectangle 21"/>
            <p:cNvSpPr>
              <a:spLocks noChangeArrowheads="1"/>
            </p:cNvSpPr>
            <p:nvPr/>
          </p:nvSpPr>
          <p:spPr bwMode="auto">
            <a:xfrm>
              <a:off x="4656" y="2640"/>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a:solidFill>
                    <a:schemeClr val="tx2"/>
                  </a:solidFill>
                </a:rPr>
                <a:t>I</a:t>
              </a:r>
              <a:r>
                <a:rPr lang="en-US" altLang="zh-CN" baseline="-25000">
                  <a:solidFill>
                    <a:schemeClr val="tx2"/>
                  </a:solidFill>
                </a:rPr>
                <a:t>7</a:t>
              </a:r>
              <a:endParaRPr lang="en-US" altLang="zh-CN">
                <a:solidFill>
                  <a:schemeClr val="tx2"/>
                </a:solidFill>
              </a:endParaRPr>
            </a:p>
          </p:txBody>
        </p:sp>
        <p:sp>
          <p:nvSpPr>
            <p:cNvPr id="64534" name="Rectangle 22"/>
            <p:cNvSpPr>
              <a:spLocks noChangeArrowheads="1"/>
            </p:cNvSpPr>
            <p:nvPr/>
          </p:nvSpPr>
          <p:spPr bwMode="auto">
            <a:xfrm>
              <a:off x="4656" y="2976"/>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a:solidFill>
                    <a:schemeClr val="tx2"/>
                  </a:solidFill>
                </a:rPr>
                <a:t>0.01</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17443" name="Rectangle 3"/>
          <p:cNvSpPr>
            <a:spLocks noGrp="1" noChangeArrowheads="1"/>
          </p:cNvSpPr>
          <p:nvPr>
            <p:ph type="title"/>
          </p:nvPr>
        </p:nvSpPr>
        <p:spPr/>
        <p:txBody>
          <a:bodyPr/>
          <a:lstStyle/>
          <a:p>
            <a:pPr eaLnBrk="1" hangingPunct="1">
              <a:defRPr/>
            </a:pPr>
            <a:r>
              <a:rPr lang="zh-CN" altLang="en-US" smtClean="0"/>
              <a:t>固定长度操作码</a:t>
            </a:r>
          </a:p>
        </p:txBody>
      </p:sp>
      <p:sp>
        <p:nvSpPr>
          <p:cNvPr id="317444" name="Rectangle 4"/>
          <p:cNvSpPr>
            <a:spLocks noGrp="1" noChangeArrowheads="1"/>
          </p:cNvSpPr>
          <p:nvPr>
            <p:ph type="body" idx="1"/>
          </p:nvPr>
        </p:nvSpPr>
        <p:spPr>
          <a:xfrm>
            <a:off x="809625" y="1989138"/>
            <a:ext cx="7958138" cy="4411662"/>
          </a:xfrm>
        </p:spPr>
        <p:txBody>
          <a:bodyPr/>
          <a:lstStyle/>
          <a:p>
            <a:pPr marL="0" indent="0" eaLnBrk="1" hangingPunct="1">
              <a:lnSpc>
                <a:spcPct val="95000"/>
              </a:lnSpc>
              <a:buClr>
                <a:srgbClr val="FF3300"/>
              </a:buClr>
              <a:defRPr/>
            </a:pPr>
            <a:r>
              <a:rPr lang="zh-CN" altLang="en-US" sz="2800" dirty="0" smtClean="0">
                <a:solidFill>
                  <a:srgbClr val="FF3300"/>
                </a:solidFill>
                <a:effectLst>
                  <a:outerShdw blurRad="38100" dist="38100" dir="2700000" algn="tl">
                    <a:srgbClr val="C0C0C0"/>
                  </a:outerShdw>
                </a:effectLst>
              </a:rPr>
              <a:t>  思想</a:t>
            </a:r>
          </a:p>
          <a:p>
            <a:pPr marL="0" indent="0" eaLnBrk="1" hangingPunct="1">
              <a:lnSpc>
                <a:spcPct val="95000"/>
              </a:lnSpc>
              <a:buFont typeface="Wingdings" pitchFamily="2" charset="2"/>
              <a:buNone/>
              <a:defRPr/>
            </a:pPr>
            <a:r>
              <a:rPr lang="zh-CN" altLang="en-US" sz="2800" dirty="0" smtClean="0"/>
              <a:t>    所有指令的操作码长度都是相同的。如果需要编码的指令有</a:t>
            </a:r>
            <a:r>
              <a:rPr lang="en-US" altLang="zh-CN" sz="2800" dirty="0" smtClean="0"/>
              <a:t>n</a:t>
            </a:r>
            <a:r>
              <a:rPr lang="zh-CN" altLang="en-US" sz="2800" dirty="0" smtClean="0"/>
              <a:t>条，则固定长度操作码的位数至少需要 </a:t>
            </a:r>
            <a:r>
              <a:rPr lang="zh-CN" altLang="zh-CN" sz="2800" dirty="0" smtClean="0">
                <a:cs typeface="Times New Roman" pitchFamily="18" charset="0"/>
                <a:sym typeface="Symbol" pitchFamily="18" charset="2"/>
              </a:rPr>
              <a:t></a:t>
            </a:r>
            <a:r>
              <a:rPr lang="en-US" altLang="zh-CN" sz="2800" dirty="0" smtClean="0"/>
              <a:t>log</a:t>
            </a:r>
            <a:r>
              <a:rPr lang="en-US" altLang="zh-CN" sz="2800" baseline="-25000" dirty="0" smtClean="0"/>
              <a:t>2</a:t>
            </a:r>
            <a:r>
              <a:rPr lang="en-US" altLang="zh-CN" sz="2800" baseline="30000" dirty="0" smtClean="0"/>
              <a:t>n </a:t>
            </a:r>
            <a:r>
              <a:rPr lang="en-US" altLang="zh-CN" sz="2800" dirty="0" smtClean="0">
                <a:cs typeface="Times New Roman" pitchFamily="18" charset="0"/>
                <a:sym typeface="Symbol" pitchFamily="18" charset="2"/>
              </a:rPr>
              <a:t> </a:t>
            </a:r>
            <a:r>
              <a:rPr lang="zh-CN" altLang="en-US" sz="2800" dirty="0" smtClean="0"/>
              <a:t>位。目前许多的</a:t>
            </a:r>
            <a:r>
              <a:rPr lang="en-US" altLang="zh-CN" sz="2800" dirty="0" smtClean="0"/>
              <a:t>RISC</a:t>
            </a:r>
            <a:r>
              <a:rPr lang="zh-CN" altLang="en-US" sz="2800" dirty="0" smtClean="0"/>
              <a:t>采用该思想。</a:t>
            </a:r>
          </a:p>
          <a:p>
            <a:pPr marL="0" indent="0" eaLnBrk="1" hangingPunct="1">
              <a:lnSpc>
                <a:spcPct val="95000"/>
              </a:lnSpc>
              <a:buClr>
                <a:srgbClr val="FF3300"/>
              </a:buClr>
              <a:defRPr/>
            </a:pPr>
            <a:r>
              <a:rPr lang="zh-CN" altLang="en-US" sz="2800" dirty="0" smtClean="0">
                <a:solidFill>
                  <a:srgbClr val="FF3300"/>
                </a:solidFill>
                <a:effectLst>
                  <a:outerShdw blurRad="38100" dist="38100" dir="2700000" algn="tl">
                    <a:srgbClr val="C0C0C0"/>
                  </a:outerShdw>
                </a:effectLst>
              </a:rPr>
              <a:t>  例子</a:t>
            </a:r>
          </a:p>
          <a:p>
            <a:pPr marL="0" indent="0" eaLnBrk="1" hangingPunct="1">
              <a:lnSpc>
                <a:spcPct val="95000"/>
              </a:lnSpc>
              <a:buFont typeface="Wingdings" pitchFamily="2" charset="2"/>
              <a:buNone/>
              <a:defRPr/>
            </a:pPr>
            <a:r>
              <a:rPr lang="en-US" altLang="zh-CN" sz="2800" dirty="0" smtClean="0"/>
              <a:t>    H=1.95；l=3；R=35%</a:t>
            </a:r>
          </a:p>
          <a:p>
            <a:pPr marL="0" indent="0" eaLnBrk="1" hangingPunct="1">
              <a:lnSpc>
                <a:spcPct val="95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特点</a:t>
            </a:r>
          </a:p>
          <a:p>
            <a:pPr marL="0" indent="0" eaLnBrk="1" hangingPunct="1">
              <a:lnSpc>
                <a:spcPct val="95000"/>
              </a:lnSpc>
              <a:buFont typeface="Wingdings" pitchFamily="2" charset="2"/>
              <a:buNone/>
              <a:defRPr/>
            </a:pPr>
            <a:r>
              <a:rPr lang="zh-CN" altLang="en-US" sz="2800" dirty="0" smtClean="0">
                <a:effectLst>
                  <a:outerShdw blurRad="38100" dist="38100" dir="2700000" algn="tl">
                    <a:srgbClr val="C0C0C0"/>
                  </a:outerShdw>
                </a:effectLst>
              </a:rPr>
              <a:t>优点：</a:t>
            </a:r>
            <a:r>
              <a:rPr lang="zh-CN" altLang="en-US" sz="2800" dirty="0" smtClean="0"/>
              <a:t>非常规整，硬件译码也很简单。</a:t>
            </a:r>
            <a:endParaRPr lang="en-US" altLang="zh-CN" sz="2800" dirty="0" smtClean="0"/>
          </a:p>
          <a:p>
            <a:pPr marL="0" indent="0" eaLnBrk="1" hangingPunct="1">
              <a:lnSpc>
                <a:spcPct val="95000"/>
              </a:lnSpc>
              <a:buFont typeface="Wingdings" pitchFamily="2" charset="2"/>
              <a:buNone/>
              <a:defRPr/>
            </a:pPr>
            <a:r>
              <a:rPr lang="zh-CN" altLang="en-US" sz="2800" dirty="0" smtClean="0">
                <a:effectLst>
                  <a:outerShdw blurRad="38100" dist="38100" dir="2700000" algn="tl">
                    <a:srgbClr val="C0C0C0"/>
                  </a:outerShdw>
                </a:effectLst>
              </a:rPr>
              <a:t>缺点：</a:t>
            </a:r>
            <a:r>
              <a:rPr lang="zh-CN" altLang="en-US" sz="2800" dirty="0" smtClean="0"/>
              <a:t>浪费严重。</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18467" name="Rectangle 3"/>
          <p:cNvSpPr>
            <a:spLocks noGrp="1" noChangeArrowheads="1"/>
          </p:cNvSpPr>
          <p:nvPr>
            <p:ph type="title"/>
          </p:nvPr>
        </p:nvSpPr>
        <p:spPr/>
        <p:txBody>
          <a:bodyPr/>
          <a:lstStyle/>
          <a:p>
            <a:pPr eaLnBrk="1" hangingPunct="1">
              <a:lnSpc>
                <a:spcPct val="130000"/>
              </a:lnSpc>
              <a:defRPr/>
            </a:pPr>
            <a:r>
              <a:rPr lang="en-US" altLang="zh-CN" smtClean="0"/>
              <a:t>Huffman</a:t>
            </a:r>
            <a:r>
              <a:rPr lang="zh-CN" altLang="en-US" smtClean="0"/>
              <a:t>编码</a:t>
            </a:r>
          </a:p>
        </p:txBody>
      </p:sp>
      <p:sp>
        <p:nvSpPr>
          <p:cNvPr id="318468" name="Rectangle 4"/>
          <p:cNvSpPr>
            <a:spLocks noGrp="1" noChangeArrowheads="1"/>
          </p:cNvSpPr>
          <p:nvPr>
            <p:ph type="body" idx="1"/>
          </p:nvPr>
        </p:nvSpPr>
        <p:spPr/>
        <p:txBody>
          <a:bodyPr/>
          <a:lstStyle/>
          <a:p>
            <a:pPr marL="0" indent="0" eaLnBrk="1" hangingPunct="1">
              <a:lnSpc>
                <a:spcPct val="110000"/>
              </a:lnSpc>
              <a:buClr>
                <a:srgbClr val="FF3300"/>
              </a:buClr>
              <a:defRPr/>
            </a:pPr>
            <a:r>
              <a:rPr lang="zh-CN" altLang="en-US" sz="2800" dirty="0" smtClean="0">
                <a:solidFill>
                  <a:srgbClr val="FF3300"/>
                </a:solidFill>
                <a:effectLst>
                  <a:outerShdw blurRad="38100" dist="38100" dir="2700000" algn="tl">
                    <a:srgbClr val="C0C0C0"/>
                  </a:outerShdw>
                </a:effectLst>
              </a:rPr>
              <a:t>  思想</a:t>
            </a:r>
          </a:p>
          <a:p>
            <a:pPr marL="0" indent="0" eaLnBrk="1" hangingPunct="1">
              <a:lnSpc>
                <a:spcPct val="110000"/>
              </a:lnSpc>
              <a:buFont typeface="Wingdings" pitchFamily="2" charset="2"/>
              <a:buNone/>
              <a:defRPr/>
            </a:pPr>
            <a:r>
              <a:rPr lang="zh-CN" altLang="en-US" sz="2800" dirty="0" smtClean="0"/>
              <a:t>    概率高的用短位数表示，概率低的用长位数表示。</a:t>
            </a:r>
          </a:p>
          <a:p>
            <a:pPr marL="0" indent="0" eaLnBrk="1" hangingPunct="1">
              <a:lnSpc>
                <a:spcPct val="110000"/>
              </a:lnSpc>
              <a:buClr>
                <a:srgbClr val="FF3300"/>
              </a:buClr>
              <a:defRPr/>
            </a:pPr>
            <a:r>
              <a:rPr lang="zh-CN" altLang="en-US" sz="2800" dirty="0" smtClean="0">
                <a:solidFill>
                  <a:srgbClr val="FF3300"/>
                </a:solidFill>
                <a:effectLst>
                  <a:outerShdw blurRad="38100" dist="38100" dir="2700000" algn="tl">
                    <a:srgbClr val="C0C0C0"/>
                  </a:outerShdw>
                </a:effectLst>
              </a:rPr>
              <a:t>  算法</a:t>
            </a:r>
          </a:p>
          <a:p>
            <a:pPr marL="0" indent="0" eaLnBrk="1" hangingPunct="1">
              <a:lnSpc>
                <a:spcPct val="110000"/>
              </a:lnSpc>
              <a:buFont typeface="Wingdings" pitchFamily="2" charset="2"/>
              <a:buNone/>
              <a:defRPr/>
            </a:pPr>
            <a:r>
              <a:rPr lang="zh-CN" altLang="en-US" sz="2800" dirty="0" smtClean="0"/>
              <a:t>    利用</a:t>
            </a:r>
            <a:r>
              <a:rPr lang="en-US" altLang="zh-CN" sz="2800" dirty="0" smtClean="0"/>
              <a:t>Huffman</a:t>
            </a:r>
            <a:r>
              <a:rPr lang="zh-CN" altLang="en-US" sz="2800" dirty="0" smtClean="0"/>
              <a:t>树实现。</a:t>
            </a:r>
          </a:p>
          <a:p>
            <a:pPr marL="0" indent="0" eaLnBrk="1" hangingPunct="1">
              <a:lnSpc>
                <a:spcPct val="110000"/>
              </a:lnSpc>
              <a:buClr>
                <a:srgbClr val="FF3300"/>
              </a:buClr>
              <a:defRPr/>
            </a:pPr>
            <a:r>
              <a:rPr lang="zh-CN" altLang="en-US" sz="2800" dirty="0" smtClean="0">
                <a:solidFill>
                  <a:srgbClr val="FF3300"/>
                </a:solidFill>
                <a:effectLst>
                  <a:outerShdw blurRad="38100" dist="38100" dir="2700000" algn="tl">
                    <a:srgbClr val="C0C0C0"/>
                  </a:outerShdw>
                </a:effectLst>
              </a:rPr>
              <a:t>  特点</a:t>
            </a:r>
          </a:p>
          <a:p>
            <a:pPr marL="0" indent="0" eaLnBrk="1" hangingPunct="1">
              <a:lnSpc>
                <a:spcPct val="110000"/>
              </a:lnSpc>
              <a:buFont typeface="Wingdings" pitchFamily="2" charset="2"/>
              <a:buNone/>
              <a:defRPr/>
            </a:pPr>
            <a:r>
              <a:rPr lang="zh-CN" altLang="en-US" sz="2800" dirty="0" smtClean="0"/>
              <a:t>    是最优化的编码方式（平均码长最短，信息的冗余量最小），但操作码很不规整。</a:t>
            </a:r>
          </a:p>
        </p:txBody>
      </p:sp>
      <p:sp>
        <p:nvSpPr>
          <p:cNvPr id="665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22563" name="Rectangle 3"/>
          <p:cNvSpPr>
            <a:spLocks noGrp="1" noChangeArrowheads="1"/>
          </p:cNvSpPr>
          <p:nvPr>
            <p:ph type="title"/>
          </p:nvPr>
        </p:nvSpPr>
        <p:spPr/>
        <p:txBody>
          <a:bodyPr/>
          <a:lstStyle/>
          <a:p>
            <a:pPr eaLnBrk="1" hangingPunct="1">
              <a:lnSpc>
                <a:spcPct val="130000"/>
              </a:lnSpc>
              <a:defRPr/>
            </a:pPr>
            <a:r>
              <a:rPr lang="en-US" altLang="zh-CN" smtClean="0"/>
              <a:t>Huffman</a:t>
            </a:r>
            <a:r>
              <a:rPr lang="zh-CN" altLang="en-US" smtClean="0"/>
              <a:t>编码算法</a:t>
            </a:r>
          </a:p>
        </p:txBody>
      </p:sp>
      <p:sp>
        <p:nvSpPr>
          <p:cNvPr id="67588" name="Rectangle 5"/>
          <p:cNvSpPr>
            <a:spLocks noGrp="1" noChangeArrowheads="1"/>
          </p:cNvSpPr>
          <p:nvPr>
            <p:ph type="body" idx="1"/>
          </p:nvPr>
        </p:nvSpPr>
        <p:spPr>
          <a:xfrm>
            <a:off x="809625" y="1844675"/>
            <a:ext cx="7958138" cy="4479925"/>
          </a:xfrm>
        </p:spPr>
        <p:txBody>
          <a:bodyPr/>
          <a:lstStyle/>
          <a:p>
            <a:pPr marL="444500" indent="-444500" eaLnBrk="1" hangingPunct="1">
              <a:buFont typeface="Wingdings" pitchFamily="2" charset="2"/>
              <a:buAutoNum type="arabicPeriod"/>
            </a:pPr>
            <a:r>
              <a:rPr lang="zh-CN" altLang="en-US" sz="2400" dirty="0" smtClean="0"/>
              <a:t>把所有指令按照使用概率自左向右排列好。</a:t>
            </a:r>
          </a:p>
          <a:p>
            <a:pPr marL="444500" indent="-444500" eaLnBrk="1" hangingPunct="1">
              <a:buFont typeface="Wingdings" pitchFamily="2" charset="2"/>
              <a:buAutoNum type="arabicPeriod"/>
            </a:pPr>
            <a:r>
              <a:rPr lang="zh-CN" altLang="en-US" sz="2400" dirty="0" smtClean="0"/>
              <a:t>选取两个概率最小的结点合并成一个概率值是二者之和的新结点，并把这个新结点与其它还没有合并的结点一起形成新结点集合。</a:t>
            </a:r>
          </a:p>
          <a:p>
            <a:pPr marL="444500" indent="-444500" eaLnBrk="1" hangingPunct="1">
              <a:buFont typeface="Wingdings" pitchFamily="2" charset="2"/>
              <a:buAutoNum type="arabicPeriod"/>
            </a:pPr>
            <a:r>
              <a:rPr lang="zh-CN" altLang="en-US" sz="2400" dirty="0" smtClean="0"/>
              <a:t>在新结点集合中选取两个概率最小的结点进行合并，如此继续进行下去，直至全部结点合并完毕。</a:t>
            </a:r>
          </a:p>
          <a:p>
            <a:pPr marL="444500" indent="-444500" eaLnBrk="1" hangingPunct="1">
              <a:buFont typeface="Wingdings" pitchFamily="2" charset="2"/>
              <a:buAutoNum type="arabicPeriod"/>
            </a:pPr>
            <a:r>
              <a:rPr lang="zh-CN" altLang="en-US" sz="2400" dirty="0" smtClean="0"/>
              <a:t>最后得到的根结点的概率值为1。</a:t>
            </a:r>
          </a:p>
          <a:p>
            <a:pPr marL="444500" indent="-444500" eaLnBrk="1" hangingPunct="1">
              <a:buFont typeface="Wingdings" pitchFamily="2" charset="2"/>
              <a:buAutoNum type="arabicPeriod"/>
            </a:pPr>
            <a:r>
              <a:rPr lang="zh-CN" altLang="en-US" sz="2400" dirty="0" smtClean="0"/>
              <a:t>每个结点都有两个分支，分别用 “0” 和“1”表示。</a:t>
            </a:r>
          </a:p>
          <a:p>
            <a:pPr marL="444500" indent="-444500" eaLnBrk="1" hangingPunct="1">
              <a:buFont typeface="Wingdings" pitchFamily="2" charset="2"/>
              <a:buAutoNum type="arabicPeriod"/>
            </a:pPr>
            <a:r>
              <a:rPr lang="zh-CN" altLang="en-US" sz="2400" dirty="0" smtClean="0"/>
              <a:t>从根结点开始，沿尖头所指方向，到达属于该指令的概率结点，把沿线所经过的代码组合起来得到这条指令的操作码编码。</a:t>
            </a:r>
          </a:p>
        </p:txBody>
      </p:sp>
      <p:sp>
        <p:nvSpPr>
          <p:cNvPr id="6758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23587" name="Rectangle 3"/>
          <p:cNvSpPr>
            <a:spLocks noGrp="1" noChangeArrowheads="1"/>
          </p:cNvSpPr>
          <p:nvPr>
            <p:ph type="title"/>
          </p:nvPr>
        </p:nvSpPr>
        <p:spPr/>
        <p:txBody>
          <a:bodyPr/>
          <a:lstStyle/>
          <a:p>
            <a:pPr eaLnBrk="1" hangingPunct="1">
              <a:lnSpc>
                <a:spcPct val="130000"/>
              </a:lnSpc>
              <a:defRPr/>
            </a:pPr>
            <a:r>
              <a:rPr lang="en-US" altLang="zh-CN" smtClean="0"/>
              <a:t>Huffman</a:t>
            </a:r>
            <a:r>
              <a:rPr lang="zh-CN" altLang="en-US" smtClean="0"/>
              <a:t>编码举例</a:t>
            </a:r>
          </a:p>
        </p:txBody>
      </p:sp>
      <p:grpSp>
        <p:nvGrpSpPr>
          <p:cNvPr id="68612" name="Group 6"/>
          <p:cNvGrpSpPr>
            <a:grpSpLocks/>
          </p:cNvGrpSpPr>
          <p:nvPr/>
        </p:nvGrpSpPr>
        <p:grpSpPr bwMode="auto">
          <a:xfrm>
            <a:off x="1331913" y="2060575"/>
            <a:ext cx="7086600" cy="4267200"/>
            <a:chOff x="432" y="288"/>
            <a:chExt cx="4896" cy="3792"/>
          </a:xfrm>
        </p:grpSpPr>
        <p:sp>
          <p:nvSpPr>
            <p:cNvPr id="68614" name="Rectangle 7"/>
            <p:cNvSpPr>
              <a:spLocks noChangeArrowheads="1"/>
            </p:cNvSpPr>
            <p:nvPr/>
          </p:nvSpPr>
          <p:spPr bwMode="auto">
            <a:xfrm>
              <a:off x="432" y="288"/>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0.45</a:t>
              </a:r>
            </a:p>
          </p:txBody>
        </p:sp>
        <p:sp>
          <p:nvSpPr>
            <p:cNvPr id="68615" name="Rectangle 8"/>
            <p:cNvSpPr>
              <a:spLocks noChangeArrowheads="1"/>
            </p:cNvSpPr>
            <p:nvPr/>
          </p:nvSpPr>
          <p:spPr bwMode="auto">
            <a:xfrm>
              <a:off x="1152" y="288"/>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0.30</a:t>
              </a:r>
            </a:p>
          </p:txBody>
        </p:sp>
        <p:sp>
          <p:nvSpPr>
            <p:cNvPr id="68616" name="Rectangle 9"/>
            <p:cNvSpPr>
              <a:spLocks noChangeArrowheads="1"/>
            </p:cNvSpPr>
            <p:nvPr/>
          </p:nvSpPr>
          <p:spPr bwMode="auto">
            <a:xfrm>
              <a:off x="1872" y="288"/>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0.15</a:t>
              </a:r>
            </a:p>
          </p:txBody>
        </p:sp>
        <p:sp>
          <p:nvSpPr>
            <p:cNvPr id="68617" name="Rectangle 10"/>
            <p:cNvSpPr>
              <a:spLocks noChangeArrowheads="1"/>
            </p:cNvSpPr>
            <p:nvPr/>
          </p:nvSpPr>
          <p:spPr bwMode="auto">
            <a:xfrm>
              <a:off x="2592" y="288"/>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0.05</a:t>
              </a:r>
            </a:p>
          </p:txBody>
        </p:sp>
        <p:sp>
          <p:nvSpPr>
            <p:cNvPr id="68618" name="Rectangle 11"/>
            <p:cNvSpPr>
              <a:spLocks noChangeArrowheads="1"/>
            </p:cNvSpPr>
            <p:nvPr/>
          </p:nvSpPr>
          <p:spPr bwMode="auto">
            <a:xfrm>
              <a:off x="3312" y="288"/>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0.03</a:t>
              </a:r>
            </a:p>
          </p:txBody>
        </p:sp>
        <p:sp>
          <p:nvSpPr>
            <p:cNvPr id="68619" name="Rectangle 12"/>
            <p:cNvSpPr>
              <a:spLocks noChangeArrowheads="1"/>
            </p:cNvSpPr>
            <p:nvPr/>
          </p:nvSpPr>
          <p:spPr bwMode="auto">
            <a:xfrm>
              <a:off x="4032" y="288"/>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0.01</a:t>
              </a:r>
            </a:p>
          </p:txBody>
        </p:sp>
        <p:sp>
          <p:nvSpPr>
            <p:cNvPr id="68620" name="Rectangle 13"/>
            <p:cNvSpPr>
              <a:spLocks noChangeArrowheads="1"/>
            </p:cNvSpPr>
            <p:nvPr/>
          </p:nvSpPr>
          <p:spPr bwMode="auto">
            <a:xfrm>
              <a:off x="4752" y="288"/>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0.01</a:t>
              </a:r>
            </a:p>
          </p:txBody>
        </p:sp>
        <p:sp>
          <p:nvSpPr>
            <p:cNvPr id="68621" name="Rectangle 14"/>
            <p:cNvSpPr>
              <a:spLocks noChangeArrowheads="1"/>
            </p:cNvSpPr>
            <p:nvPr/>
          </p:nvSpPr>
          <p:spPr bwMode="auto">
            <a:xfrm>
              <a:off x="2160" y="3744"/>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1.00</a:t>
              </a:r>
            </a:p>
          </p:txBody>
        </p:sp>
        <p:sp>
          <p:nvSpPr>
            <p:cNvPr id="68622" name="Rectangle 15"/>
            <p:cNvSpPr>
              <a:spLocks noChangeArrowheads="1"/>
            </p:cNvSpPr>
            <p:nvPr/>
          </p:nvSpPr>
          <p:spPr bwMode="auto">
            <a:xfrm>
              <a:off x="2592" y="3168"/>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0.55</a:t>
              </a:r>
            </a:p>
          </p:txBody>
        </p:sp>
        <p:sp>
          <p:nvSpPr>
            <p:cNvPr id="68623" name="Rectangle 16"/>
            <p:cNvSpPr>
              <a:spLocks noChangeArrowheads="1"/>
            </p:cNvSpPr>
            <p:nvPr/>
          </p:nvSpPr>
          <p:spPr bwMode="auto">
            <a:xfrm>
              <a:off x="3072" y="2592"/>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0.25</a:t>
              </a:r>
            </a:p>
          </p:txBody>
        </p:sp>
        <p:sp>
          <p:nvSpPr>
            <p:cNvPr id="68624" name="Rectangle 17"/>
            <p:cNvSpPr>
              <a:spLocks noChangeArrowheads="1"/>
            </p:cNvSpPr>
            <p:nvPr/>
          </p:nvSpPr>
          <p:spPr bwMode="auto">
            <a:xfrm>
              <a:off x="3504" y="2016"/>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0.10</a:t>
              </a:r>
            </a:p>
          </p:txBody>
        </p:sp>
        <p:sp>
          <p:nvSpPr>
            <p:cNvPr id="68625" name="Rectangle 18"/>
            <p:cNvSpPr>
              <a:spLocks noChangeArrowheads="1"/>
            </p:cNvSpPr>
            <p:nvPr/>
          </p:nvSpPr>
          <p:spPr bwMode="auto">
            <a:xfrm>
              <a:off x="3936" y="1440"/>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0.05</a:t>
              </a:r>
            </a:p>
          </p:txBody>
        </p:sp>
        <p:sp>
          <p:nvSpPr>
            <p:cNvPr id="68626" name="Rectangle 19"/>
            <p:cNvSpPr>
              <a:spLocks noChangeArrowheads="1"/>
            </p:cNvSpPr>
            <p:nvPr/>
          </p:nvSpPr>
          <p:spPr bwMode="auto">
            <a:xfrm>
              <a:off x="4368" y="864"/>
              <a:ext cx="57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0.02</a:t>
              </a:r>
            </a:p>
          </p:txBody>
        </p:sp>
        <p:sp>
          <p:nvSpPr>
            <p:cNvPr id="68627" name="Line 20"/>
            <p:cNvSpPr>
              <a:spLocks noChangeShapeType="1"/>
            </p:cNvSpPr>
            <p:nvPr/>
          </p:nvSpPr>
          <p:spPr bwMode="auto">
            <a:xfrm flipV="1">
              <a:off x="4800" y="624"/>
              <a:ext cx="336" cy="24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28" name="Line 21"/>
            <p:cNvSpPr>
              <a:spLocks noChangeShapeType="1"/>
            </p:cNvSpPr>
            <p:nvPr/>
          </p:nvSpPr>
          <p:spPr bwMode="auto">
            <a:xfrm flipV="1">
              <a:off x="4368" y="1200"/>
              <a:ext cx="336" cy="24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29" name="Line 22"/>
            <p:cNvSpPr>
              <a:spLocks noChangeShapeType="1"/>
            </p:cNvSpPr>
            <p:nvPr/>
          </p:nvSpPr>
          <p:spPr bwMode="auto">
            <a:xfrm flipV="1">
              <a:off x="3936" y="1776"/>
              <a:ext cx="336" cy="24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0" name="Line 23"/>
            <p:cNvSpPr>
              <a:spLocks noChangeShapeType="1"/>
            </p:cNvSpPr>
            <p:nvPr/>
          </p:nvSpPr>
          <p:spPr bwMode="auto">
            <a:xfrm flipV="1">
              <a:off x="3504" y="2352"/>
              <a:ext cx="336" cy="24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1" name="Line 24"/>
            <p:cNvSpPr>
              <a:spLocks noChangeShapeType="1"/>
            </p:cNvSpPr>
            <p:nvPr/>
          </p:nvSpPr>
          <p:spPr bwMode="auto">
            <a:xfrm flipV="1">
              <a:off x="3024" y="2928"/>
              <a:ext cx="336" cy="24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2" name="Line 25"/>
            <p:cNvSpPr>
              <a:spLocks noChangeShapeType="1"/>
            </p:cNvSpPr>
            <p:nvPr/>
          </p:nvSpPr>
          <p:spPr bwMode="auto">
            <a:xfrm flipV="1">
              <a:off x="2592" y="3504"/>
              <a:ext cx="336" cy="24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3" name="Line 26"/>
            <p:cNvSpPr>
              <a:spLocks noChangeShapeType="1"/>
            </p:cNvSpPr>
            <p:nvPr/>
          </p:nvSpPr>
          <p:spPr bwMode="auto">
            <a:xfrm flipH="1" flipV="1">
              <a:off x="720" y="624"/>
              <a:ext cx="1584" cy="312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4" name="Line 27"/>
            <p:cNvSpPr>
              <a:spLocks noChangeShapeType="1"/>
            </p:cNvSpPr>
            <p:nvPr/>
          </p:nvSpPr>
          <p:spPr bwMode="auto">
            <a:xfrm flipH="1" flipV="1">
              <a:off x="1440" y="624"/>
              <a:ext cx="1296" cy="2544"/>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5" name="Line 28"/>
            <p:cNvSpPr>
              <a:spLocks noChangeShapeType="1"/>
            </p:cNvSpPr>
            <p:nvPr/>
          </p:nvSpPr>
          <p:spPr bwMode="auto">
            <a:xfrm flipH="1" flipV="1">
              <a:off x="2160" y="624"/>
              <a:ext cx="1008" cy="1968"/>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6" name="Line 29"/>
            <p:cNvSpPr>
              <a:spLocks noChangeShapeType="1"/>
            </p:cNvSpPr>
            <p:nvPr/>
          </p:nvSpPr>
          <p:spPr bwMode="auto">
            <a:xfrm flipH="1" flipV="1">
              <a:off x="2880" y="624"/>
              <a:ext cx="720" cy="1392"/>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7" name="Line 30"/>
            <p:cNvSpPr>
              <a:spLocks noChangeShapeType="1"/>
            </p:cNvSpPr>
            <p:nvPr/>
          </p:nvSpPr>
          <p:spPr bwMode="auto">
            <a:xfrm flipH="1" flipV="1">
              <a:off x="3600" y="624"/>
              <a:ext cx="432" cy="816"/>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8" name="Line 31"/>
            <p:cNvSpPr>
              <a:spLocks noChangeShapeType="1"/>
            </p:cNvSpPr>
            <p:nvPr/>
          </p:nvSpPr>
          <p:spPr bwMode="auto">
            <a:xfrm flipH="1" flipV="1">
              <a:off x="4320" y="624"/>
              <a:ext cx="144" cy="24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9" name="Rectangle 32"/>
            <p:cNvSpPr>
              <a:spLocks noChangeArrowheads="1"/>
            </p:cNvSpPr>
            <p:nvPr/>
          </p:nvSpPr>
          <p:spPr bwMode="auto">
            <a:xfrm>
              <a:off x="4128" y="624"/>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a:t>
              </a:r>
            </a:p>
          </p:txBody>
        </p:sp>
        <p:sp>
          <p:nvSpPr>
            <p:cNvPr id="68640" name="Rectangle 33"/>
            <p:cNvSpPr>
              <a:spLocks noChangeArrowheads="1"/>
            </p:cNvSpPr>
            <p:nvPr/>
          </p:nvSpPr>
          <p:spPr bwMode="auto">
            <a:xfrm>
              <a:off x="5088" y="624"/>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1</a:t>
              </a:r>
            </a:p>
          </p:txBody>
        </p:sp>
        <p:sp>
          <p:nvSpPr>
            <p:cNvPr id="68641" name="Rectangle 34"/>
            <p:cNvSpPr>
              <a:spLocks noChangeArrowheads="1"/>
            </p:cNvSpPr>
            <p:nvPr/>
          </p:nvSpPr>
          <p:spPr bwMode="auto">
            <a:xfrm>
              <a:off x="3744" y="1152"/>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a:t>
              </a:r>
            </a:p>
          </p:txBody>
        </p:sp>
        <p:sp>
          <p:nvSpPr>
            <p:cNvPr id="68642" name="Rectangle 35"/>
            <p:cNvSpPr>
              <a:spLocks noChangeArrowheads="1"/>
            </p:cNvSpPr>
            <p:nvPr/>
          </p:nvSpPr>
          <p:spPr bwMode="auto">
            <a:xfrm>
              <a:off x="4656" y="1200"/>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1</a:t>
              </a:r>
            </a:p>
          </p:txBody>
        </p:sp>
        <p:sp>
          <p:nvSpPr>
            <p:cNvPr id="68643" name="Rectangle 36"/>
            <p:cNvSpPr>
              <a:spLocks noChangeArrowheads="1"/>
            </p:cNvSpPr>
            <p:nvPr/>
          </p:nvSpPr>
          <p:spPr bwMode="auto">
            <a:xfrm>
              <a:off x="3264" y="1728"/>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a:t>
              </a:r>
            </a:p>
          </p:txBody>
        </p:sp>
        <p:sp>
          <p:nvSpPr>
            <p:cNvPr id="68644" name="Rectangle 37"/>
            <p:cNvSpPr>
              <a:spLocks noChangeArrowheads="1"/>
            </p:cNvSpPr>
            <p:nvPr/>
          </p:nvSpPr>
          <p:spPr bwMode="auto">
            <a:xfrm>
              <a:off x="4224" y="1776"/>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1</a:t>
              </a:r>
            </a:p>
          </p:txBody>
        </p:sp>
        <p:sp>
          <p:nvSpPr>
            <p:cNvPr id="68645" name="Rectangle 38"/>
            <p:cNvSpPr>
              <a:spLocks noChangeArrowheads="1"/>
            </p:cNvSpPr>
            <p:nvPr/>
          </p:nvSpPr>
          <p:spPr bwMode="auto">
            <a:xfrm>
              <a:off x="2832" y="2304"/>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a:t>
              </a:r>
            </a:p>
          </p:txBody>
        </p:sp>
        <p:sp>
          <p:nvSpPr>
            <p:cNvPr id="68646" name="Rectangle 39"/>
            <p:cNvSpPr>
              <a:spLocks noChangeArrowheads="1"/>
            </p:cNvSpPr>
            <p:nvPr/>
          </p:nvSpPr>
          <p:spPr bwMode="auto">
            <a:xfrm>
              <a:off x="3792" y="2352"/>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1</a:t>
              </a:r>
            </a:p>
          </p:txBody>
        </p:sp>
        <p:sp>
          <p:nvSpPr>
            <p:cNvPr id="68647" name="Rectangle 40"/>
            <p:cNvSpPr>
              <a:spLocks noChangeArrowheads="1"/>
            </p:cNvSpPr>
            <p:nvPr/>
          </p:nvSpPr>
          <p:spPr bwMode="auto">
            <a:xfrm>
              <a:off x="2400" y="2880"/>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a:t>
              </a:r>
            </a:p>
          </p:txBody>
        </p:sp>
        <p:sp>
          <p:nvSpPr>
            <p:cNvPr id="68648" name="Rectangle 41"/>
            <p:cNvSpPr>
              <a:spLocks noChangeArrowheads="1"/>
            </p:cNvSpPr>
            <p:nvPr/>
          </p:nvSpPr>
          <p:spPr bwMode="auto">
            <a:xfrm>
              <a:off x="3312" y="2928"/>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1</a:t>
              </a:r>
            </a:p>
          </p:txBody>
        </p:sp>
        <p:sp>
          <p:nvSpPr>
            <p:cNvPr id="68649" name="Rectangle 42"/>
            <p:cNvSpPr>
              <a:spLocks noChangeArrowheads="1"/>
            </p:cNvSpPr>
            <p:nvPr/>
          </p:nvSpPr>
          <p:spPr bwMode="auto">
            <a:xfrm>
              <a:off x="1968" y="3456"/>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0</a:t>
              </a:r>
            </a:p>
          </p:txBody>
        </p:sp>
        <p:sp>
          <p:nvSpPr>
            <p:cNvPr id="68650" name="Rectangle 43"/>
            <p:cNvSpPr>
              <a:spLocks noChangeArrowheads="1"/>
            </p:cNvSpPr>
            <p:nvPr/>
          </p:nvSpPr>
          <p:spPr bwMode="auto">
            <a:xfrm>
              <a:off x="2880" y="3504"/>
              <a:ext cx="19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1</a:t>
              </a:r>
            </a:p>
          </p:txBody>
        </p:sp>
      </p:grpSp>
      <p:sp>
        <p:nvSpPr>
          <p:cNvPr id="68613" name="Text Box 4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24611" name="Rectangle 3"/>
          <p:cNvSpPr>
            <a:spLocks noGrp="1" noChangeArrowheads="1"/>
          </p:cNvSpPr>
          <p:nvPr>
            <p:ph type="title"/>
          </p:nvPr>
        </p:nvSpPr>
        <p:spPr/>
        <p:txBody>
          <a:bodyPr/>
          <a:lstStyle/>
          <a:p>
            <a:pPr eaLnBrk="1" hangingPunct="1">
              <a:lnSpc>
                <a:spcPct val="130000"/>
              </a:lnSpc>
              <a:defRPr/>
            </a:pPr>
            <a:r>
              <a:rPr lang="en-US" altLang="zh-CN" smtClean="0"/>
              <a:t>Huffman</a:t>
            </a:r>
            <a:r>
              <a:rPr lang="zh-CN" altLang="en-US" smtClean="0"/>
              <a:t>编码举例</a:t>
            </a:r>
          </a:p>
        </p:txBody>
      </p:sp>
      <p:grpSp>
        <p:nvGrpSpPr>
          <p:cNvPr id="69636" name="Group 42"/>
          <p:cNvGrpSpPr>
            <a:grpSpLocks/>
          </p:cNvGrpSpPr>
          <p:nvPr/>
        </p:nvGrpSpPr>
        <p:grpSpPr bwMode="auto">
          <a:xfrm>
            <a:off x="1042988" y="2060575"/>
            <a:ext cx="7543800" cy="3505200"/>
            <a:chOff x="432" y="528"/>
            <a:chExt cx="5088" cy="2688"/>
          </a:xfrm>
        </p:grpSpPr>
        <p:sp>
          <p:nvSpPr>
            <p:cNvPr id="69639" name="Rectangle 43"/>
            <p:cNvSpPr>
              <a:spLocks noChangeArrowheads="1"/>
            </p:cNvSpPr>
            <p:nvPr/>
          </p:nvSpPr>
          <p:spPr bwMode="auto">
            <a:xfrm>
              <a:off x="432" y="528"/>
              <a:ext cx="105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指令序号</a:t>
              </a:r>
            </a:p>
          </p:txBody>
        </p:sp>
        <p:sp>
          <p:nvSpPr>
            <p:cNvPr id="69640" name="Rectangle 44"/>
            <p:cNvSpPr>
              <a:spLocks noChangeArrowheads="1"/>
            </p:cNvSpPr>
            <p:nvPr/>
          </p:nvSpPr>
          <p:spPr bwMode="auto">
            <a:xfrm>
              <a:off x="1488" y="528"/>
              <a:ext cx="624"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概率</a:t>
              </a:r>
            </a:p>
          </p:txBody>
        </p:sp>
        <p:sp>
          <p:nvSpPr>
            <p:cNvPr id="69641" name="Rectangle 45"/>
            <p:cNvSpPr>
              <a:spLocks noChangeArrowheads="1"/>
            </p:cNvSpPr>
            <p:nvPr/>
          </p:nvSpPr>
          <p:spPr bwMode="auto">
            <a:xfrm>
              <a:off x="2112" y="528"/>
              <a:ext cx="196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Huffman</a:t>
              </a:r>
              <a:r>
                <a:rPr lang="zh-CN" altLang="en-US" sz="2800">
                  <a:solidFill>
                    <a:schemeClr val="tx2"/>
                  </a:solidFill>
                </a:rPr>
                <a:t>编码法</a:t>
              </a:r>
            </a:p>
          </p:txBody>
        </p:sp>
        <p:sp>
          <p:nvSpPr>
            <p:cNvPr id="69642" name="Rectangle 46"/>
            <p:cNvSpPr>
              <a:spLocks noChangeArrowheads="1"/>
            </p:cNvSpPr>
            <p:nvPr/>
          </p:nvSpPr>
          <p:spPr bwMode="auto">
            <a:xfrm>
              <a:off x="4080" y="528"/>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操作码长度</a:t>
              </a:r>
            </a:p>
          </p:txBody>
        </p:sp>
        <p:sp>
          <p:nvSpPr>
            <p:cNvPr id="69643" name="Rectangle 47"/>
            <p:cNvSpPr>
              <a:spLocks noChangeArrowheads="1"/>
            </p:cNvSpPr>
            <p:nvPr/>
          </p:nvSpPr>
          <p:spPr bwMode="auto">
            <a:xfrm>
              <a:off x="432" y="864"/>
              <a:ext cx="105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1</a:t>
              </a:r>
              <a:endParaRPr lang="en-US" altLang="zh-CN" sz="2800">
                <a:solidFill>
                  <a:schemeClr val="tx2"/>
                </a:solidFill>
              </a:endParaRPr>
            </a:p>
          </p:txBody>
        </p:sp>
        <p:sp>
          <p:nvSpPr>
            <p:cNvPr id="69644" name="Rectangle 48"/>
            <p:cNvSpPr>
              <a:spLocks noChangeArrowheads="1"/>
            </p:cNvSpPr>
            <p:nvPr/>
          </p:nvSpPr>
          <p:spPr bwMode="auto">
            <a:xfrm>
              <a:off x="1488" y="864"/>
              <a:ext cx="624"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0.45</a:t>
              </a:r>
            </a:p>
          </p:txBody>
        </p:sp>
        <p:sp>
          <p:nvSpPr>
            <p:cNvPr id="69645" name="Rectangle 49"/>
            <p:cNvSpPr>
              <a:spLocks noChangeArrowheads="1"/>
            </p:cNvSpPr>
            <p:nvPr/>
          </p:nvSpPr>
          <p:spPr bwMode="auto">
            <a:xfrm>
              <a:off x="2112" y="864"/>
              <a:ext cx="196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0</a:t>
              </a:r>
              <a:endParaRPr lang="zh-CN" altLang="en-US" sz="2800">
                <a:solidFill>
                  <a:schemeClr val="tx2"/>
                </a:solidFill>
              </a:endParaRPr>
            </a:p>
          </p:txBody>
        </p:sp>
        <p:sp>
          <p:nvSpPr>
            <p:cNvPr id="69646" name="Rectangle 50"/>
            <p:cNvSpPr>
              <a:spLocks noChangeArrowheads="1"/>
            </p:cNvSpPr>
            <p:nvPr/>
          </p:nvSpPr>
          <p:spPr bwMode="auto">
            <a:xfrm>
              <a:off x="4080" y="864"/>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1位</a:t>
              </a:r>
            </a:p>
          </p:txBody>
        </p:sp>
        <p:sp>
          <p:nvSpPr>
            <p:cNvPr id="69647" name="Rectangle 51"/>
            <p:cNvSpPr>
              <a:spLocks noChangeArrowheads="1"/>
            </p:cNvSpPr>
            <p:nvPr/>
          </p:nvSpPr>
          <p:spPr bwMode="auto">
            <a:xfrm>
              <a:off x="432" y="1200"/>
              <a:ext cx="105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2</a:t>
              </a:r>
              <a:endParaRPr lang="en-US" altLang="zh-CN" sz="2800">
                <a:solidFill>
                  <a:schemeClr val="tx2"/>
                </a:solidFill>
              </a:endParaRPr>
            </a:p>
          </p:txBody>
        </p:sp>
        <p:sp>
          <p:nvSpPr>
            <p:cNvPr id="69648" name="Rectangle 52"/>
            <p:cNvSpPr>
              <a:spLocks noChangeArrowheads="1"/>
            </p:cNvSpPr>
            <p:nvPr/>
          </p:nvSpPr>
          <p:spPr bwMode="auto">
            <a:xfrm>
              <a:off x="1488" y="1200"/>
              <a:ext cx="624"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0.30</a:t>
              </a:r>
            </a:p>
          </p:txBody>
        </p:sp>
        <p:sp>
          <p:nvSpPr>
            <p:cNvPr id="69649" name="Rectangle 53"/>
            <p:cNvSpPr>
              <a:spLocks noChangeArrowheads="1"/>
            </p:cNvSpPr>
            <p:nvPr/>
          </p:nvSpPr>
          <p:spPr bwMode="auto">
            <a:xfrm>
              <a:off x="2112" y="1200"/>
              <a:ext cx="196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10</a:t>
              </a:r>
              <a:endParaRPr lang="zh-CN" altLang="en-US" sz="2800">
                <a:solidFill>
                  <a:schemeClr val="tx2"/>
                </a:solidFill>
              </a:endParaRPr>
            </a:p>
          </p:txBody>
        </p:sp>
        <p:sp>
          <p:nvSpPr>
            <p:cNvPr id="69650" name="Rectangle 54"/>
            <p:cNvSpPr>
              <a:spLocks noChangeArrowheads="1"/>
            </p:cNvSpPr>
            <p:nvPr/>
          </p:nvSpPr>
          <p:spPr bwMode="auto">
            <a:xfrm>
              <a:off x="4080" y="1200"/>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2位</a:t>
              </a:r>
            </a:p>
          </p:txBody>
        </p:sp>
        <p:sp>
          <p:nvSpPr>
            <p:cNvPr id="69651" name="Rectangle 55"/>
            <p:cNvSpPr>
              <a:spLocks noChangeArrowheads="1"/>
            </p:cNvSpPr>
            <p:nvPr/>
          </p:nvSpPr>
          <p:spPr bwMode="auto">
            <a:xfrm>
              <a:off x="432" y="1536"/>
              <a:ext cx="105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3</a:t>
              </a:r>
              <a:endParaRPr lang="en-US" altLang="zh-CN" sz="2800">
                <a:solidFill>
                  <a:schemeClr val="tx2"/>
                </a:solidFill>
              </a:endParaRPr>
            </a:p>
          </p:txBody>
        </p:sp>
        <p:sp>
          <p:nvSpPr>
            <p:cNvPr id="69652" name="Rectangle 56"/>
            <p:cNvSpPr>
              <a:spLocks noChangeArrowheads="1"/>
            </p:cNvSpPr>
            <p:nvPr/>
          </p:nvSpPr>
          <p:spPr bwMode="auto">
            <a:xfrm>
              <a:off x="1488" y="1536"/>
              <a:ext cx="624"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0.15</a:t>
              </a:r>
            </a:p>
          </p:txBody>
        </p:sp>
        <p:sp>
          <p:nvSpPr>
            <p:cNvPr id="69653" name="Rectangle 57"/>
            <p:cNvSpPr>
              <a:spLocks noChangeArrowheads="1"/>
            </p:cNvSpPr>
            <p:nvPr/>
          </p:nvSpPr>
          <p:spPr bwMode="auto">
            <a:xfrm>
              <a:off x="2112" y="1536"/>
              <a:ext cx="196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110</a:t>
              </a:r>
              <a:endParaRPr lang="zh-CN" altLang="en-US" sz="2800">
                <a:solidFill>
                  <a:schemeClr val="tx2"/>
                </a:solidFill>
              </a:endParaRPr>
            </a:p>
          </p:txBody>
        </p:sp>
        <p:sp>
          <p:nvSpPr>
            <p:cNvPr id="69654" name="Rectangle 58"/>
            <p:cNvSpPr>
              <a:spLocks noChangeArrowheads="1"/>
            </p:cNvSpPr>
            <p:nvPr/>
          </p:nvSpPr>
          <p:spPr bwMode="auto">
            <a:xfrm>
              <a:off x="4080" y="1536"/>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3位</a:t>
              </a:r>
            </a:p>
          </p:txBody>
        </p:sp>
        <p:sp>
          <p:nvSpPr>
            <p:cNvPr id="69655" name="Rectangle 59"/>
            <p:cNvSpPr>
              <a:spLocks noChangeArrowheads="1"/>
            </p:cNvSpPr>
            <p:nvPr/>
          </p:nvSpPr>
          <p:spPr bwMode="auto">
            <a:xfrm>
              <a:off x="432" y="1872"/>
              <a:ext cx="105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4</a:t>
              </a:r>
              <a:endParaRPr lang="en-US" altLang="zh-CN" sz="2800">
                <a:solidFill>
                  <a:schemeClr val="tx2"/>
                </a:solidFill>
              </a:endParaRPr>
            </a:p>
          </p:txBody>
        </p:sp>
        <p:sp>
          <p:nvSpPr>
            <p:cNvPr id="69656" name="Rectangle 60"/>
            <p:cNvSpPr>
              <a:spLocks noChangeArrowheads="1"/>
            </p:cNvSpPr>
            <p:nvPr/>
          </p:nvSpPr>
          <p:spPr bwMode="auto">
            <a:xfrm>
              <a:off x="1488" y="1872"/>
              <a:ext cx="624"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0.05</a:t>
              </a:r>
            </a:p>
          </p:txBody>
        </p:sp>
        <p:sp>
          <p:nvSpPr>
            <p:cNvPr id="69657" name="Rectangle 61"/>
            <p:cNvSpPr>
              <a:spLocks noChangeArrowheads="1"/>
            </p:cNvSpPr>
            <p:nvPr/>
          </p:nvSpPr>
          <p:spPr bwMode="auto">
            <a:xfrm>
              <a:off x="2112" y="1872"/>
              <a:ext cx="196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1110</a:t>
              </a:r>
              <a:endParaRPr lang="zh-CN" altLang="en-US" sz="2800">
                <a:solidFill>
                  <a:schemeClr val="tx2"/>
                </a:solidFill>
              </a:endParaRPr>
            </a:p>
          </p:txBody>
        </p:sp>
        <p:sp>
          <p:nvSpPr>
            <p:cNvPr id="69658" name="Rectangle 62"/>
            <p:cNvSpPr>
              <a:spLocks noChangeArrowheads="1"/>
            </p:cNvSpPr>
            <p:nvPr/>
          </p:nvSpPr>
          <p:spPr bwMode="auto">
            <a:xfrm>
              <a:off x="4080" y="1872"/>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4位</a:t>
              </a:r>
            </a:p>
          </p:txBody>
        </p:sp>
        <p:sp>
          <p:nvSpPr>
            <p:cNvPr id="69659" name="Rectangle 63"/>
            <p:cNvSpPr>
              <a:spLocks noChangeArrowheads="1"/>
            </p:cNvSpPr>
            <p:nvPr/>
          </p:nvSpPr>
          <p:spPr bwMode="auto">
            <a:xfrm>
              <a:off x="432" y="2208"/>
              <a:ext cx="105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5</a:t>
              </a:r>
              <a:endParaRPr lang="en-US" altLang="zh-CN" sz="2800">
                <a:solidFill>
                  <a:schemeClr val="tx2"/>
                </a:solidFill>
              </a:endParaRPr>
            </a:p>
          </p:txBody>
        </p:sp>
        <p:sp>
          <p:nvSpPr>
            <p:cNvPr id="69660" name="Rectangle 64"/>
            <p:cNvSpPr>
              <a:spLocks noChangeArrowheads="1"/>
            </p:cNvSpPr>
            <p:nvPr/>
          </p:nvSpPr>
          <p:spPr bwMode="auto">
            <a:xfrm>
              <a:off x="1488" y="2208"/>
              <a:ext cx="624"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0.03</a:t>
              </a:r>
            </a:p>
          </p:txBody>
        </p:sp>
        <p:sp>
          <p:nvSpPr>
            <p:cNvPr id="69661" name="Rectangle 65"/>
            <p:cNvSpPr>
              <a:spLocks noChangeArrowheads="1"/>
            </p:cNvSpPr>
            <p:nvPr/>
          </p:nvSpPr>
          <p:spPr bwMode="auto">
            <a:xfrm>
              <a:off x="2112" y="2208"/>
              <a:ext cx="196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11110</a:t>
              </a:r>
              <a:endParaRPr lang="zh-CN" altLang="en-US" sz="2800">
                <a:solidFill>
                  <a:schemeClr val="tx2"/>
                </a:solidFill>
              </a:endParaRPr>
            </a:p>
          </p:txBody>
        </p:sp>
        <p:sp>
          <p:nvSpPr>
            <p:cNvPr id="69662" name="Rectangle 66"/>
            <p:cNvSpPr>
              <a:spLocks noChangeArrowheads="1"/>
            </p:cNvSpPr>
            <p:nvPr/>
          </p:nvSpPr>
          <p:spPr bwMode="auto">
            <a:xfrm>
              <a:off x="4080" y="2208"/>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5位</a:t>
              </a:r>
            </a:p>
          </p:txBody>
        </p:sp>
        <p:sp>
          <p:nvSpPr>
            <p:cNvPr id="69663" name="Rectangle 67"/>
            <p:cNvSpPr>
              <a:spLocks noChangeArrowheads="1"/>
            </p:cNvSpPr>
            <p:nvPr/>
          </p:nvSpPr>
          <p:spPr bwMode="auto">
            <a:xfrm>
              <a:off x="432" y="2544"/>
              <a:ext cx="105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6</a:t>
              </a:r>
              <a:endParaRPr lang="en-US" altLang="zh-CN" sz="2800">
                <a:solidFill>
                  <a:schemeClr val="tx2"/>
                </a:solidFill>
              </a:endParaRPr>
            </a:p>
          </p:txBody>
        </p:sp>
        <p:sp>
          <p:nvSpPr>
            <p:cNvPr id="69664" name="Rectangle 68"/>
            <p:cNvSpPr>
              <a:spLocks noChangeArrowheads="1"/>
            </p:cNvSpPr>
            <p:nvPr/>
          </p:nvSpPr>
          <p:spPr bwMode="auto">
            <a:xfrm>
              <a:off x="1488" y="2544"/>
              <a:ext cx="624"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0.01</a:t>
              </a:r>
            </a:p>
          </p:txBody>
        </p:sp>
        <p:sp>
          <p:nvSpPr>
            <p:cNvPr id="69665" name="Rectangle 69"/>
            <p:cNvSpPr>
              <a:spLocks noChangeArrowheads="1"/>
            </p:cNvSpPr>
            <p:nvPr/>
          </p:nvSpPr>
          <p:spPr bwMode="auto">
            <a:xfrm>
              <a:off x="2112" y="2544"/>
              <a:ext cx="196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111110</a:t>
              </a:r>
              <a:endParaRPr lang="zh-CN" altLang="en-US" sz="2800">
                <a:solidFill>
                  <a:schemeClr val="tx2"/>
                </a:solidFill>
              </a:endParaRPr>
            </a:p>
          </p:txBody>
        </p:sp>
        <p:sp>
          <p:nvSpPr>
            <p:cNvPr id="69666" name="Rectangle 70"/>
            <p:cNvSpPr>
              <a:spLocks noChangeArrowheads="1"/>
            </p:cNvSpPr>
            <p:nvPr/>
          </p:nvSpPr>
          <p:spPr bwMode="auto">
            <a:xfrm>
              <a:off x="4080" y="2544"/>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6位</a:t>
              </a:r>
            </a:p>
          </p:txBody>
        </p:sp>
        <p:sp>
          <p:nvSpPr>
            <p:cNvPr id="69667" name="Rectangle 71"/>
            <p:cNvSpPr>
              <a:spLocks noChangeArrowheads="1"/>
            </p:cNvSpPr>
            <p:nvPr/>
          </p:nvSpPr>
          <p:spPr bwMode="auto">
            <a:xfrm>
              <a:off x="432" y="2880"/>
              <a:ext cx="1056"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7</a:t>
              </a:r>
              <a:endParaRPr lang="en-US" altLang="zh-CN" sz="2800">
                <a:solidFill>
                  <a:schemeClr val="tx2"/>
                </a:solidFill>
              </a:endParaRPr>
            </a:p>
          </p:txBody>
        </p:sp>
        <p:sp>
          <p:nvSpPr>
            <p:cNvPr id="69668" name="Rectangle 72"/>
            <p:cNvSpPr>
              <a:spLocks noChangeArrowheads="1"/>
            </p:cNvSpPr>
            <p:nvPr/>
          </p:nvSpPr>
          <p:spPr bwMode="auto">
            <a:xfrm>
              <a:off x="1488" y="2880"/>
              <a:ext cx="624"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0.01</a:t>
              </a:r>
            </a:p>
          </p:txBody>
        </p:sp>
        <p:sp>
          <p:nvSpPr>
            <p:cNvPr id="69669" name="Rectangle 73"/>
            <p:cNvSpPr>
              <a:spLocks noChangeArrowheads="1"/>
            </p:cNvSpPr>
            <p:nvPr/>
          </p:nvSpPr>
          <p:spPr bwMode="auto">
            <a:xfrm>
              <a:off x="2112" y="2880"/>
              <a:ext cx="196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111111</a:t>
              </a:r>
              <a:endParaRPr lang="zh-CN" altLang="en-US" sz="2800">
                <a:solidFill>
                  <a:schemeClr val="tx2"/>
                </a:solidFill>
              </a:endParaRPr>
            </a:p>
          </p:txBody>
        </p:sp>
        <p:sp>
          <p:nvSpPr>
            <p:cNvPr id="69670" name="Rectangle 74"/>
            <p:cNvSpPr>
              <a:spLocks noChangeArrowheads="1"/>
            </p:cNvSpPr>
            <p:nvPr/>
          </p:nvSpPr>
          <p:spPr bwMode="auto">
            <a:xfrm>
              <a:off x="4080" y="2880"/>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6位</a:t>
              </a:r>
            </a:p>
          </p:txBody>
        </p:sp>
      </p:grpSp>
      <p:sp>
        <p:nvSpPr>
          <p:cNvPr id="69637" name="Rectangle 75"/>
          <p:cNvSpPr>
            <a:spLocks noChangeArrowheads="1"/>
          </p:cNvSpPr>
          <p:nvPr/>
        </p:nvSpPr>
        <p:spPr bwMode="auto">
          <a:xfrm>
            <a:off x="2700338" y="5734050"/>
            <a:ext cx="4183062" cy="4762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90000"/>
              </a:lnSpc>
              <a:buFont typeface="Wingdings" pitchFamily="2" charset="2"/>
              <a:buNone/>
            </a:pPr>
            <a:r>
              <a:rPr lang="en-US" altLang="zh-CN" sz="2800"/>
              <a:t>H=1.95；l=1.97；R≈1%</a:t>
            </a:r>
          </a:p>
        </p:txBody>
      </p:sp>
      <p:sp>
        <p:nvSpPr>
          <p:cNvPr id="69638" name="Text Box 7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19491" name="Rectangle 3"/>
          <p:cNvSpPr>
            <a:spLocks noGrp="1" noChangeArrowheads="1"/>
          </p:cNvSpPr>
          <p:nvPr>
            <p:ph type="title"/>
          </p:nvPr>
        </p:nvSpPr>
        <p:spPr/>
        <p:txBody>
          <a:bodyPr/>
          <a:lstStyle/>
          <a:p>
            <a:pPr eaLnBrk="1" hangingPunct="1">
              <a:defRPr/>
            </a:pPr>
            <a:r>
              <a:rPr lang="zh-CN" altLang="en-US" smtClean="0"/>
              <a:t>扩展编码法</a:t>
            </a:r>
          </a:p>
        </p:txBody>
      </p:sp>
      <p:sp>
        <p:nvSpPr>
          <p:cNvPr id="319492" name="Rectangle 4"/>
          <p:cNvSpPr>
            <a:spLocks noGrp="1" noChangeArrowheads="1"/>
          </p:cNvSpPr>
          <p:nvPr>
            <p:ph type="body" idx="1"/>
          </p:nvPr>
        </p:nvSpPr>
        <p:spPr>
          <a:xfrm>
            <a:off x="809625" y="1916113"/>
            <a:ext cx="7958138" cy="4484687"/>
          </a:xfrm>
        </p:spPr>
        <p:txBody>
          <a:bodyPr/>
          <a:lstStyle/>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思想</a:t>
            </a:r>
          </a:p>
          <a:p>
            <a:pPr marL="0" indent="0" eaLnBrk="1" hangingPunct="1">
              <a:buFont typeface="Wingdings" pitchFamily="2" charset="2"/>
              <a:buNone/>
              <a:defRPr/>
            </a:pPr>
            <a:r>
              <a:rPr lang="zh-CN" altLang="en-US" sz="2400" dirty="0" smtClean="0"/>
              <a:t>    是固定长度操作码和</a:t>
            </a:r>
            <a:r>
              <a:rPr lang="en-US" altLang="zh-CN" sz="2400" dirty="0" smtClean="0"/>
              <a:t>Huffman</a:t>
            </a:r>
            <a:r>
              <a:rPr lang="zh-CN" altLang="en-US" sz="2400" dirty="0" smtClean="0"/>
              <a:t>编码法相结合形成的。即：</a:t>
            </a:r>
            <a:r>
              <a:rPr lang="zh-CN" altLang="en-US" sz="2400" dirty="0">
                <a:solidFill>
                  <a:srgbClr val="0000CC"/>
                </a:solidFill>
              </a:rPr>
              <a:t>先</a:t>
            </a:r>
            <a:r>
              <a:rPr lang="zh-CN" altLang="en-US" sz="2400" dirty="0" smtClean="0">
                <a:solidFill>
                  <a:srgbClr val="0000CC"/>
                </a:solidFill>
                <a:effectLst>
                  <a:outerShdw blurRad="38100" dist="38100" dir="2700000" algn="tl">
                    <a:srgbClr val="C0C0C0"/>
                  </a:outerShdw>
                </a:effectLst>
              </a:rPr>
              <a:t>根据指令使用频率的宏观</a:t>
            </a:r>
            <a:r>
              <a:rPr lang="zh-CN" altLang="en-US" sz="2400" dirty="0">
                <a:solidFill>
                  <a:srgbClr val="0000CC"/>
                </a:solidFill>
                <a:effectLst>
                  <a:outerShdw blurRad="38100" dist="38100" dir="2700000" algn="tl">
                    <a:srgbClr val="C0C0C0"/>
                  </a:outerShdw>
                </a:effectLst>
              </a:rPr>
              <a:t>分布，</a:t>
            </a:r>
            <a:r>
              <a:rPr lang="zh-CN" altLang="en-US" sz="2400" dirty="0" smtClean="0">
                <a:solidFill>
                  <a:srgbClr val="0000CC"/>
                </a:solidFill>
                <a:effectLst>
                  <a:outerShdw blurRad="38100" dist="38100" dir="2700000" algn="tl">
                    <a:srgbClr val="C0C0C0"/>
                  </a:outerShdw>
                </a:effectLst>
              </a:rPr>
              <a:t>将</a:t>
            </a:r>
            <a:r>
              <a:rPr lang="zh-CN" altLang="en-US" sz="2400" smtClean="0">
                <a:solidFill>
                  <a:srgbClr val="0000CC"/>
                </a:solidFill>
                <a:effectLst>
                  <a:outerShdw blurRad="38100" dist="38100" dir="2700000" algn="tl">
                    <a:srgbClr val="C0C0C0"/>
                  </a:outerShdw>
                </a:effectLst>
              </a:rPr>
              <a:t>指令分成有限几类</a:t>
            </a:r>
            <a:r>
              <a:rPr lang="zh-CN" altLang="en-US" sz="2400" dirty="0" smtClean="0">
                <a:solidFill>
                  <a:srgbClr val="0000CC"/>
                </a:solidFill>
                <a:effectLst>
                  <a:outerShdw blurRad="38100" dist="38100" dir="2700000" algn="tl">
                    <a:srgbClr val="C0C0C0"/>
                  </a:outerShdw>
                </a:effectLst>
              </a:rPr>
              <a:t>；然后根据</a:t>
            </a:r>
            <a:r>
              <a:rPr lang="en-US" altLang="zh-CN" sz="2400" dirty="0" smtClean="0">
                <a:solidFill>
                  <a:srgbClr val="0000CC"/>
                </a:solidFill>
                <a:effectLst>
                  <a:outerShdw blurRad="38100" dist="38100" dir="2700000" algn="tl">
                    <a:srgbClr val="C0C0C0"/>
                  </a:outerShdw>
                </a:effectLst>
              </a:rPr>
              <a:t>Huffman</a:t>
            </a:r>
            <a:r>
              <a:rPr lang="zh-CN" altLang="en-US" sz="2400" dirty="0" smtClean="0">
                <a:solidFill>
                  <a:srgbClr val="0000CC"/>
                </a:solidFill>
                <a:effectLst>
                  <a:outerShdw blurRad="38100" dist="38100" dir="2700000" algn="tl">
                    <a:srgbClr val="C0C0C0"/>
                  </a:outerShdw>
                </a:effectLst>
              </a:rPr>
              <a:t>编码原理，对使用频率高的指令类采用短位数，</a:t>
            </a:r>
            <a:r>
              <a:rPr lang="zh-CN" altLang="en-US" sz="2400" dirty="0">
                <a:solidFill>
                  <a:srgbClr val="0000CC"/>
                </a:solidFill>
                <a:effectLst>
                  <a:outerShdw blurRad="38100" dist="38100" dir="2700000" algn="tl">
                    <a:srgbClr val="C0C0C0"/>
                  </a:outerShdw>
                </a:effectLst>
              </a:rPr>
              <a:t>使用</a:t>
            </a:r>
            <a:r>
              <a:rPr lang="zh-CN" altLang="en-US" sz="2400" dirty="0" smtClean="0">
                <a:solidFill>
                  <a:srgbClr val="0000CC"/>
                </a:solidFill>
                <a:effectLst>
                  <a:outerShdw blurRad="38100" dist="38100" dir="2700000" algn="tl">
                    <a:srgbClr val="C0C0C0"/>
                  </a:outerShdw>
                </a:effectLst>
              </a:rPr>
              <a:t>频率低的指令类采用长位数；同一类指令内采用</a:t>
            </a:r>
            <a:r>
              <a:rPr lang="zh-CN" altLang="en-US" sz="2400" dirty="0">
                <a:solidFill>
                  <a:srgbClr val="0000CC"/>
                </a:solidFill>
                <a:effectLst>
                  <a:outerShdw blurRad="38100" dist="38100" dir="2700000" algn="tl">
                    <a:srgbClr val="C0C0C0"/>
                  </a:outerShdw>
                </a:effectLst>
              </a:rPr>
              <a:t>固定长度操作码。</a:t>
            </a:r>
          </a:p>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问题</a:t>
            </a:r>
          </a:p>
          <a:p>
            <a:pPr marL="0" indent="0" eaLnBrk="1" hangingPunct="1">
              <a:buFont typeface="Wingdings" pitchFamily="2" charset="2"/>
              <a:buNone/>
              <a:defRPr/>
            </a:pPr>
            <a:r>
              <a:rPr lang="zh-CN" altLang="en-US" sz="2400" dirty="0" smtClean="0"/>
              <a:t>    有多种扩展编码，等长扩展（例如：4-8-12、3-6-9等）？不等长扩展（例如：4-6-10等）？</a:t>
            </a:r>
          </a:p>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解决</a:t>
            </a:r>
          </a:p>
          <a:p>
            <a:pPr marL="0" indent="0" eaLnBrk="1" hangingPunct="1">
              <a:buFont typeface="Wingdings" pitchFamily="2" charset="2"/>
              <a:buNone/>
              <a:defRPr/>
            </a:pPr>
            <a:r>
              <a:rPr lang="zh-CN" altLang="en-US" sz="2400" dirty="0" smtClean="0"/>
              <a:t>    取决于具体指令的使用频度的分布。</a:t>
            </a:r>
          </a:p>
        </p:txBody>
      </p:sp>
      <p:sp>
        <p:nvSpPr>
          <p:cNvPr id="7066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25635" name="Rectangle 3"/>
          <p:cNvSpPr>
            <a:spLocks noGrp="1" noChangeArrowheads="1"/>
          </p:cNvSpPr>
          <p:nvPr>
            <p:ph type="title"/>
          </p:nvPr>
        </p:nvSpPr>
        <p:spPr/>
        <p:txBody>
          <a:bodyPr/>
          <a:lstStyle/>
          <a:p>
            <a:pPr eaLnBrk="1" hangingPunct="1">
              <a:defRPr/>
            </a:pPr>
            <a:r>
              <a:rPr lang="zh-CN" altLang="en-US" smtClean="0"/>
              <a:t>扩展编码法举例</a:t>
            </a:r>
          </a:p>
        </p:txBody>
      </p:sp>
      <p:grpSp>
        <p:nvGrpSpPr>
          <p:cNvPr id="71684" name="Group 84"/>
          <p:cNvGrpSpPr>
            <a:grpSpLocks/>
          </p:cNvGrpSpPr>
          <p:nvPr/>
        </p:nvGrpSpPr>
        <p:grpSpPr bwMode="auto">
          <a:xfrm>
            <a:off x="1042988" y="2060575"/>
            <a:ext cx="7696200" cy="4114800"/>
            <a:chOff x="624" y="1392"/>
            <a:chExt cx="4848" cy="2592"/>
          </a:xfrm>
        </p:grpSpPr>
        <p:sp>
          <p:nvSpPr>
            <p:cNvPr id="71686" name="Rectangle 45"/>
            <p:cNvSpPr>
              <a:spLocks noChangeArrowheads="1"/>
            </p:cNvSpPr>
            <p:nvPr/>
          </p:nvSpPr>
          <p:spPr bwMode="auto">
            <a:xfrm>
              <a:off x="624" y="1392"/>
              <a:ext cx="544"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序号</a:t>
              </a:r>
            </a:p>
          </p:txBody>
        </p:sp>
        <p:sp>
          <p:nvSpPr>
            <p:cNvPr id="71687" name="Rectangle 46"/>
            <p:cNvSpPr>
              <a:spLocks noChangeArrowheads="1"/>
            </p:cNvSpPr>
            <p:nvPr/>
          </p:nvSpPr>
          <p:spPr bwMode="auto">
            <a:xfrm>
              <a:off x="1168" y="1392"/>
              <a:ext cx="589"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概率</a:t>
              </a:r>
            </a:p>
          </p:txBody>
        </p:sp>
        <p:sp>
          <p:nvSpPr>
            <p:cNvPr id="71688" name="Rectangle 47"/>
            <p:cNvSpPr>
              <a:spLocks noChangeArrowheads="1"/>
            </p:cNvSpPr>
            <p:nvPr/>
          </p:nvSpPr>
          <p:spPr bwMode="auto">
            <a:xfrm>
              <a:off x="1757" y="1392"/>
              <a:ext cx="1857"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1-2-3-5</a:t>
              </a:r>
              <a:r>
                <a:rPr lang="zh-CN" altLang="en-US" sz="2800">
                  <a:solidFill>
                    <a:schemeClr val="tx2"/>
                  </a:solidFill>
                </a:rPr>
                <a:t>扩展编码</a:t>
              </a:r>
            </a:p>
          </p:txBody>
        </p:sp>
        <p:sp>
          <p:nvSpPr>
            <p:cNvPr id="71689" name="Rectangle 48"/>
            <p:cNvSpPr>
              <a:spLocks noChangeArrowheads="1"/>
            </p:cNvSpPr>
            <p:nvPr/>
          </p:nvSpPr>
          <p:spPr bwMode="auto">
            <a:xfrm>
              <a:off x="624" y="1651"/>
              <a:ext cx="544"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1</a:t>
              </a:r>
              <a:endParaRPr lang="en-US" altLang="zh-CN" sz="2800">
                <a:solidFill>
                  <a:schemeClr val="tx2"/>
                </a:solidFill>
              </a:endParaRPr>
            </a:p>
          </p:txBody>
        </p:sp>
        <p:sp>
          <p:nvSpPr>
            <p:cNvPr id="71690" name="Rectangle 49"/>
            <p:cNvSpPr>
              <a:spLocks noChangeArrowheads="1"/>
            </p:cNvSpPr>
            <p:nvPr/>
          </p:nvSpPr>
          <p:spPr bwMode="auto">
            <a:xfrm>
              <a:off x="1168" y="1651"/>
              <a:ext cx="589"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0.45</a:t>
              </a:r>
            </a:p>
          </p:txBody>
        </p:sp>
        <p:sp>
          <p:nvSpPr>
            <p:cNvPr id="71691" name="Rectangle 50"/>
            <p:cNvSpPr>
              <a:spLocks noChangeArrowheads="1"/>
            </p:cNvSpPr>
            <p:nvPr/>
          </p:nvSpPr>
          <p:spPr bwMode="auto">
            <a:xfrm>
              <a:off x="1757" y="1651"/>
              <a:ext cx="1857"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0</a:t>
              </a:r>
              <a:endParaRPr lang="zh-CN" altLang="en-US" sz="2800">
                <a:solidFill>
                  <a:schemeClr val="tx2"/>
                </a:solidFill>
              </a:endParaRPr>
            </a:p>
          </p:txBody>
        </p:sp>
        <p:sp>
          <p:nvSpPr>
            <p:cNvPr id="71692" name="Rectangle 51"/>
            <p:cNvSpPr>
              <a:spLocks noChangeArrowheads="1"/>
            </p:cNvSpPr>
            <p:nvPr/>
          </p:nvSpPr>
          <p:spPr bwMode="auto">
            <a:xfrm>
              <a:off x="624" y="1910"/>
              <a:ext cx="544" cy="26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2</a:t>
              </a:r>
              <a:endParaRPr lang="en-US" altLang="zh-CN" sz="2800">
                <a:solidFill>
                  <a:schemeClr val="tx2"/>
                </a:solidFill>
              </a:endParaRPr>
            </a:p>
          </p:txBody>
        </p:sp>
        <p:sp>
          <p:nvSpPr>
            <p:cNvPr id="71693" name="Rectangle 52"/>
            <p:cNvSpPr>
              <a:spLocks noChangeArrowheads="1"/>
            </p:cNvSpPr>
            <p:nvPr/>
          </p:nvSpPr>
          <p:spPr bwMode="auto">
            <a:xfrm>
              <a:off x="1168" y="1910"/>
              <a:ext cx="589" cy="26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0.30</a:t>
              </a:r>
            </a:p>
          </p:txBody>
        </p:sp>
        <p:sp>
          <p:nvSpPr>
            <p:cNvPr id="71694" name="Rectangle 53"/>
            <p:cNvSpPr>
              <a:spLocks noChangeArrowheads="1"/>
            </p:cNvSpPr>
            <p:nvPr/>
          </p:nvSpPr>
          <p:spPr bwMode="auto">
            <a:xfrm>
              <a:off x="1757" y="1910"/>
              <a:ext cx="1857" cy="26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10</a:t>
              </a:r>
              <a:endParaRPr lang="zh-CN" altLang="en-US" sz="2800">
                <a:solidFill>
                  <a:schemeClr val="tx2"/>
                </a:solidFill>
              </a:endParaRPr>
            </a:p>
          </p:txBody>
        </p:sp>
        <p:sp>
          <p:nvSpPr>
            <p:cNvPr id="71695" name="Rectangle 54"/>
            <p:cNvSpPr>
              <a:spLocks noChangeArrowheads="1"/>
            </p:cNvSpPr>
            <p:nvPr/>
          </p:nvSpPr>
          <p:spPr bwMode="auto">
            <a:xfrm>
              <a:off x="624" y="2170"/>
              <a:ext cx="544"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3</a:t>
              </a:r>
              <a:endParaRPr lang="en-US" altLang="zh-CN" sz="2800">
                <a:solidFill>
                  <a:schemeClr val="tx2"/>
                </a:solidFill>
              </a:endParaRPr>
            </a:p>
          </p:txBody>
        </p:sp>
        <p:sp>
          <p:nvSpPr>
            <p:cNvPr id="71696" name="Rectangle 55"/>
            <p:cNvSpPr>
              <a:spLocks noChangeArrowheads="1"/>
            </p:cNvSpPr>
            <p:nvPr/>
          </p:nvSpPr>
          <p:spPr bwMode="auto">
            <a:xfrm>
              <a:off x="1168" y="2170"/>
              <a:ext cx="589"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0.15</a:t>
              </a:r>
            </a:p>
          </p:txBody>
        </p:sp>
        <p:sp>
          <p:nvSpPr>
            <p:cNvPr id="71697" name="Rectangle 56"/>
            <p:cNvSpPr>
              <a:spLocks noChangeArrowheads="1"/>
            </p:cNvSpPr>
            <p:nvPr/>
          </p:nvSpPr>
          <p:spPr bwMode="auto">
            <a:xfrm>
              <a:off x="1757" y="2170"/>
              <a:ext cx="1857"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110</a:t>
              </a:r>
              <a:endParaRPr lang="zh-CN" altLang="en-US" sz="2800">
                <a:solidFill>
                  <a:schemeClr val="tx2"/>
                </a:solidFill>
              </a:endParaRPr>
            </a:p>
          </p:txBody>
        </p:sp>
        <p:sp>
          <p:nvSpPr>
            <p:cNvPr id="71698" name="Rectangle 57"/>
            <p:cNvSpPr>
              <a:spLocks noChangeArrowheads="1"/>
            </p:cNvSpPr>
            <p:nvPr/>
          </p:nvSpPr>
          <p:spPr bwMode="auto">
            <a:xfrm>
              <a:off x="624" y="2429"/>
              <a:ext cx="544"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4</a:t>
              </a:r>
              <a:endParaRPr lang="en-US" altLang="zh-CN" sz="2800">
                <a:solidFill>
                  <a:schemeClr val="tx2"/>
                </a:solidFill>
              </a:endParaRPr>
            </a:p>
          </p:txBody>
        </p:sp>
        <p:sp>
          <p:nvSpPr>
            <p:cNvPr id="71699" name="Rectangle 58"/>
            <p:cNvSpPr>
              <a:spLocks noChangeArrowheads="1"/>
            </p:cNvSpPr>
            <p:nvPr/>
          </p:nvSpPr>
          <p:spPr bwMode="auto">
            <a:xfrm>
              <a:off x="1168" y="2429"/>
              <a:ext cx="589"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0.05</a:t>
              </a:r>
            </a:p>
          </p:txBody>
        </p:sp>
        <p:sp>
          <p:nvSpPr>
            <p:cNvPr id="71700" name="Rectangle 59"/>
            <p:cNvSpPr>
              <a:spLocks noChangeArrowheads="1"/>
            </p:cNvSpPr>
            <p:nvPr/>
          </p:nvSpPr>
          <p:spPr bwMode="auto">
            <a:xfrm>
              <a:off x="1757" y="2429"/>
              <a:ext cx="1857"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11100</a:t>
              </a:r>
              <a:endParaRPr lang="zh-CN" altLang="en-US" sz="2800">
                <a:solidFill>
                  <a:schemeClr val="tx2"/>
                </a:solidFill>
              </a:endParaRPr>
            </a:p>
          </p:txBody>
        </p:sp>
        <p:sp>
          <p:nvSpPr>
            <p:cNvPr id="71701" name="Rectangle 60"/>
            <p:cNvSpPr>
              <a:spLocks noChangeArrowheads="1"/>
            </p:cNvSpPr>
            <p:nvPr/>
          </p:nvSpPr>
          <p:spPr bwMode="auto">
            <a:xfrm>
              <a:off x="624" y="2688"/>
              <a:ext cx="544"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5</a:t>
              </a:r>
              <a:endParaRPr lang="en-US" altLang="zh-CN" sz="2800">
                <a:solidFill>
                  <a:schemeClr val="tx2"/>
                </a:solidFill>
              </a:endParaRPr>
            </a:p>
          </p:txBody>
        </p:sp>
        <p:sp>
          <p:nvSpPr>
            <p:cNvPr id="71702" name="Rectangle 61"/>
            <p:cNvSpPr>
              <a:spLocks noChangeArrowheads="1"/>
            </p:cNvSpPr>
            <p:nvPr/>
          </p:nvSpPr>
          <p:spPr bwMode="auto">
            <a:xfrm>
              <a:off x="1168" y="2688"/>
              <a:ext cx="589"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0.03</a:t>
              </a:r>
            </a:p>
          </p:txBody>
        </p:sp>
        <p:sp>
          <p:nvSpPr>
            <p:cNvPr id="71703" name="Rectangle 62"/>
            <p:cNvSpPr>
              <a:spLocks noChangeArrowheads="1"/>
            </p:cNvSpPr>
            <p:nvPr/>
          </p:nvSpPr>
          <p:spPr bwMode="auto">
            <a:xfrm>
              <a:off x="1757" y="2688"/>
              <a:ext cx="1857"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11101</a:t>
              </a:r>
              <a:endParaRPr lang="zh-CN" altLang="en-US" sz="2800">
                <a:solidFill>
                  <a:schemeClr val="tx2"/>
                </a:solidFill>
              </a:endParaRPr>
            </a:p>
          </p:txBody>
        </p:sp>
        <p:sp>
          <p:nvSpPr>
            <p:cNvPr id="71704" name="Rectangle 63"/>
            <p:cNvSpPr>
              <a:spLocks noChangeArrowheads="1"/>
            </p:cNvSpPr>
            <p:nvPr/>
          </p:nvSpPr>
          <p:spPr bwMode="auto">
            <a:xfrm>
              <a:off x="624" y="2947"/>
              <a:ext cx="544"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6</a:t>
              </a:r>
              <a:endParaRPr lang="en-US" altLang="zh-CN" sz="2800">
                <a:solidFill>
                  <a:schemeClr val="tx2"/>
                </a:solidFill>
              </a:endParaRPr>
            </a:p>
          </p:txBody>
        </p:sp>
        <p:sp>
          <p:nvSpPr>
            <p:cNvPr id="71705" name="Rectangle 64"/>
            <p:cNvSpPr>
              <a:spLocks noChangeArrowheads="1"/>
            </p:cNvSpPr>
            <p:nvPr/>
          </p:nvSpPr>
          <p:spPr bwMode="auto">
            <a:xfrm>
              <a:off x="1168" y="2947"/>
              <a:ext cx="589"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0.01</a:t>
              </a:r>
            </a:p>
          </p:txBody>
        </p:sp>
        <p:sp>
          <p:nvSpPr>
            <p:cNvPr id="71706" name="Rectangle 65"/>
            <p:cNvSpPr>
              <a:spLocks noChangeArrowheads="1"/>
            </p:cNvSpPr>
            <p:nvPr/>
          </p:nvSpPr>
          <p:spPr bwMode="auto">
            <a:xfrm>
              <a:off x="1757" y="2947"/>
              <a:ext cx="1857"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11110</a:t>
              </a:r>
              <a:endParaRPr lang="zh-CN" altLang="en-US" sz="2800">
                <a:solidFill>
                  <a:schemeClr val="tx2"/>
                </a:solidFill>
              </a:endParaRPr>
            </a:p>
          </p:txBody>
        </p:sp>
        <p:sp>
          <p:nvSpPr>
            <p:cNvPr id="71707" name="Rectangle 66"/>
            <p:cNvSpPr>
              <a:spLocks noChangeArrowheads="1"/>
            </p:cNvSpPr>
            <p:nvPr/>
          </p:nvSpPr>
          <p:spPr bwMode="auto">
            <a:xfrm>
              <a:off x="624" y="3206"/>
              <a:ext cx="544" cy="26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rPr>
                <a:t>I</a:t>
              </a:r>
              <a:r>
                <a:rPr lang="en-US" altLang="zh-CN" sz="2800" baseline="-25000">
                  <a:solidFill>
                    <a:schemeClr val="tx2"/>
                  </a:solidFill>
                </a:rPr>
                <a:t>7</a:t>
              </a:r>
              <a:endParaRPr lang="en-US" altLang="zh-CN" sz="2800">
                <a:solidFill>
                  <a:schemeClr val="tx2"/>
                </a:solidFill>
              </a:endParaRPr>
            </a:p>
          </p:txBody>
        </p:sp>
        <p:sp>
          <p:nvSpPr>
            <p:cNvPr id="71708" name="Rectangle 67"/>
            <p:cNvSpPr>
              <a:spLocks noChangeArrowheads="1"/>
            </p:cNvSpPr>
            <p:nvPr/>
          </p:nvSpPr>
          <p:spPr bwMode="auto">
            <a:xfrm>
              <a:off x="1168" y="3206"/>
              <a:ext cx="589" cy="26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0.01</a:t>
              </a:r>
            </a:p>
          </p:txBody>
        </p:sp>
        <p:sp>
          <p:nvSpPr>
            <p:cNvPr id="71709" name="Rectangle 68"/>
            <p:cNvSpPr>
              <a:spLocks noChangeArrowheads="1"/>
            </p:cNvSpPr>
            <p:nvPr/>
          </p:nvSpPr>
          <p:spPr bwMode="auto">
            <a:xfrm>
              <a:off x="1757" y="3206"/>
              <a:ext cx="1857" cy="26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11111</a:t>
              </a:r>
              <a:endParaRPr lang="zh-CN" altLang="en-US" sz="2800">
                <a:solidFill>
                  <a:schemeClr val="tx2"/>
                </a:solidFill>
              </a:endParaRPr>
            </a:p>
          </p:txBody>
        </p:sp>
        <p:sp>
          <p:nvSpPr>
            <p:cNvPr id="71710" name="Rectangle 69"/>
            <p:cNvSpPr>
              <a:spLocks noChangeArrowheads="1"/>
            </p:cNvSpPr>
            <p:nvPr/>
          </p:nvSpPr>
          <p:spPr bwMode="auto">
            <a:xfrm>
              <a:off x="3614" y="1392"/>
              <a:ext cx="1858"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800">
                  <a:solidFill>
                    <a:schemeClr val="tx2"/>
                  </a:solidFill>
                </a:rPr>
                <a:t>2-4</a:t>
              </a:r>
              <a:r>
                <a:rPr lang="zh-CN" altLang="en-US" sz="2800">
                  <a:solidFill>
                    <a:schemeClr val="tx2"/>
                  </a:solidFill>
                </a:rPr>
                <a:t>等长扩展编码</a:t>
              </a:r>
            </a:p>
          </p:txBody>
        </p:sp>
        <p:sp>
          <p:nvSpPr>
            <p:cNvPr id="71711" name="Rectangle 70"/>
            <p:cNvSpPr>
              <a:spLocks noChangeArrowheads="1"/>
            </p:cNvSpPr>
            <p:nvPr/>
          </p:nvSpPr>
          <p:spPr bwMode="auto">
            <a:xfrm>
              <a:off x="3614" y="1651"/>
              <a:ext cx="1858"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00</a:t>
              </a:r>
              <a:endParaRPr lang="zh-CN" altLang="en-US" sz="2800">
                <a:solidFill>
                  <a:schemeClr val="tx2"/>
                </a:solidFill>
              </a:endParaRPr>
            </a:p>
          </p:txBody>
        </p:sp>
        <p:sp>
          <p:nvSpPr>
            <p:cNvPr id="71712" name="Rectangle 71"/>
            <p:cNvSpPr>
              <a:spLocks noChangeArrowheads="1"/>
            </p:cNvSpPr>
            <p:nvPr/>
          </p:nvSpPr>
          <p:spPr bwMode="auto">
            <a:xfrm>
              <a:off x="3614" y="1910"/>
              <a:ext cx="1858" cy="26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01</a:t>
              </a:r>
              <a:endParaRPr lang="zh-CN" altLang="en-US" sz="2800">
                <a:solidFill>
                  <a:schemeClr val="tx2"/>
                </a:solidFill>
              </a:endParaRPr>
            </a:p>
          </p:txBody>
        </p:sp>
        <p:sp>
          <p:nvSpPr>
            <p:cNvPr id="71713" name="Rectangle 72"/>
            <p:cNvSpPr>
              <a:spLocks noChangeArrowheads="1"/>
            </p:cNvSpPr>
            <p:nvPr/>
          </p:nvSpPr>
          <p:spPr bwMode="auto">
            <a:xfrm>
              <a:off x="3614" y="2170"/>
              <a:ext cx="1858"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10</a:t>
              </a:r>
              <a:endParaRPr lang="zh-CN" altLang="en-US" sz="2800">
                <a:solidFill>
                  <a:schemeClr val="tx2"/>
                </a:solidFill>
              </a:endParaRPr>
            </a:p>
          </p:txBody>
        </p:sp>
        <p:sp>
          <p:nvSpPr>
            <p:cNvPr id="71714" name="Rectangle 73"/>
            <p:cNvSpPr>
              <a:spLocks noChangeArrowheads="1"/>
            </p:cNvSpPr>
            <p:nvPr/>
          </p:nvSpPr>
          <p:spPr bwMode="auto">
            <a:xfrm>
              <a:off x="3614" y="2429"/>
              <a:ext cx="1858"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1100</a:t>
              </a:r>
              <a:endParaRPr lang="zh-CN" altLang="en-US" sz="2800">
                <a:solidFill>
                  <a:schemeClr val="tx2"/>
                </a:solidFill>
              </a:endParaRPr>
            </a:p>
          </p:txBody>
        </p:sp>
        <p:sp>
          <p:nvSpPr>
            <p:cNvPr id="71715" name="Rectangle 74"/>
            <p:cNvSpPr>
              <a:spLocks noChangeArrowheads="1"/>
            </p:cNvSpPr>
            <p:nvPr/>
          </p:nvSpPr>
          <p:spPr bwMode="auto">
            <a:xfrm>
              <a:off x="3614" y="2688"/>
              <a:ext cx="1858"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1101</a:t>
              </a:r>
              <a:endParaRPr lang="zh-CN" altLang="en-US" sz="2800">
                <a:solidFill>
                  <a:schemeClr val="tx2"/>
                </a:solidFill>
              </a:endParaRPr>
            </a:p>
          </p:txBody>
        </p:sp>
        <p:sp>
          <p:nvSpPr>
            <p:cNvPr id="71716" name="Rectangle 75"/>
            <p:cNvSpPr>
              <a:spLocks noChangeArrowheads="1"/>
            </p:cNvSpPr>
            <p:nvPr/>
          </p:nvSpPr>
          <p:spPr bwMode="auto">
            <a:xfrm>
              <a:off x="3614" y="2947"/>
              <a:ext cx="1858" cy="259"/>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1110</a:t>
              </a:r>
              <a:endParaRPr lang="zh-CN" altLang="en-US" sz="2800">
                <a:solidFill>
                  <a:schemeClr val="tx2"/>
                </a:solidFill>
              </a:endParaRPr>
            </a:p>
          </p:txBody>
        </p:sp>
        <p:sp>
          <p:nvSpPr>
            <p:cNvPr id="71717" name="Rectangle 76"/>
            <p:cNvSpPr>
              <a:spLocks noChangeArrowheads="1"/>
            </p:cNvSpPr>
            <p:nvPr/>
          </p:nvSpPr>
          <p:spPr bwMode="auto">
            <a:xfrm>
              <a:off x="3614" y="3206"/>
              <a:ext cx="1858" cy="26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1111</a:t>
              </a:r>
              <a:endParaRPr lang="zh-CN" altLang="en-US" sz="2800">
                <a:solidFill>
                  <a:schemeClr val="tx2"/>
                </a:solidFill>
              </a:endParaRPr>
            </a:p>
          </p:txBody>
        </p:sp>
        <p:sp>
          <p:nvSpPr>
            <p:cNvPr id="71718" name="Rectangle 77"/>
            <p:cNvSpPr>
              <a:spLocks noChangeArrowheads="1"/>
            </p:cNvSpPr>
            <p:nvPr/>
          </p:nvSpPr>
          <p:spPr bwMode="auto">
            <a:xfrm>
              <a:off x="624" y="3466"/>
              <a:ext cx="1133" cy="259"/>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平均码长</a:t>
              </a:r>
            </a:p>
          </p:txBody>
        </p:sp>
        <p:sp>
          <p:nvSpPr>
            <p:cNvPr id="71719" name="Rectangle 78"/>
            <p:cNvSpPr>
              <a:spLocks noChangeArrowheads="1"/>
            </p:cNvSpPr>
            <p:nvPr/>
          </p:nvSpPr>
          <p:spPr bwMode="auto">
            <a:xfrm>
              <a:off x="1757" y="3466"/>
              <a:ext cx="1857" cy="259"/>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2.0</a:t>
              </a:r>
              <a:endParaRPr lang="zh-CN" altLang="en-US" sz="2800">
                <a:solidFill>
                  <a:schemeClr val="tx2"/>
                </a:solidFill>
              </a:endParaRPr>
            </a:p>
          </p:txBody>
        </p:sp>
        <p:sp>
          <p:nvSpPr>
            <p:cNvPr id="71720" name="Rectangle 79"/>
            <p:cNvSpPr>
              <a:spLocks noChangeArrowheads="1"/>
            </p:cNvSpPr>
            <p:nvPr/>
          </p:nvSpPr>
          <p:spPr bwMode="auto">
            <a:xfrm>
              <a:off x="3614" y="3466"/>
              <a:ext cx="1858" cy="259"/>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2.2</a:t>
              </a:r>
              <a:endParaRPr lang="zh-CN" altLang="en-US" sz="2800">
                <a:solidFill>
                  <a:schemeClr val="tx2"/>
                </a:solidFill>
              </a:endParaRPr>
            </a:p>
          </p:txBody>
        </p:sp>
        <p:sp>
          <p:nvSpPr>
            <p:cNvPr id="71721" name="Rectangle 80"/>
            <p:cNvSpPr>
              <a:spLocks noChangeArrowheads="1"/>
            </p:cNvSpPr>
            <p:nvPr/>
          </p:nvSpPr>
          <p:spPr bwMode="auto">
            <a:xfrm>
              <a:off x="624" y="3725"/>
              <a:ext cx="1133" cy="259"/>
            </a:xfrm>
            <a:prstGeom prst="rect">
              <a:avLst/>
            </a:prstGeom>
            <a:solidFill>
              <a:srgbClr val="FFFF00"/>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rPr>
                <a:t>信息冗余量</a:t>
              </a:r>
            </a:p>
          </p:txBody>
        </p:sp>
        <p:sp>
          <p:nvSpPr>
            <p:cNvPr id="71722" name="Rectangle 81"/>
            <p:cNvSpPr>
              <a:spLocks noChangeArrowheads="1"/>
            </p:cNvSpPr>
            <p:nvPr/>
          </p:nvSpPr>
          <p:spPr bwMode="auto">
            <a:xfrm>
              <a:off x="1757" y="3725"/>
              <a:ext cx="1857" cy="259"/>
            </a:xfrm>
            <a:prstGeom prst="rect">
              <a:avLst/>
            </a:prstGeom>
            <a:solidFill>
              <a:srgbClr val="FFFF00"/>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2.5%</a:t>
              </a:r>
              <a:endParaRPr lang="zh-CN" altLang="en-US" sz="2800">
                <a:solidFill>
                  <a:schemeClr val="tx2"/>
                </a:solidFill>
              </a:endParaRPr>
            </a:p>
          </p:txBody>
        </p:sp>
        <p:sp>
          <p:nvSpPr>
            <p:cNvPr id="71723" name="Rectangle 82"/>
            <p:cNvSpPr>
              <a:spLocks noChangeArrowheads="1"/>
            </p:cNvSpPr>
            <p:nvPr/>
          </p:nvSpPr>
          <p:spPr bwMode="auto">
            <a:xfrm>
              <a:off x="3614" y="3725"/>
              <a:ext cx="1858" cy="259"/>
            </a:xfrm>
            <a:prstGeom prst="rect">
              <a:avLst/>
            </a:prstGeom>
            <a:solidFill>
              <a:srgbClr val="FFFF00"/>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800">
                  <a:solidFill>
                    <a:schemeClr val="tx2"/>
                  </a:solidFill>
                </a:rPr>
                <a:t>11.4%</a:t>
              </a:r>
              <a:endParaRPr lang="zh-CN" altLang="en-US" sz="2800">
                <a:solidFill>
                  <a:schemeClr val="tx2"/>
                </a:solidFill>
              </a:endParaRPr>
            </a:p>
          </p:txBody>
        </p:sp>
      </p:grpSp>
      <p:sp>
        <p:nvSpPr>
          <p:cNvPr id="71685" name="Text Box 8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26659" name="Rectangle 3"/>
          <p:cNvSpPr>
            <a:spLocks noGrp="1" noChangeArrowheads="1"/>
          </p:cNvSpPr>
          <p:nvPr>
            <p:ph type="title"/>
          </p:nvPr>
        </p:nvSpPr>
        <p:spPr/>
        <p:txBody>
          <a:bodyPr/>
          <a:lstStyle/>
          <a:p>
            <a:pPr eaLnBrk="1" hangingPunct="1">
              <a:defRPr/>
            </a:pPr>
            <a:r>
              <a:rPr lang="zh-CN" altLang="en-US" smtClean="0"/>
              <a:t>等长</a:t>
            </a:r>
            <a:r>
              <a:rPr lang="zh-CN" altLang="en-US" sz="4000" smtClean="0"/>
              <a:t>(4-8-12)15/15/15</a:t>
            </a:r>
            <a:br>
              <a:rPr lang="zh-CN" altLang="en-US" sz="4000" smtClean="0"/>
            </a:br>
            <a:r>
              <a:rPr lang="zh-CN" altLang="en-US" smtClean="0"/>
              <a:t>扩展编码法</a:t>
            </a:r>
          </a:p>
        </p:txBody>
      </p:sp>
      <p:grpSp>
        <p:nvGrpSpPr>
          <p:cNvPr id="72708" name="Group 43"/>
          <p:cNvGrpSpPr>
            <a:grpSpLocks/>
          </p:cNvGrpSpPr>
          <p:nvPr/>
        </p:nvGrpSpPr>
        <p:grpSpPr bwMode="auto">
          <a:xfrm>
            <a:off x="971550" y="2060575"/>
            <a:ext cx="7848600" cy="4191000"/>
            <a:chOff x="480" y="528"/>
            <a:chExt cx="4800" cy="3504"/>
          </a:xfrm>
        </p:grpSpPr>
        <p:sp>
          <p:nvSpPr>
            <p:cNvPr id="72710" name="Rectangle 44"/>
            <p:cNvSpPr>
              <a:spLocks noChangeArrowheads="1"/>
            </p:cNvSpPr>
            <p:nvPr/>
          </p:nvSpPr>
          <p:spPr bwMode="auto">
            <a:xfrm>
              <a:off x="480" y="528"/>
              <a:ext cx="235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3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操作码编码</a:t>
              </a:r>
            </a:p>
          </p:txBody>
        </p:sp>
        <p:sp>
          <p:nvSpPr>
            <p:cNvPr id="72711" name="Rectangle 45"/>
            <p:cNvSpPr>
              <a:spLocks noChangeArrowheads="1"/>
            </p:cNvSpPr>
            <p:nvPr/>
          </p:nvSpPr>
          <p:spPr bwMode="auto">
            <a:xfrm>
              <a:off x="2832" y="528"/>
              <a:ext cx="244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说明</a:t>
              </a:r>
            </a:p>
          </p:txBody>
        </p:sp>
        <p:sp>
          <p:nvSpPr>
            <p:cNvPr id="72712" name="Rectangle 46"/>
            <p:cNvSpPr>
              <a:spLocks noChangeArrowheads="1"/>
            </p:cNvSpPr>
            <p:nvPr/>
          </p:nvSpPr>
          <p:spPr bwMode="auto">
            <a:xfrm>
              <a:off x="480" y="864"/>
              <a:ext cx="2352"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3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rgbClr val="FF0000"/>
                  </a:solidFill>
                </a:rPr>
                <a:t>0000</a:t>
              </a:r>
            </a:p>
            <a:p>
              <a:pPr eaLnBrk="1" hangingPunct="1">
                <a:lnSpc>
                  <a:spcPct val="80000"/>
                </a:lnSpc>
                <a:spcBef>
                  <a:spcPct val="0"/>
                </a:spcBef>
                <a:buClrTx/>
                <a:buFontTx/>
                <a:buNone/>
              </a:pPr>
              <a:r>
                <a:rPr lang="zh-CN" altLang="zh-CN" sz="2400">
                  <a:solidFill>
                    <a:srgbClr val="FF0000"/>
                  </a:solidFill>
                </a:rPr>
                <a:t>0001</a:t>
              </a:r>
            </a:p>
            <a:p>
              <a:pPr eaLnBrk="1" hangingPunct="1">
                <a:lnSpc>
                  <a:spcPct val="80000"/>
                </a:lnSpc>
                <a:spcBef>
                  <a:spcPct val="0"/>
                </a:spcBef>
                <a:buClrTx/>
                <a:buFontTx/>
                <a:buNone/>
              </a:pPr>
              <a:r>
                <a:rPr lang="zh-CN" altLang="zh-CN" sz="2400">
                  <a:solidFill>
                    <a:srgbClr val="FF0000"/>
                  </a:solidFill>
                </a:rPr>
                <a:t>……</a:t>
              </a:r>
            </a:p>
            <a:p>
              <a:pPr eaLnBrk="1" hangingPunct="1">
                <a:lnSpc>
                  <a:spcPct val="80000"/>
                </a:lnSpc>
                <a:spcBef>
                  <a:spcPct val="0"/>
                </a:spcBef>
                <a:buClrTx/>
                <a:buFontTx/>
                <a:buNone/>
              </a:pPr>
              <a:r>
                <a:rPr lang="zh-CN" altLang="zh-CN" sz="2400">
                  <a:solidFill>
                    <a:srgbClr val="FF0000"/>
                  </a:solidFill>
                </a:rPr>
                <a:t>1110</a:t>
              </a:r>
              <a:endParaRPr lang="zh-CN" altLang="en-US" sz="2400">
                <a:solidFill>
                  <a:srgbClr val="FF0000"/>
                </a:solidFill>
              </a:endParaRPr>
            </a:p>
          </p:txBody>
        </p:sp>
        <p:sp>
          <p:nvSpPr>
            <p:cNvPr id="72713" name="Rectangle 47"/>
            <p:cNvSpPr>
              <a:spLocks noChangeArrowheads="1"/>
            </p:cNvSpPr>
            <p:nvPr/>
          </p:nvSpPr>
          <p:spPr bwMode="auto">
            <a:xfrm>
              <a:off x="2832" y="864"/>
              <a:ext cx="2448"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chemeClr val="tx2"/>
                  </a:solidFill>
                </a:rPr>
                <a:t>4</a:t>
              </a:r>
              <a:r>
                <a:rPr lang="zh-CN" altLang="en-US" sz="2400">
                  <a:solidFill>
                    <a:schemeClr val="tx2"/>
                  </a:solidFill>
                </a:rPr>
                <a:t>位长度的操作码</a:t>
              </a:r>
            </a:p>
            <a:p>
              <a:pPr eaLnBrk="1" hangingPunct="1">
                <a:lnSpc>
                  <a:spcPct val="80000"/>
                </a:lnSpc>
                <a:spcBef>
                  <a:spcPct val="0"/>
                </a:spcBef>
                <a:buClrTx/>
                <a:buFontTx/>
                <a:buNone/>
              </a:pPr>
              <a:r>
                <a:rPr lang="zh-CN" altLang="en-US" sz="2400">
                  <a:solidFill>
                    <a:schemeClr val="tx2"/>
                  </a:solidFill>
                </a:rPr>
                <a:t>共15种</a:t>
              </a:r>
            </a:p>
          </p:txBody>
        </p:sp>
        <p:sp>
          <p:nvSpPr>
            <p:cNvPr id="72714" name="Rectangle 48"/>
            <p:cNvSpPr>
              <a:spLocks noChangeArrowheads="1"/>
            </p:cNvSpPr>
            <p:nvPr/>
          </p:nvSpPr>
          <p:spPr bwMode="auto">
            <a:xfrm>
              <a:off x="480" y="1920"/>
              <a:ext cx="2352"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3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chemeClr val="tx2"/>
                  </a:solidFill>
                </a:rPr>
                <a:t>1111 </a:t>
              </a:r>
              <a:r>
                <a:rPr lang="zh-CN" altLang="zh-CN" sz="2400">
                  <a:solidFill>
                    <a:srgbClr val="FF0000"/>
                  </a:solidFill>
                </a:rPr>
                <a:t>0000</a:t>
              </a:r>
            </a:p>
            <a:p>
              <a:pPr eaLnBrk="1" hangingPunct="1">
                <a:lnSpc>
                  <a:spcPct val="80000"/>
                </a:lnSpc>
                <a:spcBef>
                  <a:spcPct val="0"/>
                </a:spcBef>
                <a:buClrTx/>
                <a:buFontTx/>
                <a:buNone/>
              </a:pPr>
              <a:r>
                <a:rPr lang="zh-CN" altLang="zh-CN" sz="2400">
                  <a:solidFill>
                    <a:schemeClr val="tx2"/>
                  </a:solidFill>
                </a:rPr>
                <a:t>1111 </a:t>
              </a:r>
              <a:r>
                <a:rPr lang="zh-CN" altLang="zh-CN" sz="2400">
                  <a:solidFill>
                    <a:srgbClr val="FF0000"/>
                  </a:solidFill>
                </a:rPr>
                <a:t>0001</a:t>
              </a:r>
            </a:p>
            <a:p>
              <a:pPr eaLnBrk="1" hangingPunct="1">
                <a:lnSpc>
                  <a:spcPct val="80000"/>
                </a:lnSpc>
                <a:spcBef>
                  <a:spcPct val="0"/>
                </a:spcBef>
                <a:buClrTx/>
                <a:buFontTx/>
                <a:buNone/>
              </a:pPr>
              <a:r>
                <a:rPr lang="zh-CN" altLang="zh-CN" sz="2400">
                  <a:solidFill>
                    <a:schemeClr val="tx2"/>
                  </a:solidFill>
                </a:rPr>
                <a:t>……</a:t>
              </a:r>
            </a:p>
            <a:p>
              <a:pPr eaLnBrk="1" hangingPunct="1">
                <a:lnSpc>
                  <a:spcPct val="80000"/>
                </a:lnSpc>
                <a:spcBef>
                  <a:spcPct val="0"/>
                </a:spcBef>
                <a:buClrTx/>
                <a:buFontTx/>
                <a:buNone/>
              </a:pPr>
              <a:r>
                <a:rPr lang="zh-CN" altLang="zh-CN" sz="2400">
                  <a:solidFill>
                    <a:schemeClr val="tx2"/>
                  </a:solidFill>
                </a:rPr>
                <a:t>1111 </a:t>
              </a:r>
              <a:r>
                <a:rPr lang="zh-CN" altLang="zh-CN" sz="2400">
                  <a:solidFill>
                    <a:srgbClr val="FF0000"/>
                  </a:solidFill>
                </a:rPr>
                <a:t>1110</a:t>
              </a:r>
              <a:endParaRPr lang="zh-CN" altLang="en-US" sz="2400">
                <a:solidFill>
                  <a:srgbClr val="FF0000"/>
                </a:solidFill>
              </a:endParaRPr>
            </a:p>
          </p:txBody>
        </p:sp>
        <p:sp>
          <p:nvSpPr>
            <p:cNvPr id="72715" name="Rectangle 49"/>
            <p:cNvSpPr>
              <a:spLocks noChangeArrowheads="1"/>
            </p:cNvSpPr>
            <p:nvPr/>
          </p:nvSpPr>
          <p:spPr bwMode="auto">
            <a:xfrm>
              <a:off x="2832" y="1920"/>
              <a:ext cx="2448"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chemeClr val="tx2"/>
                  </a:solidFill>
                </a:rPr>
                <a:t>8</a:t>
              </a:r>
              <a:r>
                <a:rPr lang="zh-CN" altLang="en-US" sz="2400">
                  <a:solidFill>
                    <a:schemeClr val="tx2"/>
                  </a:solidFill>
                </a:rPr>
                <a:t>位长度的操作码</a:t>
              </a:r>
            </a:p>
            <a:p>
              <a:pPr eaLnBrk="1" hangingPunct="1">
                <a:lnSpc>
                  <a:spcPct val="80000"/>
                </a:lnSpc>
                <a:spcBef>
                  <a:spcPct val="0"/>
                </a:spcBef>
                <a:buClrTx/>
                <a:buFontTx/>
                <a:buNone/>
              </a:pPr>
              <a:r>
                <a:rPr lang="zh-CN" altLang="en-US" sz="2400">
                  <a:solidFill>
                    <a:schemeClr val="tx2"/>
                  </a:solidFill>
                </a:rPr>
                <a:t>共15种</a:t>
              </a:r>
            </a:p>
          </p:txBody>
        </p:sp>
        <p:sp>
          <p:nvSpPr>
            <p:cNvPr id="72716" name="Rectangle 50"/>
            <p:cNvSpPr>
              <a:spLocks noChangeArrowheads="1"/>
            </p:cNvSpPr>
            <p:nvPr/>
          </p:nvSpPr>
          <p:spPr bwMode="auto">
            <a:xfrm>
              <a:off x="480" y="2976"/>
              <a:ext cx="2352"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3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chemeClr val="tx2"/>
                  </a:solidFill>
                </a:rPr>
                <a:t>1111 1111 </a:t>
              </a:r>
              <a:r>
                <a:rPr lang="zh-CN" altLang="zh-CN" sz="2400">
                  <a:solidFill>
                    <a:srgbClr val="FF0000"/>
                  </a:solidFill>
                </a:rPr>
                <a:t>0000</a:t>
              </a:r>
            </a:p>
            <a:p>
              <a:pPr eaLnBrk="1" hangingPunct="1">
                <a:lnSpc>
                  <a:spcPct val="80000"/>
                </a:lnSpc>
                <a:spcBef>
                  <a:spcPct val="0"/>
                </a:spcBef>
                <a:buClrTx/>
                <a:buFontTx/>
                <a:buNone/>
              </a:pPr>
              <a:r>
                <a:rPr lang="zh-CN" altLang="zh-CN" sz="2400">
                  <a:solidFill>
                    <a:schemeClr val="tx2"/>
                  </a:solidFill>
                </a:rPr>
                <a:t>1111 1111 </a:t>
              </a:r>
              <a:r>
                <a:rPr lang="zh-CN" altLang="zh-CN" sz="2400">
                  <a:solidFill>
                    <a:srgbClr val="FF0000"/>
                  </a:solidFill>
                </a:rPr>
                <a:t>0001</a:t>
              </a:r>
            </a:p>
            <a:p>
              <a:pPr eaLnBrk="1" hangingPunct="1">
                <a:lnSpc>
                  <a:spcPct val="80000"/>
                </a:lnSpc>
                <a:spcBef>
                  <a:spcPct val="0"/>
                </a:spcBef>
                <a:buClrTx/>
                <a:buFontTx/>
                <a:buNone/>
              </a:pPr>
              <a:r>
                <a:rPr lang="zh-CN" altLang="zh-CN" sz="2400">
                  <a:solidFill>
                    <a:schemeClr val="tx2"/>
                  </a:solidFill>
                </a:rPr>
                <a:t>……</a:t>
              </a:r>
            </a:p>
            <a:p>
              <a:pPr eaLnBrk="1" hangingPunct="1">
                <a:lnSpc>
                  <a:spcPct val="80000"/>
                </a:lnSpc>
                <a:spcBef>
                  <a:spcPct val="0"/>
                </a:spcBef>
                <a:buClrTx/>
                <a:buFontTx/>
                <a:buNone/>
              </a:pPr>
              <a:r>
                <a:rPr lang="zh-CN" altLang="zh-CN" sz="2400">
                  <a:solidFill>
                    <a:schemeClr val="tx2"/>
                  </a:solidFill>
                </a:rPr>
                <a:t>1111 1111 </a:t>
              </a:r>
              <a:r>
                <a:rPr lang="zh-CN" altLang="zh-CN" sz="2400">
                  <a:solidFill>
                    <a:srgbClr val="FF0000"/>
                  </a:solidFill>
                </a:rPr>
                <a:t>1110</a:t>
              </a:r>
              <a:endParaRPr lang="zh-CN" altLang="en-US" sz="2400">
                <a:solidFill>
                  <a:srgbClr val="FF0000"/>
                </a:solidFill>
              </a:endParaRPr>
            </a:p>
          </p:txBody>
        </p:sp>
        <p:sp>
          <p:nvSpPr>
            <p:cNvPr id="72717" name="Rectangle 51"/>
            <p:cNvSpPr>
              <a:spLocks noChangeArrowheads="1"/>
            </p:cNvSpPr>
            <p:nvPr/>
          </p:nvSpPr>
          <p:spPr bwMode="auto">
            <a:xfrm>
              <a:off x="2832" y="2976"/>
              <a:ext cx="2448"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dirty="0">
                  <a:solidFill>
                    <a:schemeClr val="tx2"/>
                  </a:solidFill>
                </a:rPr>
                <a:t>12</a:t>
              </a:r>
              <a:r>
                <a:rPr lang="zh-CN" altLang="en-US" sz="2400" dirty="0">
                  <a:solidFill>
                    <a:schemeClr val="tx2"/>
                  </a:solidFill>
                </a:rPr>
                <a:t>位长度的操作码</a:t>
              </a:r>
            </a:p>
            <a:p>
              <a:pPr eaLnBrk="1" hangingPunct="1">
                <a:lnSpc>
                  <a:spcPct val="80000"/>
                </a:lnSpc>
                <a:spcBef>
                  <a:spcPct val="0"/>
                </a:spcBef>
                <a:buClrTx/>
                <a:buFontTx/>
                <a:buNone/>
              </a:pPr>
              <a:r>
                <a:rPr lang="zh-CN" altLang="en-US" sz="2400" dirty="0">
                  <a:solidFill>
                    <a:schemeClr val="tx2"/>
                  </a:solidFill>
                </a:rPr>
                <a:t>共</a:t>
              </a:r>
              <a:r>
                <a:rPr lang="zh-CN" altLang="en-US" sz="2400" dirty="0" smtClean="0">
                  <a:solidFill>
                    <a:schemeClr val="tx2"/>
                  </a:solidFill>
                </a:rPr>
                <a:t>1</a:t>
              </a:r>
              <a:r>
                <a:rPr lang="en-US" altLang="zh-CN" sz="2400" dirty="0" smtClean="0">
                  <a:solidFill>
                    <a:schemeClr val="tx2"/>
                  </a:solidFill>
                </a:rPr>
                <a:t>5</a:t>
              </a:r>
              <a:r>
                <a:rPr lang="zh-CN" altLang="en-US" sz="2400" dirty="0" smtClean="0">
                  <a:solidFill>
                    <a:schemeClr val="tx2"/>
                  </a:solidFill>
                </a:rPr>
                <a:t>种</a:t>
              </a:r>
              <a:endParaRPr lang="zh-CN" altLang="en-US" sz="2400" dirty="0">
                <a:solidFill>
                  <a:schemeClr val="tx2"/>
                </a:solidFill>
              </a:endParaRPr>
            </a:p>
          </p:txBody>
        </p:sp>
      </p:grpSp>
      <p:sp>
        <p:nvSpPr>
          <p:cNvPr id="72709" name="Text Box 5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27683" name="Rectangle 3"/>
          <p:cNvSpPr>
            <a:spLocks noGrp="1" noChangeArrowheads="1"/>
          </p:cNvSpPr>
          <p:nvPr>
            <p:ph type="title"/>
          </p:nvPr>
        </p:nvSpPr>
        <p:spPr/>
        <p:txBody>
          <a:bodyPr/>
          <a:lstStyle/>
          <a:p>
            <a:pPr eaLnBrk="1" hangingPunct="1">
              <a:defRPr/>
            </a:pPr>
            <a:r>
              <a:rPr lang="zh-CN" altLang="en-US" smtClean="0"/>
              <a:t>等长</a:t>
            </a:r>
            <a:r>
              <a:rPr lang="zh-CN" altLang="en-US" sz="4000" smtClean="0"/>
              <a:t>(4-8-12)8/64/512</a:t>
            </a:r>
            <a:r>
              <a:rPr lang="zh-CN" altLang="en-US" smtClean="0"/>
              <a:t/>
            </a:r>
            <a:br>
              <a:rPr lang="zh-CN" altLang="en-US" smtClean="0"/>
            </a:br>
            <a:r>
              <a:rPr lang="zh-CN" altLang="en-US" smtClean="0"/>
              <a:t>扩展编码法</a:t>
            </a:r>
          </a:p>
        </p:txBody>
      </p:sp>
      <p:grpSp>
        <p:nvGrpSpPr>
          <p:cNvPr id="73732" name="Group 14"/>
          <p:cNvGrpSpPr>
            <a:grpSpLocks/>
          </p:cNvGrpSpPr>
          <p:nvPr/>
        </p:nvGrpSpPr>
        <p:grpSpPr bwMode="auto">
          <a:xfrm>
            <a:off x="1042988" y="2060575"/>
            <a:ext cx="7620000" cy="4114800"/>
            <a:chOff x="480" y="528"/>
            <a:chExt cx="4800" cy="3504"/>
          </a:xfrm>
        </p:grpSpPr>
        <p:sp>
          <p:nvSpPr>
            <p:cNvPr id="73734" name="Rectangle 15"/>
            <p:cNvSpPr>
              <a:spLocks noChangeArrowheads="1"/>
            </p:cNvSpPr>
            <p:nvPr/>
          </p:nvSpPr>
          <p:spPr bwMode="auto">
            <a:xfrm>
              <a:off x="480" y="528"/>
              <a:ext cx="235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3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操作码编码</a:t>
              </a:r>
            </a:p>
          </p:txBody>
        </p:sp>
        <p:sp>
          <p:nvSpPr>
            <p:cNvPr id="73735" name="Rectangle 16"/>
            <p:cNvSpPr>
              <a:spLocks noChangeArrowheads="1"/>
            </p:cNvSpPr>
            <p:nvPr/>
          </p:nvSpPr>
          <p:spPr bwMode="auto">
            <a:xfrm>
              <a:off x="2832" y="528"/>
              <a:ext cx="244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说明</a:t>
              </a:r>
            </a:p>
          </p:txBody>
        </p:sp>
        <p:sp>
          <p:nvSpPr>
            <p:cNvPr id="73736" name="Rectangle 17"/>
            <p:cNvSpPr>
              <a:spLocks noChangeArrowheads="1"/>
            </p:cNvSpPr>
            <p:nvPr/>
          </p:nvSpPr>
          <p:spPr bwMode="auto">
            <a:xfrm>
              <a:off x="480" y="864"/>
              <a:ext cx="2352"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3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rgbClr val="FF0000"/>
                  </a:solidFill>
                </a:rPr>
                <a:t>0000</a:t>
              </a:r>
            </a:p>
            <a:p>
              <a:pPr eaLnBrk="1" hangingPunct="1">
                <a:lnSpc>
                  <a:spcPct val="80000"/>
                </a:lnSpc>
                <a:spcBef>
                  <a:spcPct val="0"/>
                </a:spcBef>
                <a:buClrTx/>
                <a:buFontTx/>
                <a:buNone/>
              </a:pPr>
              <a:r>
                <a:rPr lang="zh-CN" altLang="zh-CN" sz="2400">
                  <a:solidFill>
                    <a:srgbClr val="FF0000"/>
                  </a:solidFill>
                </a:rPr>
                <a:t>0001</a:t>
              </a:r>
            </a:p>
            <a:p>
              <a:pPr eaLnBrk="1" hangingPunct="1">
                <a:lnSpc>
                  <a:spcPct val="80000"/>
                </a:lnSpc>
                <a:spcBef>
                  <a:spcPct val="0"/>
                </a:spcBef>
                <a:buClrTx/>
                <a:buFontTx/>
                <a:buNone/>
              </a:pPr>
              <a:r>
                <a:rPr lang="zh-CN" altLang="zh-CN" sz="2400">
                  <a:solidFill>
                    <a:srgbClr val="FF0000"/>
                  </a:solidFill>
                </a:rPr>
                <a:t>……</a:t>
              </a:r>
            </a:p>
            <a:p>
              <a:pPr eaLnBrk="1" hangingPunct="1">
                <a:lnSpc>
                  <a:spcPct val="80000"/>
                </a:lnSpc>
                <a:spcBef>
                  <a:spcPct val="0"/>
                </a:spcBef>
                <a:buClrTx/>
                <a:buFontTx/>
                <a:buNone/>
              </a:pPr>
              <a:r>
                <a:rPr lang="zh-CN" altLang="zh-CN" sz="2400">
                  <a:solidFill>
                    <a:srgbClr val="FF0000"/>
                  </a:solidFill>
                </a:rPr>
                <a:t>0111</a:t>
              </a:r>
              <a:endParaRPr lang="zh-CN" altLang="en-US" sz="2400">
                <a:solidFill>
                  <a:srgbClr val="FF0000"/>
                </a:solidFill>
              </a:endParaRPr>
            </a:p>
          </p:txBody>
        </p:sp>
        <p:sp>
          <p:nvSpPr>
            <p:cNvPr id="73737" name="Rectangle 18"/>
            <p:cNvSpPr>
              <a:spLocks noChangeArrowheads="1"/>
            </p:cNvSpPr>
            <p:nvPr/>
          </p:nvSpPr>
          <p:spPr bwMode="auto">
            <a:xfrm>
              <a:off x="2832" y="864"/>
              <a:ext cx="2448"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chemeClr val="tx2"/>
                  </a:solidFill>
                </a:rPr>
                <a:t>4</a:t>
              </a:r>
              <a:r>
                <a:rPr lang="zh-CN" altLang="en-US" sz="2400">
                  <a:solidFill>
                    <a:schemeClr val="tx2"/>
                  </a:solidFill>
                </a:rPr>
                <a:t>位长度的操作码</a:t>
              </a:r>
            </a:p>
            <a:p>
              <a:pPr eaLnBrk="1" hangingPunct="1">
                <a:lnSpc>
                  <a:spcPct val="80000"/>
                </a:lnSpc>
                <a:spcBef>
                  <a:spcPct val="0"/>
                </a:spcBef>
                <a:buClrTx/>
                <a:buFontTx/>
                <a:buNone/>
              </a:pPr>
              <a:r>
                <a:rPr lang="zh-CN" altLang="en-US" sz="2400">
                  <a:solidFill>
                    <a:schemeClr val="tx2"/>
                  </a:solidFill>
                </a:rPr>
                <a:t>共8种</a:t>
              </a:r>
            </a:p>
          </p:txBody>
        </p:sp>
        <p:sp>
          <p:nvSpPr>
            <p:cNvPr id="73738" name="Rectangle 19"/>
            <p:cNvSpPr>
              <a:spLocks noChangeArrowheads="1"/>
            </p:cNvSpPr>
            <p:nvPr/>
          </p:nvSpPr>
          <p:spPr bwMode="auto">
            <a:xfrm>
              <a:off x="480" y="1920"/>
              <a:ext cx="2352"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3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dirty="0">
                  <a:solidFill>
                    <a:srgbClr val="FF0000"/>
                  </a:solidFill>
                </a:rPr>
                <a:t>1000 0000</a:t>
              </a:r>
            </a:p>
            <a:p>
              <a:pPr eaLnBrk="1" hangingPunct="1">
                <a:lnSpc>
                  <a:spcPct val="80000"/>
                </a:lnSpc>
                <a:spcBef>
                  <a:spcPct val="0"/>
                </a:spcBef>
                <a:buClrTx/>
                <a:buFontTx/>
                <a:buNone/>
              </a:pPr>
              <a:r>
                <a:rPr lang="zh-CN" altLang="zh-CN" sz="2400" dirty="0">
                  <a:solidFill>
                    <a:srgbClr val="FF0000"/>
                  </a:solidFill>
                </a:rPr>
                <a:t>1000 0001</a:t>
              </a:r>
            </a:p>
            <a:p>
              <a:pPr eaLnBrk="1" hangingPunct="1">
                <a:lnSpc>
                  <a:spcPct val="80000"/>
                </a:lnSpc>
                <a:spcBef>
                  <a:spcPct val="0"/>
                </a:spcBef>
                <a:buClrTx/>
                <a:buFontTx/>
                <a:buNone/>
              </a:pPr>
              <a:r>
                <a:rPr lang="zh-CN" altLang="zh-CN" sz="2400" dirty="0">
                  <a:solidFill>
                    <a:srgbClr val="FF0000"/>
                  </a:solidFill>
                </a:rPr>
                <a:t>……</a:t>
              </a:r>
            </a:p>
            <a:p>
              <a:pPr eaLnBrk="1" hangingPunct="1">
                <a:lnSpc>
                  <a:spcPct val="80000"/>
                </a:lnSpc>
                <a:spcBef>
                  <a:spcPct val="0"/>
                </a:spcBef>
                <a:buClrTx/>
                <a:buFontTx/>
                <a:buNone/>
              </a:pPr>
              <a:r>
                <a:rPr lang="zh-CN" altLang="zh-CN" sz="2400" dirty="0">
                  <a:solidFill>
                    <a:srgbClr val="FF0000"/>
                  </a:solidFill>
                </a:rPr>
                <a:t>1111 </a:t>
              </a:r>
              <a:r>
                <a:rPr lang="zh-CN" altLang="zh-CN" sz="2400" dirty="0" smtClean="0">
                  <a:solidFill>
                    <a:srgbClr val="FF0000"/>
                  </a:solidFill>
                </a:rPr>
                <a:t>0111</a:t>
              </a:r>
              <a:endParaRPr lang="zh-CN" altLang="en-US" sz="2400" dirty="0">
                <a:solidFill>
                  <a:srgbClr val="FF0000"/>
                </a:solidFill>
              </a:endParaRPr>
            </a:p>
          </p:txBody>
        </p:sp>
        <p:sp>
          <p:nvSpPr>
            <p:cNvPr id="73739" name="Rectangle 20"/>
            <p:cNvSpPr>
              <a:spLocks noChangeArrowheads="1"/>
            </p:cNvSpPr>
            <p:nvPr/>
          </p:nvSpPr>
          <p:spPr bwMode="auto">
            <a:xfrm>
              <a:off x="2832" y="1920"/>
              <a:ext cx="2448"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chemeClr val="tx2"/>
                  </a:solidFill>
                </a:rPr>
                <a:t>8</a:t>
              </a:r>
              <a:r>
                <a:rPr lang="zh-CN" altLang="en-US" sz="2400">
                  <a:solidFill>
                    <a:schemeClr val="tx2"/>
                  </a:solidFill>
                </a:rPr>
                <a:t>位长度的操作码</a:t>
              </a:r>
            </a:p>
            <a:p>
              <a:pPr eaLnBrk="1" hangingPunct="1">
                <a:lnSpc>
                  <a:spcPct val="80000"/>
                </a:lnSpc>
                <a:spcBef>
                  <a:spcPct val="0"/>
                </a:spcBef>
                <a:buClrTx/>
                <a:buFontTx/>
                <a:buNone/>
              </a:pPr>
              <a:r>
                <a:rPr lang="zh-CN" altLang="en-US" sz="2400">
                  <a:solidFill>
                    <a:schemeClr val="tx2"/>
                  </a:solidFill>
                </a:rPr>
                <a:t>共64种</a:t>
              </a:r>
            </a:p>
          </p:txBody>
        </p:sp>
        <p:sp>
          <p:nvSpPr>
            <p:cNvPr id="73740" name="Rectangle 21"/>
            <p:cNvSpPr>
              <a:spLocks noChangeArrowheads="1"/>
            </p:cNvSpPr>
            <p:nvPr/>
          </p:nvSpPr>
          <p:spPr bwMode="auto">
            <a:xfrm>
              <a:off x="480" y="2976"/>
              <a:ext cx="2352"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32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dirty="0">
                  <a:solidFill>
                    <a:srgbClr val="FF0000"/>
                  </a:solidFill>
                </a:rPr>
                <a:t>1000 1000 0000</a:t>
              </a:r>
            </a:p>
            <a:p>
              <a:pPr eaLnBrk="1" hangingPunct="1">
                <a:lnSpc>
                  <a:spcPct val="80000"/>
                </a:lnSpc>
                <a:spcBef>
                  <a:spcPct val="0"/>
                </a:spcBef>
                <a:buClrTx/>
                <a:buFontTx/>
                <a:buNone/>
              </a:pPr>
              <a:r>
                <a:rPr lang="zh-CN" altLang="zh-CN" sz="2400" dirty="0">
                  <a:solidFill>
                    <a:srgbClr val="FF0000"/>
                  </a:solidFill>
                </a:rPr>
                <a:t>1000 1000 0001</a:t>
              </a:r>
            </a:p>
            <a:p>
              <a:pPr eaLnBrk="1" hangingPunct="1">
                <a:lnSpc>
                  <a:spcPct val="80000"/>
                </a:lnSpc>
                <a:spcBef>
                  <a:spcPct val="0"/>
                </a:spcBef>
                <a:buClrTx/>
                <a:buFontTx/>
                <a:buNone/>
              </a:pPr>
              <a:r>
                <a:rPr lang="zh-CN" altLang="zh-CN" sz="2400" dirty="0">
                  <a:solidFill>
                    <a:srgbClr val="FF0000"/>
                  </a:solidFill>
                </a:rPr>
                <a:t>……</a:t>
              </a:r>
            </a:p>
            <a:p>
              <a:pPr eaLnBrk="1" hangingPunct="1">
                <a:lnSpc>
                  <a:spcPct val="80000"/>
                </a:lnSpc>
                <a:spcBef>
                  <a:spcPct val="0"/>
                </a:spcBef>
                <a:buClrTx/>
                <a:buFontTx/>
                <a:buNone/>
              </a:pPr>
              <a:r>
                <a:rPr lang="zh-CN" altLang="zh-CN" sz="2400" dirty="0">
                  <a:solidFill>
                    <a:srgbClr val="FF0000"/>
                  </a:solidFill>
                </a:rPr>
                <a:t>1111 </a:t>
              </a:r>
              <a:r>
                <a:rPr lang="en-US" altLang="zh-CN" sz="2400" dirty="0" smtClean="0">
                  <a:solidFill>
                    <a:srgbClr val="FF0000"/>
                  </a:solidFill>
                </a:rPr>
                <a:t> </a:t>
              </a:r>
              <a:r>
                <a:rPr lang="zh-CN" altLang="zh-CN" sz="2400" dirty="0" smtClean="0">
                  <a:solidFill>
                    <a:srgbClr val="FF0000"/>
                  </a:solidFill>
                </a:rPr>
                <a:t>1111 </a:t>
              </a:r>
              <a:r>
                <a:rPr lang="zh-CN" altLang="zh-CN" sz="2400" dirty="0">
                  <a:solidFill>
                    <a:srgbClr val="FF0000"/>
                  </a:solidFill>
                </a:rPr>
                <a:t>0111</a:t>
              </a:r>
              <a:endParaRPr lang="zh-CN" altLang="en-US" sz="2400" dirty="0">
                <a:solidFill>
                  <a:srgbClr val="FF0000"/>
                </a:solidFill>
              </a:endParaRPr>
            </a:p>
          </p:txBody>
        </p:sp>
        <p:sp>
          <p:nvSpPr>
            <p:cNvPr id="73741" name="Rectangle 22"/>
            <p:cNvSpPr>
              <a:spLocks noChangeArrowheads="1"/>
            </p:cNvSpPr>
            <p:nvPr/>
          </p:nvSpPr>
          <p:spPr bwMode="auto">
            <a:xfrm>
              <a:off x="2832" y="2976"/>
              <a:ext cx="2448"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zh-CN" sz="2400">
                  <a:solidFill>
                    <a:schemeClr val="tx2"/>
                  </a:solidFill>
                </a:rPr>
                <a:t>12</a:t>
              </a:r>
              <a:r>
                <a:rPr lang="zh-CN" altLang="en-US" sz="2400">
                  <a:solidFill>
                    <a:schemeClr val="tx2"/>
                  </a:solidFill>
                </a:rPr>
                <a:t>位长度的操作码</a:t>
              </a:r>
            </a:p>
            <a:p>
              <a:pPr eaLnBrk="1" hangingPunct="1">
                <a:lnSpc>
                  <a:spcPct val="80000"/>
                </a:lnSpc>
                <a:spcBef>
                  <a:spcPct val="0"/>
                </a:spcBef>
                <a:buClrTx/>
                <a:buFontTx/>
                <a:buNone/>
              </a:pPr>
              <a:r>
                <a:rPr lang="zh-CN" altLang="en-US" sz="2400">
                  <a:solidFill>
                    <a:schemeClr val="tx2"/>
                  </a:solidFill>
                </a:rPr>
                <a:t>共512种</a:t>
              </a:r>
            </a:p>
          </p:txBody>
        </p:sp>
      </p:grpSp>
      <p:sp>
        <p:nvSpPr>
          <p:cNvPr id="73733" name="Text Box 2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操作码的优化设计</a:t>
            </a:r>
            <a:endParaRPr lang="zh-CN" altLang="en-US" sz="1200" b="0">
              <a:latin typeface="Times New Roman" pitchFamily="18" charset="0"/>
              <a:ea typeface="幼圆" pitchFamily="49" charset="-122"/>
            </a:endParaRPr>
          </a:p>
        </p:txBody>
      </p:sp>
      <p:sp>
        <p:nvSpPr>
          <p:cNvPr id="328707" name="Rectangle 3"/>
          <p:cNvSpPr>
            <a:spLocks noGrp="1" noChangeArrowheads="1"/>
          </p:cNvSpPr>
          <p:nvPr>
            <p:ph type="title"/>
          </p:nvPr>
        </p:nvSpPr>
        <p:spPr/>
        <p:txBody>
          <a:bodyPr/>
          <a:lstStyle/>
          <a:p>
            <a:pPr eaLnBrk="1" hangingPunct="1">
              <a:defRPr/>
            </a:pPr>
            <a:r>
              <a:rPr lang="zh-CN" altLang="en-US" smtClean="0"/>
              <a:t>不等长</a:t>
            </a:r>
            <a:r>
              <a:rPr lang="zh-CN" altLang="en-US" sz="4000" smtClean="0"/>
              <a:t>(4-6-10)</a:t>
            </a:r>
            <a:r>
              <a:rPr lang="zh-CN" altLang="en-US" smtClean="0"/>
              <a:t> </a:t>
            </a:r>
            <a:br>
              <a:rPr lang="zh-CN" altLang="en-US" smtClean="0"/>
            </a:br>
            <a:r>
              <a:rPr lang="zh-CN" altLang="en-US" smtClean="0"/>
              <a:t>扩展编码法</a:t>
            </a:r>
          </a:p>
        </p:txBody>
      </p:sp>
      <p:sp>
        <p:nvSpPr>
          <p:cNvPr id="74756"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5 之 5</a:t>
            </a:r>
          </a:p>
        </p:txBody>
      </p:sp>
      <p:graphicFrame>
        <p:nvGraphicFramePr>
          <p:cNvPr id="328962" name="Group 258"/>
          <p:cNvGraphicFramePr>
            <a:graphicFrameLocks noGrp="1"/>
          </p:cNvGraphicFramePr>
          <p:nvPr/>
        </p:nvGraphicFramePr>
        <p:xfrm>
          <a:off x="827088" y="2060575"/>
          <a:ext cx="8001000" cy="4064001"/>
        </p:xfrm>
        <a:graphic>
          <a:graphicData uri="http://schemas.openxmlformats.org/drawingml/2006/table">
            <a:tbl>
              <a:tblPr/>
              <a:tblGrid>
                <a:gridCol w="1600200"/>
                <a:gridCol w="1600200"/>
                <a:gridCol w="1600200"/>
                <a:gridCol w="1600200"/>
                <a:gridCol w="1600200"/>
              </a:tblGrid>
              <a:tr h="581025">
                <a:tc rowSpan="2">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400" b="1" i="0" u="none" strike="noStrike" cap="none" normalizeH="0" baseline="0" smtClean="0">
                        <a:ln>
                          <a:noFill/>
                        </a:ln>
                        <a:solidFill>
                          <a:schemeClr val="tx1"/>
                        </a:solidFill>
                        <a:effectLst/>
                        <a:latin typeface="Arial"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编码方法</a:t>
                      </a:r>
                    </a:p>
                  </a:txBody>
                  <a:tcPr marL="0" marR="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3">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各种不同长度操作码的指令种类</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rowSpan="2">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总的</a:t>
                      </a:r>
                    </a:p>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指令种类</a:t>
                      </a:r>
                    </a:p>
                  </a:txBody>
                  <a:tcPr marL="0" marR="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79438">
                <a:tc vMerge="1">
                  <a:txBody>
                    <a:bodyPr/>
                    <a:lstStyle/>
                    <a:p>
                      <a:endParaRPr lang="zh-CN" altLang="en-US"/>
                    </a:p>
                  </a:txBody>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4位操作码</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6位操作码</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10位操作码</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r>
              <a:tr h="581025">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15/3/16</a:t>
                      </a:r>
                    </a:p>
                  </a:txBody>
                  <a:tcPr marL="0" marR="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15</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3</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16</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34</a:t>
                      </a:r>
                    </a:p>
                  </a:txBody>
                  <a:tcPr marL="0" marR="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8/31/16</a:t>
                      </a:r>
                    </a:p>
                  </a:txBody>
                  <a:tcPr marL="0" marR="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8</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31</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16</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55</a:t>
                      </a:r>
                    </a:p>
                  </a:txBody>
                  <a:tcPr marL="0" marR="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8/30/32</a:t>
                      </a:r>
                    </a:p>
                  </a:txBody>
                  <a:tcPr marL="0" marR="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8</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30</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32</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70</a:t>
                      </a:r>
                    </a:p>
                  </a:txBody>
                  <a:tcPr marL="0" marR="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79438">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8/16/256</a:t>
                      </a:r>
                    </a:p>
                  </a:txBody>
                  <a:tcPr marL="0" marR="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8</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16</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256</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280</a:t>
                      </a:r>
                    </a:p>
                  </a:txBody>
                  <a:tcPr marL="0" marR="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4/32/256</a:t>
                      </a:r>
                    </a:p>
                  </a:txBody>
                  <a:tcPr marL="0" marR="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4</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32</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256</a:t>
                      </a:r>
                    </a:p>
                  </a:txBody>
                  <a:tcPr marL="0" marR="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400" b="1" i="0" u="none" strike="noStrike" cap="none" normalizeH="0" baseline="0" smtClean="0">
                          <a:ln>
                            <a:noFill/>
                          </a:ln>
                          <a:solidFill>
                            <a:schemeClr val="tx1"/>
                          </a:solidFill>
                          <a:effectLst/>
                          <a:latin typeface="Arial" charset="0"/>
                          <a:ea typeface="楷体_GB2312" pitchFamily="49" charset="-122"/>
                        </a:rPr>
                        <a:t>292</a:t>
                      </a:r>
                    </a:p>
                  </a:txBody>
                  <a:tcPr marL="0" marR="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endParaRPr lang="zh-CN" altLang="en-US" sz="1200" b="0">
              <a:latin typeface="Times New Roman" pitchFamily="18" charset="0"/>
              <a:ea typeface="幼圆" pitchFamily="49" charset="-122"/>
            </a:endParaRPr>
          </a:p>
        </p:txBody>
      </p:sp>
      <p:sp>
        <p:nvSpPr>
          <p:cNvPr id="314371" name="Rectangle 3"/>
          <p:cNvSpPr>
            <a:spLocks noGrp="1" noChangeArrowheads="1"/>
          </p:cNvSpPr>
          <p:nvPr>
            <p:ph type="title"/>
          </p:nvPr>
        </p:nvSpPr>
        <p:spPr/>
        <p:txBody>
          <a:bodyPr/>
          <a:lstStyle/>
          <a:p>
            <a:pPr eaLnBrk="1" hangingPunct="1">
              <a:defRPr/>
            </a:pPr>
            <a:r>
              <a:rPr lang="zh-CN" altLang="en-US" smtClean="0"/>
              <a:t>地址码的优化设计</a:t>
            </a:r>
          </a:p>
        </p:txBody>
      </p:sp>
      <p:sp>
        <p:nvSpPr>
          <p:cNvPr id="75780" name="Rectangle 4"/>
          <p:cNvSpPr>
            <a:spLocks noGrp="1" noChangeArrowheads="1"/>
          </p:cNvSpPr>
          <p:nvPr>
            <p:ph type="body" idx="1"/>
          </p:nvPr>
        </p:nvSpPr>
        <p:spPr>
          <a:xfrm>
            <a:off x="2411413" y="2636838"/>
            <a:ext cx="4067175" cy="2579687"/>
          </a:xfrm>
        </p:spPr>
        <p:txBody>
          <a:bodyPr/>
          <a:lstStyle/>
          <a:p>
            <a:pPr eaLnBrk="1" hangingPunct="1">
              <a:lnSpc>
                <a:spcPct val="200000"/>
              </a:lnSpc>
            </a:pPr>
            <a:r>
              <a:rPr lang="zh-CN" altLang="en-US" smtClean="0">
                <a:hlinkClick r:id="rId5" action="ppaction://hlinksldjump"/>
              </a:rPr>
              <a:t>地址个数的选择</a:t>
            </a:r>
            <a:endParaRPr lang="zh-CN" altLang="en-US" smtClean="0"/>
          </a:p>
          <a:p>
            <a:pPr eaLnBrk="1" hangingPunct="1">
              <a:lnSpc>
                <a:spcPct val="200000"/>
              </a:lnSpc>
            </a:pPr>
            <a:r>
              <a:rPr lang="zh-CN" altLang="en-US" smtClean="0">
                <a:hlinkClick r:id="rId6" action="ppaction://hlinksldjump"/>
              </a:rPr>
              <a:t>优化单个地址码</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地址码的优化设计</a:t>
            </a:r>
            <a:endParaRPr lang="zh-CN" altLang="en-US" sz="1200" b="0">
              <a:latin typeface="Times New Roman" pitchFamily="18" charset="0"/>
              <a:ea typeface="幼圆" pitchFamily="49" charset="-122"/>
            </a:endParaRPr>
          </a:p>
        </p:txBody>
      </p:sp>
      <p:sp>
        <p:nvSpPr>
          <p:cNvPr id="329731" name="Rectangle 3"/>
          <p:cNvSpPr>
            <a:spLocks noGrp="1" noChangeArrowheads="1"/>
          </p:cNvSpPr>
          <p:nvPr>
            <p:ph type="title"/>
          </p:nvPr>
        </p:nvSpPr>
        <p:spPr/>
        <p:txBody>
          <a:bodyPr/>
          <a:lstStyle/>
          <a:p>
            <a:pPr eaLnBrk="1" hangingPunct="1">
              <a:defRPr/>
            </a:pPr>
            <a:r>
              <a:rPr lang="zh-CN" altLang="en-US" smtClean="0"/>
              <a:t>地址个数的选择</a:t>
            </a:r>
          </a:p>
        </p:txBody>
      </p:sp>
      <p:graphicFrame>
        <p:nvGraphicFramePr>
          <p:cNvPr id="329825" name="Group 97"/>
          <p:cNvGraphicFramePr>
            <a:graphicFrameLocks noGrp="1"/>
          </p:cNvGraphicFramePr>
          <p:nvPr/>
        </p:nvGraphicFramePr>
        <p:xfrm>
          <a:off x="1004888" y="2060575"/>
          <a:ext cx="7772400" cy="3578226"/>
        </p:xfrm>
        <a:graphic>
          <a:graphicData uri="http://schemas.openxmlformats.org/drawingml/2006/table">
            <a:tbl>
              <a:tblPr/>
              <a:tblGrid>
                <a:gridCol w="1554162"/>
                <a:gridCol w="808038"/>
                <a:gridCol w="1066800"/>
                <a:gridCol w="1143000"/>
                <a:gridCol w="3200400"/>
              </a:tblGrid>
              <a:tr h="790575">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地址数目</a:t>
                      </a: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指令</a:t>
                      </a:r>
                    </a:p>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条数</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程序</a:t>
                      </a:r>
                    </a:p>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存储量</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程序执</a:t>
                      </a:r>
                    </a:p>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行速度</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适用场合</a:t>
                      </a: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568325">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三地址</a:t>
                      </a: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少</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最大</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一般</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向量、矩阵运算为主</a:t>
                      </a: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二地址</a:t>
                      </a: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一般</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很大</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很低</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一般不宜采用</a:t>
                      </a: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4038">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一地址</a:t>
                      </a: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较多</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较大</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较快</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连续运算，硬件结构简单</a:t>
                      </a: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零地址</a:t>
                      </a: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最多</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最小</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最低</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嵌套、递归、变量较多</a:t>
                      </a: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4038">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二地址</a:t>
                      </a:r>
                      <a:r>
                        <a:rPr kumimoji="1" lang="en-US" altLang="zh-CN" sz="2000" b="1" i="0" u="none" strike="noStrike" cap="none" normalizeH="0" baseline="0" smtClean="0">
                          <a:ln>
                            <a:noFill/>
                          </a:ln>
                          <a:solidFill>
                            <a:schemeClr val="tx1"/>
                          </a:solidFill>
                          <a:effectLst/>
                          <a:latin typeface="Arial" charset="0"/>
                          <a:ea typeface="楷体_GB2312" pitchFamily="49" charset="-122"/>
                        </a:rPr>
                        <a:t>R</a:t>
                      </a:r>
                      <a:r>
                        <a:rPr kumimoji="1" lang="zh-CN" altLang="en-US" sz="2000" b="1" i="0" u="none" strike="noStrike" cap="none" normalizeH="0" baseline="0" smtClean="0">
                          <a:ln>
                            <a:noFill/>
                          </a:ln>
                          <a:solidFill>
                            <a:schemeClr val="tx1"/>
                          </a:solidFill>
                          <a:effectLst/>
                          <a:latin typeface="Arial" charset="0"/>
                          <a:ea typeface="楷体_GB2312" pitchFamily="49" charset="-122"/>
                        </a:rPr>
                        <a:t>型</a:t>
                      </a: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一般</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最小</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最快</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charset="0"/>
                          <a:ea typeface="楷体_GB2312" pitchFamily="49" charset="-122"/>
                        </a:defRPr>
                      </a:lvl1pPr>
                      <a:lvl2pPr>
                        <a:buSzPct val="55000"/>
                        <a:defRPr kumimoji="1" sz="2400" b="1">
                          <a:solidFill>
                            <a:schemeClr val="tx1"/>
                          </a:solidFill>
                          <a:latin typeface="Arial" charset="0"/>
                          <a:ea typeface="楷体_GB2312" pitchFamily="49" charset="-122"/>
                        </a:defRPr>
                      </a:lvl2pPr>
                      <a:lvl3pPr marL="857250">
                        <a:buSzPct val="65000"/>
                        <a:defRPr kumimoji="1" sz="2000" b="1">
                          <a:solidFill>
                            <a:schemeClr val="tx1"/>
                          </a:solidFill>
                          <a:latin typeface="Arial" charset="0"/>
                          <a:ea typeface="楷体_GB2312" pitchFamily="49" charset="-122"/>
                        </a:defRPr>
                      </a:lvl3pPr>
                      <a:lvl4pPr marL="1200150">
                        <a:buSzPct val="85000"/>
                        <a:defRPr kumimoji="1" b="1">
                          <a:solidFill>
                            <a:schemeClr val="tx1"/>
                          </a:solidFill>
                          <a:latin typeface="Arial" charset="0"/>
                          <a:ea typeface="楷体_GB2312" pitchFamily="49" charset="-122"/>
                        </a:defRPr>
                      </a:lvl4pPr>
                      <a:lvl5pPr marL="1543050">
                        <a:buSzPct val="80000"/>
                        <a:defRPr kumimoji="1" sz="1600" b="1">
                          <a:solidFill>
                            <a:schemeClr val="tx1"/>
                          </a:solidFill>
                          <a:latin typeface="Arial"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Arial" charset="0"/>
                          <a:ea typeface="楷体_GB2312" pitchFamily="49" charset="-122"/>
                        </a:rPr>
                        <a:t>多累加器、数据传送较多</a:t>
                      </a: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6848" name="Text Box 98"/>
          <p:cNvSpPr txBox="1">
            <a:spLocks noChangeArrowheads="1"/>
          </p:cNvSpPr>
          <p:nvPr/>
        </p:nvSpPr>
        <p:spPr bwMode="auto">
          <a:xfrm>
            <a:off x="1116013" y="5805488"/>
            <a:ext cx="7543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latin typeface="Times New Roman" pitchFamily="18" charset="0"/>
              </a:rPr>
              <a:t>采用各种不同地址数指令编写的程序的特点和适用范围</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地址码的优化设计</a:t>
            </a:r>
            <a:endParaRPr lang="zh-CN" altLang="en-US" sz="1200" b="0">
              <a:latin typeface="Times New Roman" pitchFamily="18" charset="0"/>
              <a:ea typeface="幼圆" pitchFamily="49" charset="-122"/>
            </a:endParaRPr>
          </a:p>
        </p:txBody>
      </p:sp>
      <p:sp>
        <p:nvSpPr>
          <p:cNvPr id="330755" name="Rectangle 3"/>
          <p:cNvSpPr>
            <a:spLocks noGrp="1" noChangeArrowheads="1"/>
          </p:cNvSpPr>
          <p:nvPr>
            <p:ph type="title"/>
          </p:nvPr>
        </p:nvSpPr>
        <p:spPr/>
        <p:txBody>
          <a:bodyPr/>
          <a:lstStyle/>
          <a:p>
            <a:pPr eaLnBrk="1" hangingPunct="1">
              <a:defRPr/>
            </a:pPr>
            <a:r>
              <a:rPr lang="zh-CN" altLang="en-US" smtClean="0"/>
              <a:t>优化单个地址码</a:t>
            </a:r>
          </a:p>
        </p:txBody>
      </p:sp>
      <p:sp>
        <p:nvSpPr>
          <p:cNvPr id="330757" name="Rectangle 5"/>
          <p:cNvSpPr>
            <a:spLocks noGrp="1" noChangeArrowheads="1"/>
          </p:cNvSpPr>
          <p:nvPr>
            <p:ph type="body" idx="1"/>
          </p:nvPr>
        </p:nvSpPr>
        <p:spPr>
          <a:xfrm>
            <a:off x="809625" y="1772816"/>
            <a:ext cx="7958138" cy="4680520"/>
          </a:xfrm>
        </p:spPr>
        <p:txBody>
          <a:bodyPr/>
          <a:lstStyle/>
          <a:p>
            <a:pPr marL="0" indent="0" eaLnBrk="1" hangingPunct="1">
              <a:lnSpc>
                <a:spcPct val="105000"/>
              </a:lnSpc>
              <a:buClr>
                <a:srgbClr val="FF3300"/>
              </a:buClr>
              <a:defRPr/>
            </a:pPr>
            <a:r>
              <a:rPr lang="zh-CN" altLang="en-US" sz="2400" dirty="0" smtClean="0">
                <a:solidFill>
                  <a:srgbClr val="FF3300"/>
                </a:solidFill>
                <a:effectLst>
                  <a:outerShdw blurRad="38100" dist="38100" dir="2700000" algn="tl">
                    <a:srgbClr val="C0C0C0"/>
                  </a:outerShdw>
                </a:effectLst>
              </a:rPr>
              <a:t>  目的</a:t>
            </a:r>
          </a:p>
          <a:p>
            <a:pPr marL="0" indent="0" eaLnBrk="1" hangingPunct="1">
              <a:lnSpc>
                <a:spcPct val="105000"/>
              </a:lnSpc>
              <a:buFont typeface="Wingdings" pitchFamily="2" charset="2"/>
              <a:buNone/>
              <a:defRPr/>
            </a:pPr>
            <a:r>
              <a:rPr lang="zh-CN" altLang="en-US" sz="2400" dirty="0" smtClean="0"/>
              <a:t>    要用一个较短的地址码表示一个较大的逻辑地址空间，同时还要有较灵活有效的寻址方式。</a:t>
            </a:r>
          </a:p>
          <a:p>
            <a:pPr marL="0" indent="0" eaLnBrk="1" hangingPunct="1">
              <a:lnSpc>
                <a:spcPct val="105000"/>
              </a:lnSpc>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常用方法</a:t>
            </a:r>
          </a:p>
          <a:p>
            <a:pPr marL="765175" lvl="1" eaLnBrk="1" hangingPunct="1">
              <a:lnSpc>
                <a:spcPct val="105000"/>
              </a:lnSpc>
              <a:buFont typeface="Wingdings" pitchFamily="2" charset="2"/>
              <a:buChar char="Ø"/>
              <a:defRPr/>
            </a:pPr>
            <a:r>
              <a:rPr lang="zh-CN" altLang="en-US" sz="2400" dirty="0" smtClean="0"/>
              <a:t>用</a:t>
            </a:r>
            <a:r>
              <a:rPr lang="zh-CN" altLang="en-US" sz="2400" dirty="0" smtClean="0">
                <a:solidFill>
                  <a:srgbClr val="3333FF"/>
                </a:solidFill>
              </a:rPr>
              <a:t>间址寻址方式</a:t>
            </a:r>
            <a:r>
              <a:rPr lang="zh-CN" altLang="en-US" sz="2400" dirty="0" smtClean="0"/>
              <a:t>缩短地址码长度</a:t>
            </a:r>
          </a:p>
          <a:p>
            <a:pPr marL="1108075" lvl="2" eaLnBrk="1" hangingPunct="1">
              <a:lnSpc>
                <a:spcPct val="105000"/>
              </a:lnSpc>
              <a:buFont typeface="Wingdings" pitchFamily="2" charset="2"/>
              <a:buChar char="Ø"/>
              <a:defRPr/>
            </a:pPr>
            <a:r>
              <a:rPr lang="zh-CN" altLang="en-US" dirty="0" smtClean="0"/>
              <a:t>在主存储器的低端（地址码长度可以很短）开辟出一个专门用来存放地址的区域，用于间址寻址</a:t>
            </a:r>
            <a:endParaRPr lang="en-US" altLang="zh-CN" dirty="0" smtClean="0"/>
          </a:p>
          <a:p>
            <a:pPr marL="1108075" lvl="2" eaLnBrk="1" hangingPunct="1">
              <a:lnSpc>
                <a:spcPct val="105000"/>
              </a:lnSpc>
              <a:buFont typeface="Wingdings" pitchFamily="2" charset="2"/>
              <a:buChar char="Ø"/>
              <a:defRPr/>
            </a:pPr>
            <a:r>
              <a:rPr lang="zh-CN" altLang="en-US" dirty="0" smtClean="0"/>
              <a:t>例：在一个按字节编址、存储字长度为</a:t>
            </a:r>
            <a:r>
              <a:rPr lang="en-US" altLang="zh-CN" dirty="0" smtClean="0"/>
              <a:t>64bit</a:t>
            </a:r>
            <a:r>
              <a:rPr lang="zh-CN" altLang="en-US" dirty="0" smtClean="0"/>
              <a:t>的主存储器最低端的</a:t>
            </a:r>
            <a:r>
              <a:rPr lang="en-US" altLang="zh-CN" dirty="0" smtClean="0"/>
              <a:t>1KB</a:t>
            </a:r>
            <a:r>
              <a:rPr lang="zh-CN" altLang="en-US" dirty="0" smtClean="0"/>
              <a:t>之内有一个用来存放地址码的区域，可以实现在指令中只要用</a:t>
            </a:r>
            <a:r>
              <a:rPr lang="en-US" altLang="zh-CN" dirty="0" smtClean="0"/>
              <a:t>7bit</a:t>
            </a:r>
            <a:r>
              <a:rPr lang="zh-CN" altLang="en-US" dirty="0" smtClean="0"/>
              <a:t>就能访问一个</a:t>
            </a:r>
            <a:r>
              <a:rPr lang="en-US" altLang="zh-CN" dirty="0" smtClean="0"/>
              <a:t>64bit</a:t>
            </a:r>
            <a:r>
              <a:rPr lang="zh-CN" altLang="en-US" dirty="0" smtClean="0"/>
              <a:t>长的逻辑地址。</a:t>
            </a:r>
          </a:p>
        </p:txBody>
      </p:sp>
      <p:sp>
        <p:nvSpPr>
          <p:cNvPr id="5" name="Text Box 1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a:latin typeface="幼圆" pitchFamily="49" charset="-122"/>
                <a:ea typeface="幼圆" pitchFamily="49" charset="-122"/>
              </a:rPr>
              <a:t>1</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地址码的优化设计</a:t>
            </a:r>
            <a:endParaRPr lang="zh-CN" altLang="en-US" sz="1200" b="0">
              <a:latin typeface="Times New Roman" pitchFamily="18" charset="0"/>
              <a:ea typeface="幼圆" pitchFamily="49" charset="-122"/>
            </a:endParaRPr>
          </a:p>
        </p:txBody>
      </p:sp>
      <p:sp>
        <p:nvSpPr>
          <p:cNvPr id="330755" name="Rectangle 3"/>
          <p:cNvSpPr>
            <a:spLocks noGrp="1" noChangeArrowheads="1"/>
          </p:cNvSpPr>
          <p:nvPr>
            <p:ph type="title"/>
          </p:nvPr>
        </p:nvSpPr>
        <p:spPr/>
        <p:txBody>
          <a:bodyPr/>
          <a:lstStyle/>
          <a:p>
            <a:pPr eaLnBrk="1" hangingPunct="1">
              <a:defRPr/>
            </a:pPr>
            <a:r>
              <a:rPr lang="zh-CN" altLang="en-US" smtClean="0"/>
              <a:t>优化单个地址码</a:t>
            </a:r>
          </a:p>
        </p:txBody>
      </p:sp>
      <p:sp>
        <p:nvSpPr>
          <p:cNvPr id="330757" name="Rectangle 5"/>
          <p:cNvSpPr>
            <a:spLocks noGrp="1" noChangeArrowheads="1"/>
          </p:cNvSpPr>
          <p:nvPr>
            <p:ph type="body" idx="1"/>
          </p:nvPr>
        </p:nvSpPr>
        <p:spPr/>
        <p:txBody>
          <a:bodyPr/>
          <a:lstStyle/>
          <a:p>
            <a:pPr marL="0" indent="0" eaLnBrk="1" hangingPunct="1">
              <a:lnSpc>
                <a:spcPct val="105000"/>
              </a:lnSpc>
              <a:buClr>
                <a:srgbClr val="FF3300"/>
              </a:buClr>
              <a:defRPr/>
            </a:pPr>
            <a:r>
              <a:rPr lang="zh-CN" altLang="en-US" sz="2400" dirty="0" smtClean="0">
                <a:solidFill>
                  <a:srgbClr val="FF3300"/>
                </a:solidFill>
                <a:effectLst>
                  <a:outerShdw blurRad="38100" dist="38100" dir="2700000" algn="tl">
                    <a:srgbClr val="C0C0C0"/>
                  </a:outerShdw>
                </a:effectLst>
              </a:rPr>
              <a:t>  目的</a:t>
            </a:r>
          </a:p>
          <a:p>
            <a:pPr marL="0" indent="0" eaLnBrk="1" hangingPunct="1">
              <a:lnSpc>
                <a:spcPct val="105000"/>
              </a:lnSpc>
              <a:buFont typeface="Wingdings" pitchFamily="2" charset="2"/>
              <a:buNone/>
              <a:defRPr/>
            </a:pPr>
            <a:r>
              <a:rPr lang="zh-CN" altLang="en-US" sz="2400" dirty="0" smtClean="0"/>
              <a:t>    要用一个较短的地址码表示一个较大的逻辑地址空间，同时还要有较灵活有效的寻址方式。</a:t>
            </a:r>
          </a:p>
          <a:p>
            <a:pPr marL="0" indent="0" eaLnBrk="1" hangingPunct="1">
              <a:lnSpc>
                <a:spcPct val="105000"/>
              </a:lnSpc>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常用方法</a:t>
            </a:r>
          </a:p>
          <a:p>
            <a:pPr marL="765175" lvl="1" eaLnBrk="1" hangingPunct="1">
              <a:lnSpc>
                <a:spcPct val="105000"/>
              </a:lnSpc>
              <a:buFont typeface="Wingdings" pitchFamily="2" charset="2"/>
              <a:buChar char="Ø"/>
              <a:defRPr/>
            </a:pPr>
            <a:r>
              <a:rPr lang="zh-CN" altLang="en-US" sz="2400" dirty="0" smtClean="0"/>
              <a:t>用</a:t>
            </a:r>
            <a:r>
              <a:rPr lang="zh-CN" altLang="en-US" sz="2400" dirty="0" smtClean="0">
                <a:solidFill>
                  <a:srgbClr val="3333FF"/>
                </a:solidFill>
              </a:rPr>
              <a:t>变址寻址方式</a:t>
            </a:r>
            <a:r>
              <a:rPr lang="zh-CN" altLang="en-US" sz="2400" dirty="0" smtClean="0"/>
              <a:t>缩短地址码长度</a:t>
            </a:r>
          </a:p>
          <a:p>
            <a:pPr marL="1108075" lvl="2" eaLnBrk="1" hangingPunct="1">
              <a:lnSpc>
                <a:spcPct val="105000"/>
              </a:lnSpc>
              <a:buFont typeface="Wingdings" pitchFamily="2" charset="2"/>
              <a:buChar char="Ø"/>
              <a:defRPr/>
            </a:pPr>
            <a:r>
              <a:rPr lang="zh-CN" altLang="en-US" dirty="0" smtClean="0"/>
              <a:t>基地址</a:t>
            </a:r>
            <a:r>
              <a:rPr lang="en-US" altLang="zh-CN" dirty="0" smtClean="0"/>
              <a:t>+</a:t>
            </a:r>
            <a:r>
              <a:rPr lang="zh-CN" altLang="en-US" dirty="0" smtClean="0"/>
              <a:t>地址偏移量</a:t>
            </a:r>
            <a:endParaRPr lang="en-US" altLang="zh-CN" dirty="0" smtClean="0"/>
          </a:p>
          <a:p>
            <a:pPr marL="1108075" lvl="2" eaLnBrk="1" hangingPunct="1">
              <a:lnSpc>
                <a:spcPct val="105000"/>
              </a:lnSpc>
              <a:buFont typeface="Wingdings" pitchFamily="2" charset="2"/>
              <a:buChar char="Ø"/>
              <a:defRPr/>
            </a:pPr>
            <a:r>
              <a:rPr lang="zh-CN" altLang="en-US" dirty="0" smtClean="0"/>
              <a:t>由于程序的局限性，地址偏移量可以比较短；地址比较长的基地址（例如：</a:t>
            </a:r>
            <a:r>
              <a:rPr lang="en-US" altLang="zh-CN" dirty="0" smtClean="0"/>
              <a:t>64bit</a:t>
            </a:r>
            <a:r>
              <a:rPr lang="zh-CN" altLang="en-US" dirty="0" smtClean="0"/>
              <a:t>）通常放在变址寄存器中，在指令的地址码中只需给出比较短的地址偏移量，通常只需十多位或二十位左右即可</a:t>
            </a:r>
          </a:p>
        </p:txBody>
      </p:sp>
      <p:sp>
        <p:nvSpPr>
          <p:cNvPr id="5" name="Text Box 1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2</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309666947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地址码的优化设计</a:t>
            </a:r>
            <a:endParaRPr lang="zh-CN" altLang="en-US" sz="1200" b="0">
              <a:latin typeface="Times New Roman" pitchFamily="18" charset="0"/>
              <a:ea typeface="幼圆" pitchFamily="49" charset="-122"/>
            </a:endParaRPr>
          </a:p>
        </p:txBody>
      </p:sp>
      <p:sp>
        <p:nvSpPr>
          <p:cNvPr id="330755" name="Rectangle 3"/>
          <p:cNvSpPr>
            <a:spLocks noGrp="1" noChangeArrowheads="1"/>
          </p:cNvSpPr>
          <p:nvPr>
            <p:ph type="title"/>
          </p:nvPr>
        </p:nvSpPr>
        <p:spPr/>
        <p:txBody>
          <a:bodyPr/>
          <a:lstStyle/>
          <a:p>
            <a:pPr eaLnBrk="1" hangingPunct="1">
              <a:defRPr/>
            </a:pPr>
            <a:r>
              <a:rPr lang="zh-CN" altLang="en-US" smtClean="0"/>
              <a:t>优化单个地址码</a:t>
            </a:r>
          </a:p>
        </p:txBody>
      </p:sp>
      <p:sp>
        <p:nvSpPr>
          <p:cNvPr id="330757" name="Rectangle 5"/>
          <p:cNvSpPr>
            <a:spLocks noGrp="1" noChangeArrowheads="1"/>
          </p:cNvSpPr>
          <p:nvPr>
            <p:ph type="body" idx="1"/>
          </p:nvPr>
        </p:nvSpPr>
        <p:spPr/>
        <p:txBody>
          <a:bodyPr/>
          <a:lstStyle/>
          <a:p>
            <a:pPr marL="0" indent="0" eaLnBrk="1" hangingPunct="1">
              <a:lnSpc>
                <a:spcPct val="105000"/>
              </a:lnSpc>
              <a:buClr>
                <a:srgbClr val="FF3300"/>
              </a:buClr>
              <a:defRPr/>
            </a:pPr>
            <a:r>
              <a:rPr lang="zh-CN" altLang="en-US" sz="2400" dirty="0" smtClean="0">
                <a:solidFill>
                  <a:srgbClr val="FF3300"/>
                </a:solidFill>
                <a:effectLst>
                  <a:outerShdw blurRad="38100" dist="38100" dir="2700000" algn="tl">
                    <a:srgbClr val="C0C0C0"/>
                  </a:outerShdw>
                </a:effectLst>
              </a:rPr>
              <a:t>  目的</a:t>
            </a:r>
          </a:p>
          <a:p>
            <a:pPr marL="0" indent="0" eaLnBrk="1" hangingPunct="1">
              <a:lnSpc>
                <a:spcPct val="105000"/>
              </a:lnSpc>
              <a:buFont typeface="Wingdings" pitchFamily="2" charset="2"/>
              <a:buNone/>
              <a:defRPr/>
            </a:pPr>
            <a:r>
              <a:rPr lang="zh-CN" altLang="en-US" sz="2400" dirty="0" smtClean="0"/>
              <a:t>    要用一个较短的地址码表示一个较大的逻辑地址空间，同时还要有较灵活有效的寻址方式。</a:t>
            </a:r>
          </a:p>
          <a:p>
            <a:pPr marL="0" indent="0" eaLnBrk="1" hangingPunct="1">
              <a:lnSpc>
                <a:spcPct val="105000"/>
              </a:lnSpc>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常用方法</a:t>
            </a:r>
          </a:p>
          <a:p>
            <a:pPr marL="765175" lvl="1" eaLnBrk="1" hangingPunct="1">
              <a:lnSpc>
                <a:spcPct val="105000"/>
              </a:lnSpc>
              <a:buFont typeface="Wingdings" pitchFamily="2" charset="2"/>
              <a:buChar char="Ø"/>
              <a:defRPr/>
            </a:pPr>
            <a:r>
              <a:rPr lang="zh-CN" altLang="en-US" sz="2400" dirty="0" smtClean="0"/>
              <a:t>用</a:t>
            </a:r>
            <a:r>
              <a:rPr lang="zh-CN" altLang="en-US" sz="2400" dirty="0" smtClean="0">
                <a:solidFill>
                  <a:srgbClr val="3333FF"/>
                </a:solidFill>
              </a:rPr>
              <a:t>寄存器间接地址</a:t>
            </a:r>
            <a:r>
              <a:rPr lang="zh-CN" altLang="en-US" sz="2400" dirty="0" smtClean="0"/>
              <a:t>方式缩短地址码长度（是最有效的方法）</a:t>
            </a:r>
            <a:endParaRPr lang="en-US" altLang="zh-CN" sz="2400" dirty="0" smtClean="0"/>
          </a:p>
          <a:p>
            <a:pPr marL="1108075" lvl="2" eaLnBrk="1" hangingPunct="1">
              <a:lnSpc>
                <a:spcPct val="105000"/>
              </a:lnSpc>
              <a:buFont typeface="Wingdings" pitchFamily="2" charset="2"/>
              <a:buChar char="Ø"/>
              <a:defRPr/>
            </a:pPr>
            <a:r>
              <a:rPr lang="zh-CN" altLang="en-US" dirty="0" smtClean="0"/>
              <a:t>寄存器中存放的是操作数地址</a:t>
            </a:r>
            <a:endParaRPr lang="en-US" altLang="zh-CN" dirty="0" smtClean="0"/>
          </a:p>
          <a:p>
            <a:pPr marL="1108075" lvl="2" eaLnBrk="1" hangingPunct="1">
              <a:lnSpc>
                <a:spcPct val="105000"/>
              </a:lnSpc>
              <a:buFont typeface="Wingdings" pitchFamily="2" charset="2"/>
              <a:buChar char="Ø"/>
              <a:defRPr/>
            </a:pPr>
            <a:r>
              <a:rPr lang="zh-CN" altLang="en-US" dirty="0" smtClean="0"/>
              <a:t>例：有</a:t>
            </a:r>
            <a:r>
              <a:rPr lang="en-US" altLang="zh-CN" dirty="0" smtClean="0"/>
              <a:t>8</a:t>
            </a:r>
            <a:r>
              <a:rPr lang="zh-CN" altLang="en-US" dirty="0" smtClean="0"/>
              <a:t>个用于间接寻址的寄存器，每个寄存器的长度为</a:t>
            </a:r>
            <a:r>
              <a:rPr lang="en-US" altLang="zh-CN" dirty="0" smtClean="0"/>
              <a:t>64bit</a:t>
            </a:r>
            <a:r>
              <a:rPr lang="zh-CN" altLang="en-US" dirty="0" smtClean="0"/>
              <a:t>，这样用一个</a:t>
            </a:r>
            <a:r>
              <a:rPr lang="en-US" altLang="zh-CN" dirty="0" smtClean="0"/>
              <a:t>3bit</a:t>
            </a:r>
            <a:r>
              <a:rPr lang="zh-CN" altLang="en-US" dirty="0" smtClean="0"/>
              <a:t>的地址码就能访问一个</a:t>
            </a:r>
            <a:r>
              <a:rPr lang="en-US" altLang="zh-CN" dirty="0" smtClean="0"/>
              <a:t>64bit</a:t>
            </a:r>
            <a:r>
              <a:rPr lang="zh-CN" altLang="en-US" dirty="0" smtClean="0"/>
              <a:t>的逻辑地址</a:t>
            </a:r>
          </a:p>
        </p:txBody>
      </p:sp>
      <p:sp>
        <p:nvSpPr>
          <p:cNvPr id="5" name="Text Box 1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3</a:t>
            </a:r>
            <a:endParaRPr lang="zh-CN" altLang="en-US" sz="1200" b="0" dirty="0">
              <a:latin typeface="幼圆" pitchFamily="49" charset="-122"/>
              <a:ea typeface="幼圆" pitchFamily="49" charset="-122"/>
            </a:endParaRPr>
          </a:p>
        </p:txBody>
      </p:sp>
    </p:spTree>
    <p:extLst>
      <p:ext uri="{BB962C8B-B14F-4D97-AF65-F5344CB8AC3E}">
        <p14:creationId xmlns:p14="http://schemas.microsoft.com/office/powerpoint/2010/main" val="3646281889"/>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指令格式的优化设计</a:t>
            </a:r>
            <a:endParaRPr lang="zh-CN" altLang="en-US" sz="1200" b="0">
              <a:latin typeface="Times New Roman" pitchFamily="18" charset="0"/>
              <a:ea typeface="幼圆" pitchFamily="49" charset="-122"/>
            </a:endParaRPr>
          </a:p>
        </p:txBody>
      </p:sp>
      <p:sp>
        <p:nvSpPr>
          <p:cNvPr id="315395" name="Rectangle 3"/>
          <p:cNvSpPr>
            <a:spLocks noGrp="1" noChangeArrowheads="1"/>
          </p:cNvSpPr>
          <p:nvPr>
            <p:ph type="title"/>
          </p:nvPr>
        </p:nvSpPr>
        <p:spPr/>
        <p:txBody>
          <a:bodyPr/>
          <a:lstStyle/>
          <a:p>
            <a:pPr eaLnBrk="1" hangingPunct="1">
              <a:defRPr/>
            </a:pPr>
            <a:r>
              <a:rPr lang="zh-CN" altLang="en-US" dirty="0" smtClean="0"/>
              <a:t>指令字格式的</a:t>
            </a:r>
            <a:br>
              <a:rPr lang="zh-CN" altLang="en-US" dirty="0" smtClean="0"/>
            </a:br>
            <a:r>
              <a:rPr lang="zh-CN" altLang="en-US" dirty="0" smtClean="0"/>
              <a:t>优化设计</a:t>
            </a:r>
          </a:p>
        </p:txBody>
      </p:sp>
      <p:sp>
        <p:nvSpPr>
          <p:cNvPr id="315396" name="Rectangle 4"/>
          <p:cNvSpPr>
            <a:spLocks noGrp="1" noChangeArrowheads="1"/>
          </p:cNvSpPr>
          <p:nvPr>
            <p:ph type="body" idx="1"/>
          </p:nvPr>
        </p:nvSpPr>
        <p:spPr/>
        <p:txBody>
          <a:bodyPr/>
          <a:lstStyle/>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问题</a:t>
            </a:r>
          </a:p>
          <a:p>
            <a:pPr marL="0" indent="0" eaLnBrk="1" hangingPunct="1">
              <a:lnSpc>
                <a:spcPct val="130000"/>
              </a:lnSpc>
              <a:buFont typeface="Wingdings" pitchFamily="2" charset="2"/>
              <a:buNone/>
              <a:defRPr/>
            </a:pPr>
            <a:r>
              <a:rPr lang="zh-CN" altLang="en-US" sz="2400" dirty="0" smtClean="0"/>
              <a:t>    操作码和地址码的优化，会造成指令字的不定长，无法同时满足速度快和空间省。</a:t>
            </a:r>
          </a:p>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解决</a:t>
            </a:r>
          </a:p>
          <a:p>
            <a:pPr marL="0" indent="0" eaLnBrk="1" hangingPunct="1">
              <a:lnSpc>
                <a:spcPct val="130000"/>
              </a:lnSpc>
              <a:buFont typeface="Wingdings" pitchFamily="2" charset="2"/>
              <a:buNone/>
              <a:defRPr/>
            </a:pPr>
            <a:r>
              <a:rPr lang="zh-CN" altLang="en-US" sz="2400" dirty="0" smtClean="0"/>
              <a:t>    合理结合，形成定长或多种长度的指令字，例如：长操作码配短地址码等。</a:t>
            </a:r>
            <a:endParaRPr lang="en-US" altLang="zh-CN" sz="2400" dirty="0" smtClean="0"/>
          </a:p>
          <a:p>
            <a:pPr marL="0" indent="0" eaLnBrk="1" hangingPunct="1">
              <a:lnSpc>
                <a:spcPct val="130000"/>
              </a:lnSpc>
              <a:buClr>
                <a:srgbClr val="FF3300"/>
              </a:buClr>
              <a:defRPr/>
            </a:pPr>
            <a:r>
              <a:rPr lang="zh-CN" altLang="en-US" sz="2400" dirty="0" smtClean="0">
                <a:solidFill>
                  <a:srgbClr val="FF3300"/>
                </a:solidFill>
                <a:effectLst>
                  <a:outerShdw blurRad="38100" dist="38100" dir="2700000" algn="tl">
                    <a:srgbClr val="C0C0C0"/>
                  </a:outerShdw>
                </a:effectLst>
              </a:rPr>
              <a:t>  编码</a:t>
            </a:r>
            <a:r>
              <a:rPr lang="zh-CN" altLang="en-US" sz="2400" dirty="0">
                <a:solidFill>
                  <a:srgbClr val="FF3300"/>
                </a:solidFill>
                <a:effectLst>
                  <a:outerShdw blurRad="38100" dist="38100" dir="2700000" algn="tl">
                    <a:srgbClr val="C0C0C0"/>
                  </a:outerShdw>
                </a:effectLst>
              </a:rPr>
              <a:t>格式</a:t>
            </a:r>
          </a:p>
          <a:p>
            <a:pPr marL="0" indent="0" eaLnBrk="1" hangingPunct="1">
              <a:lnSpc>
                <a:spcPct val="130000"/>
              </a:lnSpc>
              <a:buFont typeface="Wingdings" pitchFamily="2" charset="2"/>
              <a:buNone/>
              <a:defRPr/>
            </a:pPr>
            <a:r>
              <a:rPr lang="zh-CN" altLang="en-US" sz="2400" dirty="0" smtClean="0"/>
              <a:t>    变</a:t>
            </a:r>
            <a:r>
              <a:rPr lang="zh-CN" altLang="en-US" sz="2400" dirty="0"/>
              <a:t>长编码格式、定长编码格式、混合型编码格式</a:t>
            </a:r>
            <a:endParaRPr lang="zh-CN" altLang="en-US" sz="2400" dirty="0" smtClean="0"/>
          </a:p>
        </p:txBody>
      </p:sp>
      <p:sp>
        <p:nvSpPr>
          <p:cNvPr id="78853" name="Text Box 1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a:t>
            </a:r>
            <a:r>
              <a:rPr lang="zh-CN" altLang="en-US" sz="1200" b="0">
                <a:latin typeface="幼圆" pitchFamily="49" charset="-122"/>
                <a:ea typeface="幼圆" pitchFamily="49" charset="-122"/>
              </a:rPr>
              <a:t> 之 </a:t>
            </a:r>
            <a:r>
              <a:rPr lang="en-US" altLang="zh-CN" sz="1200" b="0">
                <a:latin typeface="幼圆" pitchFamily="49" charset="-122"/>
                <a:ea typeface="幼圆" pitchFamily="49" charset="-122"/>
              </a:rPr>
              <a:t>1</a:t>
            </a:r>
            <a:endParaRPr lang="zh-CN" altLang="en-US" sz="1200" b="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变长编码格式</a:t>
            </a:r>
            <a:endParaRPr lang="zh-CN" altLang="en-US" dirty="0"/>
          </a:p>
        </p:txBody>
      </p:sp>
      <p:sp>
        <p:nvSpPr>
          <p:cNvPr id="79875" name="内容占位符 2"/>
          <p:cNvSpPr>
            <a:spLocks noGrp="1"/>
          </p:cNvSpPr>
          <p:nvPr>
            <p:ph idx="1"/>
          </p:nvPr>
        </p:nvSpPr>
        <p:spPr>
          <a:xfrm>
            <a:off x="809625" y="1916113"/>
            <a:ext cx="7958138" cy="2736850"/>
          </a:xfrm>
        </p:spPr>
        <p:txBody>
          <a:bodyPr/>
          <a:lstStyle/>
          <a:p>
            <a:r>
              <a:rPr lang="zh-CN" altLang="en-US" sz="2400" smtClean="0">
                <a:solidFill>
                  <a:srgbClr val="FF0000"/>
                </a:solidFill>
              </a:rPr>
              <a:t>变长编码格式</a:t>
            </a:r>
          </a:p>
          <a:p>
            <a:pPr lvl="1"/>
            <a:r>
              <a:rPr lang="zh-CN" altLang="en-US" sz="2400" smtClean="0"/>
              <a:t>当指令集的寻址方式和操作种类很多时，这种编码格式是最好的。</a:t>
            </a:r>
          </a:p>
          <a:p>
            <a:pPr lvl="1"/>
            <a:r>
              <a:rPr lang="zh-CN" altLang="en-US" sz="2400" smtClean="0"/>
              <a:t>用最少的二进制位来表示目标代码。</a:t>
            </a:r>
          </a:p>
          <a:p>
            <a:pPr lvl="1"/>
            <a:r>
              <a:rPr lang="zh-CN" altLang="en-US" sz="2400" smtClean="0"/>
              <a:t>可能会使各条指令的字长和执行时间相差很大。</a:t>
            </a:r>
            <a:endParaRPr lang="en-US" altLang="zh-CN" sz="2400" smtClean="0"/>
          </a:p>
          <a:p>
            <a:pPr lvl="1"/>
            <a:r>
              <a:rPr lang="en-US" altLang="zh-CN" sz="2400" smtClean="0"/>
              <a:t>VAX</a:t>
            </a:r>
            <a:r>
              <a:rPr lang="zh-CN" altLang="en-US" sz="2400" smtClean="0"/>
              <a:t>和</a:t>
            </a:r>
            <a:r>
              <a:rPr lang="en-US" altLang="zh-CN" sz="2400" smtClean="0"/>
              <a:t>80x86</a:t>
            </a:r>
            <a:r>
              <a:rPr lang="zh-CN" altLang="en-US" sz="2400" smtClean="0"/>
              <a:t>采用了这种编码格式</a:t>
            </a:r>
          </a:p>
          <a:p>
            <a:endParaRPr lang="zh-CN" altLang="en-US" sz="2400" smtClean="0"/>
          </a:p>
        </p:txBody>
      </p:sp>
      <p:graphicFrame>
        <p:nvGraphicFramePr>
          <p:cNvPr id="79876" name="对象 3"/>
          <p:cNvGraphicFramePr>
            <a:graphicFrameLocks noChangeAspect="1"/>
          </p:cNvGraphicFramePr>
          <p:nvPr/>
        </p:nvGraphicFramePr>
        <p:xfrm>
          <a:off x="539750" y="4581525"/>
          <a:ext cx="8640763" cy="811213"/>
        </p:xfrm>
        <a:graphic>
          <a:graphicData uri="http://schemas.openxmlformats.org/presentationml/2006/ole">
            <mc:AlternateContent xmlns:mc="http://schemas.openxmlformats.org/markup-compatibility/2006">
              <mc:Choice xmlns:v="urn:schemas-microsoft-com:vml" Requires="v">
                <p:oleObj spid="_x0000_s79930" name="Picture2" r:id="rId4" imgW="4195572" imgH="393192" progId="Word.Picture.8">
                  <p:embed/>
                </p:oleObj>
              </mc:Choice>
              <mc:Fallback>
                <p:oleObj name="Picture2" r:id="rId4" imgW="4195572" imgH="393192" progId="Word.Picture.8">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4581525"/>
                        <a:ext cx="8640763"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Box 4"/>
          <p:cNvSpPr txBox="1"/>
          <p:nvPr/>
        </p:nvSpPr>
        <p:spPr>
          <a:xfrm>
            <a:off x="900113" y="5516563"/>
            <a:ext cx="7848600" cy="831850"/>
          </a:xfrm>
          <a:prstGeom prst="rect">
            <a:avLst/>
          </a:prstGeom>
          <a:noFill/>
        </p:spPr>
        <p:txBody>
          <a:bodyPr>
            <a:spAutoFit/>
          </a:bodyPr>
          <a:lstStyle/>
          <a:p>
            <a:pPr>
              <a:defRPr/>
            </a:pPr>
            <a:r>
              <a:rPr lang="zh-CN" altLang="en-US" sz="2400" b="1" dirty="0">
                <a:latin typeface="+mn-ea"/>
                <a:ea typeface="+mn-ea"/>
              </a:rPr>
              <a:t>    </a:t>
            </a:r>
            <a:r>
              <a:rPr lang="zh-CN" altLang="en-US" sz="2400" b="1" dirty="0">
                <a:solidFill>
                  <a:srgbClr val="FF0000"/>
                </a:solidFill>
                <a:latin typeface="+mn-ea"/>
                <a:ea typeface="+mn-ea"/>
              </a:rPr>
              <a:t>寻址方式</a:t>
            </a:r>
            <a:r>
              <a:rPr lang="zh-CN" altLang="en-US" sz="2400" b="1" dirty="0">
                <a:latin typeface="+mn-ea"/>
                <a:ea typeface="+mn-ea"/>
              </a:rPr>
              <a:t>通过设置专门的</a:t>
            </a:r>
            <a:r>
              <a:rPr lang="zh-CN" altLang="en-US" sz="2400" b="1" dirty="0">
                <a:solidFill>
                  <a:srgbClr val="FF0000"/>
                </a:solidFill>
                <a:latin typeface="+mn-ea"/>
                <a:ea typeface="+mn-ea"/>
              </a:rPr>
              <a:t>地址描述符</a:t>
            </a:r>
            <a:r>
              <a:rPr lang="zh-CN" altLang="en-US" sz="2400" b="1" dirty="0">
                <a:latin typeface="+mn-ea"/>
                <a:ea typeface="+mn-ea"/>
              </a:rPr>
              <a:t>给出，因为指令有多个操作数，无法在操作码中进行编码。</a:t>
            </a:r>
          </a:p>
        </p:txBody>
      </p:sp>
      <p:sp>
        <p:nvSpPr>
          <p:cNvPr id="79878" name="Text Box 1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a:t>
            </a:r>
            <a:r>
              <a:rPr lang="zh-CN" altLang="en-US" sz="1200" b="0">
                <a:latin typeface="幼圆" pitchFamily="49" charset="-122"/>
                <a:ea typeface="幼圆" pitchFamily="49" charset="-122"/>
              </a:rPr>
              <a:t> 之 </a:t>
            </a:r>
            <a:r>
              <a:rPr lang="en-US" altLang="zh-CN" sz="1200" b="0">
                <a:latin typeface="幼圆" pitchFamily="49" charset="-122"/>
                <a:ea typeface="幼圆" pitchFamily="49" charset="-122"/>
              </a:rPr>
              <a:t>2</a:t>
            </a:r>
            <a:endParaRPr lang="zh-CN" altLang="en-US" sz="1200" b="0">
              <a:latin typeface="幼圆" pitchFamily="49" charset="-122"/>
              <a:ea typeface="幼圆" pitchFamily="49" charset="-122"/>
            </a:endParaRPr>
          </a:p>
        </p:txBody>
      </p:sp>
      <p:sp>
        <p:nvSpPr>
          <p:cNvPr id="7"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6"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指令格式的优化设计</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定长编码格式</a:t>
            </a:r>
            <a:endParaRPr lang="zh-CN" altLang="en-US" dirty="0"/>
          </a:p>
        </p:txBody>
      </p:sp>
      <p:sp>
        <p:nvSpPr>
          <p:cNvPr id="80899" name="内容占位符 2"/>
          <p:cNvSpPr>
            <a:spLocks noGrp="1"/>
          </p:cNvSpPr>
          <p:nvPr>
            <p:ph idx="1"/>
          </p:nvPr>
        </p:nvSpPr>
        <p:spPr>
          <a:xfrm>
            <a:off x="809625" y="1916113"/>
            <a:ext cx="7958138" cy="2736850"/>
          </a:xfrm>
        </p:spPr>
        <p:txBody>
          <a:bodyPr/>
          <a:lstStyle/>
          <a:p>
            <a:r>
              <a:rPr lang="zh-CN" altLang="en-US" sz="2400" smtClean="0">
                <a:solidFill>
                  <a:srgbClr val="FF0000"/>
                </a:solidFill>
              </a:rPr>
              <a:t>定长编码格式</a:t>
            </a:r>
          </a:p>
          <a:p>
            <a:pPr lvl="1"/>
            <a:r>
              <a:rPr lang="zh-CN" altLang="en-US" sz="2400" smtClean="0"/>
              <a:t>将操作类型和寻址方式一起编码到操作码中。</a:t>
            </a:r>
          </a:p>
          <a:p>
            <a:pPr lvl="1"/>
            <a:r>
              <a:rPr lang="zh-CN" altLang="en-US" sz="2400" smtClean="0"/>
              <a:t>当寻址方式和操作类型非常少时，这种编码格式非常好。</a:t>
            </a:r>
          </a:p>
          <a:p>
            <a:pPr lvl="1"/>
            <a:r>
              <a:rPr lang="zh-CN" altLang="en-US" sz="2400" smtClean="0"/>
              <a:t>可以有效地降低译码的复杂度，提高译码的速度。</a:t>
            </a:r>
          </a:p>
          <a:p>
            <a:pPr lvl="1"/>
            <a:r>
              <a:rPr lang="zh-CN" altLang="en-US" sz="2400" smtClean="0"/>
              <a:t>大部分</a:t>
            </a:r>
            <a:r>
              <a:rPr lang="en-US" altLang="zh-CN" sz="2400" smtClean="0"/>
              <a:t>RISC</a:t>
            </a:r>
            <a:r>
              <a:rPr lang="zh-CN" altLang="en-US" sz="2400" smtClean="0"/>
              <a:t>的指令集（如</a:t>
            </a:r>
            <a:r>
              <a:rPr lang="en-US" altLang="zh-CN" sz="2400" smtClean="0"/>
              <a:t>Alpha</a:t>
            </a:r>
            <a:r>
              <a:rPr lang="zh-CN" altLang="en-US" sz="2400" smtClean="0"/>
              <a:t>、</a:t>
            </a:r>
            <a:r>
              <a:rPr lang="en-US" altLang="zh-CN" sz="2400" smtClean="0"/>
              <a:t>MIPS</a:t>
            </a:r>
            <a:r>
              <a:rPr lang="zh-CN" altLang="en-US" sz="2400" smtClean="0"/>
              <a:t>、</a:t>
            </a:r>
            <a:r>
              <a:rPr lang="en-US" altLang="zh-CN" sz="2400" smtClean="0"/>
              <a:t>SPARC</a:t>
            </a:r>
            <a:r>
              <a:rPr lang="zh-CN" altLang="en-US" sz="2400" smtClean="0"/>
              <a:t>等）均采用这种编码格式。</a:t>
            </a:r>
          </a:p>
          <a:p>
            <a:endParaRPr lang="zh-CN" altLang="en-US" sz="2400" smtClean="0"/>
          </a:p>
        </p:txBody>
      </p:sp>
      <p:graphicFrame>
        <p:nvGraphicFramePr>
          <p:cNvPr id="80900" name="对象 5"/>
          <p:cNvGraphicFramePr>
            <a:graphicFrameLocks noChangeAspect="1"/>
          </p:cNvGraphicFramePr>
          <p:nvPr/>
        </p:nvGraphicFramePr>
        <p:xfrm>
          <a:off x="1116013" y="5084763"/>
          <a:ext cx="7056437" cy="755650"/>
        </p:xfrm>
        <a:graphic>
          <a:graphicData uri="http://schemas.openxmlformats.org/presentationml/2006/ole">
            <mc:AlternateContent xmlns:mc="http://schemas.openxmlformats.org/markup-compatibility/2006">
              <mc:Choice xmlns:v="urn:schemas-microsoft-com:vml" Requires="v">
                <p:oleObj spid="_x0000_s80953" name="图片" r:id="rId4" imgW="3262225" imgH="349579" progId="Word.Picture.8">
                  <p:embed/>
                </p:oleObj>
              </mc:Choice>
              <mc:Fallback>
                <p:oleObj name="图片" r:id="rId4" imgW="3262225" imgH="349579" progId="Word.Picture.8">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5084763"/>
                        <a:ext cx="7056437"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1" name="Text Box 1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a:t>
            </a:r>
            <a:r>
              <a:rPr lang="zh-CN" altLang="en-US" sz="1200" b="0">
                <a:latin typeface="幼圆" pitchFamily="49" charset="-122"/>
                <a:ea typeface="幼圆" pitchFamily="49" charset="-122"/>
              </a:rPr>
              <a:t> 之 </a:t>
            </a:r>
            <a:r>
              <a:rPr lang="en-US" altLang="zh-CN" sz="1200" b="0">
                <a:latin typeface="幼圆" pitchFamily="49" charset="-122"/>
                <a:ea typeface="幼圆" pitchFamily="49" charset="-122"/>
              </a:rPr>
              <a:t>3</a:t>
            </a:r>
            <a:endParaRPr lang="zh-CN" altLang="en-US" sz="1200" b="0">
              <a:latin typeface="幼圆" pitchFamily="49" charset="-122"/>
              <a:ea typeface="幼圆" pitchFamily="49" charset="-122"/>
            </a:endParaRPr>
          </a:p>
        </p:txBody>
      </p:sp>
      <p:sp>
        <p:nvSpPr>
          <p:cNvPr id="6"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6"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指令格式的优化设计</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混合型编码格式</a:t>
            </a:r>
          </a:p>
        </p:txBody>
      </p:sp>
      <p:sp>
        <p:nvSpPr>
          <p:cNvPr id="81923" name="内容占位符 2"/>
          <p:cNvSpPr>
            <a:spLocks noGrp="1"/>
          </p:cNvSpPr>
          <p:nvPr>
            <p:ph idx="1"/>
          </p:nvPr>
        </p:nvSpPr>
        <p:spPr>
          <a:xfrm>
            <a:off x="809625" y="1916113"/>
            <a:ext cx="7958138" cy="2160587"/>
          </a:xfrm>
        </p:spPr>
        <p:txBody>
          <a:bodyPr/>
          <a:lstStyle/>
          <a:p>
            <a:r>
              <a:rPr lang="zh-CN" altLang="en-US" sz="2400" smtClean="0">
                <a:solidFill>
                  <a:srgbClr val="FF0000"/>
                </a:solidFill>
              </a:rPr>
              <a:t>混合型编码格式</a:t>
            </a:r>
          </a:p>
          <a:p>
            <a:pPr lvl="1"/>
            <a:r>
              <a:rPr lang="zh-CN" altLang="en-US" sz="2400" smtClean="0"/>
              <a:t>提供若干种固定的指令字长。</a:t>
            </a:r>
          </a:p>
          <a:p>
            <a:pPr lvl="1"/>
            <a:r>
              <a:rPr lang="zh-CN" altLang="en-US" sz="2400" smtClean="0"/>
              <a:t>以期达到既能够减少目标代码长度又能降低译码复杂度的目标。</a:t>
            </a:r>
            <a:endParaRPr lang="en-US" altLang="zh-CN" sz="2400" smtClean="0"/>
          </a:p>
          <a:p>
            <a:pPr lvl="1"/>
            <a:r>
              <a:rPr lang="zh-CN" altLang="en-US" sz="2400" smtClean="0"/>
              <a:t>例如：</a:t>
            </a:r>
            <a:r>
              <a:rPr lang="en-US" altLang="zh-CN" sz="2400" smtClean="0"/>
              <a:t>IBM 360/370</a:t>
            </a:r>
            <a:endParaRPr lang="zh-CN" altLang="en-US" sz="2400" smtClean="0"/>
          </a:p>
        </p:txBody>
      </p:sp>
      <p:graphicFrame>
        <p:nvGraphicFramePr>
          <p:cNvPr id="81924" name="对象 3"/>
          <p:cNvGraphicFramePr>
            <a:graphicFrameLocks noChangeAspect="1"/>
          </p:cNvGraphicFramePr>
          <p:nvPr/>
        </p:nvGraphicFramePr>
        <p:xfrm>
          <a:off x="1476375" y="4111625"/>
          <a:ext cx="6337300" cy="2197100"/>
        </p:xfrm>
        <a:graphic>
          <a:graphicData uri="http://schemas.openxmlformats.org/presentationml/2006/ole">
            <mc:AlternateContent xmlns:mc="http://schemas.openxmlformats.org/markup-compatibility/2006">
              <mc:Choice xmlns:v="urn:schemas-microsoft-com:vml" Requires="v">
                <p:oleObj spid="_x0000_s81977" name="图片" r:id="rId4" imgW="3127889" imgH="1088426" progId="Word.Picture.8">
                  <p:embed/>
                </p:oleObj>
              </mc:Choice>
              <mc:Fallback>
                <p:oleObj name="图片" r:id="rId4" imgW="3127889" imgH="1088426" progId="Word.Picture.8">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4111625"/>
                        <a:ext cx="6337300" cy="219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5" name="Text Box 1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a:t>
            </a:r>
            <a:r>
              <a:rPr lang="zh-CN" altLang="en-US" sz="1200" b="0">
                <a:latin typeface="幼圆" pitchFamily="49" charset="-122"/>
                <a:ea typeface="幼圆" pitchFamily="49" charset="-122"/>
              </a:rPr>
              <a:t> 之 </a:t>
            </a:r>
            <a:r>
              <a:rPr lang="en-US" altLang="zh-CN" sz="1200" b="0">
                <a:latin typeface="幼圆" pitchFamily="49" charset="-122"/>
                <a:ea typeface="幼圆" pitchFamily="49" charset="-122"/>
              </a:rPr>
              <a:t>4</a:t>
            </a:r>
            <a:endParaRPr lang="zh-CN" altLang="en-US" sz="1200" b="0">
              <a:latin typeface="幼圆" pitchFamily="49" charset="-122"/>
              <a:ea typeface="幼圆" pitchFamily="49" charset="-122"/>
            </a:endParaRPr>
          </a:p>
        </p:txBody>
      </p:sp>
      <p:sp>
        <p:nvSpPr>
          <p:cNvPr id="6"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6"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指令格式的优化设计</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pPr eaLnBrk="1" hangingPunct="1">
              <a:defRPr/>
            </a:pPr>
            <a:r>
              <a:rPr lang="zh-CN" altLang="en-US" smtClean="0"/>
              <a:t>指令系统的功能设计</a:t>
            </a:r>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82948" name="Rectangle 5"/>
          <p:cNvSpPr>
            <a:spLocks noGrp="1" noChangeArrowheads="1"/>
          </p:cNvSpPr>
          <p:nvPr>
            <p:ph type="body" idx="1"/>
          </p:nvPr>
        </p:nvSpPr>
        <p:spPr>
          <a:xfrm>
            <a:off x="1524000" y="2060575"/>
            <a:ext cx="6288088" cy="4321175"/>
          </a:xfrm>
        </p:spPr>
        <p:txBody>
          <a:bodyPr/>
          <a:lstStyle/>
          <a:p>
            <a:pPr eaLnBrk="1" hangingPunct="1">
              <a:lnSpc>
                <a:spcPct val="150000"/>
              </a:lnSpc>
            </a:pPr>
            <a:r>
              <a:rPr lang="zh-CN" altLang="en-US" dirty="0" smtClean="0">
                <a:hlinkClick r:id="rId4" action="ppaction://hlinksldjump"/>
              </a:rPr>
              <a:t>指令系统设计的基本原则</a:t>
            </a:r>
            <a:endParaRPr lang="en-US" altLang="zh-CN" dirty="0" smtClean="0"/>
          </a:p>
          <a:p>
            <a:pPr eaLnBrk="1" hangingPunct="1">
              <a:lnSpc>
                <a:spcPct val="150000"/>
              </a:lnSpc>
            </a:pPr>
            <a:r>
              <a:rPr lang="zh-CN" altLang="en-US" dirty="0" smtClean="0">
                <a:hlinkClick r:id="rId5" action="ppaction://hlinksldjump"/>
              </a:rPr>
              <a:t>基本指令系统</a:t>
            </a:r>
            <a:endParaRPr lang="zh-CN" altLang="en-US" dirty="0" smtClean="0"/>
          </a:p>
          <a:p>
            <a:pPr eaLnBrk="1" hangingPunct="1">
              <a:lnSpc>
                <a:spcPct val="150000"/>
              </a:lnSpc>
            </a:pPr>
            <a:r>
              <a:rPr lang="zh-CN" altLang="en-US" dirty="0" smtClean="0"/>
              <a:t>指令系统优化设计</a:t>
            </a:r>
          </a:p>
          <a:p>
            <a:pPr lvl="1" eaLnBrk="1" hangingPunct="1">
              <a:lnSpc>
                <a:spcPct val="150000"/>
              </a:lnSpc>
              <a:buFont typeface="Wingdings" pitchFamily="2" charset="2"/>
              <a:buChar char="Ø"/>
            </a:pPr>
            <a:r>
              <a:rPr lang="zh-CN" altLang="en-US" dirty="0" smtClean="0">
                <a:hlinkClick r:id="rId6" action="ppaction://hlinksldjump"/>
              </a:rPr>
              <a:t>复杂指令系统计算机（</a:t>
            </a:r>
            <a:r>
              <a:rPr lang="en-US" altLang="zh-CN" dirty="0" smtClean="0">
                <a:hlinkClick r:id="rId6" action="ppaction://hlinksldjump"/>
              </a:rPr>
              <a:t>CISC）</a:t>
            </a:r>
            <a:endParaRPr lang="en-US" altLang="zh-CN" dirty="0" smtClean="0"/>
          </a:p>
          <a:p>
            <a:pPr lvl="1" eaLnBrk="1" hangingPunct="1">
              <a:lnSpc>
                <a:spcPct val="150000"/>
              </a:lnSpc>
              <a:buFont typeface="Wingdings" pitchFamily="2" charset="2"/>
              <a:buChar char="Ø"/>
            </a:pPr>
            <a:r>
              <a:rPr lang="zh-CN" altLang="en-US" dirty="0" smtClean="0">
                <a:hlinkClick r:id="rId7" action="ppaction://hlinksldjump"/>
              </a:rPr>
              <a:t>精简指令系统计算机（</a:t>
            </a:r>
            <a:r>
              <a:rPr lang="en-US" altLang="zh-CN" dirty="0" smtClean="0">
                <a:hlinkClick r:id="rId7" action="ppaction://hlinksldjump"/>
              </a:rPr>
              <a:t>RISC）</a:t>
            </a:r>
            <a:endParaRPr lang="en-US" altLang="zh-CN"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lstStyle/>
          <a:p>
            <a:pPr eaLnBrk="1" hangingPunct="1">
              <a:defRPr/>
            </a:pPr>
            <a:r>
              <a:rPr lang="zh-CN" altLang="en-US" dirty="0" smtClean="0"/>
              <a:t>指令系统设计的基本原则</a:t>
            </a:r>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endParaRPr lang="zh-CN" altLang="en-US" sz="1200" b="0">
              <a:latin typeface="Times New Roman" pitchFamily="18" charset="0"/>
              <a:ea typeface="幼圆" pitchFamily="49" charset="-122"/>
            </a:endParaRPr>
          </a:p>
        </p:txBody>
      </p:sp>
      <p:sp>
        <p:nvSpPr>
          <p:cNvPr id="331781" name="Rectangle 5"/>
          <p:cNvSpPr>
            <a:spLocks noGrp="1" noChangeArrowheads="1"/>
          </p:cNvSpPr>
          <p:nvPr>
            <p:ph type="body" idx="1"/>
          </p:nvPr>
        </p:nvSpPr>
        <p:spPr>
          <a:xfrm>
            <a:off x="809625" y="1844824"/>
            <a:ext cx="7958138" cy="4465637"/>
          </a:xfrm>
        </p:spPr>
        <p:txBody>
          <a:bodyPr/>
          <a:lstStyle/>
          <a:p>
            <a:pPr marL="0" indent="0" eaLnBrk="1" hangingPunct="1">
              <a:lnSpc>
                <a:spcPct val="110000"/>
              </a:lnSpc>
              <a:spcBef>
                <a:spcPts val="0"/>
              </a:spcBef>
              <a:buClr>
                <a:srgbClr val="FF3300"/>
              </a:buClr>
              <a:defRPr/>
            </a:pPr>
            <a:r>
              <a:rPr lang="zh-CN" altLang="en-US" sz="2400" dirty="0" smtClean="0">
                <a:solidFill>
                  <a:srgbClr val="FF3300"/>
                </a:solidFill>
                <a:effectLst>
                  <a:outerShdw blurRad="38100" dist="38100" dir="2700000" algn="tl">
                    <a:srgbClr val="C0C0C0"/>
                  </a:outerShdw>
                </a:effectLst>
              </a:rPr>
              <a:t>  完整性</a:t>
            </a:r>
          </a:p>
          <a:p>
            <a:pPr marL="0" indent="0" eaLnBrk="1" hangingPunct="1">
              <a:lnSpc>
                <a:spcPct val="110000"/>
              </a:lnSpc>
              <a:spcBef>
                <a:spcPts val="0"/>
              </a:spcBef>
              <a:buFont typeface="Wingdings" pitchFamily="2" charset="2"/>
              <a:buNone/>
              <a:defRPr/>
            </a:pPr>
            <a:r>
              <a:rPr lang="zh-CN" altLang="en-US" sz="2400" dirty="0" smtClean="0"/>
              <a:t>    是指作为通用计算机所应该具备的基本指令种类。</a:t>
            </a:r>
          </a:p>
          <a:p>
            <a:pPr marL="0" indent="0" eaLnBrk="1" hangingPunct="1">
              <a:lnSpc>
                <a:spcPct val="110000"/>
              </a:lnSpc>
              <a:spcBef>
                <a:spcPts val="0"/>
              </a:spcBef>
              <a:buClr>
                <a:srgbClr val="FF3300"/>
              </a:buClr>
              <a:defRPr/>
            </a:pPr>
            <a:r>
              <a:rPr lang="zh-CN" altLang="en-US" sz="2400" dirty="0" smtClean="0"/>
              <a:t>  </a:t>
            </a:r>
            <a:r>
              <a:rPr lang="zh-CN" altLang="en-US" sz="2400" dirty="0" smtClean="0">
                <a:solidFill>
                  <a:srgbClr val="FF0000"/>
                </a:solidFill>
              </a:rPr>
              <a:t>正交性</a:t>
            </a:r>
            <a:endParaRPr lang="en-US" altLang="zh-CN" sz="2400" dirty="0" smtClean="0">
              <a:solidFill>
                <a:srgbClr val="FF0000"/>
              </a:solidFill>
            </a:endParaRPr>
          </a:p>
          <a:p>
            <a:pPr marL="0" indent="0" eaLnBrk="1" hangingPunct="1">
              <a:lnSpc>
                <a:spcPct val="110000"/>
              </a:lnSpc>
              <a:spcBef>
                <a:spcPts val="0"/>
              </a:spcBef>
              <a:buClr>
                <a:srgbClr val="FF3300"/>
              </a:buClr>
              <a:buNone/>
              <a:defRPr/>
            </a:pPr>
            <a:r>
              <a:rPr lang="zh-CN" altLang="en-US" sz="2400" dirty="0" smtClean="0"/>
              <a:t>    在</a:t>
            </a:r>
            <a:r>
              <a:rPr lang="zh-CN" altLang="en-US" sz="2400" dirty="0"/>
              <a:t>指令中各个不同含义的字段，如操作类型、数据类型、寻址方式字段等，在编码时应互不相关、相互</a:t>
            </a:r>
            <a:r>
              <a:rPr lang="zh-CN" altLang="en-US" sz="2400" dirty="0" smtClean="0"/>
              <a:t>独立</a:t>
            </a:r>
            <a:r>
              <a:rPr lang="zh-CN" altLang="en-US" sz="2400" dirty="0"/>
              <a:t>。</a:t>
            </a:r>
            <a:endParaRPr lang="en-US" altLang="zh-CN" sz="2400" dirty="0" smtClean="0"/>
          </a:p>
          <a:p>
            <a:pPr marL="0" indent="0" eaLnBrk="1" hangingPunct="1">
              <a:lnSpc>
                <a:spcPct val="110000"/>
              </a:lnSpc>
              <a:spcBef>
                <a:spcPts val="0"/>
              </a:spcBef>
              <a:buClr>
                <a:srgbClr val="FF3300"/>
              </a:buClr>
              <a:defRPr/>
            </a:pPr>
            <a:r>
              <a:rPr lang="en-US" altLang="zh-CN" sz="2400" dirty="0">
                <a:solidFill>
                  <a:srgbClr val="FF3300"/>
                </a:solidFill>
                <a:effectLst>
                  <a:outerShdw blurRad="38100" dist="38100" dir="2700000" algn="tl">
                    <a:srgbClr val="C0C0C0"/>
                  </a:outerShdw>
                </a:effectLst>
              </a:rPr>
              <a:t> </a:t>
            </a:r>
            <a:r>
              <a:rPr lang="en-US" altLang="zh-CN" sz="2400" dirty="0" smtClean="0">
                <a:solidFill>
                  <a:srgbClr val="FF3300"/>
                </a:solidFill>
                <a:effectLst>
                  <a:outerShdw blurRad="38100" dist="38100" dir="2700000" algn="tl">
                    <a:srgbClr val="C0C0C0"/>
                  </a:outerShdw>
                </a:effectLst>
              </a:rPr>
              <a:t> </a:t>
            </a:r>
            <a:r>
              <a:rPr lang="zh-CN" altLang="en-US" sz="2400" dirty="0" smtClean="0">
                <a:solidFill>
                  <a:srgbClr val="FF3300"/>
                </a:solidFill>
                <a:effectLst>
                  <a:outerShdw blurRad="38100" dist="38100" dir="2700000" algn="tl">
                    <a:srgbClr val="C0C0C0"/>
                  </a:outerShdw>
                </a:effectLst>
              </a:rPr>
              <a:t>高效率</a:t>
            </a:r>
          </a:p>
          <a:p>
            <a:pPr marL="0" indent="0" eaLnBrk="1" hangingPunct="1">
              <a:lnSpc>
                <a:spcPct val="110000"/>
              </a:lnSpc>
              <a:spcBef>
                <a:spcPts val="0"/>
              </a:spcBef>
              <a:buFont typeface="Wingdings" pitchFamily="2" charset="2"/>
              <a:buNone/>
              <a:defRPr/>
            </a:pPr>
            <a:r>
              <a:rPr lang="zh-CN" altLang="en-US" sz="2400" dirty="0" smtClean="0"/>
              <a:t>    是指指令的执行速度要快，使用频度要高。例如：在</a:t>
            </a:r>
            <a:r>
              <a:rPr lang="en-US" altLang="zh-CN" sz="2400" dirty="0" smtClean="0"/>
              <a:t>RISC</a:t>
            </a:r>
            <a:r>
              <a:rPr lang="zh-CN" altLang="en-US" sz="2400" dirty="0" smtClean="0"/>
              <a:t>体系结构中，大多数指令都能在一个节拍内完成，而且只设置那些使用频度高的指令。</a:t>
            </a:r>
          </a:p>
          <a:p>
            <a:pPr marL="0" indent="0" eaLnBrk="1" hangingPunct="1">
              <a:lnSpc>
                <a:spcPct val="110000"/>
              </a:lnSpc>
              <a:spcBef>
                <a:spcPts val="0"/>
              </a:spcBef>
              <a:buClr>
                <a:srgbClr val="FF3300"/>
              </a:buClr>
              <a:defRPr/>
            </a:pPr>
            <a:r>
              <a:rPr lang="zh-CN" altLang="en-US" sz="2400" dirty="0" smtClean="0"/>
              <a:t>  </a:t>
            </a:r>
            <a:r>
              <a:rPr lang="zh-CN" altLang="en-US" sz="2400" dirty="0" smtClean="0">
                <a:solidFill>
                  <a:srgbClr val="FF3300"/>
                </a:solidFill>
                <a:effectLst>
                  <a:outerShdw blurRad="38100" dist="38100" dir="2700000" algn="tl">
                    <a:srgbClr val="C0C0C0"/>
                  </a:outerShdw>
                </a:effectLst>
              </a:rPr>
              <a:t>兼容性</a:t>
            </a:r>
          </a:p>
          <a:p>
            <a:pPr marL="0" indent="0" eaLnBrk="1" hangingPunct="1">
              <a:lnSpc>
                <a:spcPct val="110000"/>
              </a:lnSpc>
              <a:spcBef>
                <a:spcPts val="0"/>
              </a:spcBef>
              <a:buFont typeface="Wingdings" pitchFamily="2" charset="2"/>
              <a:buNone/>
              <a:defRPr/>
            </a:pPr>
            <a:r>
              <a:rPr lang="zh-CN" altLang="en-US" sz="2400" dirty="0" smtClean="0"/>
              <a:t>    是计算机系统的生命力之所在。</a:t>
            </a:r>
          </a:p>
        </p:txBody>
      </p:sp>
      <p:sp>
        <p:nvSpPr>
          <p:cNvPr id="83973"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3</a:t>
            </a:r>
            <a:r>
              <a:rPr lang="zh-CN" altLang="en-US" sz="1200" b="0">
                <a:latin typeface="幼圆" pitchFamily="49" charset="-122"/>
                <a:ea typeface="幼圆" pitchFamily="49" charset="-122"/>
              </a:rPr>
              <a:t>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pPr eaLnBrk="1" hangingPunct="1">
              <a:defRPr/>
            </a:pPr>
            <a:r>
              <a:rPr lang="zh-CN" altLang="en-US" dirty="0"/>
              <a:t>指令系统设计的基本原则</a:t>
            </a:r>
            <a:endParaRPr lang="zh-CN" altLang="en-US" dirty="0" smtClean="0"/>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endParaRPr lang="zh-CN" altLang="en-US" sz="1200" b="0">
              <a:latin typeface="Times New Roman" pitchFamily="18" charset="0"/>
              <a:ea typeface="幼圆" pitchFamily="49" charset="-122"/>
            </a:endParaRPr>
          </a:p>
        </p:txBody>
      </p:sp>
      <p:sp>
        <p:nvSpPr>
          <p:cNvPr id="84996"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3</a:t>
            </a:r>
            <a:r>
              <a:rPr lang="zh-CN" altLang="en-US" sz="1200" b="0">
                <a:latin typeface="幼圆" pitchFamily="49" charset="-122"/>
                <a:ea typeface="幼圆" pitchFamily="49" charset="-122"/>
              </a:rPr>
              <a:t> 之 2</a:t>
            </a:r>
          </a:p>
        </p:txBody>
      </p:sp>
      <p:sp>
        <p:nvSpPr>
          <p:cNvPr id="335878" name="Rectangle 6"/>
          <p:cNvSpPr>
            <a:spLocks noGrp="1" noChangeArrowheads="1"/>
          </p:cNvSpPr>
          <p:nvPr>
            <p:ph type="body" idx="1"/>
          </p:nvPr>
        </p:nvSpPr>
        <p:spPr>
          <a:xfrm>
            <a:off x="838200" y="1989138"/>
            <a:ext cx="7958138" cy="2959100"/>
          </a:xfrm>
        </p:spPr>
        <p:txBody>
          <a:bodyPr/>
          <a:lstStyle/>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规整性</a:t>
            </a:r>
          </a:p>
          <a:p>
            <a:pPr marL="0" indent="0" eaLnBrk="1" hangingPunct="1">
              <a:lnSpc>
                <a:spcPct val="120000"/>
              </a:lnSpc>
              <a:buFont typeface="Wingdings" pitchFamily="2" charset="2"/>
              <a:buNone/>
              <a:defRPr/>
            </a:pPr>
            <a:r>
              <a:rPr lang="zh-CN" altLang="en-US" dirty="0" smtClean="0"/>
              <a:t>   </a:t>
            </a:r>
            <a:r>
              <a:rPr lang="zh-CN" altLang="en-US" sz="2400" dirty="0" smtClean="0"/>
              <a:t>是硬件设计（如：</a:t>
            </a:r>
            <a:r>
              <a:rPr lang="en-US" altLang="zh-CN" sz="2400" dirty="0" smtClean="0"/>
              <a:t>VLSI</a:t>
            </a:r>
            <a:r>
              <a:rPr lang="zh-CN" altLang="en-US" sz="2400" dirty="0" smtClean="0"/>
              <a:t>技术）和软件设计（如：编译程序）的需要。</a:t>
            </a:r>
          </a:p>
          <a:p>
            <a:pPr marL="0" indent="0" eaLnBrk="1" hangingPunct="1">
              <a:lnSpc>
                <a:spcPct val="120000"/>
              </a:lnSpc>
              <a:buFont typeface="Wingdings" pitchFamily="2" charset="2"/>
              <a:buNone/>
              <a:defRPr/>
            </a:pPr>
            <a:r>
              <a:rPr lang="zh-CN" altLang="en-US" sz="2400" dirty="0" smtClean="0"/>
              <a:t>    规整性主要包括：对称性和均匀性。</a:t>
            </a:r>
          </a:p>
        </p:txBody>
      </p:sp>
      <p:sp>
        <p:nvSpPr>
          <p:cNvPr id="335882" name="AutoShape 10"/>
          <p:cNvSpPr>
            <a:spLocks noChangeArrowheads="1"/>
          </p:cNvSpPr>
          <p:nvPr/>
        </p:nvSpPr>
        <p:spPr bwMode="auto">
          <a:xfrm>
            <a:off x="4267200" y="4495800"/>
            <a:ext cx="4114800" cy="1241425"/>
          </a:xfrm>
          <a:prstGeom prst="cloudCallout">
            <a:avLst>
              <a:gd name="adj1" fmla="val -71991"/>
              <a:gd name="adj2" fmla="val 42593"/>
            </a:avLst>
          </a:prstGeom>
          <a:solidFill>
            <a:srgbClr val="FFFF00"/>
          </a:solidFill>
          <a:ln w="28575">
            <a:solidFill>
              <a:schemeClr val="tx1"/>
            </a:solidFill>
            <a:round/>
            <a:headEnd/>
            <a:tailEnd/>
          </a:ln>
          <a:effectLst>
            <a:outerShdw dist="107763" dir="2700000" algn="ctr" rotWithShape="0">
              <a:schemeClr val="bg2"/>
            </a:outerShdw>
          </a:effectLst>
        </p:spPr>
        <p:txBody>
          <a:bodyPr lIns="90000" tIns="46800" rIns="90000" bIns="46800">
            <a:spAutoFit/>
          </a:bodyPr>
          <a:lstStyle/>
          <a:p>
            <a:pPr>
              <a:spcBef>
                <a:spcPct val="0"/>
              </a:spcBef>
              <a:buClrTx/>
              <a:buFontTx/>
              <a:buNone/>
              <a:defRPr/>
            </a:pPr>
            <a:r>
              <a:rPr lang="zh-CN" altLang="en-US" sz="2400">
                <a:solidFill>
                  <a:srgbClr val="FF3300"/>
                </a:solidFill>
                <a:effectLst>
                  <a:outerShdw blurRad="38100" dist="38100" dir="2700000" algn="tl">
                    <a:srgbClr val="000000"/>
                  </a:outerShdw>
                </a:effectLst>
                <a:latin typeface="楷体_GB2312" pitchFamily="49" charset="-122"/>
                <a:ea typeface="楷体_GB2312" pitchFamily="49" charset="-122"/>
              </a:rPr>
              <a:t>  对于规整性的要求必须有所选择。</a:t>
            </a:r>
            <a:r>
              <a:rPr lang="zh-CN" altLang="en-US" sz="2400">
                <a:latin typeface="楷体_GB2312" pitchFamily="49" charset="-122"/>
                <a:ea typeface="楷体_GB2312" pitchFamily="49" charset="-122"/>
              </a:rPr>
              <a:t> </a:t>
            </a:r>
          </a:p>
        </p:txBody>
      </p:sp>
      <p:pic>
        <p:nvPicPr>
          <p:cNvPr id="84999" name="Picture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1550" y="4508500"/>
            <a:ext cx="2303463"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pPr eaLnBrk="1" hangingPunct="1">
              <a:defRPr/>
            </a:pPr>
            <a:r>
              <a:rPr lang="zh-CN" altLang="en-US" dirty="0"/>
              <a:t>指令系统设计的基本原则</a:t>
            </a:r>
            <a:endParaRPr lang="zh-CN" altLang="en-US" dirty="0"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规整性</a:t>
            </a:r>
            <a:endParaRPr lang="zh-CN" altLang="en-US" sz="1200" b="0">
              <a:latin typeface="Times New Roman" pitchFamily="18" charset="0"/>
              <a:ea typeface="幼圆" pitchFamily="49" charset="-122"/>
            </a:endParaRPr>
          </a:p>
        </p:txBody>
      </p:sp>
      <p:sp>
        <p:nvSpPr>
          <p:cNvPr id="8602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3</a:t>
            </a:r>
            <a:r>
              <a:rPr lang="zh-CN" altLang="en-US" sz="1200" b="0">
                <a:latin typeface="幼圆" pitchFamily="49" charset="-122"/>
                <a:ea typeface="幼圆" pitchFamily="49" charset="-122"/>
              </a:rPr>
              <a:t> 之 3</a:t>
            </a:r>
          </a:p>
        </p:txBody>
      </p:sp>
      <p:sp>
        <p:nvSpPr>
          <p:cNvPr id="336903" name="Rectangle 7"/>
          <p:cNvSpPr>
            <a:spLocks noGrp="1" noChangeArrowheads="1"/>
          </p:cNvSpPr>
          <p:nvPr>
            <p:ph type="body" idx="1"/>
          </p:nvPr>
        </p:nvSpPr>
        <p:spPr>
          <a:xfrm>
            <a:off x="809625" y="1989138"/>
            <a:ext cx="7958138" cy="4392612"/>
          </a:xfrm>
        </p:spPr>
        <p:txBody>
          <a:bodyPr/>
          <a:lstStyle/>
          <a:p>
            <a:pPr eaLnBrk="1" hangingPunct="1">
              <a:lnSpc>
                <a:spcPct val="110000"/>
              </a:lnSpc>
              <a:defRPr/>
            </a:pPr>
            <a:r>
              <a:rPr lang="zh-CN" altLang="en-US" sz="2400" dirty="0" smtClean="0">
                <a:solidFill>
                  <a:srgbClr val="FF0000"/>
                </a:solidFill>
              </a:rPr>
              <a:t>对称性</a:t>
            </a:r>
            <a:endParaRPr lang="en-US" altLang="zh-CN" sz="2400" dirty="0" smtClean="0">
              <a:solidFill>
                <a:srgbClr val="FF0000"/>
              </a:solidFill>
            </a:endParaRPr>
          </a:p>
          <a:p>
            <a:pPr lvl="1" eaLnBrk="1" hangingPunct="1">
              <a:lnSpc>
                <a:spcPct val="110000"/>
              </a:lnSpc>
              <a:defRPr/>
            </a:pPr>
            <a:r>
              <a:rPr lang="zh-CN" altLang="en-US" sz="2000" dirty="0"/>
              <a:t>是指各种与指令系统有关的数据存储设备的使用、操作码的设置等都要对称</a:t>
            </a:r>
            <a:r>
              <a:rPr lang="zh-CN" altLang="en-US" sz="2000" dirty="0" smtClean="0"/>
              <a:t>。</a:t>
            </a:r>
            <a:endParaRPr lang="en-US" altLang="zh-CN" sz="2000" dirty="0" smtClean="0"/>
          </a:p>
          <a:p>
            <a:pPr lvl="1" eaLnBrk="1" hangingPunct="1">
              <a:lnSpc>
                <a:spcPct val="110000"/>
              </a:lnSpc>
              <a:defRPr/>
            </a:pPr>
            <a:r>
              <a:rPr lang="zh-CN" altLang="en-US" sz="2000" dirty="0" smtClean="0">
                <a:solidFill>
                  <a:srgbClr val="0000CC"/>
                </a:solidFill>
                <a:effectLst>
                  <a:outerShdw blurRad="38100" dist="38100" dir="2700000" algn="tl">
                    <a:srgbClr val="C0C0C0"/>
                  </a:outerShdw>
                </a:effectLst>
              </a:rPr>
              <a:t>例1</a:t>
            </a:r>
            <a:r>
              <a:rPr lang="zh-CN" altLang="en-US" sz="2000" dirty="0" smtClean="0"/>
              <a:t>：所有的通用寄存器要同等对待</a:t>
            </a:r>
          </a:p>
          <a:p>
            <a:pPr lvl="1" eaLnBrk="1" hangingPunct="1">
              <a:lnSpc>
                <a:spcPct val="110000"/>
              </a:lnSpc>
              <a:defRPr/>
            </a:pPr>
            <a:r>
              <a:rPr lang="zh-CN" altLang="en-US" sz="2000" dirty="0" smtClean="0">
                <a:solidFill>
                  <a:srgbClr val="0000CC"/>
                </a:solidFill>
                <a:effectLst>
                  <a:outerShdw blurRad="38100" dist="38100" dir="2700000" algn="tl">
                    <a:srgbClr val="C0C0C0"/>
                  </a:outerShdw>
                </a:effectLst>
              </a:rPr>
              <a:t>例2</a:t>
            </a:r>
            <a:r>
              <a:rPr lang="zh-CN" altLang="en-US" sz="2000" dirty="0" smtClean="0"/>
              <a:t>：如果设置</a:t>
            </a:r>
            <a:r>
              <a:rPr lang="en-US" altLang="zh-CN" sz="2000" dirty="0" smtClean="0"/>
              <a:t>A-B</a:t>
            </a:r>
            <a:r>
              <a:rPr lang="zh-CN" altLang="en-US" sz="2000" dirty="0" smtClean="0"/>
              <a:t>指令，则也应该设置</a:t>
            </a:r>
            <a:r>
              <a:rPr lang="en-US" altLang="zh-CN" sz="2000" dirty="0" smtClean="0"/>
              <a:t>B-A</a:t>
            </a:r>
            <a:r>
              <a:rPr lang="zh-CN" altLang="en-US" sz="2000" dirty="0" smtClean="0"/>
              <a:t>指令</a:t>
            </a:r>
            <a:endParaRPr lang="en-US" altLang="zh-CN" sz="2000" dirty="0" smtClean="0"/>
          </a:p>
          <a:p>
            <a:pPr eaLnBrk="1" hangingPunct="1">
              <a:lnSpc>
                <a:spcPct val="110000"/>
              </a:lnSpc>
              <a:defRPr/>
            </a:pPr>
            <a:r>
              <a:rPr lang="zh-CN" altLang="en-US" sz="2400" dirty="0" smtClean="0">
                <a:solidFill>
                  <a:srgbClr val="FF0000"/>
                </a:solidFill>
              </a:rPr>
              <a:t>均匀性</a:t>
            </a:r>
            <a:endParaRPr lang="en-US" altLang="zh-CN" sz="2400" dirty="0" smtClean="0">
              <a:solidFill>
                <a:srgbClr val="FF0000"/>
              </a:solidFill>
            </a:endParaRPr>
          </a:p>
          <a:p>
            <a:pPr lvl="1" eaLnBrk="1" hangingPunct="1">
              <a:lnSpc>
                <a:spcPct val="110000"/>
              </a:lnSpc>
              <a:defRPr/>
            </a:pPr>
            <a:r>
              <a:rPr lang="zh-CN" altLang="en-US" sz="2000" dirty="0"/>
              <a:t>是指对于各种不同的数据类型、字长、操作种类和数据存储设备，指令的设置要同等对待。</a:t>
            </a:r>
          </a:p>
          <a:p>
            <a:pPr lvl="1" eaLnBrk="1" hangingPunct="1">
              <a:lnSpc>
                <a:spcPct val="110000"/>
              </a:lnSpc>
              <a:defRPr/>
            </a:pPr>
            <a:r>
              <a:rPr lang="zh-CN" altLang="en-US" sz="2000" dirty="0">
                <a:solidFill>
                  <a:srgbClr val="0000CC"/>
                </a:solidFill>
                <a:effectLst>
                  <a:outerShdw blurRad="38100" dist="38100" dir="2700000" algn="tl">
                    <a:srgbClr val="C0C0C0"/>
                  </a:outerShdw>
                </a:effectLst>
              </a:rPr>
              <a:t>例如</a:t>
            </a:r>
            <a:r>
              <a:rPr lang="zh-CN" altLang="en-US" sz="2000" dirty="0"/>
              <a:t>：某机器有</a:t>
            </a:r>
            <a:r>
              <a:rPr lang="en-US" altLang="zh-CN" sz="2000" dirty="0"/>
              <a:t>5</a:t>
            </a:r>
            <a:r>
              <a:rPr lang="zh-CN" altLang="en-US" sz="2000" dirty="0"/>
              <a:t>种数据表示、</a:t>
            </a:r>
            <a:r>
              <a:rPr lang="en-US" altLang="zh-CN" sz="2000" dirty="0"/>
              <a:t>4</a:t>
            </a:r>
            <a:r>
              <a:rPr lang="zh-CN" altLang="en-US" sz="2000" dirty="0"/>
              <a:t>种字长、</a:t>
            </a:r>
            <a:r>
              <a:rPr lang="en-US" altLang="zh-CN" sz="2000" dirty="0"/>
              <a:t>8</a:t>
            </a:r>
            <a:r>
              <a:rPr lang="zh-CN" altLang="en-US" sz="2000" dirty="0"/>
              <a:t>种数据存储设备，则在设计加法指令时，指令种类应该是：</a:t>
            </a:r>
            <a:r>
              <a:rPr lang="en-US" altLang="zh-CN" sz="2000" dirty="0"/>
              <a:t>5×4×8</a:t>
            </a:r>
            <a:r>
              <a:rPr lang="zh-CN" altLang="en-US" sz="2000" dirty="0"/>
              <a:t>＝</a:t>
            </a:r>
            <a:r>
              <a:rPr lang="en-US" altLang="zh-CN" sz="2000" dirty="0"/>
              <a:t>160</a:t>
            </a:r>
            <a:r>
              <a:rPr lang="zh-CN" altLang="en-US" sz="2000" dirty="0"/>
              <a:t>种两地址加法指令（不可能也不太现实）。</a:t>
            </a:r>
          </a:p>
          <a:p>
            <a:pPr lvl="1" eaLnBrk="1" hangingPunct="1">
              <a:lnSpc>
                <a:spcPct val="110000"/>
              </a:lnSpc>
              <a:defRPr/>
            </a:pPr>
            <a:endParaRPr lang="zh-CN" altLang="en-US" sz="20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pPr eaLnBrk="1" hangingPunct="1">
              <a:defRPr/>
            </a:pPr>
            <a:r>
              <a:rPr lang="zh-CN" altLang="en-US" smtClean="0"/>
              <a:t>基本指令系统</a:t>
            </a:r>
          </a:p>
        </p:txBody>
      </p:sp>
      <p:sp>
        <p:nvSpPr>
          <p:cNvPr id="87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endParaRPr lang="zh-CN" altLang="en-US" sz="1200" b="0">
              <a:latin typeface="Times New Roman" pitchFamily="18" charset="0"/>
              <a:ea typeface="幼圆" pitchFamily="49" charset="-122"/>
            </a:endParaRPr>
          </a:p>
        </p:txBody>
      </p:sp>
      <p:sp>
        <p:nvSpPr>
          <p:cNvPr id="87044" name="Rectangle 4"/>
          <p:cNvSpPr>
            <a:spLocks noGrp="1" noChangeArrowheads="1"/>
          </p:cNvSpPr>
          <p:nvPr>
            <p:ph type="body" idx="1"/>
          </p:nvPr>
        </p:nvSpPr>
        <p:spPr>
          <a:xfrm>
            <a:off x="809625" y="1916113"/>
            <a:ext cx="7958138" cy="792162"/>
          </a:xfrm>
        </p:spPr>
        <p:txBody>
          <a:bodyPr/>
          <a:lstStyle/>
          <a:p>
            <a:pPr marL="0" indent="0" eaLnBrk="1" hangingPunct="1">
              <a:lnSpc>
                <a:spcPct val="110000"/>
              </a:lnSpc>
              <a:buFont typeface="Wingdings" pitchFamily="2" charset="2"/>
              <a:buNone/>
            </a:pPr>
            <a:r>
              <a:rPr lang="zh-CN" altLang="en-US" sz="2000" smtClean="0"/>
              <a:t>       在设计通用计算机时，指令系统的</a:t>
            </a:r>
            <a:r>
              <a:rPr lang="zh-CN" altLang="en-US" sz="2000" smtClean="0">
                <a:solidFill>
                  <a:srgbClr val="FF0000"/>
                </a:solidFill>
              </a:rPr>
              <a:t>完整性</a:t>
            </a:r>
            <a:r>
              <a:rPr lang="zh-CN" altLang="en-US" sz="2000" smtClean="0"/>
              <a:t>是必须要考虑的：前</a:t>
            </a:r>
            <a:r>
              <a:rPr lang="en-US" altLang="zh-CN" sz="2000" smtClean="0"/>
              <a:t>4</a:t>
            </a:r>
            <a:r>
              <a:rPr lang="zh-CN" altLang="en-US" sz="2000" smtClean="0"/>
              <a:t>类是</a:t>
            </a:r>
            <a:r>
              <a:rPr lang="zh-CN" altLang="en-US" sz="2000" smtClean="0">
                <a:solidFill>
                  <a:srgbClr val="FF0000"/>
                </a:solidFill>
              </a:rPr>
              <a:t>基本指令</a:t>
            </a:r>
            <a:r>
              <a:rPr lang="zh-CN" altLang="en-US" sz="2000" smtClean="0"/>
              <a:t>，后</a:t>
            </a:r>
            <a:r>
              <a:rPr lang="en-US" altLang="zh-CN" sz="2000" smtClean="0"/>
              <a:t>4</a:t>
            </a:r>
            <a:r>
              <a:rPr lang="zh-CN" altLang="en-US" sz="2000" smtClean="0"/>
              <a:t>类不同指令集结构的支持大不相同。 </a:t>
            </a:r>
          </a:p>
        </p:txBody>
      </p:sp>
      <p:graphicFrame>
        <p:nvGraphicFramePr>
          <p:cNvPr id="5" name="Group 48"/>
          <p:cNvGraphicFramePr>
            <a:graphicFrameLocks/>
          </p:cNvGraphicFramePr>
          <p:nvPr/>
        </p:nvGraphicFramePr>
        <p:xfrm>
          <a:off x="952500" y="2708275"/>
          <a:ext cx="7723188" cy="3616326"/>
        </p:xfrm>
        <a:graphic>
          <a:graphicData uri="http://schemas.openxmlformats.org/drawingml/2006/table">
            <a:tbl>
              <a:tblPr/>
              <a:tblGrid>
                <a:gridCol w="1879334"/>
                <a:gridCol w="5843854"/>
              </a:tblGrid>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dirty="0" smtClean="0">
                          <a:ln>
                            <a:noFill/>
                          </a:ln>
                          <a:solidFill>
                            <a:srgbClr val="FF0000"/>
                          </a:solidFill>
                          <a:effectLst/>
                          <a:latin typeface="+mn-ea"/>
                          <a:ea typeface="+mn-ea"/>
                        </a:rPr>
                        <a:t>操作类型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dirty="0" smtClean="0">
                          <a:ln>
                            <a:noFill/>
                          </a:ln>
                          <a:solidFill>
                            <a:srgbClr val="FF0000"/>
                          </a:solidFill>
                          <a:effectLst/>
                          <a:latin typeface="+mn-ea"/>
                          <a:ea typeface="+mn-ea"/>
                        </a:rPr>
                        <a:t>实    例 </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算术和逻辑运算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dirty="0" smtClean="0">
                          <a:ln>
                            <a:noFill/>
                          </a:ln>
                          <a:solidFill>
                            <a:schemeClr val="tx1"/>
                          </a:solidFill>
                          <a:effectLst/>
                          <a:latin typeface="+mn-ea"/>
                          <a:ea typeface="+mn-ea"/>
                        </a:rPr>
                        <a:t>算术运算和逻辑操作：加，减，乘，除，与，或等 </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数据传输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mn-ea"/>
                          <a:ea typeface="+mn-ea"/>
                        </a:rPr>
                        <a:t>load</a:t>
                      </a:r>
                      <a:r>
                        <a:rPr kumimoji="1" lang="zh-CN" altLang="en-US" sz="1800" b="1" i="0" u="none" strike="noStrike" cap="none" normalizeH="0" baseline="0" smtClean="0">
                          <a:ln>
                            <a:noFill/>
                          </a:ln>
                          <a:solidFill>
                            <a:schemeClr val="tx1"/>
                          </a:solidFill>
                          <a:effectLst/>
                          <a:latin typeface="+mn-ea"/>
                          <a:ea typeface="+mn-ea"/>
                        </a:rPr>
                        <a:t>，</a:t>
                      </a:r>
                      <a:r>
                        <a:rPr kumimoji="1" lang="en-US" altLang="zh-CN" sz="1800" b="1" i="0" u="none" strike="noStrike" cap="none" normalizeH="0" baseline="0" smtClean="0">
                          <a:ln>
                            <a:noFill/>
                          </a:ln>
                          <a:solidFill>
                            <a:schemeClr val="tx1"/>
                          </a:solidFill>
                          <a:effectLst/>
                          <a:latin typeface="+mn-ea"/>
                          <a:ea typeface="+mn-ea"/>
                        </a:rPr>
                        <a:t>store</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控制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分支，跳转，过程调用和返回，自陷等 </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系统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操作系统调用，虚拟存储器管理等 </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浮点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浮点操作：加，减，乘，除，比较等 </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十进制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十进制加，十进制乘，十进制到字符的转换等 </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字符串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字符串移动，字符串比较，字符串搜索等 </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1814">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mn-ea"/>
                          <a:ea typeface="+mn-ea"/>
                        </a:rPr>
                        <a:t>图形 </a:t>
                      </a:r>
                    </a:p>
                  </a:txBody>
                  <a:tcPr marL="89985" marR="89985" marT="108034" marB="468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30000"/>
                        </a:lnSpc>
                        <a:spcBef>
                          <a:spcPct val="20000"/>
                        </a:spcBef>
                        <a:buClr>
                          <a:schemeClr val="tx1"/>
                        </a:buClr>
                        <a:buFont typeface="Wingdings" pitchFamily="2" charset="2"/>
                        <a:defRPr kumimoji="1" sz="2000">
                          <a:solidFill>
                            <a:srgbClr val="E24C05"/>
                          </a:solidFill>
                          <a:latin typeface="Tahoma" pitchFamily="34" charset="0"/>
                          <a:ea typeface="黑体" pitchFamily="49" charset="-122"/>
                        </a:defRPr>
                      </a:lvl1pPr>
                      <a:lvl2pPr marL="628650">
                        <a:lnSpc>
                          <a:spcPct val="13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49" charset="-122"/>
                        </a:defRPr>
                      </a:lvl2pPr>
                      <a:lvl3pPr marL="1257300">
                        <a:lnSpc>
                          <a:spcPct val="13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1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1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1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dirty="0" smtClean="0">
                          <a:ln>
                            <a:noFill/>
                          </a:ln>
                          <a:solidFill>
                            <a:schemeClr val="tx1"/>
                          </a:solidFill>
                          <a:effectLst/>
                          <a:latin typeface="+mn-ea"/>
                          <a:ea typeface="+mn-ea"/>
                        </a:rPr>
                        <a:t>像素操作，压缩</a:t>
                      </a:r>
                      <a:r>
                        <a:rPr kumimoji="1" lang="en-US" altLang="zh-CN" sz="1800" b="1" i="0" u="none" strike="noStrike" cap="none" normalizeH="0" baseline="0" dirty="0" smtClean="0">
                          <a:ln>
                            <a:noFill/>
                          </a:ln>
                          <a:solidFill>
                            <a:schemeClr val="tx1"/>
                          </a:solidFill>
                          <a:effectLst/>
                          <a:latin typeface="+mn-ea"/>
                          <a:ea typeface="+mn-ea"/>
                        </a:rPr>
                        <a:t>/</a:t>
                      </a:r>
                      <a:r>
                        <a:rPr kumimoji="1" lang="zh-CN" altLang="en-US" sz="1800" b="1" i="0" u="none" strike="noStrike" cap="none" normalizeH="0" baseline="0" dirty="0" smtClean="0">
                          <a:ln>
                            <a:noFill/>
                          </a:ln>
                          <a:solidFill>
                            <a:schemeClr val="tx1"/>
                          </a:solidFill>
                          <a:effectLst/>
                          <a:latin typeface="+mn-ea"/>
                          <a:ea typeface="+mn-ea"/>
                        </a:rPr>
                        <a:t>解压操作等 </a:t>
                      </a:r>
                    </a:p>
                  </a:txBody>
                  <a:tcPr marL="89985" marR="89985" marT="108034" marB="468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p:txBody>
          <a:bodyPr/>
          <a:lstStyle/>
          <a:p>
            <a:pPr eaLnBrk="1" hangingPunct="1">
              <a:defRPr/>
            </a:pPr>
            <a:r>
              <a:rPr lang="zh-CN" altLang="en-US" smtClean="0"/>
              <a:t>复杂指令系统计算机（</a:t>
            </a:r>
            <a:r>
              <a:rPr lang="en-US" altLang="zh-CN" smtClean="0"/>
              <a:t>CISC）</a:t>
            </a:r>
            <a:endParaRPr lang="zh-CN" altLang="en-US" smtClean="0"/>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endParaRPr lang="zh-CN" altLang="en-US" sz="1200" b="0">
              <a:latin typeface="Times New Roman" pitchFamily="18" charset="0"/>
              <a:ea typeface="幼圆" pitchFamily="49" charset="-122"/>
            </a:endParaRPr>
          </a:p>
        </p:txBody>
      </p:sp>
      <p:sp>
        <p:nvSpPr>
          <p:cNvPr id="333828" name="Rectangle 4"/>
          <p:cNvSpPr>
            <a:spLocks noGrp="1" noChangeArrowheads="1"/>
          </p:cNvSpPr>
          <p:nvPr>
            <p:ph type="body" idx="1"/>
          </p:nvPr>
        </p:nvSpPr>
        <p:spPr>
          <a:xfrm>
            <a:off x="809625" y="1916113"/>
            <a:ext cx="7958138" cy="4408487"/>
          </a:xfrm>
        </p:spPr>
        <p:txBody>
          <a:bodyPr/>
          <a:lstStyle/>
          <a:p>
            <a:pPr marL="0" indent="0" eaLnBrk="1" hangingPunct="1">
              <a:lnSpc>
                <a:spcPct val="105000"/>
              </a:lnSpc>
              <a:buClr>
                <a:srgbClr val="FF3300"/>
              </a:buClr>
              <a:defRPr/>
            </a:pPr>
            <a:r>
              <a:rPr lang="zh-CN" altLang="en-US" sz="2400" dirty="0" smtClean="0">
                <a:solidFill>
                  <a:srgbClr val="FF3300"/>
                </a:solidFill>
                <a:effectLst>
                  <a:outerShdw blurRad="38100" dist="38100" dir="2700000" algn="tl">
                    <a:srgbClr val="C0C0C0"/>
                  </a:outerShdw>
                </a:effectLst>
              </a:rPr>
              <a:t>  思想</a:t>
            </a:r>
          </a:p>
          <a:p>
            <a:pPr marL="0" indent="0" eaLnBrk="1" hangingPunct="1">
              <a:lnSpc>
                <a:spcPct val="105000"/>
              </a:lnSpc>
              <a:buFont typeface="Wingdings" pitchFamily="2" charset="2"/>
              <a:buNone/>
              <a:defRPr/>
            </a:pPr>
            <a:r>
              <a:rPr lang="zh-CN" altLang="en-US" sz="2400" dirty="0" smtClean="0"/>
              <a:t>     增强原有指令的功能以及设置更为复杂的新指令取代原先由软件子程序完成的功能，实现软件功能的硬化。</a:t>
            </a:r>
            <a:endParaRPr lang="en-US" altLang="zh-CN" sz="2400" dirty="0" smtClean="0"/>
          </a:p>
          <a:p>
            <a:pPr marL="0" indent="0" eaLnBrk="1" hangingPunct="1">
              <a:lnSpc>
                <a:spcPct val="105000"/>
              </a:lnSpc>
              <a:buClr>
                <a:srgbClr val="FF3300"/>
              </a:buClr>
              <a:defRPr/>
            </a:pPr>
            <a:r>
              <a:rPr lang="zh-CN" altLang="en-US" sz="2400" dirty="0" smtClean="0">
                <a:solidFill>
                  <a:srgbClr val="FF3300"/>
                </a:solidFill>
                <a:effectLst>
                  <a:outerShdw blurRad="38100" dist="38100" dir="2700000" algn="tl">
                    <a:srgbClr val="C0C0C0"/>
                  </a:outerShdw>
                </a:effectLst>
              </a:rPr>
              <a:t>  途径</a:t>
            </a:r>
          </a:p>
          <a:p>
            <a:pPr marL="765175" lvl="1" eaLnBrk="1" hangingPunct="1">
              <a:lnSpc>
                <a:spcPct val="105000"/>
              </a:lnSpc>
              <a:buFont typeface="Wingdings" pitchFamily="2" charset="2"/>
              <a:buChar char="Ø"/>
              <a:defRPr/>
            </a:pPr>
            <a:r>
              <a:rPr lang="zh-CN" altLang="en-US" sz="2400" dirty="0" smtClean="0">
                <a:hlinkClick r:id="rId5" action="ppaction://hlinksldjump"/>
              </a:rPr>
              <a:t>从面向目标程序的优化实现来改进指令系统</a:t>
            </a:r>
            <a:endParaRPr lang="zh-CN" altLang="en-US" sz="2400" dirty="0" smtClean="0"/>
          </a:p>
          <a:p>
            <a:pPr marL="765175" lvl="1" eaLnBrk="1" hangingPunct="1">
              <a:lnSpc>
                <a:spcPct val="105000"/>
              </a:lnSpc>
              <a:buFont typeface="Wingdings" pitchFamily="2" charset="2"/>
              <a:buChar char="Ø"/>
              <a:defRPr/>
            </a:pPr>
            <a:r>
              <a:rPr lang="zh-CN" altLang="en-US" sz="2400" dirty="0" smtClean="0">
                <a:hlinkClick r:id="rId6" action="ppaction://hlinksldjump"/>
              </a:rPr>
              <a:t>从面向高级语言的优化实现来改进指令系统</a:t>
            </a:r>
            <a:endParaRPr lang="zh-CN" altLang="en-US" sz="2400" dirty="0" smtClean="0"/>
          </a:p>
          <a:p>
            <a:pPr marL="765175" lvl="1" eaLnBrk="1" hangingPunct="1">
              <a:lnSpc>
                <a:spcPct val="105000"/>
              </a:lnSpc>
              <a:buFont typeface="Wingdings" pitchFamily="2" charset="2"/>
              <a:buChar char="Ø"/>
              <a:defRPr/>
            </a:pPr>
            <a:r>
              <a:rPr lang="zh-CN" altLang="en-US" sz="2400" dirty="0" smtClean="0">
                <a:hlinkClick r:id="rId7" action="ppaction://hlinksldjump"/>
              </a:rPr>
              <a:t>从面向操作系统的优化实现来改进指令系统</a:t>
            </a:r>
            <a:endParaRPr lang="en-US" altLang="zh-CN" sz="2400" dirty="0" smtClean="0"/>
          </a:p>
          <a:p>
            <a:pPr marL="0" indent="0" eaLnBrk="1" hangingPunct="1">
              <a:lnSpc>
                <a:spcPct val="105000"/>
              </a:lnSpc>
              <a:buClr>
                <a:srgbClr val="FF3300"/>
              </a:buClr>
              <a:defRPr/>
            </a:pPr>
            <a:r>
              <a:rPr lang="zh-CN" altLang="en-US" sz="2400" dirty="0">
                <a:solidFill>
                  <a:srgbClr val="FF3300"/>
                </a:solidFill>
                <a:effectLst>
                  <a:outerShdw blurRad="38100" dist="38100" dir="2700000" algn="tl">
                    <a:srgbClr val="C0C0C0"/>
                  </a:outerShdw>
                </a:effectLst>
              </a:rPr>
              <a:t> </a:t>
            </a:r>
            <a:r>
              <a:rPr lang="zh-CN" altLang="en-US" sz="2400" dirty="0" smtClean="0">
                <a:solidFill>
                  <a:srgbClr val="FF3300"/>
                </a:solidFill>
                <a:effectLst>
                  <a:outerShdw blurRad="38100" dist="38100" dir="2700000" algn="tl">
                    <a:srgbClr val="C0C0C0"/>
                  </a:outerShdw>
                </a:effectLst>
              </a:rPr>
              <a:t> 特点</a:t>
            </a:r>
            <a:endParaRPr lang="en-US" altLang="zh-CN" sz="2400" dirty="0" smtClean="0">
              <a:solidFill>
                <a:srgbClr val="FF3300"/>
              </a:solidFill>
              <a:effectLst>
                <a:outerShdw blurRad="38100" dist="38100" dir="2700000" algn="tl">
                  <a:srgbClr val="C0C0C0"/>
                </a:outerShdw>
              </a:effectLst>
            </a:endParaRPr>
          </a:p>
          <a:p>
            <a:pPr marL="0" indent="0" eaLnBrk="1" hangingPunct="1">
              <a:lnSpc>
                <a:spcPct val="105000"/>
              </a:lnSpc>
              <a:buClr>
                <a:srgbClr val="FF3300"/>
              </a:buClr>
              <a:buNone/>
              <a:defRPr/>
            </a:pPr>
            <a:r>
              <a:rPr lang="zh-CN" altLang="en-US" sz="2400" dirty="0" smtClean="0"/>
              <a:t>     指令集极其复杂，硬件难以实现。最具代表性的指令集：</a:t>
            </a:r>
            <a:r>
              <a:rPr lang="en-US" altLang="zh-CN" sz="2400" dirty="0" smtClean="0"/>
              <a:t>x86</a:t>
            </a:r>
            <a:r>
              <a:rPr lang="zh-CN" altLang="en-US" sz="2400" dirty="0" smtClean="0"/>
              <a:t>指令集。</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p:txBody>
          <a:bodyPr/>
          <a:lstStyle/>
          <a:p>
            <a:pPr eaLnBrk="1" hangingPunct="1">
              <a:defRPr/>
            </a:pPr>
            <a:r>
              <a:rPr lang="zh-CN" altLang="en-US" smtClean="0"/>
              <a:t>从面向目标程序的优化实现来改进</a:t>
            </a:r>
          </a:p>
        </p:txBody>
      </p:sp>
      <p:sp>
        <p:nvSpPr>
          <p:cNvPr id="890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endParaRPr lang="zh-CN" altLang="en-US" sz="1200" b="0">
              <a:latin typeface="Times New Roman" pitchFamily="18" charset="0"/>
              <a:ea typeface="幼圆" pitchFamily="49" charset="-122"/>
            </a:endParaRPr>
          </a:p>
        </p:txBody>
      </p:sp>
      <p:sp>
        <p:nvSpPr>
          <p:cNvPr id="345093" name="Rectangle 5"/>
          <p:cNvSpPr>
            <a:spLocks noGrp="1" noChangeArrowheads="1"/>
          </p:cNvSpPr>
          <p:nvPr>
            <p:ph type="body" idx="1"/>
          </p:nvPr>
        </p:nvSpPr>
        <p:spPr>
          <a:xfrm>
            <a:off x="809625" y="1989138"/>
            <a:ext cx="8105775" cy="4335462"/>
          </a:xfrm>
        </p:spPr>
        <p:txBody>
          <a:bodyPr/>
          <a:lstStyle/>
          <a:p>
            <a:pPr marL="0" indent="0" eaLnBrk="1" hangingPunct="1">
              <a:lnSpc>
                <a:spcPct val="105000"/>
              </a:lnSpc>
              <a:buClr>
                <a:srgbClr val="FF3300"/>
              </a:buClr>
              <a:defRPr/>
            </a:pPr>
            <a:r>
              <a:rPr lang="zh-CN" altLang="en-US" smtClean="0"/>
              <a:t>  </a:t>
            </a:r>
            <a:r>
              <a:rPr lang="zh-CN" altLang="en-US" smtClean="0">
                <a:solidFill>
                  <a:srgbClr val="FF3300"/>
                </a:solidFill>
                <a:effectLst>
                  <a:outerShdw blurRad="38100" dist="38100" dir="2700000" algn="tl">
                    <a:srgbClr val="C0C0C0"/>
                  </a:outerShdw>
                </a:effectLst>
              </a:rPr>
              <a:t>优化目的</a:t>
            </a:r>
          </a:p>
          <a:p>
            <a:pPr marL="765175" lvl="1" eaLnBrk="1" hangingPunct="1">
              <a:lnSpc>
                <a:spcPct val="105000"/>
              </a:lnSpc>
              <a:buFont typeface="Wingdings" pitchFamily="2" charset="2"/>
              <a:buChar char="Ø"/>
              <a:defRPr/>
            </a:pPr>
            <a:r>
              <a:rPr lang="zh-CN" altLang="en-US" smtClean="0"/>
              <a:t>缩短目标程序的长度，即减少程序的空间开销</a:t>
            </a:r>
          </a:p>
          <a:p>
            <a:pPr marL="765175" lvl="1" eaLnBrk="1" hangingPunct="1">
              <a:lnSpc>
                <a:spcPct val="105000"/>
              </a:lnSpc>
              <a:buFont typeface="Wingdings" pitchFamily="2" charset="2"/>
              <a:buChar char="Ø"/>
              <a:defRPr/>
            </a:pPr>
            <a:r>
              <a:rPr lang="zh-CN" altLang="en-US" smtClean="0"/>
              <a:t>缩短目标程序的执行时间，即减少程序的时间开销</a:t>
            </a:r>
          </a:p>
          <a:p>
            <a:pPr marL="0" indent="0" eaLnBrk="1" hangingPunct="1">
              <a:lnSpc>
                <a:spcPct val="105000"/>
              </a:lnSpc>
              <a:buClr>
                <a:srgbClr val="FF3300"/>
              </a:buClr>
              <a:defRPr/>
            </a:pPr>
            <a:r>
              <a:rPr lang="zh-CN" altLang="en-US" smtClean="0">
                <a:solidFill>
                  <a:srgbClr val="FF3300"/>
                </a:solidFill>
                <a:effectLst>
                  <a:outerShdw blurRad="38100" dist="38100" dir="2700000" algn="tl">
                    <a:srgbClr val="C0C0C0"/>
                  </a:outerShdw>
                </a:effectLst>
              </a:rPr>
              <a:t>  优化思路</a:t>
            </a:r>
          </a:p>
          <a:p>
            <a:pPr marL="0" indent="0" eaLnBrk="1" hangingPunct="1">
              <a:lnSpc>
                <a:spcPct val="105000"/>
              </a:lnSpc>
              <a:buClr>
                <a:srgbClr val="FF3300"/>
              </a:buClr>
              <a:buFont typeface="Wingdings" pitchFamily="2" charset="2"/>
              <a:buNone/>
              <a:defRPr/>
            </a:pPr>
            <a:r>
              <a:rPr lang="zh-CN" altLang="en-US" sz="2400" smtClean="0"/>
              <a:t>      </a:t>
            </a:r>
            <a:r>
              <a:rPr lang="zh-CN" altLang="en-US" sz="2800" smtClean="0"/>
              <a:t>对大量已有的目标程序及其执行情况进行</a:t>
            </a:r>
            <a:r>
              <a:rPr lang="zh-CN" altLang="en-US" sz="2800" smtClean="0">
                <a:solidFill>
                  <a:srgbClr val="3333FF"/>
                </a:solidFill>
                <a:effectLst>
                  <a:outerShdw blurRad="38100" dist="38100" dir="2700000" algn="tl">
                    <a:srgbClr val="C0C0C0"/>
                  </a:outerShdw>
                </a:effectLst>
              </a:rPr>
              <a:t>统计</a:t>
            </a:r>
            <a:r>
              <a:rPr lang="zh-CN" altLang="en-US" sz="2800" smtClean="0"/>
              <a:t>，按统计出的各种指令和指令串的</a:t>
            </a:r>
            <a:r>
              <a:rPr lang="zh-CN" altLang="en-US" sz="2800" smtClean="0">
                <a:solidFill>
                  <a:srgbClr val="3333FF"/>
                </a:solidFill>
                <a:effectLst>
                  <a:outerShdw blurRad="38100" dist="38100" dir="2700000" algn="tl">
                    <a:srgbClr val="C0C0C0"/>
                  </a:outerShdw>
                </a:effectLst>
              </a:rPr>
              <a:t>使用频度</a:t>
            </a:r>
            <a:r>
              <a:rPr lang="zh-CN" altLang="en-US" sz="2800" smtClean="0"/>
              <a:t>来分析改进。</a:t>
            </a:r>
          </a:p>
        </p:txBody>
      </p:sp>
      <p:sp>
        <p:nvSpPr>
          <p:cNvPr id="89093"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a:t>
            </a:r>
            <a:r>
              <a:rPr lang="zh-CN" altLang="en-US" sz="1200" b="0">
                <a:latin typeface="幼圆" pitchFamily="49" charset="-122"/>
                <a:ea typeface="幼圆" pitchFamily="49" charset="-122"/>
              </a:rPr>
              <a:t>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endParaRPr lang="zh-CN" altLang="en-US" sz="1200" b="0">
              <a:latin typeface="Times New Roman" pitchFamily="18" charset="0"/>
              <a:ea typeface="幼圆" pitchFamily="49" charset="-122"/>
            </a:endParaRPr>
          </a:p>
        </p:txBody>
      </p:sp>
      <p:sp>
        <p:nvSpPr>
          <p:cNvPr id="9011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a:t>
            </a:r>
            <a:r>
              <a:rPr lang="zh-CN" altLang="en-US" sz="1200" b="0">
                <a:latin typeface="幼圆" pitchFamily="49" charset="-122"/>
                <a:ea typeface="幼圆" pitchFamily="49" charset="-122"/>
              </a:rPr>
              <a:t> 之 2</a:t>
            </a:r>
          </a:p>
        </p:txBody>
      </p:sp>
      <p:sp>
        <p:nvSpPr>
          <p:cNvPr id="349189" name="Rectangle 5"/>
          <p:cNvSpPr>
            <a:spLocks noGrp="1" noChangeArrowheads="1"/>
          </p:cNvSpPr>
          <p:nvPr>
            <p:ph type="title"/>
          </p:nvPr>
        </p:nvSpPr>
        <p:spPr/>
        <p:txBody>
          <a:bodyPr/>
          <a:lstStyle/>
          <a:p>
            <a:pPr eaLnBrk="1" hangingPunct="1">
              <a:defRPr/>
            </a:pPr>
            <a:r>
              <a:rPr lang="zh-CN" altLang="en-US" smtClean="0"/>
              <a:t>指令的使用频度</a:t>
            </a:r>
          </a:p>
        </p:txBody>
      </p:sp>
      <p:sp>
        <p:nvSpPr>
          <p:cNvPr id="349190" name="Rectangle 6"/>
          <p:cNvSpPr>
            <a:spLocks noGrp="1" noChangeArrowheads="1"/>
          </p:cNvSpPr>
          <p:nvPr>
            <p:ph type="body" idx="1"/>
          </p:nvPr>
        </p:nvSpPr>
        <p:spPr>
          <a:xfrm>
            <a:off x="809625" y="1916113"/>
            <a:ext cx="7958138" cy="3851275"/>
          </a:xfrm>
        </p:spPr>
        <p:txBody>
          <a:bodyPr/>
          <a:lstStyle/>
          <a:p>
            <a:pPr marL="0" indent="0" eaLnBrk="1" hangingPunct="1">
              <a:buClr>
                <a:srgbClr val="FF3300"/>
              </a:buClr>
              <a:defRPr/>
            </a:pPr>
            <a:r>
              <a:rPr lang="zh-CN" altLang="en-US" sz="2800" dirty="0" smtClean="0">
                <a:solidFill>
                  <a:srgbClr val="FF3300"/>
                </a:solidFill>
                <a:effectLst>
                  <a:outerShdw blurRad="38100" dist="38100" dir="2700000" algn="tl">
                    <a:srgbClr val="C0C0C0"/>
                  </a:outerShdw>
                </a:effectLst>
              </a:rPr>
              <a:t>  指令静态使用频度</a:t>
            </a:r>
          </a:p>
          <a:p>
            <a:pPr marL="0" indent="0" eaLnBrk="1" hangingPunct="1">
              <a:buFont typeface="Wingdings" pitchFamily="2" charset="2"/>
              <a:buNone/>
              <a:defRPr/>
            </a:pPr>
            <a:r>
              <a:rPr lang="zh-CN" altLang="en-US" sz="2800" dirty="0" smtClean="0"/>
              <a:t>    是指对多种典型程序</a:t>
            </a:r>
            <a:r>
              <a:rPr lang="zh-CN" altLang="en-US" sz="2800" dirty="0" smtClean="0">
                <a:solidFill>
                  <a:srgbClr val="3333FF"/>
                </a:solidFill>
                <a:effectLst>
                  <a:outerShdw blurRad="38100" dist="38100" dir="2700000" algn="tl">
                    <a:srgbClr val="C0C0C0"/>
                  </a:outerShdw>
                </a:effectLst>
              </a:rPr>
              <a:t>源代码</a:t>
            </a:r>
            <a:r>
              <a:rPr lang="zh-CN" altLang="en-US" sz="2800" dirty="0" smtClean="0"/>
              <a:t>中所用的指令和指令串进行统计所得出的百分比（着眼于减少目标程序所占用的存储空间）。</a:t>
            </a:r>
          </a:p>
          <a:p>
            <a:pPr marL="0" indent="0" eaLnBrk="1" hangingPunct="1">
              <a:lnSpc>
                <a:spcPct val="120000"/>
              </a:lnSpc>
              <a:buClr>
                <a:srgbClr val="FF3300"/>
              </a:buClr>
              <a:defRPr/>
            </a:pPr>
            <a:r>
              <a:rPr lang="zh-CN" altLang="en-US" sz="2800" dirty="0" smtClean="0">
                <a:solidFill>
                  <a:srgbClr val="FF3300"/>
                </a:solidFill>
                <a:effectLst>
                  <a:outerShdw blurRad="38100" dist="38100" dir="2700000" algn="tl">
                    <a:srgbClr val="C0C0C0"/>
                  </a:outerShdw>
                </a:effectLst>
              </a:rPr>
              <a:t>  指令动态使用频度</a:t>
            </a:r>
          </a:p>
          <a:p>
            <a:pPr marL="0" indent="0" eaLnBrk="1" hangingPunct="1">
              <a:buFont typeface="Wingdings" pitchFamily="2" charset="2"/>
              <a:buNone/>
              <a:defRPr/>
            </a:pPr>
            <a:r>
              <a:rPr lang="zh-CN" altLang="en-US" sz="2800" dirty="0" smtClean="0"/>
              <a:t>    是指对多种典型程序</a:t>
            </a:r>
            <a:r>
              <a:rPr lang="zh-CN" altLang="en-US" sz="2800" dirty="0" smtClean="0">
                <a:solidFill>
                  <a:srgbClr val="3333FF"/>
                </a:solidFill>
                <a:effectLst>
                  <a:outerShdw blurRad="38100" dist="38100" dir="2700000" algn="tl">
                    <a:srgbClr val="C0C0C0"/>
                  </a:outerShdw>
                </a:effectLst>
              </a:rPr>
              <a:t>在运行过程中</a:t>
            </a:r>
            <a:r>
              <a:rPr lang="zh-CN" altLang="en-US" sz="2800" dirty="0" smtClean="0"/>
              <a:t>所执行的指令和指令串进行统计所得出的百分比（着眼于减少目标程序的执行时间）。</a:t>
            </a:r>
          </a:p>
        </p:txBody>
      </p:sp>
      <p:sp>
        <p:nvSpPr>
          <p:cNvPr id="90118" name="Rectangle 7"/>
          <p:cNvSpPr>
            <a:spLocks noChangeArrowheads="1"/>
          </p:cNvSpPr>
          <p:nvPr/>
        </p:nvSpPr>
        <p:spPr bwMode="auto">
          <a:xfrm>
            <a:off x="971550" y="5805488"/>
            <a:ext cx="7543800" cy="528637"/>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SzPct val="55000"/>
              <a:buChar char="n"/>
              <a:defRPr kumimoji="1" sz="2800" b="1">
                <a:solidFill>
                  <a:schemeClr val="tx1"/>
                </a:solidFill>
                <a:latin typeface="Arial" charset="0"/>
                <a:ea typeface="楷体_GB2312" pitchFamily="49" charset="-122"/>
              </a:defRPr>
            </a:lvl2pPr>
            <a:lvl3pPr marL="1184275" indent="-228600" eaLnBrk="0" hangingPunct="0">
              <a:buSzPct val="65000"/>
              <a:buChar char="l"/>
              <a:defRPr kumimoji="1" sz="2400" b="1">
                <a:solidFill>
                  <a:schemeClr val="tx1"/>
                </a:solidFill>
                <a:latin typeface="Arial" charset="0"/>
                <a:ea typeface="楷体_GB2312" pitchFamily="49" charset="-122"/>
              </a:defRPr>
            </a:lvl3pPr>
            <a:lvl4pPr marL="1603375" indent="-228600" eaLnBrk="0" hangingPunct="0">
              <a:buSzPct val="85000"/>
              <a:buChar char="w"/>
              <a:defRPr kumimoji="1" sz="2000" b="1">
                <a:solidFill>
                  <a:schemeClr val="tx1"/>
                </a:solidFill>
                <a:latin typeface="Arial" charset="0"/>
                <a:ea typeface="楷体_GB2312" pitchFamily="49" charset="-122"/>
              </a:defRPr>
            </a:lvl4pPr>
            <a:lvl5pPr marL="2022475" indent="-228600" eaLnBrk="0" hangingPunct="0">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Clr>
                <a:srgbClr val="FF3300"/>
              </a:buClr>
              <a:buFont typeface="Wingdings" pitchFamily="2" charset="2"/>
              <a:buNone/>
            </a:pPr>
            <a:r>
              <a:rPr lang="zh-CN" altLang="en-US" sz="2400">
                <a:latin typeface="Times New Roman" pitchFamily="18" charset="0"/>
                <a:ea typeface="方正舒体" pitchFamily="2" charset="-122"/>
              </a:rPr>
              <a:t>统计结果表明：指令动态使用频度≈指令静态使用频度</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endParaRPr lang="zh-CN" altLang="en-US" sz="1200" b="0">
              <a:latin typeface="Times New Roman" pitchFamily="18" charset="0"/>
              <a:ea typeface="幼圆" pitchFamily="49" charset="-122"/>
            </a:endParaRPr>
          </a:p>
        </p:txBody>
      </p:sp>
      <p:sp>
        <p:nvSpPr>
          <p:cNvPr id="91139" name="Rectangle 4"/>
          <p:cNvSpPr>
            <a:spLocks noGrp="1" noChangeArrowheads="1"/>
          </p:cNvSpPr>
          <p:nvPr>
            <p:ph type="body" idx="1"/>
          </p:nvPr>
        </p:nvSpPr>
        <p:spPr>
          <a:xfrm>
            <a:off x="809625" y="1844824"/>
            <a:ext cx="7958138" cy="2663998"/>
          </a:xfrm>
        </p:spPr>
        <p:txBody>
          <a:bodyPr/>
          <a:lstStyle/>
          <a:p>
            <a:pPr marL="374650" indent="-374650" eaLnBrk="1" hangingPunct="1">
              <a:lnSpc>
                <a:spcPct val="130000"/>
              </a:lnSpc>
              <a:buFont typeface="Wingdings" pitchFamily="2" charset="2"/>
              <a:buChar char="Ø"/>
            </a:pPr>
            <a:r>
              <a:rPr lang="zh-CN" altLang="en-US" sz="2400" dirty="0" smtClean="0"/>
              <a:t>对使用频率高的指令，增强其功能、加快其执行速度并缩短字长；</a:t>
            </a:r>
          </a:p>
          <a:p>
            <a:pPr marL="374650" indent="-374650" eaLnBrk="1" hangingPunct="1">
              <a:lnSpc>
                <a:spcPct val="130000"/>
              </a:lnSpc>
              <a:buFont typeface="Wingdings" pitchFamily="2" charset="2"/>
              <a:buChar char="Ø"/>
            </a:pPr>
            <a:r>
              <a:rPr lang="zh-CN" altLang="en-US" sz="2400" dirty="0" smtClean="0"/>
              <a:t>对使用频率高的指令串，增设新指令来替代它；</a:t>
            </a:r>
          </a:p>
          <a:p>
            <a:pPr marL="374650" indent="-374650" eaLnBrk="1" hangingPunct="1">
              <a:lnSpc>
                <a:spcPct val="130000"/>
              </a:lnSpc>
              <a:buFont typeface="Wingdings" pitchFamily="2" charset="2"/>
              <a:buChar char="Ø"/>
            </a:pPr>
            <a:r>
              <a:rPr lang="zh-CN" altLang="en-US" sz="2400" dirty="0" smtClean="0"/>
              <a:t>对使用频率低的指令，取消或合并，但要考虑到指令系统的兼容性问题。</a:t>
            </a:r>
          </a:p>
        </p:txBody>
      </p:sp>
      <p:sp>
        <p:nvSpPr>
          <p:cNvPr id="91140"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a:t>
            </a:r>
            <a:r>
              <a:rPr lang="zh-CN" altLang="en-US" sz="1200" b="0">
                <a:latin typeface="幼圆" pitchFamily="49" charset="-122"/>
                <a:ea typeface="幼圆" pitchFamily="49" charset="-122"/>
              </a:rPr>
              <a:t> 之 3</a:t>
            </a:r>
          </a:p>
        </p:txBody>
      </p:sp>
      <p:sp>
        <p:nvSpPr>
          <p:cNvPr id="348166" name="Rectangle 6"/>
          <p:cNvSpPr>
            <a:spLocks noGrp="1" noChangeArrowheads="1"/>
          </p:cNvSpPr>
          <p:nvPr>
            <p:ph type="title"/>
          </p:nvPr>
        </p:nvSpPr>
        <p:spPr/>
        <p:txBody>
          <a:bodyPr/>
          <a:lstStyle/>
          <a:p>
            <a:pPr eaLnBrk="1" hangingPunct="1">
              <a:defRPr/>
            </a:pPr>
            <a:r>
              <a:rPr lang="zh-CN" altLang="en-US" smtClean="0"/>
              <a:t>优化方法</a:t>
            </a:r>
          </a:p>
        </p:txBody>
      </p:sp>
      <p:sp>
        <p:nvSpPr>
          <p:cNvPr id="6" name="Rectangle 4"/>
          <p:cNvSpPr txBox="1">
            <a:spLocks noChangeArrowheads="1"/>
          </p:cNvSpPr>
          <p:nvPr/>
        </p:nvSpPr>
        <p:spPr bwMode="auto">
          <a:xfrm>
            <a:off x="2699792" y="4599400"/>
            <a:ext cx="4330055" cy="1637912"/>
          </a:xfrm>
          <a:prstGeom prst="rect">
            <a:avLst/>
          </a:prstGeom>
          <a:solidFill>
            <a:srgbClr val="FFFF00"/>
          </a:solidFill>
          <a:ln>
            <a:noFill/>
          </a:ln>
          <a:effectLst>
            <a:outerShdw blurRad="50800" dist="38100" dir="2700000" algn="tl" rotWithShape="0">
              <a:prstClr val="black">
                <a:alpha val="40000"/>
              </a:prstClr>
            </a:outerShdw>
            <a:softEdge rad="31750"/>
          </a:effectLs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374650" indent="-374650" eaLnBrk="1" hangingPunct="1">
              <a:lnSpc>
                <a:spcPct val="130000"/>
              </a:lnSpc>
              <a:buFont typeface="Wingdings" pitchFamily="2" charset="2"/>
              <a:buChar char="Ø"/>
            </a:pPr>
            <a:r>
              <a:rPr lang="zh-CN" altLang="en-US" sz="2400" kern="0" dirty="0" smtClean="0"/>
              <a:t>增强运算型指令的功能</a:t>
            </a:r>
          </a:p>
          <a:p>
            <a:pPr marL="374650" indent="-374650" eaLnBrk="1" hangingPunct="1">
              <a:lnSpc>
                <a:spcPct val="130000"/>
              </a:lnSpc>
              <a:buFont typeface="Wingdings" pitchFamily="2" charset="2"/>
              <a:buChar char="Ø"/>
            </a:pPr>
            <a:r>
              <a:rPr lang="zh-CN" altLang="en-US" sz="2400" kern="0" dirty="0" smtClean="0"/>
              <a:t>增强数据传送指令的功能</a:t>
            </a:r>
          </a:p>
          <a:p>
            <a:pPr marL="374650" indent="-374650" eaLnBrk="1" hangingPunct="1">
              <a:lnSpc>
                <a:spcPct val="130000"/>
              </a:lnSpc>
              <a:buFont typeface="Wingdings" pitchFamily="2" charset="2"/>
              <a:buChar char="Ø"/>
            </a:pPr>
            <a:r>
              <a:rPr lang="zh-CN" altLang="en-US" sz="2400" kern="0" dirty="0" smtClean="0"/>
              <a:t>增强程序控制指令的功能</a:t>
            </a:r>
            <a:endParaRPr lang="zh-CN" altLang="en-US" sz="2400" kern="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endParaRPr lang="zh-CN" altLang="en-US" sz="1200" b="0">
              <a:latin typeface="Times New Roman" pitchFamily="18" charset="0"/>
              <a:ea typeface="幼圆" pitchFamily="49" charset="-122"/>
            </a:endParaRPr>
          </a:p>
        </p:txBody>
      </p:sp>
      <p:sp>
        <p:nvSpPr>
          <p:cNvPr id="89091" name="Rectangle 4"/>
          <p:cNvSpPr>
            <a:spLocks noGrp="1" noChangeArrowheads="1"/>
          </p:cNvSpPr>
          <p:nvPr>
            <p:ph type="body" idx="1"/>
          </p:nvPr>
        </p:nvSpPr>
        <p:spPr>
          <a:xfrm>
            <a:off x="809625" y="1989138"/>
            <a:ext cx="5490567" cy="4335462"/>
          </a:xfrm>
        </p:spPr>
        <p:txBody>
          <a:bodyPr/>
          <a:lstStyle/>
          <a:p>
            <a:pPr marL="0" indent="0">
              <a:lnSpc>
                <a:spcPct val="120000"/>
              </a:lnSpc>
              <a:buFont typeface="Wingdings" pitchFamily="2" charset="2"/>
              <a:buNone/>
              <a:defRPr/>
            </a:pPr>
            <a:r>
              <a:rPr lang="zh-CN" altLang="en-US" sz="2400" dirty="0" smtClean="0"/>
              <a:t>例如：</a:t>
            </a:r>
            <a:r>
              <a:rPr lang="zh-CN" altLang="en-US" sz="2400" dirty="0" smtClean="0">
                <a:solidFill>
                  <a:srgbClr val="0000CC"/>
                </a:solidFill>
              </a:rPr>
              <a:t>循环在程序中占有相当大的 比例，所以在指令上提供专门的支持。</a:t>
            </a:r>
          </a:p>
          <a:p>
            <a:pPr marL="354013" indent="-354013">
              <a:lnSpc>
                <a:spcPct val="120000"/>
              </a:lnSpc>
              <a:defRPr/>
            </a:pPr>
            <a:r>
              <a:rPr lang="zh-CN" altLang="en-US" sz="2400" dirty="0" smtClean="0">
                <a:latin typeface="黑体" pitchFamily="2" charset="-122"/>
              </a:rPr>
              <a:t>循环控制部分通常用</a:t>
            </a:r>
            <a:r>
              <a:rPr lang="en-US" altLang="zh-CN" sz="2400" dirty="0" smtClean="0">
                <a:latin typeface="黑体" pitchFamily="2" charset="-122"/>
              </a:rPr>
              <a:t>3</a:t>
            </a:r>
            <a:r>
              <a:rPr lang="zh-CN" altLang="en-US" sz="2400" dirty="0" smtClean="0">
                <a:latin typeface="黑体" pitchFamily="2" charset="-122"/>
              </a:rPr>
              <a:t>条指令完成</a:t>
            </a:r>
          </a:p>
          <a:p>
            <a:pPr lvl="1">
              <a:lnSpc>
                <a:spcPct val="120000"/>
              </a:lnSpc>
              <a:defRPr/>
            </a:pPr>
            <a:r>
              <a:rPr lang="zh-CN" altLang="en-US" sz="2400" dirty="0" smtClean="0"/>
              <a:t>一条加法指令</a:t>
            </a:r>
          </a:p>
          <a:p>
            <a:pPr lvl="1">
              <a:lnSpc>
                <a:spcPct val="120000"/>
              </a:lnSpc>
              <a:defRPr/>
            </a:pPr>
            <a:r>
              <a:rPr lang="zh-CN" altLang="en-US" sz="2400" dirty="0" smtClean="0"/>
              <a:t>一条比较指令</a:t>
            </a:r>
          </a:p>
          <a:p>
            <a:pPr lvl="1">
              <a:lnSpc>
                <a:spcPct val="120000"/>
              </a:lnSpc>
              <a:defRPr/>
            </a:pPr>
            <a:r>
              <a:rPr lang="zh-CN" altLang="en-US" sz="2400" dirty="0" smtClean="0"/>
              <a:t>一条分支指令</a:t>
            </a:r>
          </a:p>
          <a:p>
            <a:pPr marL="312738" indent="-312738">
              <a:lnSpc>
                <a:spcPct val="120000"/>
              </a:lnSpc>
              <a:defRPr/>
            </a:pPr>
            <a:r>
              <a:rPr lang="zh-CN" altLang="en-US" sz="2400" dirty="0" smtClean="0"/>
              <a:t>设置</a:t>
            </a:r>
            <a:r>
              <a:rPr lang="zh-CN" altLang="en-US" sz="2400" dirty="0" smtClean="0">
                <a:solidFill>
                  <a:srgbClr val="FF0000"/>
                </a:solidFill>
              </a:rPr>
              <a:t>循环控制指令</a:t>
            </a:r>
            <a:r>
              <a:rPr lang="zh-CN" altLang="en-US" sz="2400" dirty="0" smtClean="0"/>
              <a:t>，用一条指令完成上述</a:t>
            </a:r>
            <a:r>
              <a:rPr lang="en-US" altLang="zh-CN" sz="2400" dirty="0" smtClean="0">
                <a:latin typeface="黑体" pitchFamily="2" charset="-122"/>
              </a:rPr>
              <a:t>3</a:t>
            </a:r>
            <a:r>
              <a:rPr lang="zh-CN" altLang="en-US" sz="2400" dirty="0" smtClean="0">
                <a:latin typeface="黑体" pitchFamily="2" charset="-122"/>
              </a:rPr>
              <a:t>条</a:t>
            </a:r>
            <a:r>
              <a:rPr lang="zh-CN" altLang="en-US" sz="2400" dirty="0" smtClean="0"/>
              <a:t>指令的功能（例：</a:t>
            </a:r>
            <a:r>
              <a:rPr lang="en-US" altLang="zh-CN" sz="2400" dirty="0" smtClean="0"/>
              <a:t>IBM 370</a:t>
            </a:r>
            <a:r>
              <a:rPr lang="zh-CN" altLang="en-US" sz="2400" dirty="0" smtClean="0"/>
              <a:t>中专门设置了“</a:t>
            </a:r>
            <a:r>
              <a:rPr lang="zh-CN" altLang="en-US" sz="2400" dirty="0" smtClean="0">
                <a:solidFill>
                  <a:srgbClr val="0000CC"/>
                </a:solidFill>
              </a:rPr>
              <a:t>大于转移</a:t>
            </a:r>
            <a:r>
              <a:rPr lang="zh-CN" altLang="en-US" sz="2400" dirty="0" smtClean="0"/>
              <a:t>”指令）。</a:t>
            </a:r>
            <a:r>
              <a:rPr lang="zh-CN" altLang="en-US" sz="2400" dirty="0" smtClean="0">
                <a:solidFill>
                  <a:srgbClr val="000000"/>
                </a:solidFill>
              </a:rPr>
              <a:t> </a:t>
            </a:r>
          </a:p>
        </p:txBody>
      </p:sp>
      <p:sp>
        <p:nvSpPr>
          <p:cNvPr id="9216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4</a:t>
            </a:r>
            <a:r>
              <a:rPr lang="zh-CN" altLang="en-US" sz="1200" b="0">
                <a:latin typeface="幼圆" pitchFamily="49" charset="-122"/>
                <a:ea typeface="幼圆" pitchFamily="49" charset="-122"/>
              </a:rPr>
              <a:t> 之 </a:t>
            </a:r>
            <a:r>
              <a:rPr lang="en-US" altLang="zh-CN" sz="1200" b="0">
                <a:latin typeface="幼圆" pitchFamily="49" charset="-122"/>
                <a:ea typeface="幼圆" pitchFamily="49" charset="-122"/>
              </a:rPr>
              <a:t>4</a:t>
            </a:r>
            <a:endParaRPr lang="zh-CN" altLang="en-US" sz="1200" b="0">
              <a:latin typeface="幼圆" pitchFamily="49" charset="-122"/>
              <a:ea typeface="幼圆" pitchFamily="49" charset="-122"/>
            </a:endParaRPr>
          </a:p>
        </p:txBody>
      </p:sp>
      <p:sp>
        <p:nvSpPr>
          <p:cNvPr id="348166" name="Rectangle 6"/>
          <p:cNvSpPr>
            <a:spLocks noGrp="1" noChangeArrowheads="1"/>
          </p:cNvSpPr>
          <p:nvPr>
            <p:ph type="title"/>
          </p:nvPr>
        </p:nvSpPr>
        <p:spPr/>
        <p:txBody>
          <a:bodyPr/>
          <a:lstStyle/>
          <a:p>
            <a:pPr eaLnBrk="1" hangingPunct="1">
              <a:defRPr/>
            </a:pPr>
            <a:r>
              <a:rPr lang="zh-CN" altLang="en-US" dirty="0" smtClean="0"/>
              <a:t>例  子</a:t>
            </a:r>
          </a:p>
        </p:txBody>
      </p:sp>
      <p:pic>
        <p:nvPicPr>
          <p:cNvPr id="921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763" y="2065338"/>
            <a:ext cx="2543175"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pPr eaLnBrk="1" hangingPunct="1">
              <a:defRPr/>
            </a:pPr>
            <a:r>
              <a:rPr lang="zh-CN" altLang="en-US" smtClean="0"/>
              <a:t>从面向高级语言的优化实现来改进</a:t>
            </a:r>
          </a:p>
        </p:txBody>
      </p:sp>
      <p:sp>
        <p:nvSpPr>
          <p:cNvPr id="9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endParaRPr lang="zh-CN" altLang="en-US" sz="1200" b="0">
              <a:latin typeface="Times New Roman" pitchFamily="18" charset="0"/>
              <a:ea typeface="幼圆" pitchFamily="49" charset="-122"/>
            </a:endParaRPr>
          </a:p>
        </p:txBody>
      </p:sp>
      <p:sp>
        <p:nvSpPr>
          <p:cNvPr id="346116" name="Rectangle 4"/>
          <p:cNvSpPr>
            <a:spLocks noGrp="1" noChangeArrowheads="1"/>
          </p:cNvSpPr>
          <p:nvPr>
            <p:ph type="body" idx="1"/>
          </p:nvPr>
        </p:nvSpPr>
        <p:spPr>
          <a:xfrm>
            <a:off x="809625" y="1916113"/>
            <a:ext cx="7958138" cy="4484687"/>
          </a:xfrm>
        </p:spPr>
        <p:txBody>
          <a:bodyPr/>
          <a:lstStyle/>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优化目的</a:t>
            </a:r>
          </a:p>
          <a:p>
            <a:pPr marL="0" indent="0" eaLnBrk="1" hangingPunct="1">
              <a:lnSpc>
                <a:spcPct val="125000"/>
              </a:lnSpc>
              <a:buFont typeface="Wingdings" pitchFamily="2" charset="2"/>
              <a:buNone/>
              <a:defRPr/>
            </a:pPr>
            <a:r>
              <a:rPr lang="zh-CN" altLang="en-US" sz="2400" dirty="0" smtClean="0"/>
              <a:t>     尽可能减小高级语言和机器语言之间的语义差距，以利于支持高级语言编译器（缩短编译器的代码长度及编译时间）的构造。</a:t>
            </a:r>
          </a:p>
          <a:p>
            <a:pPr marL="0" indent="0" eaLnBrk="1" hangingPunct="1">
              <a:lnSpc>
                <a:spcPct val="125000"/>
              </a:lnSpc>
              <a:buClr>
                <a:srgbClr val="FF3300"/>
              </a:buClr>
              <a:defRPr/>
            </a:pPr>
            <a:r>
              <a:rPr lang="zh-CN" altLang="en-US" sz="2400" dirty="0" smtClean="0">
                <a:solidFill>
                  <a:srgbClr val="FF3300"/>
                </a:solidFill>
                <a:effectLst>
                  <a:outerShdw blurRad="38100" dist="38100" dir="2700000" algn="tl">
                    <a:srgbClr val="C0C0C0"/>
                  </a:outerShdw>
                </a:effectLst>
              </a:rPr>
              <a:t>  优化方法</a:t>
            </a:r>
          </a:p>
          <a:p>
            <a:pPr marL="765175" lvl="1" eaLnBrk="1" hangingPunct="1">
              <a:lnSpc>
                <a:spcPct val="125000"/>
              </a:lnSpc>
              <a:buFont typeface="Wingdings" pitchFamily="2" charset="2"/>
              <a:buChar char="Ø"/>
              <a:defRPr/>
            </a:pPr>
            <a:r>
              <a:rPr lang="zh-CN" altLang="en-US" sz="2400" dirty="0" smtClean="0">
                <a:hlinkClick r:id="rId6" action="ppaction://hlinksldjump"/>
              </a:rPr>
              <a:t>增强对高级语言支持的指令的功能</a:t>
            </a:r>
            <a:endParaRPr lang="zh-CN" altLang="en-US" sz="2400" dirty="0" smtClean="0"/>
          </a:p>
          <a:p>
            <a:pPr marL="765175" lvl="1" eaLnBrk="1" hangingPunct="1">
              <a:lnSpc>
                <a:spcPct val="125000"/>
              </a:lnSpc>
              <a:buFont typeface="Wingdings" pitchFamily="2" charset="2"/>
              <a:buChar char="Ø"/>
              <a:defRPr/>
            </a:pPr>
            <a:r>
              <a:rPr lang="zh-CN" altLang="en-US" sz="2400" dirty="0" smtClean="0">
                <a:hlinkClick r:id="rId7" action="ppaction://hlinksldjump"/>
              </a:rPr>
              <a:t>高级语言计算机</a:t>
            </a:r>
            <a:endParaRPr lang="zh-CN" altLang="en-US" sz="24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noChangeArrowheads="1"/>
          </p:cNvSpPr>
          <p:nvPr>
            <p:ph type="title"/>
          </p:nvPr>
        </p:nvSpPr>
        <p:spPr/>
        <p:txBody>
          <a:bodyPr/>
          <a:lstStyle/>
          <a:p>
            <a:pPr eaLnBrk="1" hangingPunct="1">
              <a:defRPr/>
            </a:pPr>
            <a:r>
              <a:rPr lang="zh-CN" altLang="en-US" smtClean="0"/>
              <a:t>增强对高级语言支持的指令的功能</a:t>
            </a:r>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从面向高级语言的优化实现来改进</a:t>
            </a:r>
            <a:endParaRPr lang="zh-CN" altLang="en-US" sz="1200" b="0">
              <a:latin typeface="Times New Roman" pitchFamily="18" charset="0"/>
              <a:ea typeface="幼圆" pitchFamily="49" charset="-122"/>
            </a:endParaRPr>
          </a:p>
        </p:txBody>
      </p:sp>
      <p:sp>
        <p:nvSpPr>
          <p:cNvPr id="350213" name="Rectangle 5"/>
          <p:cNvSpPr>
            <a:spLocks noGrp="1" noChangeArrowheads="1"/>
          </p:cNvSpPr>
          <p:nvPr>
            <p:ph type="body" idx="1"/>
          </p:nvPr>
        </p:nvSpPr>
        <p:spPr/>
        <p:txBody>
          <a:bodyPr/>
          <a:lstStyle/>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思想</a:t>
            </a:r>
          </a:p>
          <a:p>
            <a:pPr marL="0" indent="0" eaLnBrk="1" hangingPunct="1">
              <a:buFont typeface="Wingdings" pitchFamily="2" charset="2"/>
              <a:buNone/>
              <a:defRPr/>
            </a:pPr>
            <a:r>
              <a:rPr lang="zh-CN" altLang="en-US" sz="2400" dirty="0" smtClean="0"/>
              <a:t>    对源程序中各种高级语言语句的</a:t>
            </a:r>
            <a:r>
              <a:rPr lang="zh-CN" altLang="en-US" sz="2400" dirty="0" smtClean="0">
                <a:solidFill>
                  <a:srgbClr val="3333FF"/>
                </a:solidFill>
              </a:rPr>
              <a:t>静态/动态使用频度</a:t>
            </a:r>
            <a:r>
              <a:rPr lang="zh-CN" altLang="en-US" sz="2400" dirty="0" smtClean="0"/>
              <a:t>进行统计分析来改进。</a:t>
            </a:r>
            <a:endParaRPr lang="en-US" altLang="zh-CN" sz="2400" dirty="0" smtClean="0"/>
          </a:p>
          <a:p>
            <a:pPr marL="0" indent="0" eaLnBrk="1" hangingPunct="1">
              <a:buClr>
                <a:srgbClr val="FF3300"/>
              </a:buClr>
              <a:defRPr/>
            </a:pPr>
            <a:r>
              <a:rPr lang="zh-CN" altLang="en-US" sz="2400" dirty="0" smtClean="0">
                <a:solidFill>
                  <a:srgbClr val="FF3300"/>
                </a:solidFill>
                <a:effectLst>
                  <a:outerShdw blurRad="38100" dist="38100" dir="2700000" algn="tl">
                    <a:srgbClr val="C0C0C0"/>
                  </a:outerShdw>
                </a:effectLst>
              </a:rPr>
              <a:t>  例子</a:t>
            </a:r>
            <a:endParaRPr lang="en-US" altLang="zh-CN" sz="2400" dirty="0">
              <a:solidFill>
                <a:srgbClr val="FF3300"/>
              </a:solidFill>
              <a:effectLst>
                <a:outerShdw blurRad="38100" dist="38100" dir="2700000" algn="tl">
                  <a:srgbClr val="C0C0C0"/>
                </a:outerShdw>
              </a:effectLst>
            </a:endParaRPr>
          </a:p>
          <a:p>
            <a:pPr lvl="1" eaLnBrk="1" hangingPunct="1">
              <a:defRPr/>
            </a:pPr>
            <a:r>
              <a:rPr lang="zh-CN" altLang="en-US" sz="2400" dirty="0" smtClean="0">
                <a:solidFill>
                  <a:srgbClr val="3333FF"/>
                </a:solidFill>
              </a:rPr>
              <a:t>一元赋值语句</a:t>
            </a:r>
            <a:r>
              <a:rPr lang="zh-CN" altLang="en-US" sz="2400" dirty="0" smtClean="0"/>
              <a:t>在高级语言中使用最频繁（</a:t>
            </a:r>
            <a:r>
              <a:rPr lang="en-US" altLang="zh-CN" sz="2400" dirty="0" smtClean="0"/>
              <a:t>FORTRAN</a:t>
            </a:r>
            <a:r>
              <a:rPr lang="zh-CN" altLang="en-US" sz="2400" dirty="0" smtClean="0"/>
              <a:t>中达</a:t>
            </a:r>
            <a:r>
              <a:rPr lang="en-US" altLang="zh-CN" sz="2400" dirty="0" smtClean="0"/>
              <a:t>31%</a:t>
            </a:r>
            <a:r>
              <a:rPr lang="zh-CN" altLang="en-US" sz="2400" dirty="0" smtClean="0"/>
              <a:t>），可优化</a:t>
            </a:r>
            <a:r>
              <a:rPr lang="zh-CN" altLang="en-US" sz="2400" dirty="0" smtClean="0">
                <a:solidFill>
                  <a:srgbClr val="3333FF"/>
                </a:solidFill>
              </a:rPr>
              <a:t>数据传送指令</a:t>
            </a:r>
            <a:r>
              <a:rPr lang="zh-CN" altLang="en-US" sz="2400" dirty="0" smtClean="0"/>
              <a:t>来支持；</a:t>
            </a:r>
            <a:endParaRPr lang="en-US" altLang="zh-CN" sz="2400" dirty="0" smtClean="0"/>
          </a:p>
          <a:p>
            <a:pPr lvl="1" eaLnBrk="1" hangingPunct="1">
              <a:defRPr/>
            </a:pPr>
            <a:r>
              <a:rPr lang="zh-CN" altLang="en-US" sz="2400" dirty="0" smtClean="0">
                <a:solidFill>
                  <a:srgbClr val="3333FF"/>
                </a:solidFill>
              </a:rPr>
              <a:t>条件转移（</a:t>
            </a:r>
            <a:r>
              <a:rPr lang="en-US" altLang="zh-CN" sz="2400" dirty="0" smtClean="0">
                <a:solidFill>
                  <a:srgbClr val="3333FF"/>
                </a:solidFill>
              </a:rPr>
              <a:t>IF</a:t>
            </a:r>
            <a:r>
              <a:rPr lang="zh-CN" altLang="en-US" sz="2400" dirty="0" smtClean="0">
                <a:solidFill>
                  <a:srgbClr val="3333FF"/>
                </a:solidFill>
              </a:rPr>
              <a:t>）</a:t>
            </a:r>
            <a:r>
              <a:rPr lang="zh-CN" altLang="en-US" sz="2400" dirty="0" smtClean="0"/>
              <a:t>和</a:t>
            </a:r>
            <a:r>
              <a:rPr lang="zh-CN" altLang="en-US" sz="2400" dirty="0">
                <a:solidFill>
                  <a:srgbClr val="3333FF"/>
                </a:solidFill>
              </a:rPr>
              <a:t>无条件转移（</a:t>
            </a:r>
            <a:r>
              <a:rPr lang="en-US" altLang="zh-CN" sz="2400" dirty="0">
                <a:solidFill>
                  <a:srgbClr val="3333FF"/>
                </a:solidFill>
              </a:rPr>
              <a:t>GOTO</a:t>
            </a:r>
            <a:r>
              <a:rPr lang="zh-CN" altLang="en-US" sz="2400" dirty="0">
                <a:solidFill>
                  <a:srgbClr val="3333FF"/>
                </a:solidFill>
              </a:rPr>
              <a:t>）语句</a:t>
            </a:r>
            <a:r>
              <a:rPr lang="zh-CN" altLang="en-US" sz="2400" dirty="0" smtClean="0"/>
              <a:t>所占比例较高（</a:t>
            </a:r>
            <a:r>
              <a:rPr lang="en-US" altLang="zh-CN" sz="2400" dirty="0" smtClean="0"/>
              <a:t>≥20%</a:t>
            </a:r>
            <a:r>
              <a:rPr lang="zh-CN" altLang="en-US" sz="2400" dirty="0" smtClean="0"/>
              <a:t>），可增强</a:t>
            </a:r>
            <a:r>
              <a:rPr lang="zh-CN" altLang="en-US" sz="2400" dirty="0">
                <a:solidFill>
                  <a:srgbClr val="3333FF"/>
                </a:solidFill>
              </a:rPr>
              <a:t>转移指令</a:t>
            </a:r>
            <a:r>
              <a:rPr lang="zh-CN" altLang="en-US" sz="2400" dirty="0" smtClean="0"/>
              <a:t>的功能，增加转移指令的种类；</a:t>
            </a:r>
            <a:endParaRPr lang="en-US" altLang="zh-CN" sz="2400" dirty="0"/>
          </a:p>
          <a:p>
            <a:pPr lvl="1" eaLnBrk="1" hangingPunct="1">
              <a:defRPr/>
            </a:pPr>
            <a:r>
              <a:rPr lang="zh-CN" altLang="en-US" sz="2400" dirty="0"/>
              <a:t>增强系统结构的</a:t>
            </a:r>
            <a:r>
              <a:rPr lang="zh-CN" altLang="en-US" sz="2400" dirty="0">
                <a:solidFill>
                  <a:srgbClr val="3333FF"/>
                </a:solidFill>
              </a:rPr>
              <a:t>规整性</a:t>
            </a:r>
            <a:r>
              <a:rPr lang="zh-CN" altLang="en-US" sz="2400" dirty="0"/>
              <a:t>，减少系统结构中的各种</a:t>
            </a:r>
            <a:r>
              <a:rPr lang="zh-CN" altLang="en-US" sz="2400" dirty="0">
                <a:solidFill>
                  <a:srgbClr val="3333FF"/>
                </a:solidFill>
              </a:rPr>
              <a:t>例外</a:t>
            </a:r>
            <a:r>
              <a:rPr lang="zh-CN" altLang="en-US" sz="2400" dirty="0" smtClean="0">
                <a:solidFill>
                  <a:srgbClr val="3333FF"/>
                </a:solidFill>
              </a:rPr>
              <a:t>情况</a:t>
            </a:r>
            <a:r>
              <a:rPr lang="zh-CN" altLang="en-US" sz="2400" dirty="0" smtClean="0"/>
              <a:t>，是对编译程序的有力支持。</a:t>
            </a:r>
          </a:p>
          <a:p>
            <a:pPr marL="0" indent="0" eaLnBrk="1" hangingPunct="1">
              <a:buClr>
                <a:srgbClr val="FF3300"/>
              </a:buClr>
              <a:buNone/>
              <a:defRPr/>
            </a:pPr>
            <a:endParaRPr lang="zh-CN" altLang="en-US" sz="2400" dirty="0" smtClean="0"/>
          </a:p>
        </p:txBody>
      </p:sp>
      <p:sp>
        <p:nvSpPr>
          <p:cNvPr id="5"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2</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1</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pPr eaLnBrk="1" hangingPunct="1">
              <a:defRPr/>
            </a:pPr>
            <a:r>
              <a:rPr lang="zh-CN" altLang="en-US" dirty="0" smtClean="0"/>
              <a:t>问题及解决</a:t>
            </a:r>
          </a:p>
        </p:txBody>
      </p:sp>
      <p:sp>
        <p:nvSpPr>
          <p:cNvPr id="9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从面向高级语言的优化实现来改进</a:t>
            </a:r>
            <a:endParaRPr lang="zh-CN" altLang="en-US" sz="1200" b="0">
              <a:latin typeface="Times New Roman" pitchFamily="18" charset="0"/>
              <a:ea typeface="幼圆" pitchFamily="49" charset="-122"/>
            </a:endParaRPr>
          </a:p>
        </p:txBody>
      </p:sp>
      <p:sp>
        <p:nvSpPr>
          <p:cNvPr id="351236" name="Rectangle 4"/>
          <p:cNvSpPr>
            <a:spLocks noGrp="1" noChangeArrowheads="1"/>
          </p:cNvSpPr>
          <p:nvPr>
            <p:ph type="body" idx="1"/>
          </p:nvPr>
        </p:nvSpPr>
        <p:spPr/>
        <p:txBody>
          <a:bodyPr/>
          <a:lstStyle/>
          <a:p>
            <a:pPr marL="0" indent="0" eaLnBrk="1" hangingPunct="1">
              <a:lnSpc>
                <a:spcPct val="125000"/>
              </a:lnSpc>
              <a:buClr>
                <a:srgbClr val="FF3300"/>
              </a:buClr>
              <a:defRPr/>
            </a:pPr>
            <a:r>
              <a:rPr lang="zh-CN" altLang="en-US" sz="2800" dirty="0" smtClean="0">
                <a:solidFill>
                  <a:srgbClr val="FF3300"/>
                </a:solidFill>
                <a:effectLst>
                  <a:outerShdw blurRad="38100" dist="38100" dir="2700000" algn="tl">
                    <a:srgbClr val="C0C0C0"/>
                  </a:outerShdw>
                </a:effectLst>
              </a:rPr>
              <a:t>  问题</a:t>
            </a:r>
          </a:p>
          <a:p>
            <a:pPr marL="0" indent="0" eaLnBrk="1" hangingPunct="1">
              <a:lnSpc>
                <a:spcPct val="125000"/>
              </a:lnSpc>
              <a:buFont typeface="Wingdings" pitchFamily="2" charset="2"/>
              <a:buNone/>
              <a:defRPr/>
            </a:pPr>
            <a:r>
              <a:rPr lang="zh-CN" altLang="en-US" sz="2400" dirty="0" smtClean="0"/>
              <a:t>     如果计算机系统结构过分优化于一种高级语言的实现，就会显著减低与其语义结构相差较大的其它高级语言的实现效率。</a:t>
            </a:r>
          </a:p>
          <a:p>
            <a:pPr marL="0" indent="0" eaLnBrk="1" hangingPunct="1">
              <a:lnSpc>
                <a:spcPct val="125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解决</a:t>
            </a:r>
          </a:p>
          <a:p>
            <a:pPr marL="765175" lvl="1" eaLnBrk="1" hangingPunct="1">
              <a:lnSpc>
                <a:spcPct val="125000"/>
              </a:lnSpc>
              <a:buFont typeface="Wingdings" pitchFamily="2" charset="2"/>
              <a:buChar char="Ø"/>
              <a:defRPr/>
            </a:pPr>
            <a:r>
              <a:rPr lang="zh-CN" altLang="en-US" sz="2400" dirty="0" smtClean="0">
                <a:hlinkClick r:id="rId7" action="ppaction://hlinksldjump"/>
              </a:rPr>
              <a:t>同时面向各种高级语言的优化实现来改进</a:t>
            </a:r>
            <a:endParaRPr lang="zh-CN" altLang="en-US" sz="2400" dirty="0" smtClean="0"/>
          </a:p>
          <a:p>
            <a:pPr marL="765175" lvl="1" eaLnBrk="1" hangingPunct="1">
              <a:lnSpc>
                <a:spcPct val="125000"/>
              </a:lnSpc>
              <a:buFont typeface="Wingdings" pitchFamily="2" charset="2"/>
              <a:buChar char="Ø"/>
              <a:defRPr/>
            </a:pPr>
            <a:r>
              <a:rPr lang="zh-CN" altLang="en-US" sz="2400" dirty="0" smtClean="0">
                <a:hlinkClick r:id="rId8" action="ppaction://hlinksldjump"/>
              </a:rPr>
              <a:t>动态自适应指令系统</a:t>
            </a:r>
            <a:endParaRPr lang="zh-CN" altLang="en-US" sz="2400" dirty="0" smtClean="0"/>
          </a:p>
        </p:txBody>
      </p:sp>
      <p:sp>
        <p:nvSpPr>
          <p:cNvPr id="5"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2</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2</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pPr eaLnBrk="1" hangingPunct="1">
              <a:defRPr/>
            </a:pPr>
            <a:r>
              <a:rPr lang="zh-CN" altLang="en-US" smtClean="0"/>
              <a:t>同时面向各种高级语言的优化实现来改进</a:t>
            </a:r>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指令系统的功能设计</a:t>
            </a:r>
            <a:r>
              <a:rPr lang="zh-CN" altLang="en-US" sz="1200" b="0" dirty="0">
                <a:latin typeface="Times New Roman" pitchFamily="18" charset="0"/>
                <a:ea typeface="幼圆" pitchFamily="49" charset="-122"/>
              </a:rPr>
              <a:t>&gt;&gt;</a:t>
            </a:r>
            <a:r>
              <a:rPr lang="en-US" altLang="zh-CN" sz="1200" b="0" dirty="0">
                <a:latin typeface="Times New Roman" pitchFamily="18" charset="0"/>
                <a:ea typeface="幼圆" pitchFamily="49" charset="-122"/>
                <a:hlinkClick r:id="rId5" action="ppaction://hlinksldjump"/>
              </a:rPr>
              <a:t>CISC</a:t>
            </a:r>
            <a:r>
              <a:rPr lang="en-US" altLang="zh-CN"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从面向高级语言的优化实现来改进</a:t>
            </a:r>
            <a:r>
              <a:rPr lang="zh-CN" altLang="en-US" sz="1200" b="0" dirty="0" smtClean="0">
                <a:latin typeface="Times New Roman" pitchFamily="18" charset="0"/>
                <a:ea typeface="幼圆" pitchFamily="49" charset="-122"/>
              </a:rPr>
              <a:t>&gt;&gt;</a:t>
            </a:r>
            <a:r>
              <a:rPr lang="zh-CN" altLang="en-US" sz="1200" b="0" dirty="0" smtClean="0">
                <a:latin typeface="Times New Roman" pitchFamily="18" charset="0"/>
                <a:ea typeface="幼圆" pitchFamily="49" charset="-122"/>
                <a:hlinkClick r:id="rId7" action="ppaction://hlinksldjump"/>
              </a:rPr>
              <a:t>问题及解决</a:t>
            </a:r>
            <a:endParaRPr lang="zh-CN" altLang="en-US" sz="1200" b="0" dirty="0">
              <a:latin typeface="Times New Roman" pitchFamily="18" charset="0"/>
              <a:ea typeface="幼圆" pitchFamily="49" charset="-122"/>
            </a:endParaRPr>
          </a:p>
        </p:txBody>
      </p:sp>
      <p:sp>
        <p:nvSpPr>
          <p:cNvPr id="96260" name="Rectangle 5"/>
          <p:cNvSpPr>
            <a:spLocks noGrp="1" noChangeArrowheads="1"/>
          </p:cNvSpPr>
          <p:nvPr>
            <p:ph type="body" idx="1"/>
          </p:nvPr>
        </p:nvSpPr>
        <p:spPr>
          <a:xfrm>
            <a:off x="827088" y="2060575"/>
            <a:ext cx="7958137" cy="1219200"/>
          </a:xfrm>
          <a:solidFill>
            <a:srgbClr val="FFFF00"/>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10000"/>
              </a:lnSpc>
              <a:buFont typeface="Wingdings" pitchFamily="2" charset="2"/>
              <a:buNone/>
            </a:pPr>
            <a:r>
              <a:rPr lang="zh-CN" altLang="en-US" sz="2800" smtClean="0"/>
              <a:t>       可以设法改进指令系统，使它与各种高级语言的语义差距都有共同的缩小。</a:t>
            </a:r>
          </a:p>
        </p:txBody>
      </p:sp>
      <p:sp>
        <p:nvSpPr>
          <p:cNvPr id="96261" name="Line 6"/>
          <p:cNvSpPr>
            <a:spLocks noChangeShapeType="1"/>
          </p:cNvSpPr>
          <p:nvPr/>
        </p:nvSpPr>
        <p:spPr bwMode="auto">
          <a:xfrm>
            <a:off x="1828800" y="4648200"/>
            <a:ext cx="838200" cy="0"/>
          </a:xfrm>
          <a:prstGeom prst="line">
            <a:avLst/>
          </a:prstGeom>
          <a:noFill/>
          <a:ln w="571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2" name="Line 7"/>
          <p:cNvSpPr>
            <a:spLocks noChangeShapeType="1"/>
          </p:cNvSpPr>
          <p:nvPr/>
        </p:nvSpPr>
        <p:spPr bwMode="auto">
          <a:xfrm>
            <a:off x="2743200" y="4648200"/>
            <a:ext cx="1371600" cy="0"/>
          </a:xfrm>
          <a:prstGeom prst="line">
            <a:avLst/>
          </a:prstGeom>
          <a:noFill/>
          <a:ln w="571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3" name="Line 8"/>
          <p:cNvSpPr>
            <a:spLocks noChangeShapeType="1"/>
          </p:cNvSpPr>
          <p:nvPr/>
        </p:nvSpPr>
        <p:spPr bwMode="auto">
          <a:xfrm flipV="1">
            <a:off x="4191000" y="3886200"/>
            <a:ext cx="1371600" cy="685800"/>
          </a:xfrm>
          <a:prstGeom prst="line">
            <a:avLst/>
          </a:prstGeom>
          <a:noFill/>
          <a:ln w="571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4" name="Line 9"/>
          <p:cNvSpPr>
            <a:spLocks noChangeShapeType="1"/>
          </p:cNvSpPr>
          <p:nvPr/>
        </p:nvSpPr>
        <p:spPr bwMode="auto">
          <a:xfrm flipV="1">
            <a:off x="4191000" y="4343400"/>
            <a:ext cx="2438400" cy="304800"/>
          </a:xfrm>
          <a:prstGeom prst="line">
            <a:avLst/>
          </a:prstGeom>
          <a:noFill/>
          <a:ln w="571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5" name="Line 10"/>
          <p:cNvSpPr>
            <a:spLocks noChangeShapeType="1"/>
          </p:cNvSpPr>
          <p:nvPr/>
        </p:nvSpPr>
        <p:spPr bwMode="auto">
          <a:xfrm>
            <a:off x="4191000" y="4724400"/>
            <a:ext cx="2514600" cy="990600"/>
          </a:xfrm>
          <a:prstGeom prst="line">
            <a:avLst/>
          </a:prstGeom>
          <a:noFill/>
          <a:ln w="571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6" name="Line 11"/>
          <p:cNvSpPr>
            <a:spLocks noChangeShapeType="1"/>
          </p:cNvSpPr>
          <p:nvPr/>
        </p:nvSpPr>
        <p:spPr bwMode="auto">
          <a:xfrm>
            <a:off x="4114800" y="4724400"/>
            <a:ext cx="1524000" cy="1371600"/>
          </a:xfrm>
          <a:prstGeom prst="line">
            <a:avLst/>
          </a:prstGeom>
          <a:noFill/>
          <a:ln w="571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7" name="Line 12"/>
          <p:cNvSpPr>
            <a:spLocks noChangeShapeType="1"/>
          </p:cNvSpPr>
          <p:nvPr/>
        </p:nvSpPr>
        <p:spPr bwMode="auto">
          <a:xfrm>
            <a:off x="4114800" y="4724400"/>
            <a:ext cx="533400" cy="1066800"/>
          </a:xfrm>
          <a:prstGeom prst="line">
            <a:avLst/>
          </a:prstGeom>
          <a:noFill/>
          <a:ln w="571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68" name="Text Box 13"/>
          <p:cNvSpPr txBox="1">
            <a:spLocks noChangeArrowheads="1"/>
          </p:cNvSpPr>
          <p:nvPr/>
        </p:nvSpPr>
        <p:spPr bwMode="auto">
          <a:xfrm>
            <a:off x="1331913" y="4724400"/>
            <a:ext cx="23256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Von Neumann</a:t>
            </a:r>
          </a:p>
          <a:p>
            <a:pPr algn="ctr" eaLnBrk="1" hangingPunct="1">
              <a:spcBef>
                <a:spcPct val="0"/>
              </a:spcBef>
              <a:buFont typeface="Wingdings" pitchFamily="2" charset="2"/>
              <a:buNone/>
            </a:pPr>
            <a:r>
              <a:rPr lang="zh-CN" altLang="en-US" sz="2400"/>
              <a:t>系统结构</a:t>
            </a:r>
          </a:p>
        </p:txBody>
      </p:sp>
      <p:sp>
        <p:nvSpPr>
          <p:cNvPr id="96269" name="Text Box 14"/>
          <p:cNvSpPr txBox="1">
            <a:spLocks noChangeArrowheads="1"/>
          </p:cNvSpPr>
          <p:nvPr/>
        </p:nvSpPr>
        <p:spPr bwMode="auto">
          <a:xfrm>
            <a:off x="2667000" y="3733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2400"/>
              <a:t>右移</a:t>
            </a:r>
          </a:p>
        </p:txBody>
      </p:sp>
      <p:sp>
        <p:nvSpPr>
          <p:cNvPr id="96270" name="Line 15"/>
          <p:cNvSpPr>
            <a:spLocks noChangeShapeType="1"/>
          </p:cNvSpPr>
          <p:nvPr/>
        </p:nvSpPr>
        <p:spPr bwMode="auto">
          <a:xfrm>
            <a:off x="2209800" y="4343400"/>
            <a:ext cx="1447800" cy="0"/>
          </a:xfrm>
          <a:prstGeom prst="line">
            <a:avLst/>
          </a:prstGeom>
          <a:noFill/>
          <a:ln w="28575">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6271" name="Text Box 16"/>
          <p:cNvSpPr txBox="1">
            <a:spLocks noChangeArrowheads="1"/>
          </p:cNvSpPr>
          <p:nvPr/>
        </p:nvSpPr>
        <p:spPr bwMode="auto">
          <a:xfrm>
            <a:off x="5791200" y="3505200"/>
            <a:ext cx="1373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COBOL</a:t>
            </a:r>
          </a:p>
        </p:txBody>
      </p:sp>
      <p:sp>
        <p:nvSpPr>
          <p:cNvPr id="96272" name="Text Box 17"/>
          <p:cNvSpPr txBox="1">
            <a:spLocks noChangeArrowheads="1"/>
          </p:cNvSpPr>
          <p:nvPr/>
        </p:nvSpPr>
        <p:spPr bwMode="auto">
          <a:xfrm>
            <a:off x="6858000" y="41148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PL/I</a:t>
            </a:r>
          </a:p>
        </p:txBody>
      </p:sp>
      <p:sp>
        <p:nvSpPr>
          <p:cNvPr id="96273" name="Text Box 18"/>
          <p:cNvSpPr txBox="1">
            <a:spLocks noChangeArrowheads="1"/>
          </p:cNvSpPr>
          <p:nvPr/>
        </p:nvSpPr>
        <p:spPr bwMode="auto">
          <a:xfrm>
            <a:off x="6934200" y="54102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APL</a:t>
            </a:r>
          </a:p>
        </p:txBody>
      </p:sp>
      <p:sp>
        <p:nvSpPr>
          <p:cNvPr id="96274" name="Text Box 19"/>
          <p:cNvSpPr txBox="1">
            <a:spLocks noChangeArrowheads="1"/>
          </p:cNvSpPr>
          <p:nvPr/>
        </p:nvSpPr>
        <p:spPr bwMode="auto">
          <a:xfrm>
            <a:off x="5943600" y="5943600"/>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FORTRAN</a:t>
            </a:r>
          </a:p>
        </p:txBody>
      </p:sp>
      <p:sp>
        <p:nvSpPr>
          <p:cNvPr id="96275" name="Text Box 20"/>
          <p:cNvSpPr txBox="1">
            <a:spLocks noChangeArrowheads="1"/>
          </p:cNvSpPr>
          <p:nvPr/>
        </p:nvSpPr>
        <p:spPr bwMode="auto">
          <a:xfrm>
            <a:off x="4114800" y="59436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en-US" altLang="zh-CN" sz="2400"/>
              <a:t>BASIC</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pPr eaLnBrk="1" hangingPunct="1">
              <a:defRPr/>
            </a:pPr>
            <a:r>
              <a:rPr lang="zh-CN" altLang="en-US" smtClean="0"/>
              <a:t>动态自适应指令系统</a:t>
            </a:r>
          </a:p>
        </p:txBody>
      </p:sp>
      <p:sp>
        <p:nvSpPr>
          <p:cNvPr id="97284" name="Rectangle 4"/>
          <p:cNvSpPr>
            <a:spLocks noGrp="1" noChangeArrowheads="1"/>
          </p:cNvSpPr>
          <p:nvPr>
            <p:ph type="body" idx="1"/>
          </p:nvPr>
        </p:nvSpPr>
        <p:spPr>
          <a:xfrm>
            <a:off x="914400" y="2057400"/>
            <a:ext cx="2133600" cy="4267200"/>
          </a:xfrm>
          <a:solidFill>
            <a:srgbClr val="FFFF00"/>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lnSpc>
                <a:spcPct val="120000"/>
              </a:lnSpc>
              <a:buFont typeface="Wingdings" pitchFamily="2" charset="2"/>
              <a:buNone/>
            </a:pPr>
            <a:r>
              <a:rPr lang="zh-CN" altLang="en-US" sz="2800" smtClean="0"/>
              <a:t>       让机器具有分别面向各种高级语言的多种指令系统、多种系统结构，并能动态地切换。</a:t>
            </a:r>
          </a:p>
        </p:txBody>
      </p:sp>
      <p:grpSp>
        <p:nvGrpSpPr>
          <p:cNvPr id="97285" name="Group 18"/>
          <p:cNvGrpSpPr>
            <a:grpSpLocks/>
          </p:cNvGrpSpPr>
          <p:nvPr/>
        </p:nvGrpSpPr>
        <p:grpSpPr bwMode="auto">
          <a:xfrm>
            <a:off x="3348038" y="2349500"/>
            <a:ext cx="5486400" cy="3609975"/>
            <a:chOff x="2016" y="1680"/>
            <a:chExt cx="3456" cy="2274"/>
          </a:xfrm>
        </p:grpSpPr>
        <p:sp>
          <p:nvSpPr>
            <p:cNvPr id="97286" name="Rectangle 5"/>
            <p:cNvSpPr>
              <a:spLocks noChangeArrowheads="1"/>
            </p:cNvSpPr>
            <p:nvPr/>
          </p:nvSpPr>
          <p:spPr bwMode="auto">
            <a:xfrm>
              <a:off x="3120" y="3648"/>
              <a:ext cx="1248" cy="30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t>微程序机器</a:t>
              </a:r>
            </a:p>
          </p:txBody>
        </p:sp>
        <p:sp>
          <p:nvSpPr>
            <p:cNvPr id="97287" name="Rectangle 6"/>
            <p:cNvSpPr>
              <a:spLocks noChangeArrowheads="1"/>
            </p:cNvSpPr>
            <p:nvPr/>
          </p:nvSpPr>
          <p:spPr bwMode="auto">
            <a:xfrm>
              <a:off x="2016" y="2544"/>
              <a:ext cx="1008" cy="76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400"/>
                <a:t>面向</a:t>
              </a:r>
            </a:p>
            <a:p>
              <a:pPr algn="ctr" eaLnBrk="1" hangingPunct="1">
                <a:spcBef>
                  <a:spcPct val="0"/>
                </a:spcBef>
                <a:buFont typeface="Wingdings" pitchFamily="2" charset="2"/>
                <a:buNone/>
              </a:pPr>
              <a:r>
                <a:rPr lang="en-US" altLang="zh-CN" sz="2400"/>
                <a:t>BASIC</a:t>
              </a:r>
            </a:p>
            <a:p>
              <a:pPr algn="ctr" eaLnBrk="1" hangingPunct="1">
                <a:spcBef>
                  <a:spcPct val="0"/>
                </a:spcBef>
                <a:buFont typeface="Wingdings" pitchFamily="2" charset="2"/>
                <a:buNone/>
              </a:pPr>
              <a:r>
                <a:rPr lang="zh-CN" altLang="en-US" sz="2400"/>
                <a:t>系统结构</a:t>
              </a:r>
            </a:p>
          </p:txBody>
        </p:sp>
        <p:sp>
          <p:nvSpPr>
            <p:cNvPr id="97288" name="Rectangle 7"/>
            <p:cNvSpPr>
              <a:spLocks noChangeArrowheads="1"/>
            </p:cNvSpPr>
            <p:nvPr/>
          </p:nvSpPr>
          <p:spPr bwMode="auto">
            <a:xfrm>
              <a:off x="3168" y="2544"/>
              <a:ext cx="1152" cy="76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400"/>
                <a:t>面向</a:t>
              </a:r>
            </a:p>
            <a:p>
              <a:pPr algn="ctr" eaLnBrk="1" hangingPunct="1">
                <a:spcBef>
                  <a:spcPct val="0"/>
                </a:spcBef>
                <a:buFont typeface="Wingdings" pitchFamily="2" charset="2"/>
                <a:buNone/>
              </a:pPr>
              <a:r>
                <a:rPr lang="en-US" altLang="zh-CN" sz="2400"/>
                <a:t>FORTRAN</a:t>
              </a:r>
            </a:p>
            <a:p>
              <a:pPr algn="ctr" eaLnBrk="1" hangingPunct="1">
                <a:spcBef>
                  <a:spcPct val="0"/>
                </a:spcBef>
                <a:buFont typeface="Wingdings" pitchFamily="2" charset="2"/>
                <a:buNone/>
              </a:pPr>
              <a:r>
                <a:rPr lang="zh-CN" altLang="en-US" sz="2400"/>
                <a:t>系统结构</a:t>
              </a:r>
            </a:p>
          </p:txBody>
        </p:sp>
        <p:sp>
          <p:nvSpPr>
            <p:cNvPr id="97289" name="Rectangle 8"/>
            <p:cNvSpPr>
              <a:spLocks noChangeArrowheads="1"/>
            </p:cNvSpPr>
            <p:nvPr/>
          </p:nvSpPr>
          <p:spPr bwMode="auto">
            <a:xfrm>
              <a:off x="4464" y="2544"/>
              <a:ext cx="1008" cy="76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400"/>
                <a:t>面向</a:t>
              </a:r>
            </a:p>
            <a:p>
              <a:pPr algn="ctr" eaLnBrk="1" hangingPunct="1">
                <a:spcBef>
                  <a:spcPct val="0"/>
                </a:spcBef>
                <a:buFont typeface="Wingdings" pitchFamily="2" charset="2"/>
                <a:buNone/>
              </a:pPr>
              <a:r>
                <a:rPr lang="en-US" altLang="zh-CN" sz="2400"/>
                <a:t>COBOL</a:t>
              </a:r>
            </a:p>
            <a:p>
              <a:pPr algn="ctr" eaLnBrk="1" hangingPunct="1">
                <a:spcBef>
                  <a:spcPct val="0"/>
                </a:spcBef>
                <a:buFont typeface="Wingdings" pitchFamily="2" charset="2"/>
                <a:buNone/>
              </a:pPr>
              <a:r>
                <a:rPr lang="zh-CN" altLang="en-US" sz="2400"/>
                <a:t>系统结构</a:t>
              </a:r>
            </a:p>
          </p:txBody>
        </p:sp>
        <p:sp>
          <p:nvSpPr>
            <p:cNvPr id="97290" name="Rectangle 9"/>
            <p:cNvSpPr>
              <a:spLocks noChangeArrowheads="1"/>
            </p:cNvSpPr>
            <p:nvPr/>
          </p:nvSpPr>
          <p:spPr bwMode="auto">
            <a:xfrm>
              <a:off x="2016" y="1699"/>
              <a:ext cx="1008" cy="53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400"/>
                <a:t>BASIC</a:t>
              </a:r>
            </a:p>
            <a:p>
              <a:pPr algn="ctr" eaLnBrk="1" hangingPunct="1">
                <a:spcBef>
                  <a:spcPct val="0"/>
                </a:spcBef>
                <a:buFont typeface="Wingdings" pitchFamily="2" charset="2"/>
                <a:buNone/>
              </a:pPr>
              <a:r>
                <a:rPr lang="zh-CN" altLang="en-US" sz="2400"/>
                <a:t>虚拟机</a:t>
              </a:r>
            </a:p>
          </p:txBody>
        </p:sp>
        <p:sp>
          <p:nvSpPr>
            <p:cNvPr id="97291" name="Rectangle 10"/>
            <p:cNvSpPr>
              <a:spLocks noChangeArrowheads="1"/>
            </p:cNvSpPr>
            <p:nvPr/>
          </p:nvSpPr>
          <p:spPr bwMode="auto">
            <a:xfrm>
              <a:off x="3168" y="1680"/>
              <a:ext cx="1152" cy="53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400"/>
                <a:t>FORTRAN</a:t>
              </a:r>
            </a:p>
            <a:p>
              <a:pPr algn="ctr" eaLnBrk="1" hangingPunct="1">
                <a:spcBef>
                  <a:spcPct val="0"/>
                </a:spcBef>
                <a:buFont typeface="Wingdings" pitchFamily="2" charset="2"/>
                <a:buNone/>
              </a:pPr>
              <a:r>
                <a:rPr lang="zh-CN" altLang="en-US" sz="2400"/>
                <a:t>虚拟机</a:t>
              </a:r>
            </a:p>
          </p:txBody>
        </p:sp>
        <p:sp>
          <p:nvSpPr>
            <p:cNvPr id="97292" name="Rectangle 11"/>
            <p:cNvSpPr>
              <a:spLocks noChangeArrowheads="1"/>
            </p:cNvSpPr>
            <p:nvPr/>
          </p:nvSpPr>
          <p:spPr bwMode="auto">
            <a:xfrm>
              <a:off x="4464" y="1680"/>
              <a:ext cx="960" cy="53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en-US" altLang="zh-CN" sz="2400"/>
                <a:t>COBOL</a:t>
              </a:r>
            </a:p>
            <a:p>
              <a:pPr algn="ctr" eaLnBrk="1" hangingPunct="1">
                <a:spcBef>
                  <a:spcPct val="0"/>
                </a:spcBef>
                <a:buFont typeface="Wingdings" pitchFamily="2" charset="2"/>
                <a:buNone/>
              </a:pPr>
              <a:r>
                <a:rPr lang="zh-CN" altLang="en-US" sz="2400"/>
                <a:t>虚拟机</a:t>
              </a:r>
            </a:p>
          </p:txBody>
        </p:sp>
        <p:sp>
          <p:nvSpPr>
            <p:cNvPr id="97293" name="Line 12"/>
            <p:cNvSpPr>
              <a:spLocks noChangeShapeType="1"/>
            </p:cNvSpPr>
            <p:nvPr/>
          </p:nvSpPr>
          <p:spPr bwMode="auto">
            <a:xfrm flipH="1" flipV="1">
              <a:off x="2544" y="3312"/>
              <a:ext cx="1200" cy="33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7294" name="Line 13"/>
            <p:cNvSpPr>
              <a:spLocks noChangeShapeType="1"/>
            </p:cNvSpPr>
            <p:nvPr/>
          </p:nvSpPr>
          <p:spPr bwMode="auto">
            <a:xfrm flipH="1" flipV="1">
              <a:off x="3744" y="3312"/>
              <a:ext cx="0" cy="33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7295" name="Line 14"/>
            <p:cNvSpPr>
              <a:spLocks noChangeShapeType="1"/>
            </p:cNvSpPr>
            <p:nvPr/>
          </p:nvSpPr>
          <p:spPr bwMode="auto">
            <a:xfrm flipV="1">
              <a:off x="3744" y="3312"/>
              <a:ext cx="1200" cy="33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7296" name="Line 15"/>
            <p:cNvSpPr>
              <a:spLocks noChangeShapeType="1"/>
            </p:cNvSpPr>
            <p:nvPr/>
          </p:nvSpPr>
          <p:spPr bwMode="auto">
            <a:xfrm flipH="1" flipV="1">
              <a:off x="4944" y="2208"/>
              <a:ext cx="0" cy="33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7297" name="Line 16"/>
            <p:cNvSpPr>
              <a:spLocks noChangeShapeType="1"/>
            </p:cNvSpPr>
            <p:nvPr/>
          </p:nvSpPr>
          <p:spPr bwMode="auto">
            <a:xfrm flipH="1" flipV="1">
              <a:off x="3744" y="2208"/>
              <a:ext cx="0" cy="33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7298" name="Line 17"/>
            <p:cNvSpPr>
              <a:spLocks noChangeShapeType="1"/>
            </p:cNvSpPr>
            <p:nvPr/>
          </p:nvSpPr>
          <p:spPr bwMode="auto">
            <a:xfrm flipH="1" flipV="1">
              <a:off x="2544" y="2208"/>
              <a:ext cx="0" cy="33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
        <p:nvSpPr>
          <p:cNvPr id="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dirty="0">
                <a:latin typeface="Times New Roman" pitchFamily="18" charset="0"/>
                <a:ea typeface="幼圆" pitchFamily="49" charset="-122"/>
                <a:hlinkClick r:id="rId3" action="ppaction://hlinksldjump"/>
              </a:rPr>
              <a:t>本章内容</a:t>
            </a:r>
            <a:r>
              <a:rPr lang="zh-CN" altLang="en-US"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4" action="ppaction://hlinksldjump"/>
              </a:rPr>
              <a:t>指令系统的功能设计</a:t>
            </a:r>
            <a:r>
              <a:rPr lang="zh-CN" altLang="en-US" sz="1200" b="0" dirty="0">
                <a:latin typeface="Times New Roman" pitchFamily="18" charset="0"/>
                <a:ea typeface="幼圆" pitchFamily="49" charset="-122"/>
              </a:rPr>
              <a:t>&gt;&gt;</a:t>
            </a:r>
            <a:r>
              <a:rPr lang="en-US" altLang="zh-CN" sz="1200" b="0" dirty="0">
                <a:latin typeface="Times New Roman" pitchFamily="18" charset="0"/>
                <a:ea typeface="幼圆" pitchFamily="49" charset="-122"/>
                <a:hlinkClick r:id="rId5" action="ppaction://hlinksldjump"/>
              </a:rPr>
              <a:t>CISC</a:t>
            </a:r>
            <a:r>
              <a:rPr lang="en-US" altLang="zh-CN" sz="1200" b="0" dirty="0">
                <a:latin typeface="Times New Roman" pitchFamily="18" charset="0"/>
                <a:ea typeface="幼圆" pitchFamily="49" charset="-122"/>
              </a:rPr>
              <a:t>&gt;&gt;</a:t>
            </a:r>
            <a:r>
              <a:rPr lang="zh-CN" altLang="en-US" sz="1200" b="0" dirty="0">
                <a:latin typeface="Times New Roman" pitchFamily="18" charset="0"/>
                <a:ea typeface="幼圆" pitchFamily="49" charset="-122"/>
                <a:hlinkClick r:id="rId6" action="ppaction://hlinksldjump"/>
              </a:rPr>
              <a:t>从面向高级语言的优化实现来改进</a:t>
            </a:r>
            <a:r>
              <a:rPr lang="zh-CN" altLang="en-US" sz="1200" b="0" dirty="0" smtClean="0">
                <a:latin typeface="Times New Roman" pitchFamily="18" charset="0"/>
                <a:ea typeface="幼圆" pitchFamily="49" charset="-122"/>
              </a:rPr>
              <a:t>&gt;&gt;</a:t>
            </a:r>
            <a:r>
              <a:rPr lang="zh-CN" altLang="en-US" sz="1200" b="0" dirty="0" smtClean="0">
                <a:latin typeface="Times New Roman" pitchFamily="18" charset="0"/>
                <a:ea typeface="幼圆" pitchFamily="49" charset="-122"/>
                <a:hlinkClick r:id="rId7" action="ppaction://hlinksldjump"/>
              </a:rPr>
              <a:t>问题及解决</a:t>
            </a:r>
            <a:endParaRPr lang="zh-CN" altLang="en-US" sz="1200" b="0" dirty="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a:lstStyle/>
          <a:p>
            <a:pPr eaLnBrk="1" hangingPunct="1">
              <a:defRPr/>
            </a:pPr>
            <a:r>
              <a:rPr lang="zh-CN" altLang="en-US" smtClean="0"/>
              <a:t>高级语言计算机</a:t>
            </a:r>
          </a:p>
        </p:txBody>
      </p:sp>
      <p:sp>
        <p:nvSpPr>
          <p:cNvPr id="9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从面向高级语言的优化实现来改进</a:t>
            </a:r>
            <a:endParaRPr lang="zh-CN" altLang="en-US" sz="1200" b="0">
              <a:latin typeface="Times New Roman" pitchFamily="18" charset="0"/>
              <a:ea typeface="幼圆" pitchFamily="49" charset="-122"/>
            </a:endParaRPr>
          </a:p>
        </p:txBody>
      </p:sp>
      <p:sp>
        <p:nvSpPr>
          <p:cNvPr id="352260" name="Rectangle 4"/>
          <p:cNvSpPr>
            <a:spLocks noGrp="1" noChangeArrowheads="1"/>
          </p:cNvSpPr>
          <p:nvPr>
            <p:ph type="body" idx="1"/>
          </p:nvPr>
        </p:nvSpPr>
        <p:spPr>
          <a:xfrm>
            <a:off x="827088" y="1916113"/>
            <a:ext cx="4067175" cy="4465637"/>
          </a:xfrm>
          <a:solidFill>
            <a:srgbClr val="FFFF00"/>
          </a:solidFill>
          <a:ln w="57150" cmpd="thickThin">
            <a:solidFill>
              <a:schemeClr val="tx1"/>
            </a:solidFill>
            <a:miter lim="800000"/>
            <a:headEnd/>
            <a:tailEnd/>
          </a:ln>
          <a:effectLst>
            <a:outerShdw dist="35921" dir="2700000" algn="ctr" rotWithShape="0">
              <a:schemeClr val="bg2"/>
            </a:outerShdw>
          </a:effectLst>
        </p:spPr>
        <p:txBody>
          <a:bodyPr/>
          <a:lstStyle/>
          <a:p>
            <a:pPr marL="0" indent="0" eaLnBrk="1" hangingPunct="1">
              <a:buClr>
                <a:srgbClr val="FF3300"/>
              </a:buClr>
              <a:defRPr/>
            </a:pPr>
            <a:r>
              <a:rPr lang="zh-CN" altLang="en-US" sz="2800" dirty="0" smtClean="0">
                <a:solidFill>
                  <a:srgbClr val="FF3300"/>
                </a:solidFill>
                <a:effectLst>
                  <a:outerShdw blurRad="38100" dist="38100" dir="2700000" algn="tl">
                    <a:srgbClr val="000000"/>
                  </a:outerShdw>
                </a:effectLst>
              </a:rPr>
              <a:t>  思想</a:t>
            </a:r>
          </a:p>
          <a:p>
            <a:pPr marL="0" indent="0" eaLnBrk="1" hangingPunct="1">
              <a:buFont typeface="Wingdings" pitchFamily="2" charset="2"/>
              <a:buNone/>
              <a:defRPr/>
            </a:pPr>
            <a:r>
              <a:rPr lang="zh-CN" altLang="en-US" sz="2400" dirty="0" smtClean="0"/>
              <a:t>     让高级语言和机器语言之间无语义差距（增加微程序解释的工作，减少编译器翻译的工作）。</a:t>
            </a:r>
          </a:p>
          <a:p>
            <a:pPr marL="0" indent="0" eaLnBrk="1" hangingPunct="1">
              <a:buClr>
                <a:srgbClr val="FF3300"/>
              </a:buClr>
              <a:defRPr/>
            </a:pPr>
            <a:r>
              <a:rPr lang="zh-CN" altLang="en-US" sz="2800" dirty="0" smtClean="0">
                <a:solidFill>
                  <a:srgbClr val="FF3300"/>
                </a:solidFill>
                <a:effectLst>
                  <a:outerShdw blurRad="38100" dist="38100" dir="2700000" algn="tl">
                    <a:srgbClr val="000000"/>
                  </a:outerShdw>
                </a:effectLst>
              </a:rPr>
              <a:t>  方法</a:t>
            </a:r>
          </a:p>
          <a:p>
            <a:pPr marL="625475" lvl="1" eaLnBrk="1" hangingPunct="1">
              <a:buFont typeface="Wingdings" pitchFamily="2" charset="2"/>
              <a:buChar char="Ø"/>
              <a:defRPr/>
            </a:pPr>
            <a:r>
              <a:rPr lang="zh-CN" altLang="en-US" sz="2400" dirty="0" smtClean="0"/>
              <a:t>间接执行高级语言机器</a:t>
            </a:r>
          </a:p>
          <a:p>
            <a:pPr marL="0" indent="0" eaLnBrk="1" hangingPunct="1">
              <a:buFont typeface="Wingdings" pitchFamily="2" charset="2"/>
              <a:buNone/>
              <a:defRPr/>
            </a:pPr>
            <a:r>
              <a:rPr lang="zh-CN" altLang="en-US" sz="2400" dirty="0" smtClean="0"/>
              <a:t>        高级语言 = 汇编语言</a:t>
            </a:r>
          </a:p>
          <a:p>
            <a:pPr marL="625475" lvl="1" eaLnBrk="1" hangingPunct="1">
              <a:buFont typeface="Wingdings" pitchFamily="2" charset="2"/>
              <a:buChar char="Ø"/>
              <a:defRPr/>
            </a:pPr>
            <a:r>
              <a:rPr lang="zh-CN" altLang="en-US" sz="2400" dirty="0" smtClean="0"/>
              <a:t>直接执行高级语言机器</a:t>
            </a:r>
          </a:p>
          <a:p>
            <a:pPr marL="0" indent="0" eaLnBrk="1" hangingPunct="1">
              <a:buFont typeface="Wingdings" pitchFamily="2" charset="2"/>
              <a:buNone/>
              <a:defRPr/>
            </a:pPr>
            <a:r>
              <a:rPr lang="zh-CN" altLang="en-US" sz="2400" dirty="0" smtClean="0"/>
              <a:t>        高级语言 = 机器语言</a:t>
            </a:r>
          </a:p>
        </p:txBody>
      </p:sp>
      <p:grpSp>
        <p:nvGrpSpPr>
          <p:cNvPr id="98309" name="Group 27"/>
          <p:cNvGrpSpPr>
            <a:grpSpLocks/>
          </p:cNvGrpSpPr>
          <p:nvPr/>
        </p:nvGrpSpPr>
        <p:grpSpPr bwMode="auto">
          <a:xfrm>
            <a:off x="5003800" y="2060575"/>
            <a:ext cx="3810000" cy="4083050"/>
            <a:chOff x="3168" y="1392"/>
            <a:chExt cx="2400" cy="2572"/>
          </a:xfrm>
        </p:grpSpPr>
        <p:sp>
          <p:nvSpPr>
            <p:cNvPr id="98310" name="Rectangle 5"/>
            <p:cNvSpPr>
              <a:spLocks noChangeArrowheads="1"/>
            </p:cNvSpPr>
            <p:nvPr/>
          </p:nvSpPr>
          <p:spPr bwMode="auto">
            <a:xfrm>
              <a:off x="3741" y="3696"/>
              <a:ext cx="109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微程序机器级</a:t>
              </a:r>
            </a:p>
          </p:txBody>
        </p:sp>
        <p:sp>
          <p:nvSpPr>
            <p:cNvPr id="98311" name="Rectangle 6"/>
            <p:cNvSpPr>
              <a:spLocks noChangeArrowheads="1"/>
            </p:cNvSpPr>
            <p:nvPr/>
          </p:nvSpPr>
          <p:spPr bwMode="auto">
            <a:xfrm>
              <a:off x="3741" y="1440"/>
              <a:ext cx="1098" cy="26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000"/>
                <a:t>高级语言程序</a:t>
              </a:r>
            </a:p>
          </p:txBody>
        </p:sp>
        <p:sp>
          <p:nvSpPr>
            <p:cNvPr id="98312" name="Rectangle 7"/>
            <p:cNvSpPr>
              <a:spLocks noChangeArrowheads="1"/>
            </p:cNvSpPr>
            <p:nvPr/>
          </p:nvSpPr>
          <p:spPr bwMode="auto">
            <a:xfrm>
              <a:off x="3216" y="3024"/>
              <a:ext cx="480" cy="46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000"/>
                <a:t>传统</a:t>
              </a:r>
            </a:p>
            <a:p>
              <a:pPr algn="ctr" eaLnBrk="1" hangingPunct="1">
                <a:spcBef>
                  <a:spcPct val="0"/>
                </a:spcBef>
                <a:buFont typeface="Wingdings" pitchFamily="2" charset="2"/>
                <a:buNone/>
              </a:pPr>
              <a:r>
                <a:rPr lang="zh-CN" altLang="en-US" sz="2000"/>
                <a:t>机器</a:t>
              </a:r>
            </a:p>
          </p:txBody>
        </p:sp>
        <p:sp>
          <p:nvSpPr>
            <p:cNvPr id="98313" name="Rectangle 9"/>
            <p:cNvSpPr>
              <a:spLocks noChangeArrowheads="1"/>
            </p:cNvSpPr>
            <p:nvPr/>
          </p:nvSpPr>
          <p:spPr bwMode="auto">
            <a:xfrm>
              <a:off x="3648" y="2256"/>
              <a:ext cx="816" cy="65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lang="zh-CN" altLang="en-US" sz="2000"/>
                <a:t>面       向</a:t>
              </a:r>
            </a:p>
            <a:p>
              <a:pPr algn="ctr">
                <a:spcBef>
                  <a:spcPct val="0"/>
                </a:spcBef>
                <a:buClrTx/>
                <a:buFontTx/>
                <a:buNone/>
              </a:pPr>
              <a:r>
                <a:rPr lang="zh-CN" altLang="en-US" sz="2000"/>
                <a:t>高级语言机        器</a:t>
              </a:r>
            </a:p>
          </p:txBody>
        </p:sp>
        <p:sp>
          <p:nvSpPr>
            <p:cNvPr id="98314" name="Rectangle 10"/>
            <p:cNvSpPr>
              <a:spLocks noChangeArrowheads="1"/>
            </p:cNvSpPr>
            <p:nvPr/>
          </p:nvSpPr>
          <p:spPr bwMode="auto">
            <a:xfrm>
              <a:off x="4752" y="1920"/>
              <a:ext cx="816" cy="652"/>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a:spcBef>
                  <a:spcPct val="0"/>
                </a:spcBef>
                <a:buClrTx/>
                <a:buFontTx/>
                <a:buNone/>
              </a:pPr>
              <a:r>
                <a:rPr lang="zh-CN" altLang="en-US" sz="2000">
                  <a:solidFill>
                    <a:srgbClr val="3333FF"/>
                  </a:solidFill>
                </a:rPr>
                <a:t>间接执行高级语言机        器</a:t>
              </a:r>
            </a:p>
          </p:txBody>
        </p:sp>
        <p:sp>
          <p:nvSpPr>
            <p:cNvPr id="98315" name="Line 11"/>
            <p:cNvSpPr>
              <a:spLocks noChangeShapeType="1"/>
            </p:cNvSpPr>
            <p:nvPr/>
          </p:nvSpPr>
          <p:spPr bwMode="auto">
            <a:xfrm flipH="1" flipV="1">
              <a:off x="3504" y="3504"/>
              <a:ext cx="24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8316" name="Line 12"/>
            <p:cNvSpPr>
              <a:spLocks noChangeShapeType="1"/>
            </p:cNvSpPr>
            <p:nvPr/>
          </p:nvSpPr>
          <p:spPr bwMode="auto">
            <a:xfrm flipV="1">
              <a:off x="3360" y="1728"/>
              <a:ext cx="384" cy="129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8317" name="Line 13"/>
            <p:cNvSpPr>
              <a:spLocks noChangeShapeType="1"/>
            </p:cNvSpPr>
            <p:nvPr/>
          </p:nvSpPr>
          <p:spPr bwMode="auto">
            <a:xfrm flipH="1" flipV="1">
              <a:off x="4032" y="2880"/>
              <a:ext cx="0" cy="81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8318" name="Line 14"/>
            <p:cNvSpPr>
              <a:spLocks noChangeShapeType="1"/>
            </p:cNvSpPr>
            <p:nvPr/>
          </p:nvSpPr>
          <p:spPr bwMode="auto">
            <a:xfrm flipH="1" flipV="1">
              <a:off x="4032" y="1728"/>
              <a:ext cx="0" cy="52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8319" name="Line 15"/>
            <p:cNvSpPr>
              <a:spLocks noChangeShapeType="1"/>
            </p:cNvSpPr>
            <p:nvPr/>
          </p:nvSpPr>
          <p:spPr bwMode="auto">
            <a:xfrm flipH="1" flipV="1">
              <a:off x="4512" y="1728"/>
              <a:ext cx="0" cy="196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8320" name="Line 16"/>
            <p:cNvSpPr>
              <a:spLocks noChangeShapeType="1"/>
            </p:cNvSpPr>
            <p:nvPr/>
          </p:nvSpPr>
          <p:spPr bwMode="auto">
            <a:xfrm flipV="1">
              <a:off x="4848" y="2592"/>
              <a:ext cx="336" cy="1104"/>
            </a:xfrm>
            <a:prstGeom prst="line">
              <a:avLst/>
            </a:prstGeom>
            <a:noFill/>
            <a:ln w="2857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8321" name="Line 17"/>
            <p:cNvSpPr>
              <a:spLocks noChangeShapeType="1"/>
            </p:cNvSpPr>
            <p:nvPr/>
          </p:nvSpPr>
          <p:spPr bwMode="auto">
            <a:xfrm flipH="1" flipV="1">
              <a:off x="4848" y="1680"/>
              <a:ext cx="432" cy="240"/>
            </a:xfrm>
            <a:prstGeom prst="line">
              <a:avLst/>
            </a:prstGeom>
            <a:noFill/>
            <a:ln w="2857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8322" name="Text Box 18"/>
            <p:cNvSpPr txBox="1">
              <a:spLocks noChangeArrowheads="1"/>
            </p:cNvSpPr>
            <p:nvPr/>
          </p:nvSpPr>
          <p:spPr bwMode="auto">
            <a:xfrm rot="745773">
              <a:off x="4848" y="2976"/>
              <a:ext cx="5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000">
                  <a:solidFill>
                    <a:srgbClr val="3333FF"/>
                  </a:solidFill>
                </a:rPr>
                <a:t>解</a:t>
              </a:r>
            </a:p>
            <a:p>
              <a:pPr algn="ctr" eaLnBrk="1" hangingPunct="1">
                <a:spcBef>
                  <a:spcPct val="0"/>
                </a:spcBef>
                <a:buFont typeface="Wingdings" pitchFamily="2" charset="2"/>
                <a:buNone/>
              </a:pPr>
              <a:r>
                <a:rPr lang="zh-CN" altLang="en-US" sz="2000">
                  <a:solidFill>
                    <a:srgbClr val="3333FF"/>
                  </a:solidFill>
                </a:rPr>
                <a:t>释</a:t>
              </a:r>
            </a:p>
          </p:txBody>
        </p:sp>
        <p:sp>
          <p:nvSpPr>
            <p:cNvPr id="98323" name="Text Box 20"/>
            <p:cNvSpPr txBox="1">
              <a:spLocks noChangeArrowheads="1"/>
            </p:cNvSpPr>
            <p:nvPr/>
          </p:nvSpPr>
          <p:spPr bwMode="auto">
            <a:xfrm rot="-3541735">
              <a:off x="4877" y="1459"/>
              <a:ext cx="5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000">
                  <a:solidFill>
                    <a:srgbClr val="3333FF"/>
                  </a:solidFill>
                </a:rPr>
                <a:t>汇</a:t>
              </a:r>
            </a:p>
            <a:p>
              <a:pPr algn="ctr" eaLnBrk="1" hangingPunct="1">
                <a:spcBef>
                  <a:spcPct val="0"/>
                </a:spcBef>
                <a:buFont typeface="Wingdings" pitchFamily="2" charset="2"/>
                <a:buNone/>
              </a:pPr>
              <a:r>
                <a:rPr lang="zh-CN" altLang="en-US" sz="2000">
                  <a:solidFill>
                    <a:srgbClr val="3333FF"/>
                  </a:solidFill>
                </a:rPr>
                <a:t>编</a:t>
              </a:r>
            </a:p>
          </p:txBody>
        </p:sp>
        <p:sp>
          <p:nvSpPr>
            <p:cNvPr id="98324" name="Text Box 21"/>
            <p:cNvSpPr txBox="1">
              <a:spLocks noChangeArrowheads="1"/>
            </p:cNvSpPr>
            <p:nvPr/>
          </p:nvSpPr>
          <p:spPr bwMode="auto">
            <a:xfrm rot="-2365105">
              <a:off x="3276" y="3548"/>
              <a:ext cx="5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90000"/>
                </a:lnSpc>
                <a:spcBef>
                  <a:spcPct val="0"/>
                </a:spcBef>
                <a:buFont typeface="Wingdings" pitchFamily="2" charset="2"/>
                <a:buNone/>
              </a:pPr>
              <a:r>
                <a:rPr lang="zh-CN" altLang="en-US" sz="2000"/>
                <a:t>解</a:t>
              </a:r>
            </a:p>
            <a:p>
              <a:pPr algn="ctr" eaLnBrk="1" hangingPunct="1">
                <a:lnSpc>
                  <a:spcPct val="90000"/>
                </a:lnSpc>
                <a:spcBef>
                  <a:spcPct val="0"/>
                </a:spcBef>
                <a:buFont typeface="Wingdings" pitchFamily="2" charset="2"/>
                <a:buNone/>
              </a:pPr>
              <a:r>
                <a:rPr lang="zh-CN" altLang="en-US" sz="2000"/>
                <a:t>释</a:t>
              </a:r>
            </a:p>
          </p:txBody>
        </p:sp>
        <p:sp>
          <p:nvSpPr>
            <p:cNvPr id="98325" name="Text Box 22"/>
            <p:cNvSpPr txBox="1">
              <a:spLocks noChangeArrowheads="1"/>
            </p:cNvSpPr>
            <p:nvPr/>
          </p:nvSpPr>
          <p:spPr bwMode="auto">
            <a:xfrm>
              <a:off x="3888" y="3120"/>
              <a:ext cx="5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000"/>
                <a:t>解</a:t>
              </a:r>
            </a:p>
            <a:p>
              <a:pPr algn="ctr" eaLnBrk="1" hangingPunct="1">
                <a:spcBef>
                  <a:spcPct val="0"/>
                </a:spcBef>
                <a:buFont typeface="Wingdings" pitchFamily="2" charset="2"/>
                <a:buNone/>
              </a:pPr>
              <a:r>
                <a:rPr lang="zh-CN" altLang="en-US" sz="2000"/>
                <a:t>释</a:t>
              </a:r>
            </a:p>
          </p:txBody>
        </p:sp>
        <p:sp>
          <p:nvSpPr>
            <p:cNvPr id="98326" name="Text Box 23"/>
            <p:cNvSpPr txBox="1">
              <a:spLocks noChangeArrowheads="1"/>
            </p:cNvSpPr>
            <p:nvPr/>
          </p:nvSpPr>
          <p:spPr bwMode="auto">
            <a:xfrm>
              <a:off x="4080" y="3120"/>
              <a:ext cx="5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000">
                  <a:solidFill>
                    <a:srgbClr val="FF3300"/>
                  </a:solidFill>
                </a:rPr>
                <a:t>解</a:t>
              </a:r>
            </a:p>
            <a:p>
              <a:pPr algn="ctr" eaLnBrk="1" hangingPunct="1">
                <a:spcBef>
                  <a:spcPct val="0"/>
                </a:spcBef>
                <a:buFont typeface="Wingdings" pitchFamily="2" charset="2"/>
                <a:buNone/>
              </a:pPr>
              <a:r>
                <a:rPr lang="zh-CN" altLang="en-US" sz="2000">
                  <a:solidFill>
                    <a:srgbClr val="FF3300"/>
                  </a:solidFill>
                </a:rPr>
                <a:t>释</a:t>
              </a:r>
            </a:p>
          </p:txBody>
        </p:sp>
        <p:sp>
          <p:nvSpPr>
            <p:cNvPr id="98327" name="Text Box 24"/>
            <p:cNvSpPr txBox="1">
              <a:spLocks noChangeArrowheads="1"/>
            </p:cNvSpPr>
            <p:nvPr/>
          </p:nvSpPr>
          <p:spPr bwMode="auto">
            <a:xfrm rot="1070618">
              <a:off x="3168" y="2016"/>
              <a:ext cx="5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000"/>
                <a:t>编</a:t>
              </a:r>
            </a:p>
            <a:p>
              <a:pPr algn="ctr" eaLnBrk="1" hangingPunct="1">
                <a:spcBef>
                  <a:spcPct val="0"/>
                </a:spcBef>
                <a:buFont typeface="Wingdings" pitchFamily="2" charset="2"/>
                <a:buNone/>
              </a:pPr>
              <a:r>
                <a:rPr lang="zh-CN" altLang="en-US" sz="2000"/>
                <a:t>译</a:t>
              </a:r>
            </a:p>
          </p:txBody>
        </p:sp>
        <p:sp>
          <p:nvSpPr>
            <p:cNvPr id="98328" name="Text Box 25"/>
            <p:cNvSpPr txBox="1">
              <a:spLocks noChangeArrowheads="1"/>
            </p:cNvSpPr>
            <p:nvPr/>
          </p:nvSpPr>
          <p:spPr bwMode="auto">
            <a:xfrm>
              <a:off x="3888" y="1776"/>
              <a:ext cx="5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000"/>
                <a:t>编</a:t>
              </a:r>
            </a:p>
            <a:p>
              <a:pPr algn="ctr" eaLnBrk="1" hangingPunct="1">
                <a:spcBef>
                  <a:spcPct val="0"/>
                </a:spcBef>
                <a:buFont typeface="Wingdings" pitchFamily="2" charset="2"/>
                <a:buNone/>
              </a:pPr>
              <a:r>
                <a:rPr lang="zh-CN" altLang="en-US" sz="2000"/>
                <a:t>译</a:t>
              </a:r>
            </a:p>
          </p:txBody>
        </p:sp>
        <p:sp>
          <p:nvSpPr>
            <p:cNvPr id="98329" name="Text Box 26"/>
            <p:cNvSpPr txBox="1">
              <a:spLocks noChangeArrowheads="1"/>
            </p:cNvSpPr>
            <p:nvPr/>
          </p:nvSpPr>
          <p:spPr bwMode="auto">
            <a:xfrm>
              <a:off x="4512" y="1728"/>
              <a:ext cx="288" cy="1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0"/>
                </a:spcBef>
                <a:buFont typeface="Wingdings" pitchFamily="2" charset="2"/>
                <a:buNone/>
              </a:pPr>
              <a:r>
                <a:rPr lang="zh-CN" altLang="en-US" sz="2000">
                  <a:solidFill>
                    <a:srgbClr val="FF3300"/>
                  </a:solidFill>
                </a:rPr>
                <a:t>直</a:t>
              </a:r>
            </a:p>
            <a:p>
              <a:pPr algn="ctr" eaLnBrk="1" hangingPunct="1">
                <a:spcBef>
                  <a:spcPct val="0"/>
                </a:spcBef>
                <a:buFont typeface="Wingdings" pitchFamily="2" charset="2"/>
                <a:buNone/>
              </a:pPr>
              <a:r>
                <a:rPr lang="zh-CN" altLang="en-US" sz="2000">
                  <a:solidFill>
                    <a:srgbClr val="FF3300"/>
                  </a:solidFill>
                </a:rPr>
                <a:t>接</a:t>
              </a:r>
            </a:p>
            <a:p>
              <a:pPr algn="ctr" eaLnBrk="1" hangingPunct="1">
                <a:spcBef>
                  <a:spcPct val="0"/>
                </a:spcBef>
                <a:buFont typeface="Wingdings" pitchFamily="2" charset="2"/>
                <a:buNone/>
              </a:pPr>
              <a:r>
                <a:rPr lang="zh-CN" altLang="en-US" sz="2000">
                  <a:solidFill>
                    <a:srgbClr val="FF3300"/>
                  </a:solidFill>
                </a:rPr>
                <a:t>执</a:t>
              </a:r>
            </a:p>
            <a:p>
              <a:pPr algn="ctr" eaLnBrk="1" hangingPunct="1">
                <a:spcBef>
                  <a:spcPct val="0"/>
                </a:spcBef>
                <a:buFont typeface="Wingdings" pitchFamily="2" charset="2"/>
                <a:buNone/>
              </a:pPr>
              <a:r>
                <a:rPr lang="zh-CN" altLang="en-US" sz="2000">
                  <a:solidFill>
                    <a:srgbClr val="FF3300"/>
                  </a:solidFill>
                </a:rPr>
                <a:t>行</a:t>
              </a:r>
            </a:p>
            <a:p>
              <a:pPr algn="ctr" eaLnBrk="1" hangingPunct="1">
                <a:spcBef>
                  <a:spcPct val="0"/>
                </a:spcBef>
                <a:buFont typeface="Wingdings" pitchFamily="2" charset="2"/>
                <a:buNone/>
              </a:pPr>
              <a:r>
                <a:rPr lang="zh-CN" altLang="en-US" sz="2000">
                  <a:solidFill>
                    <a:srgbClr val="FF3300"/>
                  </a:solidFill>
                </a:rPr>
                <a:t>高</a:t>
              </a:r>
            </a:p>
            <a:p>
              <a:pPr algn="ctr" eaLnBrk="1" hangingPunct="1">
                <a:spcBef>
                  <a:spcPct val="0"/>
                </a:spcBef>
                <a:buFont typeface="Wingdings" pitchFamily="2" charset="2"/>
                <a:buNone/>
              </a:pPr>
              <a:r>
                <a:rPr lang="zh-CN" altLang="en-US" sz="2000">
                  <a:solidFill>
                    <a:srgbClr val="FF3300"/>
                  </a:solidFill>
                </a:rPr>
                <a:t>级</a:t>
              </a:r>
            </a:p>
            <a:p>
              <a:pPr algn="ctr" eaLnBrk="1" hangingPunct="1">
                <a:spcBef>
                  <a:spcPct val="0"/>
                </a:spcBef>
                <a:buFont typeface="Wingdings" pitchFamily="2" charset="2"/>
                <a:buNone/>
              </a:pPr>
              <a:r>
                <a:rPr lang="zh-CN" altLang="en-US" sz="2000">
                  <a:solidFill>
                    <a:srgbClr val="FF3300"/>
                  </a:solidFill>
                </a:rPr>
                <a:t>语</a:t>
              </a:r>
            </a:p>
            <a:p>
              <a:pPr algn="ctr" eaLnBrk="1" hangingPunct="1">
                <a:spcBef>
                  <a:spcPct val="0"/>
                </a:spcBef>
                <a:buFont typeface="Wingdings" pitchFamily="2" charset="2"/>
                <a:buNone/>
              </a:pPr>
              <a:r>
                <a:rPr lang="zh-CN" altLang="en-US" sz="2000">
                  <a:solidFill>
                    <a:srgbClr val="FF3300"/>
                  </a:solidFill>
                </a:rPr>
                <a:t>言</a:t>
              </a:r>
            </a:p>
            <a:p>
              <a:pPr algn="ctr" eaLnBrk="1" hangingPunct="1">
                <a:spcBef>
                  <a:spcPct val="0"/>
                </a:spcBef>
                <a:buFont typeface="Wingdings" pitchFamily="2" charset="2"/>
                <a:buNone/>
              </a:pPr>
              <a:r>
                <a:rPr lang="zh-CN" altLang="en-US" sz="2000">
                  <a:solidFill>
                    <a:srgbClr val="FF3300"/>
                  </a:solidFill>
                </a:rPr>
                <a:t>机</a:t>
              </a:r>
            </a:p>
            <a:p>
              <a:pPr algn="ctr" eaLnBrk="1" hangingPunct="1">
                <a:spcBef>
                  <a:spcPct val="0"/>
                </a:spcBef>
                <a:buFont typeface="Wingdings" pitchFamily="2" charset="2"/>
                <a:buNone/>
              </a:pPr>
              <a:r>
                <a:rPr lang="zh-CN" altLang="en-US" sz="2000">
                  <a:solidFill>
                    <a:srgbClr val="FF3300"/>
                  </a:solidFill>
                </a:rPr>
                <a:t>器</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pPr eaLnBrk="1" hangingPunct="1">
              <a:defRPr/>
            </a:pPr>
            <a:r>
              <a:rPr lang="zh-CN" altLang="en-US" dirty="0" smtClean="0"/>
              <a:t>操作系统与计算机系统结构的关系</a:t>
            </a:r>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endParaRPr lang="zh-CN" altLang="en-US" sz="1200" b="0">
              <a:latin typeface="Times New Roman" pitchFamily="18" charset="0"/>
              <a:ea typeface="幼圆" pitchFamily="49" charset="-122"/>
            </a:endParaRPr>
          </a:p>
        </p:txBody>
      </p:sp>
      <p:sp>
        <p:nvSpPr>
          <p:cNvPr id="99332" name="内容占位符 1"/>
          <p:cNvSpPr>
            <a:spLocks noGrp="1"/>
          </p:cNvSpPr>
          <p:nvPr>
            <p:ph idx="1"/>
          </p:nvPr>
        </p:nvSpPr>
        <p:spPr/>
        <p:txBody>
          <a:bodyPr/>
          <a:lstStyle/>
          <a:p>
            <a:pPr>
              <a:lnSpc>
                <a:spcPct val="125000"/>
              </a:lnSpc>
            </a:pPr>
            <a:r>
              <a:rPr lang="zh-CN" altLang="en-US" sz="2800" smtClean="0">
                <a:solidFill>
                  <a:srgbClr val="FF0000"/>
                </a:solidFill>
              </a:rPr>
              <a:t>指令集对操作系统的支持主要有：</a:t>
            </a:r>
          </a:p>
          <a:p>
            <a:pPr lvl="1">
              <a:lnSpc>
                <a:spcPct val="125000"/>
              </a:lnSpc>
            </a:pPr>
            <a:r>
              <a:rPr lang="zh-CN" altLang="en-US" smtClean="0"/>
              <a:t>处理机工作状态和访问方式的切换。</a:t>
            </a:r>
          </a:p>
          <a:p>
            <a:pPr lvl="1">
              <a:lnSpc>
                <a:spcPct val="125000"/>
              </a:lnSpc>
            </a:pPr>
            <a:r>
              <a:rPr lang="zh-CN" altLang="en-US" smtClean="0"/>
              <a:t>进程的管理和切换。</a:t>
            </a:r>
          </a:p>
          <a:p>
            <a:pPr lvl="1">
              <a:lnSpc>
                <a:spcPct val="125000"/>
              </a:lnSpc>
            </a:pPr>
            <a:r>
              <a:rPr lang="zh-CN" altLang="en-US" smtClean="0"/>
              <a:t>存储管理和信息保护。</a:t>
            </a:r>
          </a:p>
          <a:p>
            <a:pPr lvl="1">
              <a:lnSpc>
                <a:spcPct val="125000"/>
              </a:lnSpc>
            </a:pPr>
            <a:r>
              <a:rPr lang="zh-CN" altLang="en-US" smtClean="0"/>
              <a:t>进程的同步与互斥，信号灯的管理等。</a:t>
            </a:r>
          </a:p>
          <a:p>
            <a:pPr>
              <a:lnSpc>
                <a:spcPct val="125000"/>
              </a:lnSpc>
            </a:pPr>
            <a:r>
              <a:rPr lang="zh-CN" altLang="en-US" sz="2800" smtClean="0"/>
              <a:t>支持操作系统的有些指令属于</a:t>
            </a:r>
            <a:r>
              <a:rPr lang="zh-CN" altLang="en-US" sz="2800" smtClean="0">
                <a:solidFill>
                  <a:srgbClr val="FF0000"/>
                </a:solidFill>
              </a:rPr>
              <a:t>特权指令</a:t>
            </a:r>
            <a:r>
              <a:rPr lang="zh-CN" altLang="en-US" sz="2800" smtClean="0"/>
              <a:t>，一般用户程序是不能使用的。 </a:t>
            </a:r>
          </a:p>
          <a:p>
            <a:pPr>
              <a:lnSpc>
                <a:spcPct val="125000"/>
              </a:lnSpc>
            </a:pPr>
            <a:endParaRPr lang="zh-CN" altLang="en-US" sz="2800" smtClean="0"/>
          </a:p>
        </p:txBody>
      </p:sp>
      <p:sp>
        <p:nvSpPr>
          <p:cNvPr id="99333"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2</a:t>
            </a:r>
            <a:r>
              <a:rPr lang="zh-CN" altLang="en-US" sz="1200" b="0">
                <a:latin typeface="幼圆" pitchFamily="49" charset="-122"/>
                <a:ea typeface="幼圆" pitchFamily="49" charset="-122"/>
              </a:rPr>
              <a:t> 之 </a:t>
            </a:r>
            <a:r>
              <a:rPr lang="en-US" altLang="zh-CN" sz="1200" b="0">
                <a:latin typeface="幼圆" pitchFamily="49" charset="-122"/>
                <a:ea typeface="幼圆" pitchFamily="49" charset="-122"/>
              </a:rPr>
              <a:t>1</a:t>
            </a:r>
            <a:endParaRPr lang="zh-CN" altLang="en-US" sz="1200" b="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pPr eaLnBrk="1" hangingPunct="1">
              <a:defRPr/>
            </a:pPr>
            <a:r>
              <a:rPr lang="zh-CN" altLang="en-US" smtClean="0"/>
              <a:t>从面向操作系统的优化实现来改进</a:t>
            </a:r>
          </a:p>
        </p:txBody>
      </p:sp>
      <p:sp>
        <p:nvSpPr>
          <p:cNvPr id="10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CISC</a:t>
            </a:r>
            <a:endParaRPr lang="zh-CN" altLang="en-US" sz="1200" b="0">
              <a:latin typeface="Times New Roman" pitchFamily="18" charset="0"/>
              <a:ea typeface="幼圆" pitchFamily="49" charset="-122"/>
            </a:endParaRPr>
          </a:p>
        </p:txBody>
      </p:sp>
      <p:sp>
        <p:nvSpPr>
          <p:cNvPr id="347140" name="Rectangle 4"/>
          <p:cNvSpPr>
            <a:spLocks noGrp="1" noChangeArrowheads="1"/>
          </p:cNvSpPr>
          <p:nvPr>
            <p:ph type="body" idx="1"/>
          </p:nvPr>
        </p:nvSpPr>
        <p:spPr/>
        <p:txBody>
          <a:bodyPr/>
          <a:lstStyle/>
          <a:p>
            <a:pPr marL="0" indent="0" eaLnBrk="1" hangingPunct="1">
              <a:lnSpc>
                <a:spcPct val="110000"/>
              </a:lnSpc>
              <a:buClr>
                <a:srgbClr val="FF3300"/>
              </a:buClr>
              <a:defRPr/>
            </a:pPr>
            <a:r>
              <a:rPr lang="zh-CN" altLang="en-US" sz="2800" dirty="0" smtClean="0">
                <a:solidFill>
                  <a:srgbClr val="FF3300"/>
                </a:solidFill>
                <a:effectLst>
                  <a:outerShdw blurRad="38100" dist="38100" dir="2700000" algn="tl">
                    <a:srgbClr val="C0C0C0"/>
                  </a:outerShdw>
                </a:effectLst>
              </a:rPr>
              <a:t>  优化目的</a:t>
            </a:r>
          </a:p>
          <a:p>
            <a:pPr marL="850900" lvl="1" eaLnBrk="1" hangingPunct="1">
              <a:lnSpc>
                <a:spcPct val="110000"/>
              </a:lnSpc>
              <a:buFont typeface="Wingdings" pitchFamily="2" charset="2"/>
              <a:buChar char="Ø"/>
              <a:defRPr/>
            </a:pPr>
            <a:r>
              <a:rPr lang="zh-CN" altLang="en-US" sz="2400" dirty="0" smtClean="0"/>
              <a:t>减少运行操作系统所需的辅助操作时间；</a:t>
            </a:r>
          </a:p>
          <a:p>
            <a:pPr marL="850900" lvl="1" eaLnBrk="1" hangingPunct="1">
              <a:lnSpc>
                <a:spcPct val="110000"/>
              </a:lnSpc>
              <a:buFont typeface="Wingdings" pitchFamily="2" charset="2"/>
              <a:buChar char="Ø"/>
              <a:defRPr/>
            </a:pPr>
            <a:r>
              <a:rPr lang="zh-CN" altLang="en-US" sz="2400" dirty="0" smtClean="0"/>
              <a:t>节省操作系统所占用的存贮空间。</a:t>
            </a:r>
          </a:p>
          <a:p>
            <a:pPr marL="0" indent="0" eaLnBrk="1" hangingPunct="1">
              <a:lnSpc>
                <a:spcPct val="110000"/>
              </a:lnSpc>
              <a:buClr>
                <a:srgbClr val="FF3300"/>
              </a:buClr>
              <a:defRPr/>
            </a:pPr>
            <a:r>
              <a:rPr lang="zh-CN" altLang="en-US" sz="2800" dirty="0" smtClean="0"/>
              <a:t>  </a:t>
            </a:r>
            <a:r>
              <a:rPr lang="zh-CN" altLang="en-US" sz="2800" dirty="0" smtClean="0">
                <a:solidFill>
                  <a:srgbClr val="FF3300"/>
                </a:solidFill>
                <a:effectLst>
                  <a:outerShdw blurRad="38100" dist="38100" dir="2700000" algn="tl">
                    <a:srgbClr val="C0C0C0"/>
                  </a:outerShdw>
                </a:effectLst>
              </a:rPr>
              <a:t>优化方法</a:t>
            </a:r>
          </a:p>
          <a:p>
            <a:pPr marL="850900" lvl="1" eaLnBrk="1" hangingPunct="1">
              <a:lnSpc>
                <a:spcPct val="110000"/>
              </a:lnSpc>
              <a:buFont typeface="Wingdings" pitchFamily="2" charset="2"/>
              <a:buChar char="Ø"/>
              <a:defRPr/>
            </a:pPr>
            <a:r>
              <a:rPr lang="zh-CN" altLang="en-US" sz="2400" dirty="0" smtClean="0"/>
              <a:t>对操作系统中常用的指令和指令串的使用频率进行统计和分析来改造；</a:t>
            </a:r>
          </a:p>
          <a:p>
            <a:pPr marL="850900" lvl="1" eaLnBrk="1" hangingPunct="1">
              <a:lnSpc>
                <a:spcPct val="110000"/>
              </a:lnSpc>
              <a:buFont typeface="Wingdings" pitchFamily="2" charset="2"/>
              <a:buChar char="Ø"/>
              <a:defRPr/>
            </a:pPr>
            <a:r>
              <a:rPr lang="zh-CN" altLang="en-US" sz="2400" dirty="0" smtClean="0"/>
              <a:t>增设专用于操作系统的新指令；</a:t>
            </a:r>
          </a:p>
          <a:p>
            <a:pPr marL="850900" lvl="1" eaLnBrk="1" hangingPunct="1">
              <a:lnSpc>
                <a:spcPct val="110000"/>
              </a:lnSpc>
              <a:buFont typeface="Wingdings" pitchFamily="2" charset="2"/>
              <a:buChar char="Ø"/>
              <a:defRPr/>
            </a:pPr>
            <a:r>
              <a:rPr lang="zh-CN" altLang="en-US" sz="2400" dirty="0" smtClean="0"/>
              <a:t>将操作系统中由软件子程序实现的某些功能改用硬件或固件实现。</a:t>
            </a:r>
          </a:p>
        </p:txBody>
      </p:sp>
      <p:sp>
        <p:nvSpPr>
          <p:cNvPr id="100357"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a:latin typeface="幼圆" pitchFamily="49" charset="-122"/>
                <a:ea typeface="幼圆" pitchFamily="49" charset="-122"/>
              </a:rPr>
              <a:t>2</a:t>
            </a:r>
            <a:r>
              <a:rPr lang="zh-CN" altLang="en-US" sz="1200" b="0">
                <a:latin typeface="幼圆" pitchFamily="49" charset="-122"/>
                <a:ea typeface="幼圆" pitchFamily="49" charset="-122"/>
              </a:rPr>
              <a:t> 之 </a:t>
            </a:r>
            <a:r>
              <a:rPr lang="en-US" altLang="zh-CN" sz="1200" b="0">
                <a:latin typeface="幼圆" pitchFamily="49" charset="-122"/>
                <a:ea typeface="幼圆" pitchFamily="49" charset="-122"/>
              </a:rPr>
              <a:t>2</a:t>
            </a:r>
            <a:endParaRPr lang="zh-CN" altLang="en-US" sz="1200" b="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p:txBody>
          <a:bodyPr/>
          <a:lstStyle/>
          <a:p>
            <a:pPr eaLnBrk="1" hangingPunct="1">
              <a:defRPr/>
            </a:pPr>
            <a:r>
              <a:rPr lang="zh-CN" altLang="en-US" smtClean="0"/>
              <a:t>精简指令系统计算机（</a:t>
            </a:r>
            <a:r>
              <a:rPr lang="en-US" altLang="zh-CN" smtClean="0"/>
              <a:t>RISC）</a:t>
            </a:r>
            <a:endParaRPr lang="zh-CN" altLang="en-US" smtClean="0"/>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endParaRPr lang="zh-CN" altLang="en-US" sz="1200" b="0">
              <a:latin typeface="Times New Roman" pitchFamily="18" charset="0"/>
              <a:ea typeface="幼圆" pitchFamily="49" charset="-122"/>
            </a:endParaRPr>
          </a:p>
        </p:txBody>
      </p:sp>
      <p:sp>
        <p:nvSpPr>
          <p:cNvPr id="101380" name="Rectangle 5"/>
          <p:cNvSpPr>
            <a:spLocks noGrp="1" noChangeArrowheads="1"/>
          </p:cNvSpPr>
          <p:nvPr>
            <p:ph type="body" idx="1"/>
          </p:nvPr>
        </p:nvSpPr>
        <p:spPr>
          <a:xfrm>
            <a:off x="2268538" y="1916113"/>
            <a:ext cx="4267200" cy="4465637"/>
          </a:xfrm>
        </p:spPr>
        <p:txBody>
          <a:bodyPr/>
          <a:lstStyle/>
          <a:p>
            <a:pPr eaLnBrk="1" hangingPunct="1">
              <a:lnSpc>
                <a:spcPct val="150000"/>
              </a:lnSpc>
            </a:pPr>
            <a:r>
              <a:rPr lang="en-US" altLang="zh-CN" dirty="0" smtClean="0">
                <a:hlinkClick r:id="rId5" action="ppaction://hlinksldjump"/>
              </a:rPr>
              <a:t>CISC→RISC</a:t>
            </a:r>
            <a:endParaRPr lang="en-US" altLang="zh-CN" dirty="0" smtClean="0"/>
          </a:p>
          <a:p>
            <a:pPr eaLnBrk="1" hangingPunct="1">
              <a:lnSpc>
                <a:spcPct val="150000"/>
              </a:lnSpc>
            </a:pPr>
            <a:r>
              <a:rPr lang="en-US" altLang="zh-CN" dirty="0" smtClean="0">
                <a:hlinkClick r:id="rId6" action="ppaction://hlinksldjump"/>
              </a:rPr>
              <a:t>RISC</a:t>
            </a:r>
            <a:r>
              <a:rPr lang="zh-CN" altLang="en-US" dirty="0" smtClean="0">
                <a:hlinkClick r:id="rId6" action="ppaction://hlinksldjump"/>
              </a:rPr>
              <a:t>的定义</a:t>
            </a:r>
            <a:endParaRPr lang="zh-CN" altLang="en-US" dirty="0" smtClean="0"/>
          </a:p>
          <a:p>
            <a:pPr eaLnBrk="1" hangingPunct="1">
              <a:lnSpc>
                <a:spcPct val="150000"/>
              </a:lnSpc>
            </a:pPr>
            <a:r>
              <a:rPr lang="en-US" altLang="zh-CN" dirty="0" smtClean="0">
                <a:hlinkClick r:id="rId7" action="ppaction://hlinksldjump"/>
              </a:rPr>
              <a:t>RISC</a:t>
            </a:r>
            <a:r>
              <a:rPr lang="zh-CN" altLang="en-US" dirty="0" smtClean="0">
                <a:hlinkClick r:id="rId7" action="ppaction://hlinksldjump"/>
              </a:rPr>
              <a:t>的思想</a:t>
            </a:r>
            <a:endParaRPr lang="zh-CN" altLang="en-US" dirty="0" smtClean="0"/>
          </a:p>
          <a:p>
            <a:pPr eaLnBrk="1" hangingPunct="1">
              <a:lnSpc>
                <a:spcPct val="150000"/>
              </a:lnSpc>
            </a:pPr>
            <a:r>
              <a:rPr lang="en-US" altLang="zh-CN" dirty="0" smtClean="0">
                <a:hlinkClick r:id="rId8" action="ppaction://hlinksldjump"/>
              </a:rPr>
              <a:t>RISC</a:t>
            </a:r>
            <a:r>
              <a:rPr lang="zh-CN" altLang="en-US" dirty="0" smtClean="0">
                <a:hlinkClick r:id="rId8" action="ppaction://hlinksldjump"/>
              </a:rPr>
              <a:t>的关键技术</a:t>
            </a:r>
            <a:endParaRPr lang="zh-CN" altLang="en-US" dirty="0" smtClean="0"/>
          </a:p>
          <a:p>
            <a:pPr eaLnBrk="1" hangingPunct="1">
              <a:lnSpc>
                <a:spcPct val="150000"/>
              </a:lnSpc>
            </a:pPr>
            <a:r>
              <a:rPr lang="en-US" altLang="zh-CN" dirty="0" smtClean="0">
                <a:hlinkClick r:id="rId9" action="ppaction://hlinksldjump"/>
              </a:rPr>
              <a:t>RISC</a:t>
            </a:r>
            <a:r>
              <a:rPr lang="zh-CN" altLang="en-US" dirty="0" smtClean="0">
                <a:hlinkClick r:id="rId9" action="ppaction://hlinksldjump"/>
              </a:rPr>
              <a:t>的特点</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pPr eaLnBrk="1" hangingPunct="1">
              <a:defRPr/>
            </a:pPr>
            <a:r>
              <a:rPr lang="en-US" altLang="zh-CN" smtClean="0"/>
              <a:t>CISC→RISC</a:t>
            </a:r>
            <a:endParaRPr lang="zh-CN" altLang="en-US" smtClean="0"/>
          </a:p>
        </p:txBody>
      </p:sp>
      <p:sp>
        <p:nvSpPr>
          <p:cNvPr id="102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endParaRPr lang="zh-CN" altLang="en-US" sz="1200" b="0">
              <a:latin typeface="Times New Roman" pitchFamily="18" charset="0"/>
              <a:ea typeface="幼圆" pitchFamily="49" charset="-122"/>
            </a:endParaRPr>
          </a:p>
        </p:txBody>
      </p:sp>
      <p:sp>
        <p:nvSpPr>
          <p:cNvPr id="102404" name="Rectangle 4"/>
          <p:cNvSpPr>
            <a:spLocks noGrp="1" noChangeArrowheads="1"/>
          </p:cNvSpPr>
          <p:nvPr>
            <p:ph type="body" idx="1"/>
          </p:nvPr>
        </p:nvSpPr>
        <p:spPr>
          <a:xfrm>
            <a:off x="809625" y="1916113"/>
            <a:ext cx="7958138" cy="4484687"/>
          </a:xfrm>
        </p:spPr>
        <p:txBody>
          <a:bodyPr/>
          <a:lstStyle/>
          <a:p>
            <a:pPr marL="374650" indent="-374650" eaLnBrk="1" hangingPunct="1">
              <a:lnSpc>
                <a:spcPct val="115000"/>
              </a:lnSpc>
              <a:buClr>
                <a:srgbClr val="FF3300"/>
              </a:buClr>
              <a:buFont typeface="Wingdings" pitchFamily="2" charset="2"/>
              <a:buNone/>
            </a:pPr>
            <a:r>
              <a:rPr lang="en-US" altLang="zh-CN" sz="2800" dirty="0" smtClean="0"/>
              <a:t>        RISC</a:t>
            </a:r>
            <a:r>
              <a:rPr lang="zh-CN" altLang="en-US" sz="2800" dirty="0" smtClean="0"/>
              <a:t>思想的提出主要是因为</a:t>
            </a:r>
            <a:r>
              <a:rPr lang="en-US" altLang="zh-CN" sz="2800" dirty="0" smtClean="0"/>
              <a:t>CISC</a:t>
            </a:r>
            <a:r>
              <a:rPr lang="zh-CN" altLang="en-US" sz="2800" dirty="0" smtClean="0"/>
              <a:t>存在这样的一些问题：</a:t>
            </a:r>
          </a:p>
          <a:p>
            <a:pPr marL="374650" indent="-374650" eaLnBrk="1" hangingPunct="1">
              <a:lnSpc>
                <a:spcPct val="115000"/>
              </a:lnSpc>
              <a:buClr>
                <a:schemeClr val="tx1"/>
              </a:buClr>
            </a:pPr>
            <a:r>
              <a:rPr lang="zh-CN" altLang="en-US" sz="2800" dirty="0" smtClean="0"/>
              <a:t>指令系统复杂，不利于</a:t>
            </a:r>
            <a:r>
              <a:rPr lang="en-US" altLang="zh-CN" sz="2800" dirty="0" smtClean="0"/>
              <a:t>VLSI</a:t>
            </a:r>
            <a:r>
              <a:rPr lang="zh-CN" altLang="en-US" sz="2800" dirty="0" smtClean="0"/>
              <a:t>的设计，也不利于设计自动化技术的采用；</a:t>
            </a:r>
            <a:endParaRPr lang="en-US" altLang="zh-CN" sz="2800" dirty="0" smtClean="0"/>
          </a:p>
          <a:p>
            <a:pPr marL="374650" indent="-374650" eaLnBrk="1" hangingPunct="1">
              <a:lnSpc>
                <a:spcPct val="115000"/>
              </a:lnSpc>
              <a:buClr>
                <a:schemeClr val="tx1"/>
              </a:buClr>
            </a:pPr>
            <a:r>
              <a:rPr lang="zh-CN" altLang="en-US" sz="2800" dirty="0" smtClean="0"/>
              <a:t>许多复杂指令的执行速度很低；</a:t>
            </a:r>
          </a:p>
          <a:p>
            <a:pPr marL="374650" indent="-374650" eaLnBrk="1" hangingPunct="1">
              <a:lnSpc>
                <a:spcPct val="115000"/>
              </a:lnSpc>
              <a:buClr>
                <a:schemeClr val="tx1"/>
              </a:buClr>
            </a:pPr>
            <a:r>
              <a:rPr lang="zh-CN" altLang="en-US" sz="2800" dirty="0" smtClean="0"/>
              <a:t>编译程序选择目标指令的范围大，很难优化；</a:t>
            </a:r>
          </a:p>
          <a:p>
            <a:pPr marL="374650" indent="-374650" eaLnBrk="1" hangingPunct="1">
              <a:lnSpc>
                <a:spcPct val="115000"/>
              </a:lnSpc>
              <a:buClr>
                <a:schemeClr val="tx1"/>
              </a:buClr>
            </a:pPr>
            <a:r>
              <a:rPr lang="en-US" altLang="zh-CN" sz="2800" dirty="0" smtClean="0">
                <a:solidFill>
                  <a:srgbClr val="3333FF"/>
                </a:solidFill>
              </a:rPr>
              <a:t>20%</a:t>
            </a:r>
            <a:r>
              <a:rPr lang="zh-CN" altLang="en-US" sz="2800" dirty="0" smtClean="0">
                <a:solidFill>
                  <a:srgbClr val="3333FF"/>
                </a:solidFill>
              </a:rPr>
              <a:t>和80%的规律</a:t>
            </a:r>
            <a:r>
              <a:rPr lang="zh-CN" altLang="en-US" sz="2800" dirty="0" smtClean="0"/>
              <a:t>：80%的指令只在20%的运行时间里用到。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p:txBody>
          <a:bodyPr/>
          <a:lstStyle/>
          <a:p>
            <a:pPr eaLnBrk="1" hangingPunct="1">
              <a:defRPr/>
            </a:pPr>
            <a:r>
              <a:rPr lang="en-US" altLang="zh-CN" smtClean="0"/>
              <a:t>RISC</a:t>
            </a:r>
            <a:r>
              <a:rPr lang="zh-CN" altLang="en-US" smtClean="0"/>
              <a:t>的定义</a:t>
            </a:r>
            <a:endParaRPr lang="en-US" altLang="zh-CN" smtClean="0"/>
          </a:p>
        </p:txBody>
      </p:sp>
      <p:sp>
        <p:nvSpPr>
          <p:cNvPr id="10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endParaRPr lang="zh-CN" altLang="en-US" sz="1200" b="0">
              <a:latin typeface="Times New Roman" pitchFamily="18" charset="0"/>
              <a:ea typeface="幼圆" pitchFamily="49" charset="-122"/>
            </a:endParaRPr>
          </a:p>
        </p:txBody>
      </p:sp>
      <p:sp>
        <p:nvSpPr>
          <p:cNvPr id="103428" name="Rectangle 5"/>
          <p:cNvSpPr>
            <a:spLocks noGrp="1" noChangeArrowheads="1"/>
          </p:cNvSpPr>
          <p:nvPr>
            <p:ph type="body" idx="1"/>
          </p:nvPr>
        </p:nvSpPr>
        <p:spPr>
          <a:xfrm>
            <a:off x="1752600" y="2085975"/>
            <a:ext cx="6810375" cy="3594100"/>
          </a:xfrm>
        </p:spPr>
        <p:txBody>
          <a:bodyPr/>
          <a:lstStyle/>
          <a:p>
            <a:pPr eaLnBrk="1" hangingPunct="1">
              <a:lnSpc>
                <a:spcPct val="150000"/>
              </a:lnSpc>
            </a:pPr>
            <a:r>
              <a:rPr lang="en-US" altLang="zh-CN" smtClean="0">
                <a:hlinkClick r:id="rId7" action="ppaction://hlinksldjump"/>
              </a:rPr>
              <a:t>Carnegie -Mellon</a:t>
            </a:r>
            <a:r>
              <a:rPr lang="zh-CN" altLang="en-US" smtClean="0">
                <a:hlinkClick r:id="rId7" action="ppaction://hlinksldjump"/>
              </a:rPr>
              <a:t>大学的定义</a:t>
            </a:r>
            <a:endParaRPr lang="zh-CN" altLang="en-US" smtClean="0"/>
          </a:p>
          <a:p>
            <a:pPr eaLnBrk="1" hangingPunct="1">
              <a:lnSpc>
                <a:spcPct val="150000"/>
              </a:lnSpc>
            </a:pPr>
            <a:r>
              <a:rPr lang="en-US" altLang="zh-CN" smtClean="0">
                <a:hlinkClick r:id="rId8" action="ppaction://hlinksldjump"/>
              </a:rPr>
              <a:t>IEEE</a:t>
            </a:r>
            <a:r>
              <a:rPr lang="zh-CN" altLang="en-US" smtClean="0">
                <a:hlinkClick r:id="rId8" action="ppaction://hlinksldjump"/>
              </a:rPr>
              <a:t>的</a:t>
            </a:r>
            <a:r>
              <a:rPr lang="en-US" altLang="zh-CN" smtClean="0">
                <a:hlinkClick r:id="rId8" action="ppaction://hlinksldjump"/>
              </a:rPr>
              <a:t>Michael Slater</a:t>
            </a:r>
            <a:r>
              <a:rPr lang="zh-CN" altLang="en-US" smtClean="0">
                <a:hlinkClick r:id="rId8" action="ppaction://hlinksldjump"/>
              </a:rPr>
              <a:t>的定义</a:t>
            </a:r>
            <a:endParaRPr lang="zh-CN" altLang="en-US" smtClean="0"/>
          </a:p>
        </p:txBody>
      </p:sp>
      <p:sp>
        <p:nvSpPr>
          <p:cNvPr id="334854" name="AutoShape 6"/>
          <p:cNvSpPr>
            <a:spLocks noChangeArrowheads="1"/>
          </p:cNvSpPr>
          <p:nvPr/>
        </p:nvSpPr>
        <p:spPr bwMode="auto">
          <a:xfrm>
            <a:off x="3429000" y="4876800"/>
            <a:ext cx="5410200" cy="1066800"/>
          </a:xfrm>
          <a:prstGeom prst="cloudCallout">
            <a:avLst>
              <a:gd name="adj1" fmla="val -51144"/>
              <a:gd name="adj2" fmla="val -76042"/>
            </a:avLst>
          </a:prstGeom>
          <a:solidFill>
            <a:srgbClr val="FFFF00"/>
          </a:solidFill>
          <a:ln w="28575">
            <a:solidFill>
              <a:schemeClr val="tx1"/>
            </a:solidFill>
            <a:round/>
            <a:headEnd/>
            <a:tailEnd/>
          </a:ln>
          <a:effectLst>
            <a:outerShdw dist="107763" dir="2700000" algn="ctr" rotWithShape="0">
              <a:schemeClr val="bg2"/>
            </a:outerShdw>
          </a:effec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Times New Roman" pitchFamily="18" charset="0"/>
                <a:ea typeface="方正舒体" pitchFamily="2" charset="-122"/>
              </a:rPr>
              <a:t>至今没有一个确切的定义</a:t>
            </a:r>
          </a:p>
        </p:txBody>
      </p:sp>
      <p:pic>
        <p:nvPicPr>
          <p:cNvPr id="103430" name="Picture 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8200" y="4191000"/>
            <a:ext cx="2438400" cy="2160588"/>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334854"/>
                                        </p:tgtEl>
                                        <p:attrNameLst>
                                          <p:attrName>style.visibility</p:attrName>
                                        </p:attrNameLst>
                                      </p:cBhvr>
                                      <p:to>
                                        <p:strVal val="visible"/>
                                      </p:to>
                                    </p:set>
                                    <p:anim to="" calcmode="lin" valueType="num">
                                      <p:cBhvr>
                                        <p:cTn id="7" dur="1" fill="hold"/>
                                        <p:tgtEl>
                                          <p:spTgt spid="334854"/>
                                        </p:tgtEl>
                                        <p:attrNameLst>
                                          <p:attrName/>
                                        </p:attrNameLst>
                                      </p:cBhvr>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4" grpId="0" animBg="1"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1026"/>
          <p:cNvSpPr>
            <a:spLocks noGrp="1" noChangeArrowheads="1"/>
          </p:cNvSpPr>
          <p:nvPr>
            <p:ph type="title"/>
          </p:nvPr>
        </p:nvSpPr>
        <p:spPr/>
        <p:txBody>
          <a:bodyPr/>
          <a:lstStyle/>
          <a:p>
            <a:pPr eaLnBrk="1" hangingPunct="1">
              <a:defRPr/>
            </a:pPr>
            <a:r>
              <a:rPr lang="en-US" altLang="zh-CN" smtClean="0"/>
              <a:t>Carnegie -Mellon</a:t>
            </a:r>
            <a:r>
              <a:rPr lang="zh-CN" altLang="en-US" smtClean="0"/>
              <a:t>大学的定义</a:t>
            </a:r>
            <a:endParaRPr lang="en-US" altLang="zh-CN" smtClean="0"/>
          </a:p>
        </p:txBody>
      </p:sp>
      <p:sp>
        <p:nvSpPr>
          <p:cNvPr id="104451"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的定义</a:t>
            </a:r>
            <a:endParaRPr lang="zh-CN" altLang="en-US" sz="1200" b="0">
              <a:latin typeface="Times New Roman" pitchFamily="18" charset="0"/>
              <a:ea typeface="幼圆" pitchFamily="49" charset="-122"/>
            </a:endParaRPr>
          </a:p>
        </p:txBody>
      </p:sp>
      <p:sp>
        <p:nvSpPr>
          <p:cNvPr id="104452" name="Rectangle 1030"/>
          <p:cNvSpPr>
            <a:spLocks noGrp="1" noChangeArrowheads="1"/>
          </p:cNvSpPr>
          <p:nvPr>
            <p:ph type="body" idx="1"/>
          </p:nvPr>
        </p:nvSpPr>
        <p:spPr/>
        <p:txBody>
          <a:bodyPr/>
          <a:lstStyle/>
          <a:p>
            <a:pPr eaLnBrk="1" hangingPunct="1">
              <a:lnSpc>
                <a:spcPct val="105000"/>
              </a:lnSpc>
              <a:buFont typeface="Wingdings" pitchFamily="2" charset="2"/>
              <a:buNone/>
            </a:pPr>
            <a:r>
              <a:rPr lang="en-US" altLang="zh-CN" smtClean="0"/>
              <a:t>   RISC</a:t>
            </a:r>
            <a:r>
              <a:rPr lang="zh-CN" altLang="en-US" smtClean="0"/>
              <a:t>应有如下的特点：</a:t>
            </a:r>
          </a:p>
          <a:p>
            <a:pPr eaLnBrk="1" hangingPunct="1">
              <a:lnSpc>
                <a:spcPct val="105000"/>
              </a:lnSpc>
            </a:pPr>
            <a:r>
              <a:rPr lang="zh-CN" altLang="en-US" smtClean="0"/>
              <a:t>大多数指令在单周期内完成；</a:t>
            </a:r>
          </a:p>
          <a:p>
            <a:pPr eaLnBrk="1" hangingPunct="1">
              <a:lnSpc>
                <a:spcPct val="105000"/>
              </a:lnSpc>
            </a:pPr>
            <a:r>
              <a:rPr lang="en-US" altLang="zh-CN" smtClean="0"/>
              <a:t>LOAD/STORE</a:t>
            </a:r>
            <a:r>
              <a:rPr lang="zh-CN" altLang="en-US" smtClean="0"/>
              <a:t>结构；</a:t>
            </a:r>
          </a:p>
          <a:p>
            <a:pPr eaLnBrk="1" hangingPunct="1">
              <a:lnSpc>
                <a:spcPct val="105000"/>
              </a:lnSpc>
            </a:pPr>
            <a:r>
              <a:rPr lang="zh-CN" altLang="en-US" smtClean="0"/>
              <a:t>硬布线控制逻辑；</a:t>
            </a:r>
          </a:p>
          <a:p>
            <a:pPr eaLnBrk="1" hangingPunct="1">
              <a:lnSpc>
                <a:spcPct val="105000"/>
              </a:lnSpc>
            </a:pPr>
            <a:r>
              <a:rPr lang="zh-CN" altLang="en-US" smtClean="0"/>
              <a:t>减少指令和寻址方式的种类；</a:t>
            </a:r>
          </a:p>
          <a:p>
            <a:pPr eaLnBrk="1" hangingPunct="1">
              <a:lnSpc>
                <a:spcPct val="105000"/>
              </a:lnSpc>
            </a:pPr>
            <a:r>
              <a:rPr lang="zh-CN" altLang="en-US" smtClean="0"/>
              <a:t>固定的指令格式；</a:t>
            </a:r>
          </a:p>
          <a:p>
            <a:pPr eaLnBrk="1" hangingPunct="1">
              <a:lnSpc>
                <a:spcPct val="105000"/>
              </a:lnSpc>
            </a:pPr>
            <a:r>
              <a:rPr lang="zh-CN" altLang="en-US" smtClean="0"/>
              <a:t>注重编译优化技术。</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050"/>
          <p:cNvSpPr>
            <a:spLocks noGrp="1" noChangeArrowheads="1"/>
          </p:cNvSpPr>
          <p:nvPr>
            <p:ph type="title"/>
          </p:nvPr>
        </p:nvSpPr>
        <p:spPr/>
        <p:txBody>
          <a:bodyPr/>
          <a:lstStyle/>
          <a:p>
            <a:pPr eaLnBrk="1" hangingPunct="1">
              <a:defRPr/>
            </a:pPr>
            <a:r>
              <a:rPr lang="en-US" altLang="zh-CN" smtClean="0"/>
              <a:t>IEEE</a:t>
            </a:r>
            <a:r>
              <a:rPr lang="zh-CN" altLang="en-US" smtClean="0"/>
              <a:t>的</a:t>
            </a:r>
            <a:r>
              <a:rPr lang="en-US" altLang="zh-CN" smtClean="0"/>
              <a:t>Michael Slater</a:t>
            </a:r>
            <a:r>
              <a:rPr lang="zh-CN" altLang="en-US" smtClean="0"/>
              <a:t>的定义</a:t>
            </a:r>
            <a:endParaRPr lang="en-US" altLang="zh-CN" smtClean="0"/>
          </a:p>
        </p:txBody>
      </p:sp>
      <p:sp>
        <p:nvSpPr>
          <p:cNvPr id="105475" name="Text Box 205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的定义</a:t>
            </a:r>
            <a:endParaRPr lang="zh-CN" altLang="en-US" sz="1200" b="0">
              <a:latin typeface="Times New Roman" pitchFamily="18" charset="0"/>
              <a:ea typeface="幼圆" pitchFamily="49" charset="-122"/>
            </a:endParaRPr>
          </a:p>
        </p:txBody>
      </p:sp>
      <p:sp>
        <p:nvSpPr>
          <p:cNvPr id="361476" name="Rectangle 2052"/>
          <p:cNvSpPr>
            <a:spLocks noGrp="1" noChangeArrowheads="1"/>
          </p:cNvSpPr>
          <p:nvPr>
            <p:ph type="body" idx="1"/>
          </p:nvPr>
        </p:nvSpPr>
        <p:spPr>
          <a:xfrm>
            <a:off x="809625" y="1916113"/>
            <a:ext cx="8105775" cy="864815"/>
          </a:xfrm>
        </p:spPr>
        <p:txBody>
          <a:bodyPr/>
          <a:lstStyle/>
          <a:p>
            <a:pPr marL="0" indent="0" eaLnBrk="1" hangingPunct="1">
              <a:lnSpc>
                <a:spcPct val="95000"/>
              </a:lnSpc>
              <a:buFont typeface="Wingdings" pitchFamily="2" charset="2"/>
              <a:buNone/>
              <a:defRPr/>
            </a:pPr>
            <a:r>
              <a:rPr lang="en-US" altLang="zh-CN" sz="2400" dirty="0" smtClean="0"/>
              <a:t>        </a:t>
            </a:r>
            <a:r>
              <a:rPr lang="en-US" altLang="zh-CN" sz="2400" dirty="0"/>
              <a:t>RISC</a:t>
            </a:r>
            <a:r>
              <a:rPr lang="zh-CN" altLang="en-US" sz="2400" dirty="0"/>
              <a:t>处理器所设计的指令系统应使</a:t>
            </a:r>
            <a:r>
              <a:rPr lang="zh-CN" altLang="en-US" sz="2400" dirty="0">
                <a:solidFill>
                  <a:srgbClr val="FF0000"/>
                </a:solidFill>
              </a:rPr>
              <a:t>流水线处理能高效率执行</a:t>
            </a:r>
            <a:r>
              <a:rPr lang="zh-CN" altLang="en-US" sz="2400" dirty="0"/>
              <a:t>，并使</a:t>
            </a:r>
            <a:r>
              <a:rPr lang="zh-CN" altLang="en-US" sz="2400" dirty="0">
                <a:solidFill>
                  <a:srgbClr val="FF0000"/>
                </a:solidFill>
              </a:rPr>
              <a:t>优化编译器能生成优化代码</a:t>
            </a:r>
            <a:r>
              <a:rPr lang="zh-CN" altLang="en-US" sz="2400" dirty="0"/>
              <a:t>。</a:t>
            </a:r>
          </a:p>
        </p:txBody>
      </p:sp>
      <p:sp>
        <p:nvSpPr>
          <p:cNvPr id="5" name="Rectangle 2052"/>
          <p:cNvSpPr txBox="1">
            <a:spLocks noChangeArrowheads="1"/>
          </p:cNvSpPr>
          <p:nvPr/>
        </p:nvSpPr>
        <p:spPr bwMode="auto">
          <a:xfrm>
            <a:off x="827584" y="2852935"/>
            <a:ext cx="5040560" cy="345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0" indent="0" eaLnBrk="1" hangingPunct="1">
              <a:lnSpc>
                <a:spcPct val="95000"/>
              </a:lnSpc>
              <a:buFont typeface="Wingdings" pitchFamily="2" charset="2"/>
              <a:buNone/>
              <a:defRPr/>
            </a:pPr>
            <a:r>
              <a:rPr lang="en-US" altLang="zh-CN" sz="2400" kern="0" dirty="0" smtClean="0">
                <a:solidFill>
                  <a:srgbClr val="0000CC"/>
                </a:solidFill>
              </a:rPr>
              <a:t>    </a:t>
            </a:r>
            <a:r>
              <a:rPr lang="zh-CN" altLang="en-US" sz="2400" kern="0" dirty="0" smtClean="0">
                <a:solidFill>
                  <a:srgbClr val="0000CC"/>
                </a:solidFill>
              </a:rPr>
              <a:t>为实现前者应具有：</a:t>
            </a:r>
            <a:endParaRPr lang="en-US" altLang="zh-CN" sz="2400" kern="0" dirty="0" smtClean="0">
              <a:solidFill>
                <a:srgbClr val="0000CC"/>
              </a:solidFill>
            </a:endParaRPr>
          </a:p>
          <a:p>
            <a:pPr eaLnBrk="1" hangingPunct="1">
              <a:lnSpc>
                <a:spcPct val="95000"/>
              </a:lnSpc>
              <a:defRPr/>
            </a:pPr>
            <a:r>
              <a:rPr lang="zh-CN" altLang="en-US" sz="2400" kern="0" dirty="0" smtClean="0"/>
              <a:t>简单而统一格式的指令译码；</a:t>
            </a:r>
            <a:endParaRPr lang="en-US" altLang="zh-CN" sz="2400" kern="0" dirty="0" smtClean="0"/>
          </a:p>
          <a:p>
            <a:pPr eaLnBrk="1" hangingPunct="1">
              <a:lnSpc>
                <a:spcPct val="95000"/>
              </a:lnSpc>
              <a:defRPr/>
            </a:pPr>
            <a:r>
              <a:rPr lang="zh-CN" altLang="en-US" sz="2400" kern="0" dirty="0" smtClean="0"/>
              <a:t>大部分指令可以单周期执行完成；</a:t>
            </a:r>
            <a:endParaRPr lang="en-US" altLang="zh-CN" sz="2400" kern="0" dirty="0" smtClean="0"/>
          </a:p>
          <a:p>
            <a:pPr eaLnBrk="1" hangingPunct="1">
              <a:lnSpc>
                <a:spcPct val="95000"/>
              </a:lnSpc>
              <a:defRPr/>
            </a:pPr>
            <a:r>
              <a:rPr lang="zh-CN" altLang="en-US" sz="2400" kern="0" dirty="0" smtClean="0"/>
              <a:t>仅</a:t>
            </a:r>
            <a:r>
              <a:rPr lang="en-US" altLang="zh-CN" sz="2400" kern="0" dirty="0" smtClean="0"/>
              <a:t>LOAD</a:t>
            </a:r>
            <a:r>
              <a:rPr lang="zh-CN" altLang="en-US" sz="2400" kern="0" dirty="0" smtClean="0"/>
              <a:t>和</a:t>
            </a:r>
            <a:r>
              <a:rPr lang="en-US" altLang="zh-CN" sz="2400" kern="0" dirty="0" smtClean="0"/>
              <a:t>STORE</a:t>
            </a:r>
            <a:r>
              <a:rPr lang="zh-CN" altLang="en-US" sz="2400" kern="0" dirty="0" smtClean="0"/>
              <a:t>指令可以访问存储器；</a:t>
            </a:r>
            <a:endParaRPr lang="en-US" altLang="zh-CN" sz="2400" kern="0" dirty="0" smtClean="0"/>
          </a:p>
          <a:p>
            <a:pPr eaLnBrk="1" hangingPunct="1">
              <a:lnSpc>
                <a:spcPct val="95000"/>
              </a:lnSpc>
              <a:defRPr/>
            </a:pPr>
            <a:r>
              <a:rPr lang="zh-CN" altLang="en-US" sz="2400" kern="0" dirty="0" smtClean="0"/>
              <a:t>简单的寻址方式；</a:t>
            </a:r>
            <a:endParaRPr lang="en-US" altLang="zh-CN" sz="2400" kern="0" dirty="0" smtClean="0"/>
          </a:p>
          <a:p>
            <a:pPr eaLnBrk="1" hangingPunct="1">
              <a:lnSpc>
                <a:spcPct val="95000"/>
              </a:lnSpc>
              <a:defRPr/>
            </a:pPr>
            <a:r>
              <a:rPr lang="zh-CN" altLang="en-US" sz="2400" kern="0" dirty="0" smtClean="0"/>
              <a:t>采用延迟转移技术；</a:t>
            </a:r>
            <a:endParaRPr lang="en-US" altLang="zh-CN" sz="2400" kern="0" dirty="0" smtClean="0"/>
          </a:p>
          <a:p>
            <a:pPr eaLnBrk="1" hangingPunct="1">
              <a:lnSpc>
                <a:spcPct val="95000"/>
              </a:lnSpc>
              <a:defRPr/>
            </a:pPr>
            <a:r>
              <a:rPr lang="zh-CN" altLang="en-US" sz="2400" kern="0" dirty="0" smtClean="0"/>
              <a:t>采用</a:t>
            </a:r>
            <a:r>
              <a:rPr lang="en-US" altLang="zh-CN" sz="2400" kern="0" dirty="0" smtClean="0"/>
              <a:t>LOAD</a:t>
            </a:r>
            <a:r>
              <a:rPr lang="zh-CN" altLang="en-US" sz="2400" kern="0" dirty="0" smtClean="0"/>
              <a:t>延迟技术。</a:t>
            </a:r>
          </a:p>
        </p:txBody>
      </p:sp>
      <p:sp>
        <p:nvSpPr>
          <p:cNvPr id="6" name="Rectangle 2052"/>
          <p:cNvSpPr txBox="1">
            <a:spLocks noChangeArrowheads="1"/>
          </p:cNvSpPr>
          <p:nvPr/>
        </p:nvSpPr>
        <p:spPr bwMode="auto">
          <a:xfrm>
            <a:off x="5940152" y="2852937"/>
            <a:ext cx="2991238" cy="1872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n"/>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0" indent="0" eaLnBrk="1" hangingPunct="1">
              <a:lnSpc>
                <a:spcPct val="95000"/>
              </a:lnSpc>
              <a:buFont typeface="Wingdings" pitchFamily="2" charset="2"/>
              <a:buNone/>
              <a:defRPr/>
            </a:pPr>
            <a:r>
              <a:rPr lang="zh-CN" altLang="en-US" sz="2400" kern="0" dirty="0" smtClean="0">
                <a:solidFill>
                  <a:srgbClr val="0000CC"/>
                </a:solidFill>
              </a:rPr>
              <a:t>为实现后者应具有：</a:t>
            </a:r>
            <a:endParaRPr lang="en-US" altLang="zh-CN" sz="2400" kern="0" dirty="0" smtClean="0">
              <a:solidFill>
                <a:srgbClr val="0000CC"/>
              </a:solidFill>
            </a:endParaRPr>
          </a:p>
          <a:p>
            <a:pPr eaLnBrk="1" hangingPunct="1">
              <a:lnSpc>
                <a:spcPct val="95000"/>
              </a:lnSpc>
              <a:defRPr/>
            </a:pPr>
            <a:r>
              <a:rPr lang="zh-CN" altLang="en-US" sz="2400" kern="0" dirty="0" smtClean="0"/>
              <a:t>三地址指令格式；</a:t>
            </a:r>
            <a:endParaRPr lang="en-US" altLang="zh-CN" sz="2400" kern="0" dirty="0" smtClean="0"/>
          </a:p>
          <a:p>
            <a:pPr eaLnBrk="1" hangingPunct="1">
              <a:lnSpc>
                <a:spcPct val="95000"/>
              </a:lnSpc>
              <a:defRPr/>
            </a:pPr>
            <a:r>
              <a:rPr lang="zh-CN" altLang="en-US" sz="2400" kern="0" dirty="0" smtClean="0"/>
              <a:t>较多的寄存器；</a:t>
            </a:r>
            <a:endParaRPr lang="en-US" altLang="zh-CN" sz="2400" kern="0" dirty="0" smtClean="0"/>
          </a:p>
          <a:p>
            <a:pPr eaLnBrk="1" hangingPunct="1">
              <a:lnSpc>
                <a:spcPct val="95000"/>
              </a:lnSpc>
              <a:defRPr/>
            </a:pPr>
            <a:r>
              <a:rPr lang="zh-CN" altLang="en-US" sz="2400" kern="0" dirty="0" smtClean="0"/>
              <a:t>对称的指令格式。</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1026"/>
          <p:cNvSpPr>
            <a:spLocks noGrp="1" noChangeArrowheads="1"/>
          </p:cNvSpPr>
          <p:nvPr>
            <p:ph type="title"/>
          </p:nvPr>
        </p:nvSpPr>
        <p:spPr/>
        <p:txBody>
          <a:bodyPr/>
          <a:lstStyle/>
          <a:p>
            <a:pPr eaLnBrk="1" hangingPunct="1">
              <a:defRPr/>
            </a:pPr>
            <a:r>
              <a:rPr lang="en-US" altLang="zh-CN" smtClean="0"/>
              <a:t>RISC</a:t>
            </a:r>
            <a:r>
              <a:rPr lang="zh-CN" altLang="en-US" smtClean="0"/>
              <a:t>的思想</a:t>
            </a:r>
            <a:endParaRPr lang="en-US" altLang="zh-CN" smtClean="0"/>
          </a:p>
        </p:txBody>
      </p:sp>
      <p:sp>
        <p:nvSpPr>
          <p:cNvPr id="106499"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endParaRPr lang="zh-CN" altLang="en-US" sz="1200" b="0">
              <a:latin typeface="Times New Roman" pitchFamily="18" charset="0"/>
              <a:ea typeface="幼圆" pitchFamily="49" charset="-122"/>
            </a:endParaRPr>
          </a:p>
        </p:txBody>
      </p:sp>
      <p:sp>
        <p:nvSpPr>
          <p:cNvPr id="106500" name="Rectangle 1030"/>
          <p:cNvSpPr>
            <a:spLocks noGrp="1" noChangeArrowheads="1"/>
          </p:cNvSpPr>
          <p:nvPr>
            <p:ph type="body" idx="1"/>
          </p:nvPr>
        </p:nvSpPr>
        <p:spPr>
          <a:xfrm>
            <a:off x="809625" y="1916113"/>
            <a:ext cx="7958138" cy="2088951"/>
          </a:xfrm>
        </p:spPr>
        <p:txBody>
          <a:bodyPr/>
          <a:lstStyle/>
          <a:p>
            <a:pPr marL="0" indent="0" eaLnBrk="1" hangingPunct="1">
              <a:lnSpc>
                <a:spcPct val="130000"/>
              </a:lnSpc>
              <a:buFont typeface="Wingdings" pitchFamily="2" charset="2"/>
              <a:buNone/>
            </a:pPr>
            <a:r>
              <a:rPr lang="zh-CN" altLang="en-US" sz="2400" dirty="0" smtClean="0"/>
              <a:t>       减少指令总数和简化指令的功能来降低硬件设计的复杂度，提高指令的执行速度。</a:t>
            </a:r>
            <a:endParaRPr lang="en-US" altLang="zh-CN" sz="2400" dirty="0" smtClean="0"/>
          </a:p>
          <a:p>
            <a:pPr marL="0" indent="0" eaLnBrk="1" hangingPunct="1">
              <a:lnSpc>
                <a:spcPct val="130000"/>
              </a:lnSpc>
              <a:buFont typeface="Wingdings" pitchFamily="2" charset="2"/>
              <a:buNone/>
            </a:pPr>
            <a:r>
              <a:rPr lang="zh-CN" altLang="en-US" sz="2400" dirty="0" smtClean="0">
                <a:solidFill>
                  <a:srgbClr val="FF0000"/>
                </a:solidFill>
              </a:rPr>
              <a:t>特点：</a:t>
            </a:r>
            <a:r>
              <a:rPr lang="zh-CN" altLang="en-US" sz="2400" dirty="0" smtClean="0"/>
              <a:t>指令集简单，硬件实现容易</a:t>
            </a:r>
            <a:endParaRPr lang="en-US" altLang="zh-CN" sz="2400" dirty="0" smtClean="0"/>
          </a:p>
          <a:p>
            <a:pPr marL="0" indent="0" eaLnBrk="1" hangingPunct="1">
              <a:lnSpc>
                <a:spcPct val="130000"/>
              </a:lnSpc>
              <a:buFont typeface="Wingdings" pitchFamily="2" charset="2"/>
              <a:buNone/>
            </a:pPr>
            <a:r>
              <a:rPr lang="zh-CN" altLang="en-US" sz="2400" dirty="0">
                <a:solidFill>
                  <a:srgbClr val="FF0000"/>
                </a:solidFill>
              </a:rPr>
              <a:t>应用</a:t>
            </a:r>
            <a:r>
              <a:rPr lang="zh-CN" altLang="en-US" sz="2400" dirty="0" smtClean="0">
                <a:solidFill>
                  <a:srgbClr val="FF0000"/>
                </a:solidFill>
              </a:rPr>
              <a:t>：</a:t>
            </a:r>
            <a:r>
              <a:rPr lang="en-US" altLang="zh-CN" sz="2400" dirty="0" smtClean="0"/>
              <a:t>MIPS</a:t>
            </a:r>
            <a:r>
              <a:rPr lang="zh-CN" altLang="en-US" sz="2400" dirty="0" smtClean="0"/>
              <a:t>、</a:t>
            </a:r>
            <a:r>
              <a:rPr lang="en-US" altLang="zh-CN" sz="2400" dirty="0" smtClean="0"/>
              <a:t>SPARC</a:t>
            </a:r>
            <a:r>
              <a:rPr lang="zh-CN" altLang="en-US" sz="2400" dirty="0" smtClean="0"/>
              <a:t>、</a:t>
            </a:r>
            <a:r>
              <a:rPr lang="en-US" altLang="zh-CN" sz="2400" dirty="0" smtClean="0"/>
              <a:t>ARM</a:t>
            </a:r>
            <a:r>
              <a:rPr lang="zh-CN" altLang="en-US" sz="2400" dirty="0" smtClean="0"/>
              <a:t>、</a:t>
            </a:r>
            <a:r>
              <a:rPr lang="en-US" altLang="zh-CN" sz="2400" dirty="0" smtClean="0"/>
              <a:t>Power PC</a:t>
            </a:r>
            <a:r>
              <a:rPr lang="zh-CN" altLang="en-US" sz="2400" dirty="0" smtClean="0"/>
              <a:t>、</a:t>
            </a:r>
            <a:r>
              <a:rPr lang="en-US" altLang="zh-CN" sz="2400" dirty="0" smtClean="0"/>
              <a:t>RISC-V</a:t>
            </a:r>
            <a:r>
              <a:rPr lang="zh-CN" altLang="en-US" sz="2400" dirty="0" smtClean="0"/>
              <a:t>等</a:t>
            </a:r>
          </a:p>
        </p:txBody>
      </p:sp>
      <p:sp>
        <p:nvSpPr>
          <p:cNvPr id="355335" name="AutoShape 1031"/>
          <p:cNvSpPr>
            <a:spLocks noChangeArrowheads="1"/>
          </p:cNvSpPr>
          <p:nvPr/>
        </p:nvSpPr>
        <p:spPr bwMode="auto">
          <a:xfrm>
            <a:off x="3886200" y="4268688"/>
            <a:ext cx="4800600" cy="1752600"/>
          </a:xfrm>
          <a:prstGeom prst="cloudCallout">
            <a:avLst>
              <a:gd name="adj1" fmla="val -63060"/>
              <a:gd name="adj2" fmla="val -28440"/>
            </a:avLst>
          </a:prstGeom>
          <a:solidFill>
            <a:srgbClr val="FFFF00"/>
          </a:solidFill>
          <a:ln w="28575">
            <a:solidFill>
              <a:schemeClr val="tx1"/>
            </a:solidFill>
            <a:round/>
            <a:headEnd/>
            <a:tailEnd/>
          </a:ln>
          <a:effectLst>
            <a:outerShdw dist="107763" dir="2700000" algn="ctr" rotWithShape="0">
              <a:schemeClr val="bg2"/>
            </a:outerShdw>
          </a:effec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a:latin typeface="Times New Roman" pitchFamily="18" charset="0"/>
                <a:ea typeface="方正舒体" pitchFamily="2" charset="-122"/>
              </a:rPr>
              <a:t>减少指令平均执行周期数（</a:t>
            </a:r>
            <a:r>
              <a:rPr lang="en-US" altLang="zh-CN" sz="2400">
                <a:latin typeface="Times New Roman" pitchFamily="18" charset="0"/>
                <a:ea typeface="方正舒体" pitchFamily="2" charset="-122"/>
              </a:rPr>
              <a:t>CPI）</a:t>
            </a:r>
            <a:r>
              <a:rPr lang="zh-CN" altLang="en-US" sz="2400">
                <a:latin typeface="Times New Roman" pitchFamily="18" charset="0"/>
                <a:ea typeface="方正舒体" pitchFamily="2" charset="-122"/>
              </a:rPr>
              <a:t>是</a:t>
            </a:r>
            <a:r>
              <a:rPr lang="en-US" altLang="zh-CN" sz="2400">
                <a:latin typeface="Times New Roman" pitchFamily="18" charset="0"/>
                <a:ea typeface="方正舒体" pitchFamily="2" charset="-122"/>
              </a:rPr>
              <a:t>RISC</a:t>
            </a:r>
            <a:r>
              <a:rPr lang="zh-CN" altLang="en-US" sz="2400">
                <a:latin typeface="Times New Roman" pitchFamily="18" charset="0"/>
                <a:ea typeface="方正舒体" pitchFamily="2" charset="-122"/>
              </a:rPr>
              <a:t>思想的精华！</a:t>
            </a:r>
          </a:p>
        </p:txBody>
      </p:sp>
      <p:pic>
        <p:nvPicPr>
          <p:cNvPr id="106502" name="Picture 103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2000" y="4220741"/>
            <a:ext cx="2438400" cy="2160587"/>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355335"/>
                                        </p:tgtEl>
                                        <p:attrNameLst>
                                          <p:attrName>style.visibility</p:attrName>
                                        </p:attrNameLst>
                                      </p:cBhvr>
                                      <p:to>
                                        <p:strVal val="visible"/>
                                      </p:to>
                                    </p:set>
                                    <p:anim to="" calcmode="lin" valueType="num">
                                      <p:cBhvr>
                                        <p:cTn id="7" dur="1" fill="hold"/>
                                        <p:tgtEl>
                                          <p:spTgt spid="355335"/>
                                        </p:tgtEl>
                                        <p:attrNameLst>
                                          <p:attrName/>
                                        </p:attrNameLst>
                                      </p:cBhvr>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5" grpId="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pPr eaLnBrk="1" hangingPunct="1">
              <a:defRPr/>
            </a:pPr>
            <a:r>
              <a:rPr lang="en-US" altLang="zh-CN" smtClean="0"/>
              <a:t>RISC</a:t>
            </a:r>
            <a:r>
              <a:rPr lang="zh-CN" altLang="en-US" smtClean="0"/>
              <a:t>的关键技术</a:t>
            </a:r>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endParaRPr lang="zh-CN" altLang="en-US" sz="1200" b="0">
              <a:latin typeface="Times New Roman" pitchFamily="18" charset="0"/>
              <a:ea typeface="幼圆" pitchFamily="49" charset="-122"/>
            </a:endParaRPr>
          </a:p>
        </p:txBody>
      </p:sp>
      <p:sp>
        <p:nvSpPr>
          <p:cNvPr id="356356" name="Rectangle 4"/>
          <p:cNvSpPr>
            <a:spLocks noGrp="1" noChangeArrowheads="1"/>
          </p:cNvSpPr>
          <p:nvPr>
            <p:ph type="body" idx="1"/>
          </p:nvPr>
        </p:nvSpPr>
        <p:spPr>
          <a:xfrm>
            <a:off x="809625" y="1916113"/>
            <a:ext cx="7958138" cy="4321175"/>
          </a:xfrm>
        </p:spPr>
        <p:txBody>
          <a:bodyPr/>
          <a:lstStyle/>
          <a:p>
            <a:pPr marL="0" indent="0" eaLnBrk="1" hangingPunct="1">
              <a:lnSpc>
                <a:spcPct val="105000"/>
              </a:lnSpc>
              <a:buClr>
                <a:srgbClr val="FF0000"/>
              </a:buClr>
              <a:defRPr/>
            </a:pPr>
            <a:r>
              <a:rPr lang="zh-CN" altLang="en-US" sz="2800" dirty="0" smtClean="0">
                <a:solidFill>
                  <a:srgbClr val="FF0000"/>
                </a:solidFill>
                <a:effectLst>
                  <a:outerShdw blurRad="38100" dist="38100" dir="2700000" algn="tl">
                    <a:srgbClr val="C0C0C0"/>
                  </a:outerShdw>
                </a:effectLst>
              </a:rPr>
              <a:t>  硬件为主固件为辅</a:t>
            </a:r>
          </a:p>
          <a:p>
            <a:pPr marL="0" indent="0" eaLnBrk="1" hangingPunct="1">
              <a:lnSpc>
                <a:spcPct val="105000"/>
              </a:lnSpc>
              <a:buClr>
                <a:srgbClr val="FF0000"/>
              </a:buClr>
              <a:defRPr/>
            </a:pPr>
            <a:r>
              <a:rPr lang="zh-CN" altLang="en-US" sz="2800" dirty="0" smtClean="0">
                <a:solidFill>
                  <a:srgbClr val="FF0000"/>
                </a:solidFill>
                <a:effectLst>
                  <a:outerShdw blurRad="38100" dist="38100" dir="2700000" algn="tl">
                    <a:srgbClr val="C0C0C0"/>
                  </a:outerShdw>
                </a:effectLst>
              </a:rPr>
              <a:t>  在</a:t>
            </a:r>
            <a:r>
              <a:rPr lang="en-US" altLang="zh-CN" sz="2800" dirty="0" smtClean="0">
                <a:solidFill>
                  <a:srgbClr val="FF0000"/>
                </a:solidFill>
                <a:effectLst>
                  <a:outerShdw blurRad="38100" dist="38100" dir="2700000" algn="tl">
                    <a:srgbClr val="C0C0C0"/>
                  </a:outerShdw>
                </a:effectLst>
              </a:rPr>
              <a:t>CPU</a:t>
            </a:r>
            <a:r>
              <a:rPr lang="zh-CN" altLang="en-US" sz="2800" smtClean="0">
                <a:solidFill>
                  <a:srgbClr val="FF0000"/>
                </a:solidFill>
                <a:effectLst>
                  <a:outerShdw blurRad="38100" dist="38100" dir="2700000" algn="tl">
                    <a:srgbClr val="C0C0C0"/>
                  </a:outerShdw>
                </a:effectLst>
              </a:rPr>
              <a:t>中设置数量较大的寄存器组</a:t>
            </a:r>
          </a:p>
          <a:p>
            <a:pPr marL="0" indent="0" eaLnBrk="1" hangingPunct="1">
              <a:lnSpc>
                <a:spcPct val="105000"/>
              </a:lnSpc>
              <a:buFont typeface="Wingdings" pitchFamily="2" charset="2"/>
              <a:buNone/>
              <a:defRPr/>
            </a:pPr>
            <a:r>
              <a:rPr lang="zh-CN" altLang="en-US" sz="2800" dirty="0" smtClean="0"/>
              <a:t>    采用</a:t>
            </a:r>
            <a:r>
              <a:rPr lang="zh-CN" altLang="en-US" sz="2800" dirty="0" smtClean="0">
                <a:hlinkClick r:id="rId6" action="ppaction://hlinksldjump"/>
              </a:rPr>
              <a:t>重叠寄存器窗口技术</a:t>
            </a:r>
            <a:r>
              <a:rPr lang="zh-CN" altLang="en-US" sz="2800" dirty="0" smtClean="0"/>
              <a:t>提高使用效率。</a:t>
            </a:r>
          </a:p>
          <a:p>
            <a:pPr marL="0" indent="0" eaLnBrk="1" hangingPunct="1">
              <a:lnSpc>
                <a:spcPct val="105000"/>
              </a:lnSpc>
              <a:buClr>
                <a:srgbClr val="FF0000"/>
              </a:buClr>
              <a:defRPr/>
            </a:pPr>
            <a:r>
              <a:rPr lang="zh-CN" altLang="en-US" sz="2800" dirty="0" smtClean="0">
                <a:solidFill>
                  <a:srgbClr val="FF0000"/>
                </a:solidFill>
                <a:effectLst>
                  <a:outerShdw blurRad="38100" dist="38100" dir="2700000" algn="tl">
                    <a:srgbClr val="C0C0C0"/>
                  </a:outerShdw>
                </a:effectLst>
              </a:rPr>
              <a:t>  指令的执行采用流水</a:t>
            </a:r>
          </a:p>
          <a:p>
            <a:pPr marL="0" indent="0" eaLnBrk="1" hangingPunct="1">
              <a:lnSpc>
                <a:spcPct val="105000"/>
              </a:lnSpc>
              <a:buFont typeface="Wingdings" pitchFamily="2" charset="2"/>
              <a:buNone/>
              <a:defRPr/>
            </a:pPr>
            <a:r>
              <a:rPr lang="zh-CN" altLang="en-US" sz="2800" dirty="0" smtClean="0"/>
              <a:t>    采用</a:t>
            </a:r>
            <a:r>
              <a:rPr lang="zh-CN" altLang="en-US" sz="2800" dirty="0" smtClean="0">
                <a:hlinkClick r:id="rId7" action="ppaction://hlinksldjump"/>
              </a:rPr>
              <a:t>延时转移技术</a:t>
            </a:r>
            <a:r>
              <a:rPr lang="zh-CN" altLang="en-US" sz="2800" dirty="0" smtClean="0"/>
              <a:t>和</a:t>
            </a:r>
            <a:r>
              <a:rPr lang="zh-CN" altLang="en-US" sz="2800" dirty="0" smtClean="0">
                <a:hlinkClick r:id="rId8" action="ppaction://hlinksldjump"/>
              </a:rPr>
              <a:t>指令取消技术</a:t>
            </a:r>
            <a:r>
              <a:rPr lang="zh-CN" altLang="en-US" sz="2800" dirty="0" smtClean="0"/>
              <a:t>来降低（条件）转移指令对流水的影响。</a:t>
            </a:r>
          </a:p>
          <a:p>
            <a:pPr marL="0" indent="0" eaLnBrk="1" hangingPunct="1">
              <a:lnSpc>
                <a:spcPct val="105000"/>
              </a:lnSpc>
              <a:buClr>
                <a:srgbClr val="FF0000"/>
              </a:buClr>
              <a:defRPr/>
            </a:pPr>
            <a:r>
              <a:rPr lang="zh-CN" altLang="en-US" sz="2800" dirty="0" smtClean="0">
                <a:solidFill>
                  <a:srgbClr val="FF0000"/>
                </a:solidFill>
                <a:effectLst>
                  <a:outerShdw blurRad="38100" dist="38100" dir="2700000" algn="tl">
                    <a:srgbClr val="C0C0C0"/>
                  </a:outerShdw>
                </a:effectLst>
              </a:rPr>
              <a:t>  采用认真设计和优化编译系统设计的技术</a:t>
            </a:r>
          </a:p>
          <a:p>
            <a:pPr marL="0" indent="0" eaLnBrk="1" hangingPunct="1">
              <a:lnSpc>
                <a:spcPct val="105000"/>
              </a:lnSpc>
              <a:buFont typeface="Wingdings" pitchFamily="2" charset="2"/>
              <a:buNone/>
              <a:defRPr/>
            </a:pPr>
            <a:r>
              <a:rPr lang="zh-CN" altLang="en-US" sz="2800" dirty="0" smtClean="0"/>
              <a:t>    例如：</a:t>
            </a:r>
            <a:r>
              <a:rPr lang="zh-CN" altLang="en-US" sz="2800" dirty="0" smtClean="0">
                <a:hlinkClick r:id="rId9" action="ppaction://hlinksldjump"/>
              </a:rPr>
              <a:t>指令流调整技术</a:t>
            </a:r>
            <a:r>
              <a:rPr lang="zh-CN" altLang="en-US" sz="2800" dirty="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pPr eaLnBrk="1" hangingPunct="1">
              <a:defRPr/>
            </a:pPr>
            <a:r>
              <a:rPr lang="zh-CN" altLang="en-US" smtClean="0"/>
              <a:t>重叠寄存器窗口技术</a:t>
            </a:r>
          </a:p>
        </p:txBody>
      </p:sp>
      <p:sp>
        <p:nvSpPr>
          <p:cNvPr id="108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的关键技术</a:t>
            </a:r>
            <a:endParaRPr lang="zh-CN" altLang="en-US" sz="1200" b="0">
              <a:latin typeface="Times New Roman" pitchFamily="18" charset="0"/>
              <a:ea typeface="幼圆" pitchFamily="49" charset="-122"/>
            </a:endParaRPr>
          </a:p>
        </p:txBody>
      </p:sp>
      <p:sp>
        <p:nvSpPr>
          <p:cNvPr id="362501" name="Rectangle 5"/>
          <p:cNvSpPr>
            <a:spLocks noGrp="1" noChangeArrowheads="1"/>
          </p:cNvSpPr>
          <p:nvPr>
            <p:ph type="body" idx="1"/>
          </p:nvPr>
        </p:nvSpPr>
        <p:spPr/>
        <p:txBody>
          <a:bodyPr/>
          <a:lstStyle/>
          <a:p>
            <a:pPr marL="0" indent="0" eaLnBrk="1" hangingPunct="1">
              <a:buClr>
                <a:srgbClr val="FF0000"/>
              </a:buClr>
              <a:defRPr/>
            </a:pPr>
            <a:r>
              <a:rPr lang="zh-CN" altLang="en-US" sz="2200" dirty="0" smtClean="0">
                <a:solidFill>
                  <a:srgbClr val="FF0000"/>
                </a:solidFill>
                <a:effectLst>
                  <a:outerShdw blurRad="38100" dist="38100" dir="2700000" algn="tl">
                    <a:srgbClr val="C0C0C0"/>
                  </a:outerShdw>
                </a:effectLst>
              </a:rPr>
              <a:t>  目标：</a:t>
            </a:r>
            <a:r>
              <a:rPr lang="zh-CN" altLang="en-US" sz="2200" dirty="0" smtClean="0"/>
              <a:t>缩短</a:t>
            </a:r>
            <a:r>
              <a:rPr lang="en-US" altLang="zh-CN" sz="2200" dirty="0" smtClean="0"/>
              <a:t>CALL、RETURN</a:t>
            </a:r>
            <a:r>
              <a:rPr lang="zh-CN" altLang="en-US" sz="2200" dirty="0" smtClean="0"/>
              <a:t>操作时间。</a:t>
            </a:r>
          </a:p>
          <a:p>
            <a:pPr marL="0" indent="0" eaLnBrk="1" hangingPunct="1">
              <a:buClr>
                <a:srgbClr val="FF0000"/>
              </a:buClr>
              <a:defRPr/>
            </a:pPr>
            <a:r>
              <a:rPr lang="zh-CN" altLang="en-US" sz="2200" dirty="0" smtClean="0">
                <a:solidFill>
                  <a:srgbClr val="FF0000"/>
                </a:solidFill>
                <a:effectLst>
                  <a:outerShdw blurRad="38100" dist="38100" dir="2700000" algn="tl">
                    <a:srgbClr val="C0C0C0"/>
                  </a:outerShdw>
                </a:effectLst>
              </a:rPr>
              <a:t>  方法：</a:t>
            </a:r>
            <a:r>
              <a:rPr lang="zh-CN" altLang="en-US" sz="2200" dirty="0" smtClean="0"/>
              <a:t>将设置的大量的寄存器，分成多个组和一个全局区；每个组中分高、本、低三个区；相邻组的高、低区重叠；不同的过程使用不同的组和共享全局区，这样可以加速参数与结果的传递。</a:t>
            </a:r>
          </a:p>
          <a:p>
            <a:pPr marL="0" indent="0" eaLnBrk="1" hangingPunct="1">
              <a:buClr>
                <a:srgbClr val="FF0000"/>
              </a:buClr>
              <a:defRPr/>
            </a:pPr>
            <a:r>
              <a:rPr lang="zh-CN" altLang="en-US" sz="2200" dirty="0" smtClean="0">
                <a:solidFill>
                  <a:srgbClr val="FF0000"/>
                </a:solidFill>
                <a:effectLst>
                  <a:outerShdw blurRad="38100" dist="38100" dir="2700000" algn="tl">
                    <a:srgbClr val="C0C0C0"/>
                  </a:outerShdw>
                </a:effectLst>
              </a:rPr>
              <a:t>  例子：</a:t>
            </a:r>
            <a:r>
              <a:rPr lang="en-US" altLang="zh-CN" sz="2200" dirty="0" smtClean="0"/>
              <a:t>RISC II</a:t>
            </a:r>
            <a:r>
              <a:rPr lang="zh-CN" altLang="en-US" sz="2200" dirty="0" smtClean="0"/>
              <a:t>中采用的重叠寄存器窗口，见</a:t>
            </a:r>
            <a:r>
              <a:rPr lang="zh-CN" altLang="en-US" sz="2200" dirty="0" smtClean="0">
                <a:hlinkClick r:id="rId7" action="ppaction://hlinksldjump"/>
              </a:rPr>
              <a:t>后图</a:t>
            </a:r>
            <a:r>
              <a:rPr lang="zh-CN" altLang="en-US" sz="2200" dirty="0" smtClean="0"/>
              <a:t>。共有</a:t>
            </a:r>
            <a:r>
              <a:rPr lang="en-US" altLang="zh-CN" sz="2200" dirty="0"/>
              <a:t>138</a:t>
            </a:r>
            <a:r>
              <a:rPr lang="zh-CN" altLang="en-US" sz="2200" dirty="0"/>
              <a:t>个寄存器，分成</a:t>
            </a:r>
            <a:r>
              <a:rPr lang="en-US" altLang="zh-CN" sz="2200" dirty="0"/>
              <a:t>17</a:t>
            </a:r>
            <a:r>
              <a:rPr lang="zh-CN" altLang="en-US" sz="2200" dirty="0"/>
              <a:t>个窗口</a:t>
            </a:r>
            <a:r>
              <a:rPr lang="zh-CN" altLang="en-US" sz="2200" dirty="0" smtClean="0"/>
              <a:t>。</a:t>
            </a:r>
            <a:endParaRPr lang="en-US" altLang="zh-CN" sz="2200" dirty="0" smtClean="0"/>
          </a:p>
          <a:p>
            <a:pPr lvl="1" eaLnBrk="1" hangingPunct="1">
              <a:buClr>
                <a:srgbClr val="3333FF"/>
              </a:buClr>
              <a:buFont typeface="Wingdings" panose="05000000000000000000" pitchFamily="2" charset="2"/>
              <a:buChar char="l"/>
              <a:defRPr/>
            </a:pPr>
            <a:r>
              <a:rPr lang="en-US" altLang="zh-CN" sz="2200" dirty="0" smtClean="0">
                <a:solidFill>
                  <a:srgbClr val="3333FF"/>
                </a:solidFill>
              </a:rPr>
              <a:t>1</a:t>
            </a:r>
            <a:r>
              <a:rPr lang="zh-CN" altLang="en-US" sz="2200" dirty="0" smtClean="0">
                <a:solidFill>
                  <a:srgbClr val="3333FF"/>
                </a:solidFill>
              </a:rPr>
              <a:t>个全局窗口</a:t>
            </a:r>
            <a:r>
              <a:rPr lang="zh-CN" altLang="en-US" sz="2200" dirty="0" smtClean="0"/>
              <a:t>：</a:t>
            </a:r>
            <a:r>
              <a:rPr lang="en-US" altLang="zh-CN" sz="2200" dirty="0" smtClean="0"/>
              <a:t>10</a:t>
            </a:r>
            <a:r>
              <a:rPr lang="zh-CN" altLang="en-US" sz="2200" dirty="0"/>
              <a:t>个寄存器</a:t>
            </a:r>
            <a:r>
              <a:rPr lang="zh-CN" altLang="en-US" sz="2200" dirty="0" smtClean="0"/>
              <a:t>组成，能</a:t>
            </a:r>
            <a:r>
              <a:rPr lang="zh-CN" altLang="en-US" sz="2200" dirty="0"/>
              <a:t>被所有过程访问</a:t>
            </a:r>
            <a:r>
              <a:rPr lang="zh-CN" altLang="en-US" sz="2200" dirty="0" smtClean="0"/>
              <a:t>；</a:t>
            </a:r>
            <a:endParaRPr lang="en-US" altLang="zh-CN" sz="2200" dirty="0" smtClean="0"/>
          </a:p>
          <a:p>
            <a:pPr lvl="1" eaLnBrk="1" hangingPunct="1">
              <a:buClr>
                <a:srgbClr val="3333FF"/>
              </a:buClr>
              <a:buFont typeface="Wingdings" panose="05000000000000000000" pitchFamily="2" charset="2"/>
              <a:buChar char="l"/>
              <a:defRPr/>
            </a:pPr>
            <a:r>
              <a:rPr lang="en-US" altLang="zh-CN" sz="2200" dirty="0">
                <a:solidFill>
                  <a:srgbClr val="3333FF"/>
                </a:solidFill>
              </a:rPr>
              <a:t>8</a:t>
            </a:r>
            <a:r>
              <a:rPr lang="zh-CN" altLang="en-US" sz="2200" dirty="0">
                <a:solidFill>
                  <a:srgbClr val="3333FF"/>
                </a:solidFill>
              </a:rPr>
              <a:t>个局部窗口</a:t>
            </a:r>
            <a:r>
              <a:rPr lang="zh-CN" altLang="en-US" sz="2200" dirty="0" smtClean="0"/>
              <a:t>：各</a:t>
            </a:r>
            <a:r>
              <a:rPr lang="en-US" altLang="zh-CN" sz="2200" dirty="0"/>
              <a:t>10</a:t>
            </a:r>
            <a:r>
              <a:rPr lang="zh-CN" altLang="en-US" sz="2200" dirty="0"/>
              <a:t>个寄存器</a:t>
            </a:r>
            <a:r>
              <a:rPr lang="zh-CN" altLang="en-US" sz="2200" dirty="0" smtClean="0"/>
              <a:t>，作为</a:t>
            </a:r>
            <a:r>
              <a:rPr lang="en-US" altLang="zh-CN" sz="2200" dirty="0"/>
              <a:t>8</a:t>
            </a:r>
            <a:r>
              <a:rPr lang="zh-CN" altLang="en-US" sz="2200" dirty="0"/>
              <a:t>个过程的局部寄存器</a:t>
            </a:r>
            <a:r>
              <a:rPr lang="zh-CN" altLang="en-US" sz="2200" dirty="0" smtClean="0"/>
              <a:t>；</a:t>
            </a:r>
            <a:endParaRPr lang="en-US" altLang="zh-CN" sz="2200" dirty="0" smtClean="0"/>
          </a:p>
          <a:p>
            <a:pPr lvl="1" eaLnBrk="1" hangingPunct="1">
              <a:buClr>
                <a:srgbClr val="3333FF"/>
              </a:buClr>
              <a:buFont typeface="Wingdings" panose="05000000000000000000" pitchFamily="2" charset="2"/>
              <a:buChar char="l"/>
              <a:defRPr/>
            </a:pPr>
            <a:r>
              <a:rPr lang="en-US" altLang="zh-CN" sz="2200" dirty="0">
                <a:solidFill>
                  <a:srgbClr val="3333FF"/>
                </a:solidFill>
              </a:rPr>
              <a:t>8</a:t>
            </a:r>
            <a:r>
              <a:rPr lang="zh-CN" altLang="en-US" sz="2200" dirty="0">
                <a:solidFill>
                  <a:srgbClr val="3333FF"/>
                </a:solidFill>
              </a:rPr>
              <a:t>个重叠窗口</a:t>
            </a:r>
            <a:r>
              <a:rPr lang="zh-CN" altLang="en-US" sz="2200" dirty="0" smtClean="0"/>
              <a:t>：各</a:t>
            </a:r>
            <a:r>
              <a:rPr lang="zh-CN" altLang="en-US" sz="2200" dirty="0"/>
              <a:t>有</a:t>
            </a:r>
            <a:r>
              <a:rPr lang="en-US" altLang="zh-CN" sz="2200" dirty="0"/>
              <a:t>6</a:t>
            </a:r>
            <a:r>
              <a:rPr lang="zh-CN" altLang="en-US" sz="2200" dirty="0"/>
              <a:t>个寄存器，是相邻两个过程公用</a:t>
            </a:r>
            <a:r>
              <a:rPr lang="zh-CN" altLang="en-US" sz="2200" dirty="0" smtClean="0"/>
              <a:t>的；</a:t>
            </a:r>
            <a:endParaRPr lang="en-US" altLang="zh-CN" sz="2200" dirty="0" smtClean="0"/>
          </a:p>
          <a:p>
            <a:pPr lvl="1" eaLnBrk="1" hangingPunct="1">
              <a:buClr>
                <a:srgbClr val="3333FF"/>
              </a:buClr>
              <a:buFont typeface="Wingdings" panose="05000000000000000000" pitchFamily="2" charset="2"/>
              <a:buChar char="l"/>
              <a:defRPr/>
            </a:pPr>
            <a:r>
              <a:rPr lang="zh-CN" altLang="en-US" sz="2200" dirty="0" smtClean="0"/>
              <a:t>每个</a:t>
            </a:r>
            <a:r>
              <a:rPr lang="zh-CN" altLang="en-US" sz="2200" dirty="0"/>
              <a:t>过程均可以访问</a:t>
            </a:r>
            <a:r>
              <a:rPr lang="en-US" altLang="zh-CN" sz="2200" dirty="0"/>
              <a:t>32</a:t>
            </a:r>
            <a:r>
              <a:rPr lang="zh-CN" altLang="en-US" sz="2200" dirty="0"/>
              <a:t>个</a:t>
            </a:r>
            <a:r>
              <a:rPr lang="zh-CN" altLang="en-US" sz="2200" dirty="0" smtClean="0"/>
              <a:t>寄存器。</a:t>
            </a:r>
          </a:p>
        </p:txBody>
      </p:sp>
      <p:sp>
        <p:nvSpPr>
          <p:cNvPr id="10854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Text Box 6"/>
          <p:cNvSpPr txBox="1">
            <a:spLocks noChangeArrowheads="1"/>
          </p:cNvSpPr>
          <p:nvPr/>
        </p:nvSpPr>
        <p:spPr bwMode="auto">
          <a:xfrm>
            <a:off x="8001000" y="990600"/>
            <a:ext cx="546100" cy="47244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t>RISC II</a:t>
            </a:r>
            <a:r>
              <a:rPr lang="zh-CN" altLang="en-US" sz="2400"/>
              <a:t>中采用的重叠寄存器窗口</a:t>
            </a:r>
          </a:p>
        </p:txBody>
      </p:sp>
      <p:sp>
        <p:nvSpPr>
          <p:cNvPr id="109571" name="Text Box 3"/>
          <p:cNvSpPr txBox="1">
            <a:spLocks noChangeArrowheads="1"/>
          </p:cNvSpPr>
          <p:nvPr/>
        </p:nvSpPr>
        <p:spPr bwMode="auto">
          <a:xfrm>
            <a:off x="2378075" y="1855788"/>
            <a:ext cx="3276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endParaRPr lang="zh-CN" altLang="en-US"/>
          </a:p>
        </p:txBody>
      </p:sp>
      <p:sp>
        <p:nvSpPr>
          <p:cNvPr id="109572" name="Rectangle 9"/>
          <p:cNvSpPr>
            <a:spLocks noChangeArrowheads="1"/>
          </p:cNvSpPr>
          <p:nvPr/>
        </p:nvSpPr>
        <p:spPr bwMode="auto">
          <a:xfrm>
            <a:off x="1235075" y="484188"/>
            <a:ext cx="1143000" cy="5334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73" name="Rectangle 10"/>
          <p:cNvSpPr>
            <a:spLocks noChangeArrowheads="1"/>
          </p:cNvSpPr>
          <p:nvPr/>
        </p:nvSpPr>
        <p:spPr bwMode="auto">
          <a:xfrm>
            <a:off x="1235075" y="1017588"/>
            <a:ext cx="1143000" cy="762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74" name="Rectangle 11"/>
          <p:cNvSpPr>
            <a:spLocks noChangeArrowheads="1"/>
          </p:cNvSpPr>
          <p:nvPr/>
        </p:nvSpPr>
        <p:spPr bwMode="auto">
          <a:xfrm>
            <a:off x="1235075" y="1779588"/>
            <a:ext cx="1143000" cy="5334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75" name="Rectangle 12"/>
          <p:cNvSpPr>
            <a:spLocks noChangeArrowheads="1"/>
          </p:cNvSpPr>
          <p:nvPr/>
        </p:nvSpPr>
        <p:spPr bwMode="auto">
          <a:xfrm>
            <a:off x="1235075" y="4903788"/>
            <a:ext cx="1143000" cy="8382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76" name="Rectangle 17"/>
          <p:cNvSpPr>
            <a:spLocks noChangeArrowheads="1"/>
          </p:cNvSpPr>
          <p:nvPr/>
        </p:nvSpPr>
        <p:spPr bwMode="auto">
          <a:xfrm>
            <a:off x="6172200" y="3048000"/>
            <a:ext cx="990600" cy="53340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77" name="Text Box 18"/>
          <p:cNvSpPr txBox="1">
            <a:spLocks noChangeArrowheads="1"/>
          </p:cNvSpPr>
          <p:nvPr/>
        </p:nvSpPr>
        <p:spPr bwMode="auto">
          <a:xfrm>
            <a:off x="6156325" y="2976563"/>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R31C</a:t>
            </a:r>
          </a:p>
        </p:txBody>
      </p:sp>
      <p:sp>
        <p:nvSpPr>
          <p:cNvPr id="109578" name="Text Box 19"/>
          <p:cNvSpPr txBox="1">
            <a:spLocks noChangeArrowheads="1"/>
          </p:cNvSpPr>
          <p:nvPr/>
        </p:nvSpPr>
        <p:spPr bwMode="auto">
          <a:xfrm>
            <a:off x="6207125" y="3184525"/>
            <a:ext cx="396875"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579" name="Text Box 20"/>
          <p:cNvSpPr txBox="1">
            <a:spLocks noChangeArrowheads="1"/>
          </p:cNvSpPr>
          <p:nvPr/>
        </p:nvSpPr>
        <p:spPr bwMode="auto">
          <a:xfrm>
            <a:off x="6172200" y="3327400"/>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R26C</a:t>
            </a:r>
          </a:p>
        </p:txBody>
      </p:sp>
      <p:sp>
        <p:nvSpPr>
          <p:cNvPr id="109580" name="Rectangle 21"/>
          <p:cNvSpPr>
            <a:spLocks noChangeArrowheads="1"/>
          </p:cNvSpPr>
          <p:nvPr/>
        </p:nvSpPr>
        <p:spPr bwMode="auto">
          <a:xfrm>
            <a:off x="6172200" y="3581400"/>
            <a:ext cx="990600" cy="73183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81" name="Text Box 22"/>
          <p:cNvSpPr txBox="1">
            <a:spLocks noChangeArrowheads="1"/>
          </p:cNvSpPr>
          <p:nvPr/>
        </p:nvSpPr>
        <p:spPr bwMode="auto">
          <a:xfrm>
            <a:off x="6156325" y="3556000"/>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R25C</a:t>
            </a:r>
          </a:p>
        </p:txBody>
      </p:sp>
      <p:sp>
        <p:nvSpPr>
          <p:cNvPr id="109582" name="Text Box 23"/>
          <p:cNvSpPr txBox="1">
            <a:spLocks noChangeArrowheads="1"/>
          </p:cNvSpPr>
          <p:nvPr/>
        </p:nvSpPr>
        <p:spPr bwMode="auto">
          <a:xfrm>
            <a:off x="6207125" y="3840163"/>
            <a:ext cx="396875"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583" name="Text Box 24"/>
          <p:cNvSpPr txBox="1">
            <a:spLocks noChangeArrowheads="1"/>
          </p:cNvSpPr>
          <p:nvPr/>
        </p:nvSpPr>
        <p:spPr bwMode="auto">
          <a:xfrm>
            <a:off x="6172200" y="4013200"/>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R16C</a:t>
            </a:r>
          </a:p>
        </p:txBody>
      </p:sp>
      <p:sp>
        <p:nvSpPr>
          <p:cNvPr id="109584" name="Text Box 25"/>
          <p:cNvSpPr txBox="1">
            <a:spLocks noChangeArrowheads="1"/>
          </p:cNvSpPr>
          <p:nvPr/>
        </p:nvSpPr>
        <p:spPr bwMode="auto">
          <a:xfrm>
            <a:off x="6775450" y="3071813"/>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高</a:t>
            </a:r>
          </a:p>
        </p:txBody>
      </p:sp>
      <p:sp>
        <p:nvSpPr>
          <p:cNvPr id="109585" name="Text Box 26"/>
          <p:cNvSpPr txBox="1">
            <a:spLocks noChangeArrowheads="1"/>
          </p:cNvSpPr>
          <p:nvPr/>
        </p:nvSpPr>
        <p:spPr bwMode="auto">
          <a:xfrm>
            <a:off x="6750050" y="3768725"/>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本</a:t>
            </a:r>
          </a:p>
        </p:txBody>
      </p:sp>
      <p:sp>
        <p:nvSpPr>
          <p:cNvPr id="109586" name="Rectangle 27"/>
          <p:cNvSpPr>
            <a:spLocks noChangeArrowheads="1"/>
          </p:cNvSpPr>
          <p:nvPr/>
        </p:nvSpPr>
        <p:spPr bwMode="auto">
          <a:xfrm>
            <a:off x="6172200" y="4313238"/>
            <a:ext cx="990600" cy="5334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87" name="Text Box 28"/>
          <p:cNvSpPr txBox="1">
            <a:spLocks noChangeArrowheads="1"/>
          </p:cNvSpPr>
          <p:nvPr/>
        </p:nvSpPr>
        <p:spPr bwMode="auto">
          <a:xfrm>
            <a:off x="6156325" y="4271963"/>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R15C</a:t>
            </a:r>
          </a:p>
        </p:txBody>
      </p:sp>
      <p:sp>
        <p:nvSpPr>
          <p:cNvPr id="109588" name="Text Box 29"/>
          <p:cNvSpPr txBox="1">
            <a:spLocks noChangeArrowheads="1"/>
          </p:cNvSpPr>
          <p:nvPr/>
        </p:nvSpPr>
        <p:spPr bwMode="auto">
          <a:xfrm>
            <a:off x="6207125" y="4479925"/>
            <a:ext cx="396875"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589" name="Text Box 30"/>
          <p:cNvSpPr txBox="1">
            <a:spLocks noChangeArrowheads="1"/>
          </p:cNvSpPr>
          <p:nvPr/>
        </p:nvSpPr>
        <p:spPr bwMode="auto">
          <a:xfrm>
            <a:off x="6172200" y="4592638"/>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R10C</a:t>
            </a:r>
          </a:p>
        </p:txBody>
      </p:sp>
      <p:sp>
        <p:nvSpPr>
          <p:cNvPr id="109590" name="Text Box 31"/>
          <p:cNvSpPr txBox="1">
            <a:spLocks noChangeArrowheads="1"/>
          </p:cNvSpPr>
          <p:nvPr/>
        </p:nvSpPr>
        <p:spPr bwMode="auto">
          <a:xfrm>
            <a:off x="6750050" y="4394200"/>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低</a:t>
            </a:r>
          </a:p>
        </p:txBody>
      </p:sp>
      <p:sp>
        <p:nvSpPr>
          <p:cNvPr id="109591" name="Text Box 32"/>
          <p:cNvSpPr txBox="1">
            <a:spLocks noChangeArrowheads="1"/>
          </p:cNvSpPr>
          <p:nvPr/>
        </p:nvSpPr>
        <p:spPr bwMode="auto">
          <a:xfrm>
            <a:off x="6248400" y="2686050"/>
            <a:ext cx="879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过程</a:t>
            </a:r>
            <a:r>
              <a:rPr lang="en-US" altLang="zh-CN" sz="2000"/>
              <a:t>C</a:t>
            </a:r>
          </a:p>
        </p:txBody>
      </p:sp>
      <p:sp>
        <p:nvSpPr>
          <p:cNvPr id="109592" name="Rectangle 33"/>
          <p:cNvSpPr>
            <a:spLocks noChangeArrowheads="1"/>
          </p:cNvSpPr>
          <p:nvPr/>
        </p:nvSpPr>
        <p:spPr bwMode="auto">
          <a:xfrm>
            <a:off x="3063875" y="514350"/>
            <a:ext cx="990600" cy="5334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93" name="Text Box 34"/>
          <p:cNvSpPr txBox="1">
            <a:spLocks noChangeArrowheads="1"/>
          </p:cNvSpPr>
          <p:nvPr/>
        </p:nvSpPr>
        <p:spPr bwMode="auto">
          <a:xfrm>
            <a:off x="3048000" y="442913"/>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R31A</a:t>
            </a:r>
          </a:p>
        </p:txBody>
      </p:sp>
      <p:sp>
        <p:nvSpPr>
          <p:cNvPr id="109594" name="Text Box 35"/>
          <p:cNvSpPr txBox="1">
            <a:spLocks noChangeArrowheads="1"/>
          </p:cNvSpPr>
          <p:nvPr/>
        </p:nvSpPr>
        <p:spPr bwMode="auto">
          <a:xfrm>
            <a:off x="3098800" y="650875"/>
            <a:ext cx="396875"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595" name="Text Box 36"/>
          <p:cNvSpPr txBox="1">
            <a:spLocks noChangeArrowheads="1"/>
          </p:cNvSpPr>
          <p:nvPr/>
        </p:nvSpPr>
        <p:spPr bwMode="auto">
          <a:xfrm>
            <a:off x="3063875" y="793750"/>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R26A</a:t>
            </a:r>
          </a:p>
        </p:txBody>
      </p:sp>
      <p:sp>
        <p:nvSpPr>
          <p:cNvPr id="109596" name="Rectangle 37"/>
          <p:cNvSpPr>
            <a:spLocks noChangeArrowheads="1"/>
          </p:cNvSpPr>
          <p:nvPr/>
        </p:nvSpPr>
        <p:spPr bwMode="auto">
          <a:xfrm>
            <a:off x="3063875" y="1047750"/>
            <a:ext cx="990600" cy="73183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597" name="Text Box 38"/>
          <p:cNvSpPr txBox="1">
            <a:spLocks noChangeArrowheads="1"/>
          </p:cNvSpPr>
          <p:nvPr/>
        </p:nvSpPr>
        <p:spPr bwMode="auto">
          <a:xfrm>
            <a:off x="3048000" y="1022350"/>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R25A</a:t>
            </a:r>
          </a:p>
        </p:txBody>
      </p:sp>
      <p:sp>
        <p:nvSpPr>
          <p:cNvPr id="109598" name="Text Box 39"/>
          <p:cNvSpPr txBox="1">
            <a:spLocks noChangeArrowheads="1"/>
          </p:cNvSpPr>
          <p:nvPr/>
        </p:nvSpPr>
        <p:spPr bwMode="auto">
          <a:xfrm>
            <a:off x="3098800" y="1306513"/>
            <a:ext cx="396875"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599" name="Text Box 40"/>
          <p:cNvSpPr txBox="1">
            <a:spLocks noChangeArrowheads="1"/>
          </p:cNvSpPr>
          <p:nvPr/>
        </p:nvSpPr>
        <p:spPr bwMode="auto">
          <a:xfrm>
            <a:off x="3063875" y="1479550"/>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R16A</a:t>
            </a:r>
          </a:p>
        </p:txBody>
      </p:sp>
      <p:sp>
        <p:nvSpPr>
          <p:cNvPr id="109600" name="Text Box 41"/>
          <p:cNvSpPr txBox="1">
            <a:spLocks noChangeArrowheads="1"/>
          </p:cNvSpPr>
          <p:nvPr/>
        </p:nvSpPr>
        <p:spPr bwMode="auto">
          <a:xfrm>
            <a:off x="3667125" y="538163"/>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高</a:t>
            </a:r>
          </a:p>
        </p:txBody>
      </p:sp>
      <p:sp>
        <p:nvSpPr>
          <p:cNvPr id="109601" name="Text Box 42"/>
          <p:cNvSpPr txBox="1">
            <a:spLocks noChangeArrowheads="1"/>
          </p:cNvSpPr>
          <p:nvPr/>
        </p:nvSpPr>
        <p:spPr bwMode="auto">
          <a:xfrm>
            <a:off x="3641725" y="1235075"/>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本</a:t>
            </a:r>
          </a:p>
        </p:txBody>
      </p:sp>
      <p:sp>
        <p:nvSpPr>
          <p:cNvPr id="109602" name="Rectangle 43"/>
          <p:cNvSpPr>
            <a:spLocks noChangeArrowheads="1"/>
          </p:cNvSpPr>
          <p:nvPr/>
        </p:nvSpPr>
        <p:spPr bwMode="auto">
          <a:xfrm>
            <a:off x="3063875" y="1779588"/>
            <a:ext cx="990600" cy="5334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03" name="Text Box 44"/>
          <p:cNvSpPr txBox="1">
            <a:spLocks noChangeArrowheads="1"/>
          </p:cNvSpPr>
          <p:nvPr/>
        </p:nvSpPr>
        <p:spPr bwMode="auto">
          <a:xfrm>
            <a:off x="3048000" y="1738313"/>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R15A</a:t>
            </a:r>
          </a:p>
        </p:txBody>
      </p:sp>
      <p:sp>
        <p:nvSpPr>
          <p:cNvPr id="109604" name="Text Box 45"/>
          <p:cNvSpPr txBox="1">
            <a:spLocks noChangeArrowheads="1"/>
          </p:cNvSpPr>
          <p:nvPr/>
        </p:nvSpPr>
        <p:spPr bwMode="auto">
          <a:xfrm>
            <a:off x="3098800" y="1946275"/>
            <a:ext cx="396875"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605" name="Text Box 46"/>
          <p:cNvSpPr txBox="1">
            <a:spLocks noChangeArrowheads="1"/>
          </p:cNvSpPr>
          <p:nvPr/>
        </p:nvSpPr>
        <p:spPr bwMode="auto">
          <a:xfrm>
            <a:off x="3063875" y="2058988"/>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R10A</a:t>
            </a:r>
          </a:p>
        </p:txBody>
      </p:sp>
      <p:sp>
        <p:nvSpPr>
          <p:cNvPr id="109606" name="Text Box 47"/>
          <p:cNvSpPr txBox="1">
            <a:spLocks noChangeArrowheads="1"/>
          </p:cNvSpPr>
          <p:nvPr/>
        </p:nvSpPr>
        <p:spPr bwMode="auto">
          <a:xfrm>
            <a:off x="3641725" y="1860550"/>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低</a:t>
            </a:r>
          </a:p>
        </p:txBody>
      </p:sp>
      <p:sp>
        <p:nvSpPr>
          <p:cNvPr id="109607" name="Text Box 48"/>
          <p:cNvSpPr txBox="1">
            <a:spLocks noChangeArrowheads="1"/>
          </p:cNvSpPr>
          <p:nvPr/>
        </p:nvSpPr>
        <p:spPr bwMode="auto">
          <a:xfrm>
            <a:off x="3140075" y="152400"/>
            <a:ext cx="879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过程</a:t>
            </a:r>
            <a:r>
              <a:rPr lang="en-US" altLang="zh-CN" sz="2000"/>
              <a:t>A</a:t>
            </a:r>
          </a:p>
        </p:txBody>
      </p:sp>
      <p:sp>
        <p:nvSpPr>
          <p:cNvPr id="109608" name="Rectangle 49"/>
          <p:cNvSpPr>
            <a:spLocks noChangeArrowheads="1"/>
          </p:cNvSpPr>
          <p:nvPr/>
        </p:nvSpPr>
        <p:spPr bwMode="auto">
          <a:xfrm>
            <a:off x="4572000" y="1766888"/>
            <a:ext cx="990600" cy="5334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09" name="Text Box 50"/>
          <p:cNvSpPr txBox="1">
            <a:spLocks noChangeArrowheads="1"/>
          </p:cNvSpPr>
          <p:nvPr/>
        </p:nvSpPr>
        <p:spPr bwMode="auto">
          <a:xfrm>
            <a:off x="4556125" y="1695450"/>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R31B</a:t>
            </a:r>
          </a:p>
        </p:txBody>
      </p:sp>
      <p:sp>
        <p:nvSpPr>
          <p:cNvPr id="109610" name="Text Box 51"/>
          <p:cNvSpPr txBox="1">
            <a:spLocks noChangeArrowheads="1"/>
          </p:cNvSpPr>
          <p:nvPr/>
        </p:nvSpPr>
        <p:spPr bwMode="auto">
          <a:xfrm>
            <a:off x="4606925" y="1903413"/>
            <a:ext cx="396875"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611" name="Text Box 52"/>
          <p:cNvSpPr txBox="1">
            <a:spLocks noChangeArrowheads="1"/>
          </p:cNvSpPr>
          <p:nvPr/>
        </p:nvSpPr>
        <p:spPr bwMode="auto">
          <a:xfrm>
            <a:off x="4572000" y="2046288"/>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R26B</a:t>
            </a:r>
          </a:p>
        </p:txBody>
      </p:sp>
      <p:sp>
        <p:nvSpPr>
          <p:cNvPr id="109612" name="Rectangle 53"/>
          <p:cNvSpPr>
            <a:spLocks noChangeArrowheads="1"/>
          </p:cNvSpPr>
          <p:nvPr/>
        </p:nvSpPr>
        <p:spPr bwMode="auto">
          <a:xfrm>
            <a:off x="4572000" y="2300288"/>
            <a:ext cx="990600" cy="73183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13" name="Text Box 54"/>
          <p:cNvSpPr txBox="1">
            <a:spLocks noChangeArrowheads="1"/>
          </p:cNvSpPr>
          <p:nvPr/>
        </p:nvSpPr>
        <p:spPr bwMode="auto">
          <a:xfrm>
            <a:off x="4556125" y="2274888"/>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R25B</a:t>
            </a:r>
          </a:p>
        </p:txBody>
      </p:sp>
      <p:sp>
        <p:nvSpPr>
          <p:cNvPr id="109614" name="Text Box 55"/>
          <p:cNvSpPr txBox="1">
            <a:spLocks noChangeArrowheads="1"/>
          </p:cNvSpPr>
          <p:nvPr/>
        </p:nvSpPr>
        <p:spPr bwMode="auto">
          <a:xfrm>
            <a:off x="4606925" y="2559050"/>
            <a:ext cx="396875"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615" name="Text Box 56"/>
          <p:cNvSpPr txBox="1">
            <a:spLocks noChangeArrowheads="1"/>
          </p:cNvSpPr>
          <p:nvPr/>
        </p:nvSpPr>
        <p:spPr bwMode="auto">
          <a:xfrm>
            <a:off x="4572000" y="2732088"/>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R16B</a:t>
            </a:r>
          </a:p>
        </p:txBody>
      </p:sp>
      <p:sp>
        <p:nvSpPr>
          <p:cNvPr id="109616" name="Text Box 57"/>
          <p:cNvSpPr txBox="1">
            <a:spLocks noChangeArrowheads="1"/>
          </p:cNvSpPr>
          <p:nvPr/>
        </p:nvSpPr>
        <p:spPr bwMode="auto">
          <a:xfrm>
            <a:off x="5175250" y="1790700"/>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高</a:t>
            </a:r>
          </a:p>
        </p:txBody>
      </p:sp>
      <p:sp>
        <p:nvSpPr>
          <p:cNvPr id="109617" name="Text Box 58"/>
          <p:cNvSpPr txBox="1">
            <a:spLocks noChangeArrowheads="1"/>
          </p:cNvSpPr>
          <p:nvPr/>
        </p:nvSpPr>
        <p:spPr bwMode="auto">
          <a:xfrm>
            <a:off x="5149850" y="2487613"/>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本</a:t>
            </a:r>
          </a:p>
        </p:txBody>
      </p:sp>
      <p:sp>
        <p:nvSpPr>
          <p:cNvPr id="109618" name="Rectangle 59"/>
          <p:cNvSpPr>
            <a:spLocks noChangeArrowheads="1"/>
          </p:cNvSpPr>
          <p:nvPr/>
        </p:nvSpPr>
        <p:spPr bwMode="auto">
          <a:xfrm>
            <a:off x="4572000" y="3032125"/>
            <a:ext cx="990600" cy="53340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19" name="Text Box 60"/>
          <p:cNvSpPr txBox="1">
            <a:spLocks noChangeArrowheads="1"/>
          </p:cNvSpPr>
          <p:nvPr/>
        </p:nvSpPr>
        <p:spPr bwMode="auto">
          <a:xfrm>
            <a:off x="4556125" y="2990850"/>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R15B</a:t>
            </a:r>
          </a:p>
        </p:txBody>
      </p:sp>
      <p:sp>
        <p:nvSpPr>
          <p:cNvPr id="109620" name="Text Box 61"/>
          <p:cNvSpPr txBox="1">
            <a:spLocks noChangeArrowheads="1"/>
          </p:cNvSpPr>
          <p:nvPr/>
        </p:nvSpPr>
        <p:spPr bwMode="auto">
          <a:xfrm>
            <a:off x="4606925" y="3198813"/>
            <a:ext cx="396875"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621" name="Text Box 62"/>
          <p:cNvSpPr txBox="1">
            <a:spLocks noChangeArrowheads="1"/>
          </p:cNvSpPr>
          <p:nvPr/>
        </p:nvSpPr>
        <p:spPr bwMode="auto">
          <a:xfrm>
            <a:off x="4572000" y="3311525"/>
            <a:ext cx="63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R10B</a:t>
            </a:r>
          </a:p>
        </p:txBody>
      </p:sp>
      <p:sp>
        <p:nvSpPr>
          <p:cNvPr id="109622" name="Text Box 63"/>
          <p:cNvSpPr txBox="1">
            <a:spLocks noChangeArrowheads="1"/>
          </p:cNvSpPr>
          <p:nvPr/>
        </p:nvSpPr>
        <p:spPr bwMode="auto">
          <a:xfrm>
            <a:off x="5149850" y="3113088"/>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低</a:t>
            </a:r>
          </a:p>
        </p:txBody>
      </p:sp>
      <p:sp>
        <p:nvSpPr>
          <p:cNvPr id="109623" name="Text Box 64"/>
          <p:cNvSpPr txBox="1">
            <a:spLocks noChangeArrowheads="1"/>
          </p:cNvSpPr>
          <p:nvPr/>
        </p:nvSpPr>
        <p:spPr bwMode="auto">
          <a:xfrm>
            <a:off x="4648200" y="1404938"/>
            <a:ext cx="879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过程</a:t>
            </a:r>
            <a:r>
              <a:rPr lang="en-US" altLang="zh-CN" sz="2000"/>
              <a:t>B</a:t>
            </a:r>
          </a:p>
        </p:txBody>
      </p:sp>
      <p:sp>
        <p:nvSpPr>
          <p:cNvPr id="109624" name="Rectangle 68"/>
          <p:cNvSpPr>
            <a:spLocks noChangeArrowheads="1"/>
          </p:cNvSpPr>
          <p:nvPr/>
        </p:nvSpPr>
        <p:spPr bwMode="auto">
          <a:xfrm>
            <a:off x="1235075" y="2312988"/>
            <a:ext cx="1143000" cy="762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25" name="Rectangle 69"/>
          <p:cNvSpPr>
            <a:spLocks noChangeArrowheads="1"/>
          </p:cNvSpPr>
          <p:nvPr/>
        </p:nvSpPr>
        <p:spPr bwMode="auto">
          <a:xfrm>
            <a:off x="1235075" y="3074988"/>
            <a:ext cx="1143000" cy="53340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26" name="Rectangle 70"/>
          <p:cNvSpPr>
            <a:spLocks noChangeArrowheads="1"/>
          </p:cNvSpPr>
          <p:nvPr/>
        </p:nvSpPr>
        <p:spPr bwMode="auto">
          <a:xfrm>
            <a:off x="1235075" y="3608388"/>
            <a:ext cx="1143000" cy="762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27" name="Rectangle 71"/>
          <p:cNvSpPr>
            <a:spLocks noChangeArrowheads="1"/>
          </p:cNvSpPr>
          <p:nvPr/>
        </p:nvSpPr>
        <p:spPr bwMode="auto">
          <a:xfrm>
            <a:off x="1235075" y="4370388"/>
            <a:ext cx="1143000" cy="5334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28" name="Rectangle 72"/>
          <p:cNvSpPr>
            <a:spLocks noChangeArrowheads="1"/>
          </p:cNvSpPr>
          <p:nvPr/>
        </p:nvSpPr>
        <p:spPr bwMode="auto">
          <a:xfrm>
            <a:off x="1235075" y="5741988"/>
            <a:ext cx="1143000" cy="533400"/>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29" name="AutoShape 73"/>
          <p:cNvSpPr>
            <a:spLocks/>
          </p:cNvSpPr>
          <p:nvPr/>
        </p:nvSpPr>
        <p:spPr bwMode="auto">
          <a:xfrm>
            <a:off x="2911475" y="560388"/>
            <a:ext cx="76200" cy="1752600"/>
          </a:xfrm>
          <a:prstGeom prst="leftBrace">
            <a:avLst>
              <a:gd name="adj1" fmla="val 191667"/>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30" name="Freeform 77"/>
          <p:cNvSpPr>
            <a:spLocks/>
          </p:cNvSpPr>
          <p:nvPr/>
        </p:nvSpPr>
        <p:spPr bwMode="auto">
          <a:xfrm>
            <a:off x="1235075" y="5259388"/>
            <a:ext cx="1143000" cy="254000"/>
          </a:xfrm>
          <a:custGeom>
            <a:avLst/>
            <a:gdLst>
              <a:gd name="T0" fmla="*/ 0 w 720"/>
              <a:gd name="T1" fmla="*/ 2147483647 h 160"/>
              <a:gd name="T2" fmla="*/ 2147483647 w 720"/>
              <a:gd name="T3" fmla="*/ 2147483647 h 160"/>
              <a:gd name="T4" fmla="*/ 2147483647 w 720"/>
              <a:gd name="T5" fmla="*/ 2147483647 h 160"/>
              <a:gd name="T6" fmla="*/ 2147483647 w 720"/>
              <a:gd name="T7" fmla="*/ 2147483647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160">
                <a:moveTo>
                  <a:pt x="0" y="160"/>
                </a:moveTo>
                <a:cubicBezTo>
                  <a:pt x="48" y="96"/>
                  <a:pt x="96" y="32"/>
                  <a:pt x="192" y="16"/>
                </a:cubicBezTo>
                <a:cubicBezTo>
                  <a:pt x="288" y="0"/>
                  <a:pt x="488" y="64"/>
                  <a:pt x="576" y="64"/>
                </a:cubicBezTo>
                <a:cubicBezTo>
                  <a:pt x="664" y="64"/>
                  <a:pt x="696" y="24"/>
                  <a:pt x="720" y="16"/>
                </a:cubicBez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31" name="Freeform 78"/>
          <p:cNvSpPr>
            <a:spLocks/>
          </p:cNvSpPr>
          <p:nvPr/>
        </p:nvSpPr>
        <p:spPr bwMode="auto">
          <a:xfrm>
            <a:off x="1235075" y="5335588"/>
            <a:ext cx="1143000" cy="254000"/>
          </a:xfrm>
          <a:custGeom>
            <a:avLst/>
            <a:gdLst>
              <a:gd name="T0" fmla="*/ 0 w 720"/>
              <a:gd name="T1" fmla="*/ 2147483647 h 160"/>
              <a:gd name="T2" fmla="*/ 2147483647 w 720"/>
              <a:gd name="T3" fmla="*/ 2147483647 h 160"/>
              <a:gd name="T4" fmla="*/ 2147483647 w 720"/>
              <a:gd name="T5" fmla="*/ 2147483647 h 160"/>
              <a:gd name="T6" fmla="*/ 2147483647 w 720"/>
              <a:gd name="T7" fmla="*/ 2147483647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160">
                <a:moveTo>
                  <a:pt x="0" y="160"/>
                </a:moveTo>
                <a:cubicBezTo>
                  <a:pt x="48" y="96"/>
                  <a:pt x="96" y="32"/>
                  <a:pt x="192" y="16"/>
                </a:cubicBezTo>
                <a:cubicBezTo>
                  <a:pt x="288" y="0"/>
                  <a:pt x="488" y="64"/>
                  <a:pt x="576" y="64"/>
                </a:cubicBezTo>
                <a:cubicBezTo>
                  <a:pt x="664" y="64"/>
                  <a:pt x="696" y="24"/>
                  <a:pt x="720" y="16"/>
                </a:cubicBez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632" name="Text Box 79"/>
          <p:cNvSpPr txBox="1">
            <a:spLocks noChangeArrowheads="1"/>
          </p:cNvSpPr>
          <p:nvPr/>
        </p:nvSpPr>
        <p:spPr bwMode="auto">
          <a:xfrm>
            <a:off x="933450" y="6054725"/>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0</a:t>
            </a:r>
          </a:p>
        </p:txBody>
      </p:sp>
      <p:sp>
        <p:nvSpPr>
          <p:cNvPr id="109633" name="Text Box 80"/>
          <p:cNvSpPr txBox="1">
            <a:spLocks noChangeArrowheads="1"/>
          </p:cNvSpPr>
          <p:nvPr/>
        </p:nvSpPr>
        <p:spPr bwMode="auto">
          <a:xfrm>
            <a:off x="933450" y="5510213"/>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9</a:t>
            </a:r>
          </a:p>
        </p:txBody>
      </p:sp>
      <p:sp>
        <p:nvSpPr>
          <p:cNvPr id="109634" name="Text Box 81"/>
          <p:cNvSpPr txBox="1">
            <a:spLocks noChangeArrowheads="1"/>
          </p:cNvSpPr>
          <p:nvPr/>
        </p:nvSpPr>
        <p:spPr bwMode="auto">
          <a:xfrm>
            <a:off x="844550" y="46720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84</a:t>
            </a:r>
          </a:p>
        </p:txBody>
      </p:sp>
      <p:sp>
        <p:nvSpPr>
          <p:cNvPr id="109635" name="Text Box 82"/>
          <p:cNvSpPr txBox="1">
            <a:spLocks noChangeArrowheads="1"/>
          </p:cNvSpPr>
          <p:nvPr/>
        </p:nvSpPr>
        <p:spPr bwMode="auto">
          <a:xfrm>
            <a:off x="844550" y="43021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89</a:t>
            </a:r>
          </a:p>
        </p:txBody>
      </p:sp>
      <p:sp>
        <p:nvSpPr>
          <p:cNvPr id="109636" name="Text Box 83"/>
          <p:cNvSpPr txBox="1">
            <a:spLocks noChangeArrowheads="1"/>
          </p:cNvSpPr>
          <p:nvPr/>
        </p:nvSpPr>
        <p:spPr bwMode="auto">
          <a:xfrm>
            <a:off x="844550" y="41386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90</a:t>
            </a:r>
          </a:p>
        </p:txBody>
      </p:sp>
      <p:sp>
        <p:nvSpPr>
          <p:cNvPr id="109637" name="Text Box 84"/>
          <p:cNvSpPr txBox="1">
            <a:spLocks noChangeArrowheads="1"/>
          </p:cNvSpPr>
          <p:nvPr/>
        </p:nvSpPr>
        <p:spPr bwMode="auto">
          <a:xfrm>
            <a:off x="825500" y="3529013"/>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99</a:t>
            </a:r>
          </a:p>
        </p:txBody>
      </p:sp>
      <p:sp>
        <p:nvSpPr>
          <p:cNvPr id="109638" name="Text Box 85"/>
          <p:cNvSpPr txBox="1">
            <a:spLocks noChangeArrowheads="1"/>
          </p:cNvSpPr>
          <p:nvPr/>
        </p:nvSpPr>
        <p:spPr bwMode="auto">
          <a:xfrm>
            <a:off x="733425" y="3376613"/>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100</a:t>
            </a:r>
          </a:p>
        </p:txBody>
      </p:sp>
      <p:sp>
        <p:nvSpPr>
          <p:cNvPr id="109639" name="Text Box 86"/>
          <p:cNvSpPr txBox="1">
            <a:spLocks noChangeArrowheads="1"/>
          </p:cNvSpPr>
          <p:nvPr/>
        </p:nvSpPr>
        <p:spPr bwMode="auto">
          <a:xfrm>
            <a:off x="733425" y="3006725"/>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105</a:t>
            </a:r>
          </a:p>
        </p:txBody>
      </p:sp>
      <p:sp>
        <p:nvSpPr>
          <p:cNvPr id="109640" name="Text Box 87"/>
          <p:cNvSpPr txBox="1">
            <a:spLocks noChangeArrowheads="1"/>
          </p:cNvSpPr>
          <p:nvPr/>
        </p:nvSpPr>
        <p:spPr bwMode="auto">
          <a:xfrm>
            <a:off x="755650" y="2843213"/>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106</a:t>
            </a:r>
          </a:p>
        </p:txBody>
      </p:sp>
      <p:sp>
        <p:nvSpPr>
          <p:cNvPr id="109641" name="Text Box 88"/>
          <p:cNvSpPr txBox="1">
            <a:spLocks noChangeArrowheads="1"/>
          </p:cNvSpPr>
          <p:nvPr/>
        </p:nvSpPr>
        <p:spPr bwMode="auto">
          <a:xfrm>
            <a:off x="749300" y="2244725"/>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115</a:t>
            </a:r>
          </a:p>
        </p:txBody>
      </p:sp>
      <p:sp>
        <p:nvSpPr>
          <p:cNvPr id="109642" name="Text Box 89"/>
          <p:cNvSpPr txBox="1">
            <a:spLocks noChangeArrowheads="1"/>
          </p:cNvSpPr>
          <p:nvPr/>
        </p:nvSpPr>
        <p:spPr bwMode="auto">
          <a:xfrm>
            <a:off x="749300" y="2081213"/>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116</a:t>
            </a:r>
          </a:p>
        </p:txBody>
      </p:sp>
      <p:sp>
        <p:nvSpPr>
          <p:cNvPr id="109643" name="Text Box 90"/>
          <p:cNvSpPr txBox="1">
            <a:spLocks noChangeArrowheads="1"/>
          </p:cNvSpPr>
          <p:nvPr/>
        </p:nvSpPr>
        <p:spPr bwMode="auto">
          <a:xfrm>
            <a:off x="755650" y="1700213"/>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121</a:t>
            </a:r>
          </a:p>
        </p:txBody>
      </p:sp>
      <p:sp>
        <p:nvSpPr>
          <p:cNvPr id="109644" name="Text Box 91"/>
          <p:cNvSpPr txBox="1">
            <a:spLocks noChangeArrowheads="1"/>
          </p:cNvSpPr>
          <p:nvPr/>
        </p:nvSpPr>
        <p:spPr bwMode="auto">
          <a:xfrm>
            <a:off x="755650" y="1547813"/>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122</a:t>
            </a:r>
          </a:p>
        </p:txBody>
      </p:sp>
      <p:sp>
        <p:nvSpPr>
          <p:cNvPr id="109645" name="Text Box 92"/>
          <p:cNvSpPr txBox="1">
            <a:spLocks noChangeArrowheads="1"/>
          </p:cNvSpPr>
          <p:nvPr/>
        </p:nvSpPr>
        <p:spPr bwMode="auto">
          <a:xfrm>
            <a:off x="755650" y="938213"/>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131</a:t>
            </a:r>
          </a:p>
        </p:txBody>
      </p:sp>
      <p:sp>
        <p:nvSpPr>
          <p:cNvPr id="109646" name="Text Box 93"/>
          <p:cNvSpPr txBox="1">
            <a:spLocks noChangeArrowheads="1"/>
          </p:cNvSpPr>
          <p:nvPr/>
        </p:nvSpPr>
        <p:spPr bwMode="auto">
          <a:xfrm>
            <a:off x="755650" y="785813"/>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132</a:t>
            </a:r>
          </a:p>
        </p:txBody>
      </p:sp>
      <p:sp>
        <p:nvSpPr>
          <p:cNvPr id="109647" name="Text Box 94"/>
          <p:cNvSpPr txBox="1">
            <a:spLocks noChangeArrowheads="1"/>
          </p:cNvSpPr>
          <p:nvPr/>
        </p:nvSpPr>
        <p:spPr bwMode="auto">
          <a:xfrm>
            <a:off x="755650" y="404813"/>
            <a:ext cx="479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137</a:t>
            </a:r>
          </a:p>
        </p:txBody>
      </p:sp>
      <p:sp>
        <p:nvSpPr>
          <p:cNvPr id="109648" name="Rectangle 95"/>
          <p:cNvSpPr>
            <a:spLocks noChangeArrowheads="1"/>
          </p:cNvSpPr>
          <p:nvPr/>
        </p:nvSpPr>
        <p:spPr bwMode="auto">
          <a:xfrm>
            <a:off x="3048000" y="5715000"/>
            <a:ext cx="990600" cy="533400"/>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49" name="Text Box 96"/>
          <p:cNvSpPr txBox="1">
            <a:spLocks noChangeArrowheads="1"/>
          </p:cNvSpPr>
          <p:nvPr/>
        </p:nvSpPr>
        <p:spPr bwMode="auto">
          <a:xfrm>
            <a:off x="3059113" y="5661025"/>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R9A</a:t>
            </a:r>
          </a:p>
        </p:txBody>
      </p:sp>
      <p:sp>
        <p:nvSpPr>
          <p:cNvPr id="109650" name="Text Box 97"/>
          <p:cNvSpPr txBox="1">
            <a:spLocks noChangeArrowheads="1"/>
          </p:cNvSpPr>
          <p:nvPr/>
        </p:nvSpPr>
        <p:spPr bwMode="auto">
          <a:xfrm>
            <a:off x="3109913" y="5868988"/>
            <a:ext cx="396875"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651" name="Text Box 98"/>
          <p:cNvSpPr txBox="1">
            <a:spLocks noChangeArrowheads="1"/>
          </p:cNvSpPr>
          <p:nvPr/>
        </p:nvSpPr>
        <p:spPr bwMode="auto">
          <a:xfrm>
            <a:off x="3074988" y="5981700"/>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R0A</a:t>
            </a:r>
          </a:p>
        </p:txBody>
      </p:sp>
      <p:sp>
        <p:nvSpPr>
          <p:cNvPr id="109652" name="Rectangle 99"/>
          <p:cNvSpPr>
            <a:spLocks noChangeArrowheads="1"/>
          </p:cNvSpPr>
          <p:nvPr/>
        </p:nvSpPr>
        <p:spPr bwMode="auto">
          <a:xfrm>
            <a:off x="4572000" y="5715000"/>
            <a:ext cx="990600" cy="533400"/>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53" name="Text Box 100"/>
          <p:cNvSpPr txBox="1">
            <a:spLocks noChangeArrowheads="1"/>
          </p:cNvSpPr>
          <p:nvPr/>
        </p:nvSpPr>
        <p:spPr bwMode="auto">
          <a:xfrm>
            <a:off x="4556125" y="5673725"/>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R9B</a:t>
            </a:r>
          </a:p>
        </p:txBody>
      </p:sp>
      <p:sp>
        <p:nvSpPr>
          <p:cNvPr id="109654" name="Text Box 101"/>
          <p:cNvSpPr txBox="1">
            <a:spLocks noChangeArrowheads="1"/>
          </p:cNvSpPr>
          <p:nvPr/>
        </p:nvSpPr>
        <p:spPr bwMode="auto">
          <a:xfrm>
            <a:off x="4606925" y="5881688"/>
            <a:ext cx="396875"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655" name="Text Box 102"/>
          <p:cNvSpPr txBox="1">
            <a:spLocks noChangeArrowheads="1"/>
          </p:cNvSpPr>
          <p:nvPr/>
        </p:nvSpPr>
        <p:spPr bwMode="auto">
          <a:xfrm>
            <a:off x="4572000" y="5994400"/>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R0B</a:t>
            </a:r>
          </a:p>
        </p:txBody>
      </p:sp>
      <p:sp>
        <p:nvSpPr>
          <p:cNvPr id="109656" name="Rectangle 103"/>
          <p:cNvSpPr>
            <a:spLocks noChangeArrowheads="1"/>
          </p:cNvSpPr>
          <p:nvPr/>
        </p:nvSpPr>
        <p:spPr bwMode="auto">
          <a:xfrm>
            <a:off x="6172200" y="5700713"/>
            <a:ext cx="990600" cy="533400"/>
          </a:xfrm>
          <a:prstGeom prst="rect">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57" name="Text Box 104"/>
          <p:cNvSpPr txBox="1">
            <a:spLocks noChangeArrowheads="1"/>
          </p:cNvSpPr>
          <p:nvPr/>
        </p:nvSpPr>
        <p:spPr bwMode="auto">
          <a:xfrm>
            <a:off x="6156325" y="5659438"/>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R9C</a:t>
            </a:r>
          </a:p>
        </p:txBody>
      </p:sp>
      <p:sp>
        <p:nvSpPr>
          <p:cNvPr id="109658" name="Text Box 105"/>
          <p:cNvSpPr txBox="1">
            <a:spLocks noChangeArrowheads="1"/>
          </p:cNvSpPr>
          <p:nvPr/>
        </p:nvSpPr>
        <p:spPr bwMode="auto">
          <a:xfrm>
            <a:off x="6207125" y="5867400"/>
            <a:ext cx="396875"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1400"/>
              <a:t>···</a:t>
            </a:r>
          </a:p>
        </p:txBody>
      </p:sp>
      <p:sp>
        <p:nvSpPr>
          <p:cNvPr id="109659" name="Text Box 106"/>
          <p:cNvSpPr txBox="1">
            <a:spLocks noChangeArrowheads="1"/>
          </p:cNvSpPr>
          <p:nvPr/>
        </p:nvSpPr>
        <p:spPr bwMode="auto">
          <a:xfrm>
            <a:off x="6172200" y="5980113"/>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en-US" altLang="zh-CN" sz="1400"/>
              <a:t>R0C</a:t>
            </a:r>
          </a:p>
        </p:txBody>
      </p:sp>
      <p:sp>
        <p:nvSpPr>
          <p:cNvPr id="109660" name="Text Box 107"/>
          <p:cNvSpPr txBox="1">
            <a:spLocks noChangeArrowheads="1"/>
          </p:cNvSpPr>
          <p:nvPr/>
        </p:nvSpPr>
        <p:spPr bwMode="auto">
          <a:xfrm>
            <a:off x="1457325" y="5815013"/>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全局</a:t>
            </a:r>
          </a:p>
        </p:txBody>
      </p:sp>
      <p:sp>
        <p:nvSpPr>
          <p:cNvPr id="109661" name="Text Box 108"/>
          <p:cNvSpPr txBox="1">
            <a:spLocks noChangeArrowheads="1"/>
          </p:cNvSpPr>
          <p:nvPr/>
        </p:nvSpPr>
        <p:spPr bwMode="auto">
          <a:xfrm>
            <a:off x="1465263" y="4427538"/>
            <a:ext cx="6238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出</a:t>
            </a:r>
            <a:r>
              <a:rPr lang="en-US" altLang="zh-CN" sz="2000"/>
              <a:t>C</a:t>
            </a:r>
          </a:p>
        </p:txBody>
      </p:sp>
      <p:sp>
        <p:nvSpPr>
          <p:cNvPr id="109662" name="Text Box 109"/>
          <p:cNvSpPr txBox="1">
            <a:spLocks noChangeArrowheads="1"/>
          </p:cNvSpPr>
          <p:nvPr/>
        </p:nvSpPr>
        <p:spPr bwMode="auto">
          <a:xfrm>
            <a:off x="1235075" y="3162300"/>
            <a:ext cx="1133475"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出</a:t>
            </a:r>
            <a:r>
              <a:rPr lang="en-US" altLang="zh-CN" sz="2000"/>
              <a:t>B/</a:t>
            </a:r>
            <a:r>
              <a:rPr lang="zh-CN" altLang="en-US" sz="2000"/>
              <a:t>入</a:t>
            </a:r>
            <a:r>
              <a:rPr lang="en-US" altLang="zh-CN" sz="2000"/>
              <a:t>C</a:t>
            </a:r>
          </a:p>
        </p:txBody>
      </p:sp>
      <p:sp>
        <p:nvSpPr>
          <p:cNvPr id="109663" name="Text Box 110"/>
          <p:cNvSpPr txBox="1">
            <a:spLocks noChangeArrowheads="1"/>
          </p:cNvSpPr>
          <p:nvPr/>
        </p:nvSpPr>
        <p:spPr bwMode="auto">
          <a:xfrm>
            <a:off x="1235075" y="1866900"/>
            <a:ext cx="1133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出</a:t>
            </a:r>
            <a:r>
              <a:rPr lang="en-US" altLang="zh-CN" sz="2000"/>
              <a:t>A/</a:t>
            </a:r>
            <a:r>
              <a:rPr lang="zh-CN" altLang="en-US" sz="2000"/>
              <a:t>入</a:t>
            </a:r>
            <a:r>
              <a:rPr lang="en-US" altLang="zh-CN" sz="2000"/>
              <a:t>B</a:t>
            </a:r>
          </a:p>
        </p:txBody>
      </p:sp>
      <p:sp>
        <p:nvSpPr>
          <p:cNvPr id="109664" name="Text Box 111"/>
          <p:cNvSpPr txBox="1">
            <a:spLocks noChangeArrowheads="1"/>
          </p:cNvSpPr>
          <p:nvPr/>
        </p:nvSpPr>
        <p:spPr bwMode="auto">
          <a:xfrm>
            <a:off x="1463675" y="541338"/>
            <a:ext cx="623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入</a:t>
            </a:r>
            <a:r>
              <a:rPr lang="en-US" altLang="zh-CN" sz="2000"/>
              <a:t>A</a:t>
            </a:r>
          </a:p>
        </p:txBody>
      </p:sp>
      <p:sp>
        <p:nvSpPr>
          <p:cNvPr id="109665" name="Text Box 112"/>
          <p:cNvSpPr txBox="1">
            <a:spLocks noChangeArrowheads="1"/>
          </p:cNvSpPr>
          <p:nvPr/>
        </p:nvSpPr>
        <p:spPr bwMode="auto">
          <a:xfrm>
            <a:off x="1371600" y="1166813"/>
            <a:ext cx="879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局部</a:t>
            </a:r>
            <a:r>
              <a:rPr lang="en-US" altLang="zh-CN" sz="2000"/>
              <a:t>A</a:t>
            </a:r>
          </a:p>
        </p:txBody>
      </p:sp>
      <p:sp>
        <p:nvSpPr>
          <p:cNvPr id="109666" name="Text Box 113"/>
          <p:cNvSpPr txBox="1">
            <a:spLocks noChangeArrowheads="1"/>
          </p:cNvSpPr>
          <p:nvPr/>
        </p:nvSpPr>
        <p:spPr bwMode="auto">
          <a:xfrm>
            <a:off x="1371600" y="2522538"/>
            <a:ext cx="879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局部</a:t>
            </a:r>
            <a:r>
              <a:rPr lang="en-US" altLang="zh-CN" sz="2000"/>
              <a:t>B</a:t>
            </a:r>
          </a:p>
        </p:txBody>
      </p:sp>
      <p:sp>
        <p:nvSpPr>
          <p:cNvPr id="109667" name="Text Box 114"/>
          <p:cNvSpPr txBox="1">
            <a:spLocks noChangeArrowheads="1"/>
          </p:cNvSpPr>
          <p:nvPr/>
        </p:nvSpPr>
        <p:spPr bwMode="auto">
          <a:xfrm>
            <a:off x="1387475" y="3817938"/>
            <a:ext cx="879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局部</a:t>
            </a:r>
            <a:r>
              <a:rPr lang="en-US" altLang="zh-CN" sz="2000"/>
              <a:t>C</a:t>
            </a:r>
          </a:p>
        </p:txBody>
      </p:sp>
      <p:sp>
        <p:nvSpPr>
          <p:cNvPr id="109668" name="AutoShape 127"/>
          <p:cNvSpPr>
            <a:spLocks noChangeArrowheads="1"/>
          </p:cNvSpPr>
          <p:nvPr/>
        </p:nvSpPr>
        <p:spPr bwMode="auto">
          <a:xfrm>
            <a:off x="4114800" y="1905000"/>
            <a:ext cx="381000" cy="304800"/>
          </a:xfrm>
          <a:prstGeom prst="leftRightArrow">
            <a:avLst>
              <a:gd name="adj1" fmla="val 50000"/>
              <a:gd name="adj2" fmla="val 25000"/>
            </a:avLst>
          </a:prstGeom>
          <a:solidFill>
            <a:srgbClr val="0000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69" name="AutoShape 128"/>
          <p:cNvSpPr>
            <a:spLocks noChangeArrowheads="1"/>
          </p:cNvSpPr>
          <p:nvPr/>
        </p:nvSpPr>
        <p:spPr bwMode="auto">
          <a:xfrm>
            <a:off x="5638800" y="3124200"/>
            <a:ext cx="381000" cy="304800"/>
          </a:xfrm>
          <a:prstGeom prst="leftRightArrow">
            <a:avLst>
              <a:gd name="adj1" fmla="val 50000"/>
              <a:gd name="adj2" fmla="val 25000"/>
            </a:avLst>
          </a:prstGeom>
          <a:solidFill>
            <a:srgbClr val="0000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Font typeface="Wingdings" pitchFamily="2" charset="2"/>
              <a:buNone/>
            </a:pPr>
            <a:endParaRPr lang="zh-CN" altLang="en-US" sz="2800" b="0">
              <a:latin typeface="Times New Roman" pitchFamily="18" charset="0"/>
              <a:ea typeface="宋体" pitchFamily="2" charset="-122"/>
            </a:endParaRPr>
          </a:p>
        </p:txBody>
      </p:sp>
      <p:sp>
        <p:nvSpPr>
          <p:cNvPr id="109670" name="AutoShape 130"/>
          <p:cNvSpPr>
            <a:spLocks noChangeArrowheads="1"/>
          </p:cNvSpPr>
          <p:nvPr/>
        </p:nvSpPr>
        <p:spPr bwMode="auto">
          <a:xfrm rot="5400000">
            <a:off x="4267200" y="609600"/>
            <a:ext cx="1066800" cy="4572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noFill/>
          <a:ln w="127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nchor="ctr">
            <a:spAutoFit/>
          </a:bodyPr>
          <a:lstStyle/>
          <a:p>
            <a:endParaRPr lang="zh-CN" altLang="en-US"/>
          </a:p>
        </p:txBody>
      </p:sp>
      <p:sp>
        <p:nvSpPr>
          <p:cNvPr id="109671" name="Text Box 131"/>
          <p:cNvSpPr txBox="1">
            <a:spLocks noChangeArrowheads="1"/>
          </p:cNvSpPr>
          <p:nvPr/>
        </p:nvSpPr>
        <p:spPr bwMode="auto">
          <a:xfrm>
            <a:off x="5029200" y="304800"/>
            <a:ext cx="457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调</a:t>
            </a:r>
          </a:p>
          <a:p>
            <a:pPr eaLnBrk="1" hangingPunct="1">
              <a:spcBef>
                <a:spcPct val="0"/>
              </a:spcBef>
              <a:buClrTx/>
              <a:buFontTx/>
              <a:buNone/>
            </a:pPr>
            <a:r>
              <a:rPr lang="zh-CN" altLang="en-US" sz="2000"/>
              <a:t>用</a:t>
            </a:r>
            <a:endParaRPr lang="en-US" altLang="zh-CN" sz="2000"/>
          </a:p>
        </p:txBody>
      </p:sp>
      <p:sp>
        <p:nvSpPr>
          <p:cNvPr id="109672" name="AutoShape 132"/>
          <p:cNvSpPr>
            <a:spLocks noChangeArrowheads="1"/>
          </p:cNvSpPr>
          <p:nvPr/>
        </p:nvSpPr>
        <p:spPr bwMode="auto">
          <a:xfrm rot="5400000">
            <a:off x="5715000" y="1828800"/>
            <a:ext cx="1066800" cy="4572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noFill/>
          <a:ln w="12700">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nchor="ctr">
            <a:spAutoFit/>
          </a:bodyPr>
          <a:lstStyle/>
          <a:p>
            <a:endParaRPr lang="zh-CN" altLang="en-US"/>
          </a:p>
        </p:txBody>
      </p:sp>
      <p:sp>
        <p:nvSpPr>
          <p:cNvPr id="109673" name="Text Box 133"/>
          <p:cNvSpPr txBox="1">
            <a:spLocks noChangeArrowheads="1"/>
          </p:cNvSpPr>
          <p:nvPr/>
        </p:nvSpPr>
        <p:spPr bwMode="auto">
          <a:xfrm>
            <a:off x="6477000" y="1524000"/>
            <a:ext cx="457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0"/>
              </a:spcBef>
              <a:buClrTx/>
              <a:buFontTx/>
              <a:buNone/>
            </a:pPr>
            <a:r>
              <a:rPr lang="zh-CN" altLang="en-US" sz="2000"/>
              <a:t>调</a:t>
            </a:r>
          </a:p>
          <a:p>
            <a:pPr eaLnBrk="1" hangingPunct="1">
              <a:spcBef>
                <a:spcPct val="0"/>
              </a:spcBef>
              <a:buClrTx/>
              <a:buFontTx/>
              <a:buNone/>
            </a:pPr>
            <a:r>
              <a:rPr lang="zh-CN" altLang="en-US" sz="2000"/>
              <a:t>用</a:t>
            </a:r>
            <a:endParaRPr lang="en-US" altLang="zh-CN" sz="2000"/>
          </a:p>
        </p:txBody>
      </p:sp>
      <p:sp>
        <p:nvSpPr>
          <p:cNvPr id="109674" name="Text Box 13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2</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Text Box 3"/>
          <p:cNvSpPr txBox="1">
            <a:spLocks noChangeArrowheads="1"/>
          </p:cNvSpPr>
          <p:nvPr/>
        </p:nvSpPr>
        <p:spPr bwMode="auto">
          <a:xfrm>
            <a:off x="990600" y="304800"/>
            <a:ext cx="4953000" cy="519113"/>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800">
                <a:solidFill>
                  <a:srgbClr val="FF3300"/>
                </a:solidFill>
              </a:rPr>
              <a:t>寄存器窗口技术的效果</a:t>
            </a:r>
          </a:p>
        </p:txBody>
      </p:sp>
      <p:grpSp>
        <p:nvGrpSpPr>
          <p:cNvPr id="110595" name="Group 107"/>
          <p:cNvGrpSpPr>
            <a:grpSpLocks/>
          </p:cNvGrpSpPr>
          <p:nvPr/>
        </p:nvGrpSpPr>
        <p:grpSpPr bwMode="auto">
          <a:xfrm>
            <a:off x="457200" y="990600"/>
            <a:ext cx="5943600" cy="2514600"/>
            <a:chOff x="384" y="1056"/>
            <a:chExt cx="4992" cy="2016"/>
          </a:xfrm>
        </p:grpSpPr>
        <p:sp>
          <p:nvSpPr>
            <p:cNvPr id="110620" name="Rectangle 108"/>
            <p:cNvSpPr>
              <a:spLocks noChangeArrowheads="1"/>
            </p:cNvSpPr>
            <p:nvPr/>
          </p:nvSpPr>
          <p:spPr bwMode="auto">
            <a:xfrm>
              <a:off x="384" y="2064"/>
              <a:ext cx="211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RISC II</a:t>
              </a:r>
              <a:r>
                <a:rPr lang="zh-CN" altLang="en-US" sz="2400">
                  <a:solidFill>
                    <a:schemeClr val="tx2"/>
                  </a:solidFill>
                </a:rPr>
                <a:t>溢出次数</a:t>
              </a:r>
            </a:p>
          </p:txBody>
        </p:sp>
        <p:sp>
          <p:nvSpPr>
            <p:cNvPr id="110621" name="Rectangle 109"/>
            <p:cNvSpPr>
              <a:spLocks noChangeArrowheads="1"/>
            </p:cNvSpPr>
            <p:nvPr/>
          </p:nvSpPr>
          <p:spPr bwMode="auto">
            <a:xfrm>
              <a:off x="384" y="1056"/>
              <a:ext cx="211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程序名称</a:t>
              </a:r>
            </a:p>
          </p:txBody>
        </p:sp>
        <p:sp>
          <p:nvSpPr>
            <p:cNvPr id="110622" name="Rectangle 110"/>
            <p:cNvSpPr>
              <a:spLocks noChangeArrowheads="1"/>
            </p:cNvSpPr>
            <p:nvPr/>
          </p:nvSpPr>
          <p:spPr bwMode="auto">
            <a:xfrm>
              <a:off x="384" y="1392"/>
              <a:ext cx="211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调用次数</a:t>
              </a:r>
            </a:p>
          </p:txBody>
        </p:sp>
        <p:sp>
          <p:nvSpPr>
            <p:cNvPr id="110623" name="Rectangle 111"/>
            <p:cNvSpPr>
              <a:spLocks noChangeArrowheads="1"/>
            </p:cNvSpPr>
            <p:nvPr/>
          </p:nvSpPr>
          <p:spPr bwMode="auto">
            <a:xfrm>
              <a:off x="384" y="1728"/>
              <a:ext cx="211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最大调用深度</a:t>
              </a:r>
            </a:p>
          </p:txBody>
        </p:sp>
        <p:sp>
          <p:nvSpPr>
            <p:cNvPr id="110624" name="Rectangle 112"/>
            <p:cNvSpPr>
              <a:spLocks noChangeArrowheads="1"/>
            </p:cNvSpPr>
            <p:nvPr/>
          </p:nvSpPr>
          <p:spPr bwMode="auto">
            <a:xfrm>
              <a:off x="384" y="2400"/>
              <a:ext cx="211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RISC II</a:t>
              </a:r>
              <a:r>
                <a:rPr lang="zh-CN" altLang="en-US" sz="2400">
                  <a:solidFill>
                    <a:schemeClr val="tx2"/>
                  </a:solidFill>
                </a:rPr>
                <a:t>访存次数</a:t>
              </a:r>
            </a:p>
          </p:txBody>
        </p:sp>
        <p:sp>
          <p:nvSpPr>
            <p:cNvPr id="110625" name="Rectangle 113"/>
            <p:cNvSpPr>
              <a:spLocks noChangeArrowheads="1"/>
            </p:cNvSpPr>
            <p:nvPr/>
          </p:nvSpPr>
          <p:spPr bwMode="auto">
            <a:xfrm>
              <a:off x="384" y="2736"/>
              <a:ext cx="2112"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VAX-11</a:t>
              </a:r>
              <a:r>
                <a:rPr lang="zh-CN" altLang="en-US" sz="2400">
                  <a:solidFill>
                    <a:schemeClr val="tx2"/>
                  </a:solidFill>
                </a:rPr>
                <a:t>访存次数</a:t>
              </a:r>
            </a:p>
          </p:txBody>
        </p:sp>
        <p:sp>
          <p:nvSpPr>
            <p:cNvPr id="110626" name="Rectangle 114"/>
            <p:cNvSpPr>
              <a:spLocks noChangeArrowheads="1"/>
            </p:cNvSpPr>
            <p:nvPr/>
          </p:nvSpPr>
          <p:spPr bwMode="auto">
            <a:xfrm>
              <a:off x="2496" y="1392"/>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111</a:t>
              </a:r>
              <a:r>
                <a:rPr lang="en-US" altLang="zh-CN" sz="2400">
                  <a:solidFill>
                    <a:schemeClr val="tx2"/>
                  </a:solidFill>
                </a:rPr>
                <a:t>K</a:t>
              </a:r>
            </a:p>
          </p:txBody>
        </p:sp>
        <p:sp>
          <p:nvSpPr>
            <p:cNvPr id="110627" name="Rectangle 115"/>
            <p:cNvSpPr>
              <a:spLocks noChangeArrowheads="1"/>
            </p:cNvSpPr>
            <p:nvPr/>
          </p:nvSpPr>
          <p:spPr bwMode="auto">
            <a:xfrm>
              <a:off x="3936" y="1392"/>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43</a:t>
              </a:r>
              <a:r>
                <a:rPr lang="en-US" altLang="zh-CN" sz="2400">
                  <a:solidFill>
                    <a:schemeClr val="tx2"/>
                  </a:solidFill>
                </a:rPr>
                <a:t>K</a:t>
              </a:r>
            </a:p>
          </p:txBody>
        </p:sp>
        <p:sp>
          <p:nvSpPr>
            <p:cNvPr id="110628" name="Rectangle 116"/>
            <p:cNvSpPr>
              <a:spLocks noChangeArrowheads="1"/>
            </p:cNvSpPr>
            <p:nvPr/>
          </p:nvSpPr>
          <p:spPr bwMode="auto">
            <a:xfrm>
              <a:off x="2496" y="1056"/>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Quick Sort</a:t>
              </a:r>
            </a:p>
          </p:txBody>
        </p:sp>
        <p:sp>
          <p:nvSpPr>
            <p:cNvPr id="110629" name="Rectangle 117"/>
            <p:cNvSpPr>
              <a:spLocks noChangeArrowheads="1"/>
            </p:cNvSpPr>
            <p:nvPr/>
          </p:nvSpPr>
          <p:spPr bwMode="auto">
            <a:xfrm>
              <a:off x="3936" y="1056"/>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Puzzle</a:t>
              </a:r>
            </a:p>
          </p:txBody>
        </p:sp>
        <p:sp>
          <p:nvSpPr>
            <p:cNvPr id="110630" name="Rectangle 118"/>
            <p:cNvSpPr>
              <a:spLocks noChangeArrowheads="1"/>
            </p:cNvSpPr>
            <p:nvPr/>
          </p:nvSpPr>
          <p:spPr bwMode="auto">
            <a:xfrm>
              <a:off x="2496" y="1728"/>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10</a:t>
              </a:r>
            </a:p>
          </p:txBody>
        </p:sp>
        <p:sp>
          <p:nvSpPr>
            <p:cNvPr id="110631" name="Rectangle 119"/>
            <p:cNvSpPr>
              <a:spLocks noChangeArrowheads="1"/>
            </p:cNvSpPr>
            <p:nvPr/>
          </p:nvSpPr>
          <p:spPr bwMode="auto">
            <a:xfrm>
              <a:off x="3936" y="1728"/>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20</a:t>
              </a:r>
            </a:p>
          </p:txBody>
        </p:sp>
        <p:sp>
          <p:nvSpPr>
            <p:cNvPr id="110632" name="Rectangle 120"/>
            <p:cNvSpPr>
              <a:spLocks noChangeArrowheads="1"/>
            </p:cNvSpPr>
            <p:nvPr/>
          </p:nvSpPr>
          <p:spPr bwMode="auto">
            <a:xfrm>
              <a:off x="2496" y="2064"/>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64</a:t>
              </a:r>
            </a:p>
          </p:txBody>
        </p:sp>
        <p:sp>
          <p:nvSpPr>
            <p:cNvPr id="110633" name="Rectangle 121"/>
            <p:cNvSpPr>
              <a:spLocks noChangeArrowheads="1"/>
            </p:cNvSpPr>
            <p:nvPr/>
          </p:nvSpPr>
          <p:spPr bwMode="auto">
            <a:xfrm>
              <a:off x="3936" y="2064"/>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124</a:t>
              </a:r>
            </a:p>
          </p:txBody>
        </p:sp>
        <p:sp>
          <p:nvSpPr>
            <p:cNvPr id="110634" name="Rectangle 122"/>
            <p:cNvSpPr>
              <a:spLocks noChangeArrowheads="1"/>
            </p:cNvSpPr>
            <p:nvPr/>
          </p:nvSpPr>
          <p:spPr bwMode="auto">
            <a:xfrm>
              <a:off x="2496" y="2400"/>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4</a:t>
              </a:r>
              <a:r>
                <a:rPr lang="en-US" altLang="zh-CN" sz="2400">
                  <a:solidFill>
                    <a:schemeClr val="tx2"/>
                  </a:solidFill>
                </a:rPr>
                <a:t>K</a:t>
              </a:r>
            </a:p>
          </p:txBody>
        </p:sp>
        <p:sp>
          <p:nvSpPr>
            <p:cNvPr id="110635" name="Rectangle 123"/>
            <p:cNvSpPr>
              <a:spLocks noChangeArrowheads="1"/>
            </p:cNvSpPr>
            <p:nvPr/>
          </p:nvSpPr>
          <p:spPr bwMode="auto">
            <a:xfrm>
              <a:off x="3936" y="2400"/>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8</a:t>
              </a:r>
              <a:r>
                <a:rPr lang="en-US" altLang="zh-CN" sz="2400">
                  <a:solidFill>
                    <a:schemeClr val="tx2"/>
                  </a:solidFill>
                </a:rPr>
                <a:t>K</a:t>
              </a:r>
            </a:p>
          </p:txBody>
        </p:sp>
        <p:sp>
          <p:nvSpPr>
            <p:cNvPr id="110636" name="Rectangle 124"/>
            <p:cNvSpPr>
              <a:spLocks noChangeArrowheads="1"/>
            </p:cNvSpPr>
            <p:nvPr/>
          </p:nvSpPr>
          <p:spPr bwMode="auto">
            <a:xfrm>
              <a:off x="2496" y="2736"/>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696</a:t>
              </a:r>
              <a:r>
                <a:rPr lang="en-US" altLang="zh-CN" sz="2400">
                  <a:solidFill>
                    <a:schemeClr val="tx2"/>
                  </a:solidFill>
                </a:rPr>
                <a:t>K</a:t>
              </a:r>
            </a:p>
          </p:txBody>
        </p:sp>
        <p:sp>
          <p:nvSpPr>
            <p:cNvPr id="110637" name="Rectangle 125"/>
            <p:cNvSpPr>
              <a:spLocks noChangeArrowheads="1"/>
            </p:cNvSpPr>
            <p:nvPr/>
          </p:nvSpPr>
          <p:spPr bwMode="auto">
            <a:xfrm>
              <a:off x="3936" y="2736"/>
              <a:ext cx="144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444</a:t>
              </a:r>
              <a:r>
                <a:rPr lang="en-US" altLang="zh-CN" sz="2400">
                  <a:solidFill>
                    <a:schemeClr val="tx2"/>
                  </a:solidFill>
                </a:rPr>
                <a:t>K</a:t>
              </a:r>
            </a:p>
          </p:txBody>
        </p:sp>
      </p:grpSp>
      <p:grpSp>
        <p:nvGrpSpPr>
          <p:cNvPr id="110596" name="Group 126"/>
          <p:cNvGrpSpPr>
            <a:grpSpLocks/>
          </p:cNvGrpSpPr>
          <p:nvPr/>
        </p:nvGrpSpPr>
        <p:grpSpPr bwMode="auto">
          <a:xfrm>
            <a:off x="457200" y="4495800"/>
            <a:ext cx="5943600" cy="2057400"/>
            <a:chOff x="528" y="960"/>
            <a:chExt cx="4848" cy="2016"/>
          </a:xfrm>
        </p:grpSpPr>
        <p:sp>
          <p:nvSpPr>
            <p:cNvPr id="110600" name="Rectangle 127"/>
            <p:cNvSpPr>
              <a:spLocks noChangeArrowheads="1"/>
            </p:cNvSpPr>
            <p:nvPr/>
          </p:nvSpPr>
          <p:spPr bwMode="auto">
            <a:xfrm>
              <a:off x="528" y="2304"/>
              <a:ext cx="124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MC68000</a:t>
              </a:r>
              <a:endParaRPr lang="zh-CN" altLang="en-US" sz="2400">
                <a:solidFill>
                  <a:schemeClr val="tx2"/>
                </a:solidFill>
              </a:endParaRPr>
            </a:p>
          </p:txBody>
        </p:sp>
        <p:sp>
          <p:nvSpPr>
            <p:cNvPr id="110601" name="Rectangle 128"/>
            <p:cNvSpPr>
              <a:spLocks noChangeArrowheads="1"/>
            </p:cNvSpPr>
            <p:nvPr/>
          </p:nvSpPr>
          <p:spPr bwMode="auto">
            <a:xfrm>
              <a:off x="528" y="960"/>
              <a:ext cx="1248" cy="67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机器类型</a:t>
              </a:r>
            </a:p>
          </p:txBody>
        </p:sp>
        <p:sp>
          <p:nvSpPr>
            <p:cNvPr id="110602" name="Rectangle 129"/>
            <p:cNvSpPr>
              <a:spLocks noChangeArrowheads="1"/>
            </p:cNvSpPr>
            <p:nvPr/>
          </p:nvSpPr>
          <p:spPr bwMode="auto">
            <a:xfrm>
              <a:off x="528" y="1632"/>
              <a:ext cx="124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VAX-11</a:t>
              </a:r>
            </a:p>
          </p:txBody>
        </p:sp>
        <p:sp>
          <p:nvSpPr>
            <p:cNvPr id="110603" name="Rectangle 130"/>
            <p:cNvSpPr>
              <a:spLocks noChangeArrowheads="1"/>
            </p:cNvSpPr>
            <p:nvPr/>
          </p:nvSpPr>
          <p:spPr bwMode="auto">
            <a:xfrm>
              <a:off x="528" y="1968"/>
              <a:ext cx="124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PDP-11</a:t>
              </a:r>
            </a:p>
          </p:txBody>
        </p:sp>
        <p:sp>
          <p:nvSpPr>
            <p:cNvPr id="110604" name="Rectangle 131"/>
            <p:cNvSpPr>
              <a:spLocks noChangeArrowheads="1"/>
            </p:cNvSpPr>
            <p:nvPr/>
          </p:nvSpPr>
          <p:spPr bwMode="auto">
            <a:xfrm>
              <a:off x="528" y="2640"/>
              <a:ext cx="1248"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RISC II</a:t>
              </a:r>
              <a:endParaRPr lang="zh-CN" altLang="en-US" sz="2400">
                <a:solidFill>
                  <a:schemeClr val="tx2"/>
                </a:solidFill>
              </a:endParaRPr>
            </a:p>
          </p:txBody>
        </p:sp>
        <p:sp>
          <p:nvSpPr>
            <p:cNvPr id="110605" name="Rectangle 132"/>
            <p:cNvSpPr>
              <a:spLocks noChangeArrowheads="1"/>
            </p:cNvSpPr>
            <p:nvPr/>
          </p:nvSpPr>
          <p:spPr bwMode="auto">
            <a:xfrm>
              <a:off x="1776" y="1632"/>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5</a:t>
              </a:r>
              <a:endParaRPr lang="zh-CN" altLang="zh-CN" sz="2400">
                <a:solidFill>
                  <a:schemeClr val="tx2"/>
                </a:solidFill>
              </a:endParaRPr>
            </a:p>
          </p:txBody>
        </p:sp>
        <p:sp>
          <p:nvSpPr>
            <p:cNvPr id="110606" name="Rectangle 133"/>
            <p:cNvSpPr>
              <a:spLocks noChangeArrowheads="1"/>
            </p:cNvSpPr>
            <p:nvPr/>
          </p:nvSpPr>
          <p:spPr bwMode="auto">
            <a:xfrm>
              <a:off x="1776" y="960"/>
              <a:ext cx="1200" cy="67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执行指</a:t>
              </a:r>
              <a:br>
                <a:rPr lang="zh-CN" altLang="en-US" sz="2400">
                  <a:solidFill>
                    <a:schemeClr val="tx2"/>
                  </a:solidFill>
                </a:rPr>
              </a:br>
              <a:r>
                <a:rPr lang="zh-CN" altLang="en-US" sz="2400">
                  <a:solidFill>
                    <a:schemeClr val="tx2"/>
                  </a:solidFill>
                </a:rPr>
                <a:t>令条数</a:t>
              </a:r>
            </a:p>
          </p:txBody>
        </p:sp>
        <p:sp>
          <p:nvSpPr>
            <p:cNvPr id="110607" name="Rectangle 134"/>
            <p:cNvSpPr>
              <a:spLocks noChangeArrowheads="1"/>
            </p:cNvSpPr>
            <p:nvPr/>
          </p:nvSpPr>
          <p:spPr bwMode="auto">
            <a:xfrm>
              <a:off x="1776" y="1968"/>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19</a:t>
              </a:r>
            </a:p>
          </p:txBody>
        </p:sp>
        <p:sp>
          <p:nvSpPr>
            <p:cNvPr id="110608" name="Rectangle 135"/>
            <p:cNvSpPr>
              <a:spLocks noChangeArrowheads="1"/>
            </p:cNvSpPr>
            <p:nvPr/>
          </p:nvSpPr>
          <p:spPr bwMode="auto">
            <a:xfrm>
              <a:off x="1776" y="2304"/>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9</a:t>
              </a:r>
            </a:p>
          </p:txBody>
        </p:sp>
        <p:sp>
          <p:nvSpPr>
            <p:cNvPr id="110609" name="Rectangle 136"/>
            <p:cNvSpPr>
              <a:spLocks noChangeArrowheads="1"/>
            </p:cNvSpPr>
            <p:nvPr/>
          </p:nvSpPr>
          <p:spPr bwMode="auto">
            <a:xfrm>
              <a:off x="1776" y="2640"/>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6</a:t>
              </a:r>
            </a:p>
          </p:txBody>
        </p:sp>
        <p:sp>
          <p:nvSpPr>
            <p:cNvPr id="110610" name="Rectangle 137"/>
            <p:cNvSpPr>
              <a:spLocks noChangeArrowheads="1"/>
            </p:cNvSpPr>
            <p:nvPr/>
          </p:nvSpPr>
          <p:spPr bwMode="auto">
            <a:xfrm>
              <a:off x="2976" y="1632"/>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26</a:t>
              </a:r>
              <a:endParaRPr lang="zh-CN" altLang="zh-CN" sz="2400">
                <a:solidFill>
                  <a:schemeClr val="tx2"/>
                </a:solidFill>
              </a:endParaRPr>
            </a:p>
          </p:txBody>
        </p:sp>
        <p:sp>
          <p:nvSpPr>
            <p:cNvPr id="110611" name="Rectangle 138"/>
            <p:cNvSpPr>
              <a:spLocks noChangeArrowheads="1"/>
            </p:cNvSpPr>
            <p:nvPr/>
          </p:nvSpPr>
          <p:spPr bwMode="auto">
            <a:xfrm>
              <a:off x="2976" y="960"/>
              <a:ext cx="1200" cy="67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执行时</a:t>
              </a:r>
              <a:br>
                <a:rPr lang="zh-CN" altLang="en-US" sz="2400">
                  <a:solidFill>
                    <a:schemeClr val="tx2"/>
                  </a:solidFill>
                </a:rPr>
              </a:br>
              <a:r>
                <a:rPr lang="zh-CN" altLang="en-US" sz="2400">
                  <a:solidFill>
                    <a:schemeClr val="tx2"/>
                  </a:solidFill>
                </a:rPr>
                <a:t>间 (</a:t>
              </a:r>
              <a:r>
                <a:rPr lang="zh-CN" altLang="en-US" sz="2400">
                  <a:solidFill>
                    <a:schemeClr val="tx2"/>
                  </a:solidFill>
                  <a:sym typeface="Symbol" pitchFamily="18" charset="2"/>
                </a:rPr>
                <a:t></a:t>
              </a:r>
              <a:r>
                <a:rPr lang="en-US" altLang="zh-CN" sz="2400">
                  <a:solidFill>
                    <a:schemeClr val="tx2"/>
                  </a:solidFill>
                </a:rPr>
                <a:t>s)</a:t>
              </a:r>
            </a:p>
          </p:txBody>
        </p:sp>
        <p:sp>
          <p:nvSpPr>
            <p:cNvPr id="110612" name="Rectangle 139"/>
            <p:cNvSpPr>
              <a:spLocks noChangeArrowheads="1"/>
            </p:cNvSpPr>
            <p:nvPr/>
          </p:nvSpPr>
          <p:spPr bwMode="auto">
            <a:xfrm>
              <a:off x="2976" y="1968"/>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22</a:t>
              </a:r>
            </a:p>
          </p:txBody>
        </p:sp>
        <p:sp>
          <p:nvSpPr>
            <p:cNvPr id="110613" name="Rectangle 140"/>
            <p:cNvSpPr>
              <a:spLocks noChangeArrowheads="1"/>
            </p:cNvSpPr>
            <p:nvPr/>
          </p:nvSpPr>
          <p:spPr bwMode="auto">
            <a:xfrm>
              <a:off x="2976" y="2304"/>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19</a:t>
              </a:r>
            </a:p>
          </p:txBody>
        </p:sp>
        <p:sp>
          <p:nvSpPr>
            <p:cNvPr id="110614" name="Rectangle 141"/>
            <p:cNvSpPr>
              <a:spLocks noChangeArrowheads="1"/>
            </p:cNvSpPr>
            <p:nvPr/>
          </p:nvSpPr>
          <p:spPr bwMode="auto">
            <a:xfrm>
              <a:off x="2976" y="2640"/>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a:t>
              </a:r>
            </a:p>
          </p:txBody>
        </p:sp>
        <p:sp>
          <p:nvSpPr>
            <p:cNvPr id="110615" name="Rectangle 142"/>
            <p:cNvSpPr>
              <a:spLocks noChangeArrowheads="1"/>
            </p:cNvSpPr>
            <p:nvPr/>
          </p:nvSpPr>
          <p:spPr bwMode="auto">
            <a:xfrm>
              <a:off x="4176" y="1632"/>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10</a:t>
              </a:r>
              <a:endParaRPr lang="zh-CN" altLang="zh-CN" sz="2400">
                <a:solidFill>
                  <a:schemeClr val="tx2"/>
                </a:solidFill>
              </a:endParaRPr>
            </a:p>
          </p:txBody>
        </p:sp>
        <p:sp>
          <p:nvSpPr>
            <p:cNvPr id="110616" name="Rectangle 143"/>
            <p:cNvSpPr>
              <a:spLocks noChangeArrowheads="1"/>
            </p:cNvSpPr>
            <p:nvPr/>
          </p:nvSpPr>
          <p:spPr bwMode="auto">
            <a:xfrm>
              <a:off x="4176" y="960"/>
              <a:ext cx="1200" cy="672"/>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访问内</a:t>
              </a:r>
            </a:p>
            <a:p>
              <a:pPr algn="ctr" eaLnBrk="1" hangingPunct="1">
                <a:lnSpc>
                  <a:spcPct val="80000"/>
                </a:lnSpc>
                <a:spcBef>
                  <a:spcPct val="0"/>
                </a:spcBef>
                <a:buClrTx/>
                <a:buFontTx/>
                <a:buNone/>
              </a:pPr>
              <a:r>
                <a:rPr lang="zh-CN" altLang="en-US" sz="2400">
                  <a:solidFill>
                    <a:schemeClr val="tx2"/>
                  </a:solidFill>
                </a:rPr>
                <a:t>存次数</a:t>
              </a:r>
            </a:p>
          </p:txBody>
        </p:sp>
        <p:sp>
          <p:nvSpPr>
            <p:cNvPr id="110617" name="Rectangle 144"/>
            <p:cNvSpPr>
              <a:spLocks noChangeArrowheads="1"/>
            </p:cNvSpPr>
            <p:nvPr/>
          </p:nvSpPr>
          <p:spPr bwMode="auto">
            <a:xfrm>
              <a:off x="4176" y="1968"/>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15</a:t>
              </a:r>
            </a:p>
          </p:txBody>
        </p:sp>
        <p:sp>
          <p:nvSpPr>
            <p:cNvPr id="110618" name="Rectangle 145"/>
            <p:cNvSpPr>
              <a:spLocks noChangeArrowheads="1"/>
            </p:cNvSpPr>
            <p:nvPr/>
          </p:nvSpPr>
          <p:spPr bwMode="auto">
            <a:xfrm>
              <a:off x="4176" y="2304"/>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12</a:t>
              </a:r>
            </a:p>
          </p:txBody>
        </p:sp>
        <p:sp>
          <p:nvSpPr>
            <p:cNvPr id="110619" name="Rectangle 146"/>
            <p:cNvSpPr>
              <a:spLocks noChangeArrowheads="1"/>
            </p:cNvSpPr>
            <p:nvPr/>
          </p:nvSpPr>
          <p:spPr bwMode="auto">
            <a:xfrm>
              <a:off x="4176" y="2640"/>
              <a:ext cx="1200" cy="33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0.2</a:t>
              </a:r>
            </a:p>
          </p:txBody>
        </p:sp>
      </p:grpSp>
      <p:sp>
        <p:nvSpPr>
          <p:cNvPr id="110597" name="Text Box 147"/>
          <p:cNvSpPr txBox="1">
            <a:spLocks noChangeArrowheads="1"/>
          </p:cNvSpPr>
          <p:nvPr/>
        </p:nvSpPr>
        <p:spPr bwMode="auto">
          <a:xfrm>
            <a:off x="990600" y="3810000"/>
            <a:ext cx="4953000" cy="519113"/>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2800">
                <a:solidFill>
                  <a:srgbClr val="FF3300"/>
                </a:solidFill>
              </a:rPr>
              <a:t>过程调用所需开销的比较</a:t>
            </a:r>
          </a:p>
        </p:txBody>
      </p:sp>
      <p:sp>
        <p:nvSpPr>
          <p:cNvPr id="110598" name="Rectangle 151"/>
          <p:cNvSpPr>
            <a:spLocks noChangeArrowheads="1"/>
          </p:cNvSpPr>
          <p:nvPr/>
        </p:nvSpPr>
        <p:spPr bwMode="auto">
          <a:xfrm>
            <a:off x="6588125" y="981075"/>
            <a:ext cx="2305050" cy="5495925"/>
          </a:xfrm>
          <a:prstGeom prst="rect">
            <a:avLst/>
          </a:prstGeom>
          <a:noFill/>
          <a:ln w="57150" cmpd="thickThin">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SzPct val="55000"/>
              <a:buChar char="n"/>
              <a:defRPr kumimoji="1" sz="2800" b="1">
                <a:solidFill>
                  <a:schemeClr val="tx1"/>
                </a:solidFill>
                <a:latin typeface="Arial" charset="0"/>
                <a:ea typeface="楷体_GB2312" pitchFamily="49" charset="-122"/>
              </a:defRPr>
            </a:lvl2pPr>
            <a:lvl3pPr marL="1184275" indent="-228600" eaLnBrk="0" hangingPunct="0">
              <a:buSzPct val="65000"/>
              <a:buChar char="l"/>
              <a:defRPr kumimoji="1" sz="2400" b="1">
                <a:solidFill>
                  <a:schemeClr val="tx1"/>
                </a:solidFill>
                <a:latin typeface="Arial" charset="0"/>
                <a:ea typeface="楷体_GB2312" pitchFamily="49" charset="-122"/>
              </a:defRPr>
            </a:lvl3pPr>
            <a:lvl4pPr marL="1603375" indent="-228600" eaLnBrk="0" hangingPunct="0">
              <a:buSzPct val="85000"/>
              <a:buChar char="w"/>
              <a:defRPr kumimoji="1" sz="2000" b="1">
                <a:solidFill>
                  <a:schemeClr val="tx1"/>
                </a:solidFill>
                <a:latin typeface="Arial" charset="0"/>
                <a:ea typeface="楷体_GB2312" pitchFamily="49" charset="-122"/>
              </a:defRPr>
            </a:lvl4pPr>
            <a:lvl5pPr marL="2022475" indent="-228600" eaLnBrk="0" hangingPunct="0">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115000"/>
              </a:lnSpc>
              <a:buClr>
                <a:schemeClr val="tx1"/>
              </a:buClr>
              <a:buFont typeface="Wingdings" pitchFamily="2" charset="2"/>
              <a:buChar char="Ø"/>
            </a:pPr>
            <a:r>
              <a:rPr lang="en-US" altLang="zh-CN" sz="2400"/>
              <a:t>  Quick sort</a:t>
            </a:r>
            <a:r>
              <a:rPr lang="zh-CN" altLang="en-US" sz="2400"/>
              <a:t>程序的调用次数多，深度不大，而</a:t>
            </a:r>
            <a:r>
              <a:rPr lang="en-US" altLang="zh-CN" sz="2400"/>
              <a:t>Puzzle</a:t>
            </a:r>
            <a:r>
              <a:rPr lang="zh-CN" altLang="en-US" sz="2400"/>
              <a:t>程序正好相反。</a:t>
            </a:r>
          </a:p>
          <a:p>
            <a:pPr eaLnBrk="1" hangingPunct="1">
              <a:lnSpc>
                <a:spcPct val="115000"/>
              </a:lnSpc>
              <a:buClr>
                <a:schemeClr val="tx1"/>
              </a:buClr>
              <a:buFont typeface="Wingdings" pitchFamily="2" charset="2"/>
              <a:buChar char="Ø"/>
            </a:pPr>
            <a:r>
              <a:rPr lang="en-US" altLang="zh-CN" sz="2400">
                <a:solidFill>
                  <a:schemeClr val="tx2"/>
                </a:solidFill>
              </a:rPr>
              <a:t>  VAX-11、 PDP-11、 MC68000</a:t>
            </a:r>
            <a:r>
              <a:rPr lang="zh-CN" altLang="en-US" sz="2400">
                <a:solidFill>
                  <a:schemeClr val="tx2"/>
                </a:solidFill>
              </a:rPr>
              <a:t>为</a:t>
            </a:r>
            <a:r>
              <a:rPr lang="en-US" altLang="zh-CN" sz="2400">
                <a:solidFill>
                  <a:schemeClr val="tx2"/>
                </a:solidFill>
              </a:rPr>
              <a:t>CISC</a:t>
            </a:r>
            <a:r>
              <a:rPr lang="zh-CN" altLang="en-US" sz="2400">
                <a:solidFill>
                  <a:schemeClr val="tx2"/>
                </a:solidFill>
              </a:rPr>
              <a:t>计算机， </a:t>
            </a:r>
            <a:r>
              <a:rPr lang="en-US" altLang="zh-CN" sz="2400">
                <a:solidFill>
                  <a:schemeClr val="tx2"/>
                </a:solidFill>
              </a:rPr>
              <a:t>RISC II</a:t>
            </a:r>
            <a:r>
              <a:rPr lang="zh-CN" altLang="en-US" sz="2400">
                <a:solidFill>
                  <a:schemeClr val="tx2"/>
                </a:solidFill>
              </a:rPr>
              <a:t>为</a:t>
            </a:r>
            <a:r>
              <a:rPr lang="en-US" altLang="zh-CN" sz="2400">
                <a:solidFill>
                  <a:schemeClr val="tx2"/>
                </a:solidFill>
              </a:rPr>
              <a:t>RISC</a:t>
            </a:r>
            <a:r>
              <a:rPr lang="zh-CN" altLang="en-US" sz="2400">
                <a:solidFill>
                  <a:schemeClr val="tx2"/>
                </a:solidFill>
              </a:rPr>
              <a:t>计算机。</a:t>
            </a:r>
          </a:p>
        </p:txBody>
      </p:sp>
      <p:sp>
        <p:nvSpPr>
          <p:cNvPr id="110599" name="Text Box 15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3</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p:txBody>
          <a:bodyPr/>
          <a:lstStyle/>
          <a:p>
            <a:pPr eaLnBrk="1" hangingPunct="1">
              <a:defRPr/>
            </a:pPr>
            <a:r>
              <a:rPr lang="zh-CN" altLang="en-US" smtClean="0"/>
              <a:t>重叠寄存器窗口技术</a:t>
            </a:r>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的关键技术</a:t>
            </a:r>
            <a:endParaRPr lang="zh-CN" altLang="en-US" sz="1200" b="0">
              <a:latin typeface="Times New Roman" pitchFamily="18" charset="0"/>
              <a:ea typeface="幼圆" pitchFamily="49" charset="-122"/>
            </a:endParaRPr>
          </a:p>
        </p:txBody>
      </p:sp>
      <p:sp>
        <p:nvSpPr>
          <p:cNvPr id="368645" name="Rectangle 5"/>
          <p:cNvSpPr>
            <a:spLocks noGrp="1" noChangeArrowheads="1"/>
          </p:cNvSpPr>
          <p:nvPr>
            <p:ph type="body" idx="1"/>
          </p:nvPr>
        </p:nvSpPr>
        <p:spPr/>
        <p:txBody>
          <a:bodyPr/>
          <a:lstStyle/>
          <a:p>
            <a:pPr marL="0" indent="0" eaLnBrk="1" hangingPunct="1">
              <a:lnSpc>
                <a:spcPct val="115000"/>
              </a:lnSpc>
              <a:buClr>
                <a:srgbClr val="FF3300"/>
              </a:buClr>
              <a:defRPr/>
            </a:pPr>
            <a:r>
              <a:rPr lang="zh-CN" altLang="en-US" dirty="0" smtClean="0">
                <a:solidFill>
                  <a:srgbClr val="FF3300"/>
                </a:solidFill>
                <a:effectLst>
                  <a:outerShdw blurRad="38100" dist="38100" dir="2700000" algn="tl">
                    <a:srgbClr val="C0C0C0"/>
                  </a:outerShdw>
                </a:effectLst>
              </a:rPr>
              <a:t>  设计问题</a:t>
            </a:r>
          </a:p>
          <a:p>
            <a:pPr marL="0" indent="0" eaLnBrk="1" hangingPunct="1">
              <a:lnSpc>
                <a:spcPct val="115000"/>
              </a:lnSpc>
              <a:buFont typeface="Wingdings" pitchFamily="2" charset="2"/>
              <a:buNone/>
              <a:defRPr/>
            </a:pPr>
            <a:r>
              <a:rPr lang="zh-CN" altLang="en-US" dirty="0" smtClean="0"/>
              <a:t>    寄存器设置多少个组？每个组多少个寄存器？</a:t>
            </a:r>
          </a:p>
          <a:p>
            <a:pPr marL="0" indent="0" eaLnBrk="1" hangingPunct="1">
              <a:lnSpc>
                <a:spcPct val="115000"/>
              </a:lnSpc>
              <a:buClr>
                <a:srgbClr val="FF3300"/>
              </a:buClr>
              <a:defRPr/>
            </a:pPr>
            <a:r>
              <a:rPr lang="zh-CN" altLang="en-US" dirty="0" smtClean="0"/>
              <a:t>  </a:t>
            </a:r>
            <a:r>
              <a:rPr lang="zh-CN" altLang="en-US" dirty="0" smtClean="0">
                <a:solidFill>
                  <a:srgbClr val="FF3300"/>
                </a:solidFill>
                <a:effectLst>
                  <a:outerShdw blurRad="38100" dist="38100" dir="2700000" algn="tl">
                    <a:srgbClr val="C0C0C0"/>
                  </a:outerShdw>
                </a:effectLst>
              </a:rPr>
              <a:t>解决方法</a:t>
            </a:r>
          </a:p>
          <a:p>
            <a:pPr marL="0" indent="0" eaLnBrk="1" hangingPunct="1">
              <a:lnSpc>
                <a:spcPct val="115000"/>
              </a:lnSpc>
              <a:buFont typeface="Wingdings" pitchFamily="2" charset="2"/>
              <a:buNone/>
              <a:defRPr/>
            </a:pPr>
            <a:r>
              <a:rPr lang="zh-CN" altLang="en-US" dirty="0" smtClean="0"/>
              <a:t>    嵌套调用不超过8层，每层24个寄存器（每个区8个寄存器）可基本满足要求，不满足概率在1%左右（可使用</a:t>
            </a:r>
            <a:r>
              <a:rPr lang="zh-CN" altLang="en-US" dirty="0" smtClean="0">
                <a:solidFill>
                  <a:srgbClr val="3333FF"/>
                </a:solidFill>
              </a:rPr>
              <a:t>主存缓冲</a:t>
            </a:r>
            <a:r>
              <a:rPr lang="zh-CN" altLang="en-US" dirty="0" smtClean="0"/>
              <a:t>）。</a:t>
            </a:r>
          </a:p>
        </p:txBody>
      </p:sp>
      <p:sp>
        <p:nvSpPr>
          <p:cNvPr id="11162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sz="1200" b="0">
                <a:latin typeface="幼圆" pitchFamily="49" charset="-122"/>
                <a:ea typeface="幼圆" pitchFamily="49" charset="-122"/>
              </a:rPr>
              <a:t>4 之 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pPr eaLnBrk="1" hangingPunct="1">
              <a:defRPr/>
            </a:pPr>
            <a:r>
              <a:rPr lang="zh-CN" altLang="en-US" smtClean="0"/>
              <a:t>延时转移技术</a:t>
            </a: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的关键技术</a:t>
            </a:r>
            <a:endParaRPr lang="zh-CN" altLang="en-US" sz="1200" b="0">
              <a:latin typeface="Times New Roman" pitchFamily="18" charset="0"/>
              <a:ea typeface="幼圆" pitchFamily="49" charset="-122"/>
            </a:endParaRPr>
          </a:p>
        </p:txBody>
      </p:sp>
      <p:sp>
        <p:nvSpPr>
          <p:cNvPr id="363524" name="Rectangle 4"/>
          <p:cNvSpPr>
            <a:spLocks noGrp="1" noChangeArrowheads="1"/>
          </p:cNvSpPr>
          <p:nvPr>
            <p:ph type="body" idx="1"/>
          </p:nvPr>
        </p:nvSpPr>
        <p:spPr/>
        <p:txBody>
          <a:bodyPr/>
          <a:lstStyle/>
          <a:p>
            <a:pPr eaLnBrk="1" hangingPunct="1">
              <a:buClr>
                <a:srgbClr val="FF3300"/>
              </a:buClr>
              <a:defRPr/>
            </a:pPr>
            <a:r>
              <a:rPr lang="zh-CN" altLang="en-US" dirty="0" smtClean="0">
                <a:solidFill>
                  <a:srgbClr val="FF3300"/>
                </a:solidFill>
                <a:effectLst>
                  <a:outerShdw blurRad="38100" dist="38100" dir="2700000" algn="tl">
                    <a:srgbClr val="C0C0C0"/>
                  </a:outerShdw>
                </a:effectLst>
              </a:rPr>
              <a:t> 问题</a:t>
            </a:r>
          </a:p>
          <a:p>
            <a:pPr eaLnBrk="1" hangingPunct="1">
              <a:buFont typeface="Wingdings" pitchFamily="2" charset="2"/>
              <a:buNone/>
              <a:defRPr/>
            </a:pPr>
            <a:r>
              <a:rPr lang="zh-CN" altLang="en-US" dirty="0" smtClean="0"/>
              <a:t>    （条件）转移指令会引起流水线断流。</a:t>
            </a:r>
          </a:p>
        </p:txBody>
      </p:sp>
      <p:sp>
        <p:nvSpPr>
          <p:cNvPr id="112645" name="Rectangle 6"/>
          <p:cNvSpPr>
            <a:spLocks noChangeArrowheads="1"/>
          </p:cNvSpPr>
          <p:nvPr/>
        </p:nvSpPr>
        <p:spPr bwMode="auto">
          <a:xfrm>
            <a:off x="4191000" y="3581400"/>
            <a:ext cx="439738" cy="3968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F</a:t>
            </a:r>
          </a:p>
        </p:txBody>
      </p:sp>
      <p:sp>
        <p:nvSpPr>
          <p:cNvPr id="112646" name="Rectangle 7"/>
          <p:cNvSpPr>
            <a:spLocks noChangeArrowheads="1"/>
          </p:cNvSpPr>
          <p:nvPr/>
        </p:nvSpPr>
        <p:spPr bwMode="auto">
          <a:xfrm>
            <a:off x="4648200" y="3581400"/>
            <a:ext cx="439738" cy="3968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E</a:t>
            </a:r>
          </a:p>
        </p:txBody>
      </p:sp>
      <p:sp>
        <p:nvSpPr>
          <p:cNvPr id="112647" name="Rectangle 8"/>
          <p:cNvSpPr>
            <a:spLocks noChangeArrowheads="1"/>
          </p:cNvSpPr>
          <p:nvPr/>
        </p:nvSpPr>
        <p:spPr bwMode="auto">
          <a:xfrm>
            <a:off x="4648200" y="4114800"/>
            <a:ext cx="439738" cy="3968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F</a:t>
            </a:r>
          </a:p>
        </p:txBody>
      </p:sp>
      <p:sp>
        <p:nvSpPr>
          <p:cNvPr id="112648" name="Rectangle 9"/>
          <p:cNvSpPr>
            <a:spLocks noChangeArrowheads="1"/>
          </p:cNvSpPr>
          <p:nvPr/>
        </p:nvSpPr>
        <p:spPr bwMode="auto">
          <a:xfrm>
            <a:off x="5105400" y="4114800"/>
            <a:ext cx="441325" cy="3968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E</a:t>
            </a:r>
          </a:p>
        </p:txBody>
      </p:sp>
      <p:sp>
        <p:nvSpPr>
          <p:cNvPr id="112649" name="Rectangle 10"/>
          <p:cNvSpPr>
            <a:spLocks noChangeArrowheads="1"/>
          </p:cNvSpPr>
          <p:nvPr/>
        </p:nvSpPr>
        <p:spPr bwMode="auto">
          <a:xfrm>
            <a:off x="5105400" y="4648200"/>
            <a:ext cx="441325" cy="3968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F</a:t>
            </a:r>
          </a:p>
        </p:txBody>
      </p:sp>
      <p:sp>
        <p:nvSpPr>
          <p:cNvPr id="112650" name="Rectangle 11"/>
          <p:cNvSpPr>
            <a:spLocks noChangeArrowheads="1"/>
          </p:cNvSpPr>
          <p:nvPr/>
        </p:nvSpPr>
        <p:spPr bwMode="auto">
          <a:xfrm>
            <a:off x="5562600" y="4648200"/>
            <a:ext cx="441325" cy="3968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E</a:t>
            </a:r>
          </a:p>
        </p:txBody>
      </p:sp>
      <p:sp>
        <p:nvSpPr>
          <p:cNvPr id="112651" name="Rectangle 12"/>
          <p:cNvSpPr>
            <a:spLocks noChangeArrowheads="1"/>
          </p:cNvSpPr>
          <p:nvPr/>
        </p:nvSpPr>
        <p:spPr bwMode="auto">
          <a:xfrm>
            <a:off x="5562600" y="5562600"/>
            <a:ext cx="441325" cy="3968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F</a:t>
            </a:r>
          </a:p>
        </p:txBody>
      </p:sp>
      <p:sp>
        <p:nvSpPr>
          <p:cNvPr id="112652" name="Rectangle 13"/>
          <p:cNvSpPr>
            <a:spLocks noChangeArrowheads="1"/>
          </p:cNvSpPr>
          <p:nvPr/>
        </p:nvSpPr>
        <p:spPr bwMode="auto">
          <a:xfrm>
            <a:off x="6019800" y="5562600"/>
            <a:ext cx="439738" cy="396875"/>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E</a:t>
            </a:r>
          </a:p>
        </p:txBody>
      </p:sp>
      <p:sp>
        <p:nvSpPr>
          <p:cNvPr id="112653" name="Text Box 14"/>
          <p:cNvSpPr txBox="1">
            <a:spLocks noChangeArrowheads="1"/>
          </p:cNvSpPr>
          <p:nvPr/>
        </p:nvSpPr>
        <p:spPr bwMode="auto">
          <a:xfrm>
            <a:off x="990600" y="3492372"/>
            <a:ext cx="3207609"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spAutoFit/>
          </a:bodyPr>
          <a:lstStyle>
            <a:lvl1pPr eaLnBrk="0" hangingPunct="0">
              <a:buChar char="w"/>
              <a:tabLst>
                <a:tab pos="476250" algn="l"/>
                <a:tab pos="1527175" algn="l"/>
              </a:tabLst>
              <a:defRPr kumimoji="1" sz="3200" b="1">
                <a:solidFill>
                  <a:schemeClr val="tx1"/>
                </a:solidFill>
                <a:latin typeface="Arial" charset="0"/>
                <a:ea typeface="楷体_GB2312" pitchFamily="49" charset="-122"/>
              </a:defRPr>
            </a:lvl1pPr>
            <a:lvl2pPr marL="742950" indent="-285750" eaLnBrk="0" hangingPunct="0">
              <a:buSzPct val="55000"/>
              <a:buChar char="n"/>
              <a:tabLst>
                <a:tab pos="476250" algn="l"/>
                <a:tab pos="1527175" algn="l"/>
              </a:tabLst>
              <a:defRPr kumimoji="1" sz="2800" b="1">
                <a:solidFill>
                  <a:schemeClr val="tx1"/>
                </a:solidFill>
                <a:latin typeface="Arial" charset="0"/>
                <a:ea typeface="楷体_GB2312" pitchFamily="49" charset="-122"/>
              </a:defRPr>
            </a:lvl2pPr>
            <a:lvl3pPr marL="1143000" indent="-228600" eaLnBrk="0" hangingPunct="0">
              <a:buSzPct val="65000"/>
              <a:buChar char="l"/>
              <a:tabLst>
                <a:tab pos="476250" algn="l"/>
                <a:tab pos="1527175" algn="l"/>
              </a:tabLst>
              <a:defRPr kumimoji="1" sz="2400" b="1">
                <a:solidFill>
                  <a:schemeClr val="tx1"/>
                </a:solidFill>
                <a:latin typeface="Arial" charset="0"/>
                <a:ea typeface="楷体_GB2312" pitchFamily="49" charset="-122"/>
              </a:defRPr>
            </a:lvl3pPr>
            <a:lvl4pPr marL="1600200" indent="-228600" eaLnBrk="0" hangingPunct="0">
              <a:buSzPct val="85000"/>
              <a:buChar char="w"/>
              <a:tabLst>
                <a:tab pos="476250" algn="l"/>
                <a:tab pos="1527175" algn="l"/>
              </a:tabLst>
              <a:defRPr kumimoji="1" sz="2000" b="1">
                <a:solidFill>
                  <a:schemeClr val="tx1"/>
                </a:solidFill>
                <a:latin typeface="Arial" charset="0"/>
                <a:ea typeface="楷体_GB2312" pitchFamily="49" charset="-122"/>
              </a:defRPr>
            </a:lvl4pPr>
            <a:lvl5pPr marL="2057400" indent="-228600" eaLnBrk="0" hangingPunct="0">
              <a:buSzPct val="80000"/>
              <a:buChar char="§"/>
              <a:tabLst>
                <a:tab pos="476250" algn="l"/>
                <a:tab pos="1527175" algn="l"/>
              </a:tabLst>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9pPr>
          </a:lstStyle>
          <a:p>
            <a:pPr eaLnBrk="1" hangingPunct="1">
              <a:spcBef>
                <a:spcPct val="50000"/>
              </a:spcBef>
              <a:buClrTx/>
              <a:buFontTx/>
              <a:buNone/>
            </a:pPr>
            <a:r>
              <a:rPr lang="zh-CN" altLang="zh-CN" dirty="0">
                <a:solidFill>
                  <a:schemeClr val="tx2"/>
                </a:solidFill>
                <a:latin typeface="Arial Narrow" pitchFamily="34" charset="0"/>
              </a:rPr>
              <a:t>1:</a:t>
            </a:r>
            <a:r>
              <a:rPr lang="zh-CN" altLang="zh-CN" dirty="0">
                <a:latin typeface="Arial Narrow" pitchFamily="34" charset="0"/>
              </a:rPr>
              <a:t>		</a:t>
            </a:r>
            <a:r>
              <a:rPr lang="en-US" altLang="zh-CN" dirty="0">
                <a:latin typeface="Arial Narrow" pitchFamily="34" charset="0"/>
              </a:rPr>
              <a:t>add r1, r2</a:t>
            </a:r>
            <a:br>
              <a:rPr lang="en-US" altLang="zh-CN" dirty="0">
                <a:latin typeface="Arial Narrow" pitchFamily="34" charset="0"/>
              </a:rPr>
            </a:br>
            <a:r>
              <a:rPr lang="en-US" altLang="zh-CN" dirty="0">
                <a:solidFill>
                  <a:schemeClr val="tx2"/>
                </a:solidFill>
                <a:latin typeface="Arial Narrow" pitchFamily="34" charset="0"/>
              </a:rPr>
              <a:t>2:	</a:t>
            </a:r>
            <a:r>
              <a:rPr lang="en-US" altLang="zh-CN" dirty="0">
                <a:latin typeface="Arial Narrow" pitchFamily="34" charset="0"/>
              </a:rPr>
              <a:t>	</a:t>
            </a:r>
            <a:r>
              <a:rPr lang="en-US" altLang="zh-CN" dirty="0" err="1">
                <a:latin typeface="Arial Narrow" pitchFamily="34" charset="0"/>
              </a:rPr>
              <a:t>jmp</a:t>
            </a:r>
            <a:r>
              <a:rPr lang="en-US" altLang="zh-CN" dirty="0">
                <a:latin typeface="Arial Narrow" pitchFamily="34" charset="0"/>
              </a:rPr>
              <a:t> next2</a:t>
            </a:r>
            <a:br>
              <a:rPr lang="en-US" altLang="zh-CN" dirty="0">
                <a:latin typeface="Arial Narrow" pitchFamily="34" charset="0"/>
              </a:rPr>
            </a:br>
            <a:r>
              <a:rPr lang="en-US" altLang="zh-CN" dirty="0">
                <a:solidFill>
                  <a:schemeClr val="tx2"/>
                </a:solidFill>
                <a:latin typeface="Arial Narrow" pitchFamily="34" charset="0"/>
              </a:rPr>
              <a:t>3:</a:t>
            </a:r>
            <a:r>
              <a:rPr lang="en-US" altLang="zh-CN" dirty="0">
                <a:latin typeface="Arial Narrow" pitchFamily="34" charset="0"/>
              </a:rPr>
              <a:t>	next1:	sub r3, r4</a:t>
            </a:r>
            <a:br>
              <a:rPr lang="en-US" altLang="zh-CN" dirty="0">
                <a:latin typeface="Arial Narrow" pitchFamily="34" charset="0"/>
              </a:rPr>
            </a:br>
            <a:r>
              <a:rPr lang="en-US" altLang="zh-CN" dirty="0">
                <a:latin typeface="Arial Narrow" pitchFamily="34" charset="0"/>
              </a:rPr>
              <a:t>		……</a:t>
            </a:r>
            <a:br>
              <a:rPr lang="en-US" altLang="zh-CN" dirty="0">
                <a:latin typeface="Arial Narrow" pitchFamily="34" charset="0"/>
              </a:rPr>
            </a:br>
            <a:r>
              <a:rPr lang="en-US" altLang="zh-CN" dirty="0">
                <a:solidFill>
                  <a:schemeClr val="tx2"/>
                </a:solidFill>
                <a:latin typeface="Arial Narrow" pitchFamily="34" charset="0"/>
              </a:rPr>
              <a:t>n:	</a:t>
            </a:r>
            <a:r>
              <a:rPr lang="en-US" altLang="zh-CN" dirty="0">
                <a:latin typeface="Arial Narrow" pitchFamily="34" charset="0"/>
              </a:rPr>
              <a:t>next2:	move r4, a</a:t>
            </a:r>
          </a:p>
        </p:txBody>
      </p:sp>
      <p:sp>
        <p:nvSpPr>
          <p:cNvPr id="112654" name="Rectangle 15"/>
          <p:cNvSpPr>
            <a:spLocks noChangeArrowheads="1"/>
          </p:cNvSpPr>
          <p:nvPr/>
        </p:nvSpPr>
        <p:spPr bwMode="auto">
          <a:xfrm>
            <a:off x="6199188" y="3684588"/>
            <a:ext cx="24209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lnSpc>
                <a:spcPct val="80000"/>
              </a:lnSpc>
              <a:spcBef>
                <a:spcPct val="0"/>
              </a:spcBef>
              <a:buClrTx/>
              <a:buFontTx/>
              <a:buNone/>
            </a:pPr>
            <a:r>
              <a:rPr lang="zh-CN" altLang="en-US" sz="2800">
                <a:solidFill>
                  <a:schemeClr val="tx2"/>
                </a:solidFill>
                <a:latin typeface="Book Antiqua" pitchFamily="18" charset="0"/>
              </a:rPr>
              <a:t>产生转移地址</a:t>
            </a:r>
          </a:p>
        </p:txBody>
      </p:sp>
      <p:sp>
        <p:nvSpPr>
          <p:cNvPr id="112655" name="Rectangle 16"/>
          <p:cNvSpPr>
            <a:spLocks noChangeArrowheads="1"/>
          </p:cNvSpPr>
          <p:nvPr/>
        </p:nvSpPr>
        <p:spPr bwMode="auto">
          <a:xfrm>
            <a:off x="6199188" y="4081463"/>
            <a:ext cx="2189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lnSpc>
                <a:spcPct val="80000"/>
              </a:lnSpc>
              <a:spcBef>
                <a:spcPct val="0"/>
              </a:spcBef>
              <a:buClrTx/>
              <a:buFontTx/>
              <a:buNone/>
            </a:pPr>
            <a:r>
              <a:rPr lang="zh-CN" altLang="en-US" sz="2800">
                <a:solidFill>
                  <a:schemeClr val="tx2"/>
                </a:solidFill>
                <a:latin typeface="Book Antiqua" pitchFamily="18" charset="0"/>
              </a:rPr>
              <a:t>指令作废</a:t>
            </a:r>
          </a:p>
        </p:txBody>
      </p:sp>
      <p:sp>
        <p:nvSpPr>
          <p:cNvPr id="112656" name="Rectangle 17"/>
          <p:cNvSpPr>
            <a:spLocks noChangeArrowheads="1"/>
          </p:cNvSpPr>
          <p:nvPr/>
        </p:nvSpPr>
        <p:spPr bwMode="auto">
          <a:xfrm>
            <a:off x="7019925" y="4581525"/>
            <a:ext cx="1757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lnSpc>
                <a:spcPct val="80000"/>
              </a:lnSpc>
              <a:spcBef>
                <a:spcPct val="0"/>
              </a:spcBef>
              <a:buClrTx/>
              <a:buFontTx/>
              <a:buNone/>
            </a:pPr>
            <a:r>
              <a:rPr lang="zh-CN" altLang="en-US" sz="2800">
                <a:solidFill>
                  <a:schemeClr val="tx2"/>
                </a:solidFill>
                <a:latin typeface="Book Antiqua" pitchFamily="18" charset="0"/>
              </a:rPr>
              <a:t>重新取指令</a:t>
            </a:r>
          </a:p>
        </p:txBody>
      </p:sp>
      <p:sp>
        <p:nvSpPr>
          <p:cNvPr id="112657" name="Line 18"/>
          <p:cNvSpPr>
            <a:spLocks noChangeShapeType="1"/>
          </p:cNvSpPr>
          <p:nvPr/>
        </p:nvSpPr>
        <p:spPr bwMode="auto">
          <a:xfrm flipV="1">
            <a:off x="5538788" y="3883025"/>
            <a:ext cx="512762" cy="463550"/>
          </a:xfrm>
          <a:prstGeom prst="line">
            <a:avLst/>
          </a:prstGeom>
          <a:noFill/>
          <a:ln w="38100">
            <a:solidFill>
              <a:schemeClr val="tx2"/>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8" name="Line 19"/>
          <p:cNvSpPr>
            <a:spLocks noChangeShapeType="1"/>
          </p:cNvSpPr>
          <p:nvPr/>
        </p:nvSpPr>
        <p:spPr bwMode="auto">
          <a:xfrm flipH="1">
            <a:off x="6051550" y="3883025"/>
            <a:ext cx="147638" cy="15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9" name="Line 20"/>
          <p:cNvSpPr>
            <a:spLocks noChangeShapeType="1"/>
          </p:cNvSpPr>
          <p:nvPr/>
        </p:nvSpPr>
        <p:spPr bwMode="auto">
          <a:xfrm flipV="1">
            <a:off x="5980113" y="4279900"/>
            <a:ext cx="511175" cy="463550"/>
          </a:xfrm>
          <a:prstGeom prst="line">
            <a:avLst/>
          </a:prstGeom>
          <a:noFill/>
          <a:ln w="38100">
            <a:solidFill>
              <a:schemeClr val="tx2"/>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0" name="Line 21"/>
          <p:cNvSpPr>
            <a:spLocks noChangeShapeType="1"/>
          </p:cNvSpPr>
          <p:nvPr/>
        </p:nvSpPr>
        <p:spPr bwMode="auto">
          <a:xfrm flipH="1">
            <a:off x="6491288" y="4279900"/>
            <a:ext cx="368300" cy="15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1" name="Line 22"/>
          <p:cNvSpPr>
            <a:spLocks noChangeShapeType="1"/>
          </p:cNvSpPr>
          <p:nvPr/>
        </p:nvSpPr>
        <p:spPr bwMode="auto">
          <a:xfrm flipV="1">
            <a:off x="6419850" y="4941888"/>
            <a:ext cx="528638" cy="660400"/>
          </a:xfrm>
          <a:prstGeom prst="line">
            <a:avLst/>
          </a:prstGeom>
          <a:noFill/>
          <a:ln w="38100">
            <a:solidFill>
              <a:schemeClr val="tx2"/>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2" name="Text Box 2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4</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pPr eaLnBrk="1" hangingPunct="1">
              <a:defRPr/>
            </a:pPr>
            <a:r>
              <a:rPr lang="zh-CN" altLang="en-US" smtClean="0"/>
              <a:t>延时转移技术</a:t>
            </a:r>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7" action="ppaction://hlinksldjump"/>
              </a:rPr>
              <a:t>RISC</a:t>
            </a:r>
            <a:r>
              <a:rPr lang="zh-CN" altLang="en-US" sz="1200" b="0">
                <a:latin typeface="Times New Roman" pitchFamily="18" charset="0"/>
                <a:ea typeface="幼圆" pitchFamily="49" charset="-122"/>
                <a:hlinkClick r:id="rId7" action="ppaction://hlinksldjump"/>
              </a:rPr>
              <a:t>的关键技术</a:t>
            </a:r>
            <a:endParaRPr lang="zh-CN" altLang="en-US" sz="1200" b="0">
              <a:latin typeface="Times New Roman" pitchFamily="18" charset="0"/>
              <a:ea typeface="幼圆" pitchFamily="49" charset="-122"/>
            </a:endParaRPr>
          </a:p>
        </p:txBody>
      </p:sp>
      <p:sp>
        <p:nvSpPr>
          <p:cNvPr id="371716" name="Rectangle 4"/>
          <p:cNvSpPr>
            <a:spLocks noGrp="1" noChangeArrowheads="1"/>
          </p:cNvSpPr>
          <p:nvPr>
            <p:ph type="body" idx="1"/>
          </p:nvPr>
        </p:nvSpPr>
        <p:spPr>
          <a:xfrm>
            <a:off x="809625" y="1916113"/>
            <a:ext cx="7958138" cy="1397000"/>
          </a:xfrm>
        </p:spPr>
        <p:txBody>
          <a:bodyPr/>
          <a:lstStyle/>
          <a:p>
            <a:pPr eaLnBrk="1" hangingPunct="1">
              <a:buClr>
                <a:srgbClr val="FF3300"/>
              </a:buClr>
              <a:defRPr/>
            </a:pPr>
            <a:r>
              <a:rPr lang="zh-CN" altLang="en-US" smtClean="0">
                <a:solidFill>
                  <a:srgbClr val="FF3300"/>
                </a:solidFill>
                <a:effectLst>
                  <a:outerShdw blurRad="38100" dist="38100" dir="2700000" algn="tl">
                    <a:srgbClr val="C0C0C0"/>
                  </a:outerShdw>
                </a:effectLst>
              </a:rPr>
              <a:t> 解决</a:t>
            </a:r>
          </a:p>
          <a:p>
            <a:pPr eaLnBrk="1" hangingPunct="1">
              <a:buFont typeface="Wingdings" pitchFamily="2" charset="2"/>
              <a:buNone/>
              <a:defRPr/>
            </a:pPr>
            <a:r>
              <a:rPr lang="zh-CN" altLang="en-US" smtClean="0"/>
              <a:t>    延时转移技术。</a:t>
            </a:r>
          </a:p>
        </p:txBody>
      </p:sp>
      <p:sp>
        <p:nvSpPr>
          <p:cNvPr id="113669" name="Rectangle 23"/>
          <p:cNvSpPr>
            <a:spLocks noChangeArrowheads="1"/>
          </p:cNvSpPr>
          <p:nvPr/>
        </p:nvSpPr>
        <p:spPr bwMode="auto">
          <a:xfrm>
            <a:off x="4191000" y="3657600"/>
            <a:ext cx="457200"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F</a:t>
            </a:r>
          </a:p>
        </p:txBody>
      </p:sp>
      <p:sp>
        <p:nvSpPr>
          <p:cNvPr id="113670" name="Rectangle 24"/>
          <p:cNvSpPr>
            <a:spLocks noChangeArrowheads="1"/>
          </p:cNvSpPr>
          <p:nvPr/>
        </p:nvSpPr>
        <p:spPr bwMode="auto">
          <a:xfrm>
            <a:off x="4648200" y="3657600"/>
            <a:ext cx="425450"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E</a:t>
            </a:r>
          </a:p>
        </p:txBody>
      </p:sp>
      <p:sp>
        <p:nvSpPr>
          <p:cNvPr id="113671" name="Rectangle 25"/>
          <p:cNvSpPr>
            <a:spLocks noChangeArrowheads="1"/>
          </p:cNvSpPr>
          <p:nvPr/>
        </p:nvSpPr>
        <p:spPr bwMode="auto">
          <a:xfrm>
            <a:off x="4625975" y="4191000"/>
            <a:ext cx="425450"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F</a:t>
            </a:r>
          </a:p>
        </p:txBody>
      </p:sp>
      <p:sp>
        <p:nvSpPr>
          <p:cNvPr id="113672" name="Rectangle 26"/>
          <p:cNvSpPr>
            <a:spLocks noChangeArrowheads="1"/>
          </p:cNvSpPr>
          <p:nvPr/>
        </p:nvSpPr>
        <p:spPr bwMode="auto">
          <a:xfrm>
            <a:off x="5051425" y="4191000"/>
            <a:ext cx="427038"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E</a:t>
            </a:r>
          </a:p>
        </p:txBody>
      </p:sp>
      <p:sp>
        <p:nvSpPr>
          <p:cNvPr id="113673" name="Rectangle 27"/>
          <p:cNvSpPr>
            <a:spLocks noChangeArrowheads="1"/>
          </p:cNvSpPr>
          <p:nvPr/>
        </p:nvSpPr>
        <p:spPr bwMode="auto">
          <a:xfrm>
            <a:off x="5051425" y="5638800"/>
            <a:ext cx="427038"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F</a:t>
            </a:r>
          </a:p>
        </p:txBody>
      </p:sp>
      <p:sp>
        <p:nvSpPr>
          <p:cNvPr id="113674" name="Rectangle 28"/>
          <p:cNvSpPr>
            <a:spLocks noChangeArrowheads="1"/>
          </p:cNvSpPr>
          <p:nvPr/>
        </p:nvSpPr>
        <p:spPr bwMode="auto">
          <a:xfrm>
            <a:off x="5478463" y="5638800"/>
            <a:ext cx="427037"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lnSpc>
                <a:spcPct val="80000"/>
              </a:lnSpc>
              <a:spcBef>
                <a:spcPct val="0"/>
              </a:spcBef>
              <a:buClrTx/>
              <a:buFontTx/>
              <a:buNone/>
            </a:pPr>
            <a:r>
              <a:rPr lang="en-US" altLang="zh-CN" b="0">
                <a:solidFill>
                  <a:schemeClr val="tx2"/>
                </a:solidFill>
                <a:latin typeface="Book Antiqua" pitchFamily="18" charset="0"/>
              </a:rPr>
              <a:t>E</a:t>
            </a:r>
          </a:p>
        </p:txBody>
      </p:sp>
      <p:sp>
        <p:nvSpPr>
          <p:cNvPr id="113675" name="Text Box 29"/>
          <p:cNvSpPr txBox="1">
            <a:spLocks noChangeArrowheads="1"/>
          </p:cNvSpPr>
          <p:nvPr/>
        </p:nvSpPr>
        <p:spPr bwMode="auto">
          <a:xfrm>
            <a:off x="971600" y="3573016"/>
            <a:ext cx="3207609"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spAutoFit/>
          </a:bodyPr>
          <a:lstStyle>
            <a:lvl1pPr eaLnBrk="0" hangingPunct="0">
              <a:buChar char="w"/>
              <a:tabLst>
                <a:tab pos="476250" algn="l"/>
                <a:tab pos="1527175" algn="l"/>
              </a:tabLst>
              <a:defRPr kumimoji="1" sz="3200" b="1">
                <a:solidFill>
                  <a:schemeClr val="tx1"/>
                </a:solidFill>
                <a:latin typeface="Arial" charset="0"/>
                <a:ea typeface="楷体_GB2312" pitchFamily="49" charset="-122"/>
              </a:defRPr>
            </a:lvl1pPr>
            <a:lvl2pPr marL="742950" indent="-285750" eaLnBrk="0" hangingPunct="0">
              <a:buSzPct val="55000"/>
              <a:buChar char="n"/>
              <a:tabLst>
                <a:tab pos="476250" algn="l"/>
                <a:tab pos="1527175" algn="l"/>
              </a:tabLst>
              <a:defRPr kumimoji="1" sz="2800" b="1">
                <a:solidFill>
                  <a:schemeClr val="tx1"/>
                </a:solidFill>
                <a:latin typeface="Arial" charset="0"/>
                <a:ea typeface="楷体_GB2312" pitchFamily="49" charset="-122"/>
              </a:defRPr>
            </a:lvl2pPr>
            <a:lvl3pPr marL="1143000" indent="-228600" eaLnBrk="0" hangingPunct="0">
              <a:buSzPct val="65000"/>
              <a:buChar char="l"/>
              <a:tabLst>
                <a:tab pos="476250" algn="l"/>
                <a:tab pos="1527175" algn="l"/>
              </a:tabLst>
              <a:defRPr kumimoji="1" sz="2400" b="1">
                <a:solidFill>
                  <a:schemeClr val="tx1"/>
                </a:solidFill>
                <a:latin typeface="Arial" charset="0"/>
                <a:ea typeface="楷体_GB2312" pitchFamily="49" charset="-122"/>
              </a:defRPr>
            </a:lvl3pPr>
            <a:lvl4pPr marL="1600200" indent="-228600" eaLnBrk="0" hangingPunct="0">
              <a:buSzPct val="85000"/>
              <a:buChar char="w"/>
              <a:tabLst>
                <a:tab pos="476250" algn="l"/>
                <a:tab pos="1527175" algn="l"/>
              </a:tabLst>
              <a:defRPr kumimoji="1" sz="2000" b="1">
                <a:solidFill>
                  <a:schemeClr val="tx1"/>
                </a:solidFill>
                <a:latin typeface="Arial" charset="0"/>
                <a:ea typeface="楷体_GB2312" pitchFamily="49" charset="-122"/>
              </a:defRPr>
            </a:lvl4pPr>
            <a:lvl5pPr marL="2057400" indent="-228600" eaLnBrk="0" hangingPunct="0">
              <a:buSzPct val="80000"/>
              <a:buChar char="§"/>
              <a:tabLst>
                <a:tab pos="476250" algn="l"/>
                <a:tab pos="1527175" algn="l"/>
              </a:tabLst>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9pPr>
          </a:lstStyle>
          <a:p>
            <a:pPr eaLnBrk="1" hangingPunct="1">
              <a:spcBef>
                <a:spcPct val="50000"/>
              </a:spcBef>
              <a:buClrTx/>
              <a:buFontTx/>
              <a:buNone/>
            </a:pPr>
            <a:r>
              <a:rPr lang="zh-CN" altLang="zh-CN" dirty="0">
                <a:solidFill>
                  <a:schemeClr val="tx2"/>
                </a:solidFill>
                <a:latin typeface="Arial Narrow" pitchFamily="34" charset="0"/>
              </a:rPr>
              <a:t>1:	</a:t>
            </a:r>
            <a:r>
              <a:rPr lang="zh-CN" altLang="zh-CN" dirty="0">
                <a:latin typeface="Arial Narrow" pitchFamily="34" charset="0"/>
              </a:rPr>
              <a:t>	</a:t>
            </a:r>
            <a:r>
              <a:rPr lang="en-US" altLang="zh-CN" dirty="0" err="1">
                <a:latin typeface="Arial Narrow" pitchFamily="34" charset="0"/>
              </a:rPr>
              <a:t>jmp</a:t>
            </a:r>
            <a:r>
              <a:rPr lang="en-US" altLang="zh-CN" dirty="0">
                <a:latin typeface="Arial Narrow" pitchFamily="34" charset="0"/>
              </a:rPr>
              <a:t> next2</a:t>
            </a:r>
            <a:br>
              <a:rPr lang="en-US" altLang="zh-CN" dirty="0">
                <a:latin typeface="Arial Narrow" pitchFamily="34" charset="0"/>
              </a:rPr>
            </a:br>
            <a:r>
              <a:rPr lang="en-US" altLang="zh-CN" dirty="0">
                <a:solidFill>
                  <a:schemeClr val="tx2"/>
                </a:solidFill>
                <a:latin typeface="Arial Narrow" pitchFamily="34" charset="0"/>
              </a:rPr>
              <a:t>2:</a:t>
            </a:r>
            <a:r>
              <a:rPr lang="en-US" altLang="zh-CN" dirty="0">
                <a:latin typeface="Arial Narrow" pitchFamily="34" charset="0"/>
              </a:rPr>
              <a:t>		</a:t>
            </a:r>
            <a:r>
              <a:rPr lang="en-US" altLang="zh-CN" dirty="0">
                <a:solidFill>
                  <a:srgbClr val="FF3300"/>
                </a:solidFill>
                <a:latin typeface="Arial Narrow" pitchFamily="34" charset="0"/>
              </a:rPr>
              <a:t>add r1, r2</a:t>
            </a:r>
            <a:r>
              <a:rPr lang="en-US" altLang="zh-CN" dirty="0">
                <a:latin typeface="Arial Narrow" pitchFamily="34" charset="0"/>
              </a:rPr>
              <a:t/>
            </a:r>
            <a:br>
              <a:rPr lang="en-US" altLang="zh-CN" dirty="0">
                <a:latin typeface="Arial Narrow" pitchFamily="34" charset="0"/>
              </a:rPr>
            </a:br>
            <a:r>
              <a:rPr lang="en-US" altLang="zh-CN" dirty="0">
                <a:solidFill>
                  <a:schemeClr val="tx2"/>
                </a:solidFill>
                <a:latin typeface="Arial Narrow" pitchFamily="34" charset="0"/>
              </a:rPr>
              <a:t>3:</a:t>
            </a:r>
            <a:r>
              <a:rPr lang="en-US" altLang="zh-CN" dirty="0">
                <a:latin typeface="Arial Narrow" pitchFamily="34" charset="0"/>
              </a:rPr>
              <a:t>	next1:	sub r3, r4</a:t>
            </a:r>
            <a:br>
              <a:rPr lang="en-US" altLang="zh-CN" dirty="0">
                <a:latin typeface="Arial Narrow" pitchFamily="34" charset="0"/>
              </a:rPr>
            </a:br>
            <a:r>
              <a:rPr lang="en-US" altLang="zh-CN" dirty="0">
                <a:latin typeface="Arial Narrow" pitchFamily="34" charset="0"/>
              </a:rPr>
              <a:t>		……</a:t>
            </a:r>
            <a:br>
              <a:rPr lang="en-US" altLang="zh-CN" dirty="0">
                <a:latin typeface="Arial Narrow" pitchFamily="34" charset="0"/>
              </a:rPr>
            </a:br>
            <a:r>
              <a:rPr lang="en-US" altLang="zh-CN" dirty="0">
                <a:solidFill>
                  <a:schemeClr val="tx2"/>
                </a:solidFill>
                <a:latin typeface="Arial Narrow" pitchFamily="34" charset="0"/>
              </a:rPr>
              <a:t>n:	</a:t>
            </a:r>
            <a:r>
              <a:rPr lang="en-US" altLang="zh-CN" dirty="0">
                <a:latin typeface="Arial Narrow" pitchFamily="34" charset="0"/>
              </a:rPr>
              <a:t>next2:	move r4, a</a:t>
            </a:r>
          </a:p>
        </p:txBody>
      </p:sp>
      <p:sp>
        <p:nvSpPr>
          <p:cNvPr id="113676" name="Rectangle 30"/>
          <p:cNvSpPr>
            <a:spLocks noChangeArrowheads="1"/>
          </p:cNvSpPr>
          <p:nvPr/>
        </p:nvSpPr>
        <p:spPr bwMode="auto">
          <a:xfrm>
            <a:off x="5867400" y="3644900"/>
            <a:ext cx="187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latin typeface="Book Antiqua" pitchFamily="18" charset="0"/>
              </a:rPr>
              <a:t>产生转移地址</a:t>
            </a:r>
          </a:p>
        </p:txBody>
      </p:sp>
      <p:sp>
        <p:nvSpPr>
          <p:cNvPr id="113677" name="Rectangle 31"/>
          <p:cNvSpPr>
            <a:spLocks noChangeArrowheads="1"/>
          </p:cNvSpPr>
          <p:nvPr/>
        </p:nvSpPr>
        <p:spPr bwMode="auto">
          <a:xfrm>
            <a:off x="6248400" y="4191000"/>
            <a:ext cx="1276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latin typeface="Book Antiqua" pitchFamily="18" charset="0"/>
              </a:rPr>
              <a:t>插入指令</a:t>
            </a:r>
          </a:p>
        </p:txBody>
      </p:sp>
      <p:sp>
        <p:nvSpPr>
          <p:cNvPr id="113678" name="Rectangle 32"/>
          <p:cNvSpPr>
            <a:spLocks noChangeArrowheads="1"/>
          </p:cNvSpPr>
          <p:nvPr/>
        </p:nvSpPr>
        <p:spPr bwMode="auto">
          <a:xfrm>
            <a:off x="6443663" y="5589588"/>
            <a:ext cx="162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0" anchor="ct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latin typeface="Book Antiqua" pitchFamily="18" charset="0"/>
              </a:rPr>
              <a:t>重新取指令</a:t>
            </a:r>
          </a:p>
        </p:txBody>
      </p:sp>
      <p:sp>
        <p:nvSpPr>
          <p:cNvPr id="113679" name="Line 33"/>
          <p:cNvSpPr>
            <a:spLocks noChangeShapeType="1"/>
          </p:cNvSpPr>
          <p:nvPr/>
        </p:nvSpPr>
        <p:spPr bwMode="auto">
          <a:xfrm flipV="1">
            <a:off x="5105400" y="3886200"/>
            <a:ext cx="685800" cy="0"/>
          </a:xfrm>
          <a:prstGeom prst="line">
            <a:avLst/>
          </a:prstGeom>
          <a:noFill/>
          <a:ln w="38100">
            <a:solidFill>
              <a:schemeClr val="tx2"/>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0" name="Line 35"/>
          <p:cNvSpPr>
            <a:spLocks noChangeShapeType="1"/>
          </p:cNvSpPr>
          <p:nvPr/>
        </p:nvSpPr>
        <p:spPr bwMode="auto">
          <a:xfrm flipV="1">
            <a:off x="5486400" y="4419600"/>
            <a:ext cx="609600" cy="0"/>
          </a:xfrm>
          <a:prstGeom prst="line">
            <a:avLst/>
          </a:prstGeom>
          <a:noFill/>
          <a:ln w="38100">
            <a:solidFill>
              <a:schemeClr val="tx2"/>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1" name="Line 37"/>
          <p:cNvSpPr>
            <a:spLocks noChangeShapeType="1"/>
          </p:cNvSpPr>
          <p:nvPr/>
        </p:nvSpPr>
        <p:spPr bwMode="auto">
          <a:xfrm flipV="1">
            <a:off x="5905500" y="5867400"/>
            <a:ext cx="571500" cy="0"/>
          </a:xfrm>
          <a:prstGeom prst="line">
            <a:avLst/>
          </a:prstGeom>
          <a:noFill/>
          <a:ln w="38100">
            <a:solidFill>
              <a:schemeClr val="tx2"/>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82" name="Text Box 3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4</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2</a:t>
            </a:r>
          </a:p>
        </p:txBody>
      </p:sp>
      <p:sp>
        <p:nvSpPr>
          <p:cNvPr id="371752" name="AutoShape 40"/>
          <p:cNvSpPr>
            <a:spLocks noChangeArrowheads="1"/>
          </p:cNvSpPr>
          <p:nvPr/>
        </p:nvSpPr>
        <p:spPr bwMode="auto">
          <a:xfrm>
            <a:off x="4876800" y="2209800"/>
            <a:ext cx="4038600" cy="1371600"/>
          </a:xfrm>
          <a:prstGeom prst="cloudCallout">
            <a:avLst>
              <a:gd name="adj1" fmla="val 32745"/>
              <a:gd name="adj2" fmla="val 92014"/>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b="0">
                <a:latin typeface="Times New Roman" pitchFamily="18" charset="0"/>
                <a:ea typeface="方正舒体" pitchFamily="2" charset="-122"/>
              </a:rPr>
              <a:t>指令序列的调整由编译器自动进行</a:t>
            </a:r>
          </a:p>
        </p:txBody>
      </p:sp>
      <p:pic>
        <p:nvPicPr>
          <p:cNvPr id="113684" name="Picture 4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229600" y="4114800"/>
            <a:ext cx="685800" cy="1090613"/>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371752"/>
                                        </p:tgtEl>
                                        <p:attrNameLst>
                                          <p:attrName>style.visibility</p:attrName>
                                        </p:attrNameLst>
                                      </p:cBhvr>
                                      <p:to>
                                        <p:strVal val="visible"/>
                                      </p:to>
                                    </p:set>
                                    <p:anim to="" calcmode="lin" valueType="num">
                                      <p:cBhvr>
                                        <p:cTn id="7" dur="1" fill="hold"/>
                                        <p:tgtEl>
                                          <p:spTgt spid="371752"/>
                                        </p:tgtEl>
                                        <p:attrNameLst>
                                          <p:attrName/>
                                        </p:attrNameLst>
                                      </p:cBhvr>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52" grpId="0" animBg="1"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pPr eaLnBrk="1" hangingPunct="1">
              <a:defRPr/>
            </a:pPr>
            <a:r>
              <a:rPr lang="zh-CN" altLang="en-US" smtClean="0"/>
              <a:t>延时转移技术</a:t>
            </a:r>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的关键技术</a:t>
            </a:r>
            <a:endParaRPr lang="zh-CN" altLang="en-US" sz="1200" b="0">
              <a:latin typeface="Times New Roman" pitchFamily="18" charset="0"/>
              <a:ea typeface="幼圆" pitchFamily="49" charset="-122"/>
            </a:endParaRPr>
          </a:p>
        </p:txBody>
      </p:sp>
      <p:sp>
        <p:nvSpPr>
          <p:cNvPr id="371716" name="Rectangle 4"/>
          <p:cNvSpPr>
            <a:spLocks noGrp="1" noChangeArrowheads="1"/>
          </p:cNvSpPr>
          <p:nvPr>
            <p:ph type="body" idx="1"/>
          </p:nvPr>
        </p:nvSpPr>
        <p:spPr>
          <a:xfrm>
            <a:off x="809625" y="1916113"/>
            <a:ext cx="7958138" cy="432767"/>
          </a:xfrm>
        </p:spPr>
        <p:txBody>
          <a:bodyPr/>
          <a:lstStyle/>
          <a:p>
            <a:pPr eaLnBrk="1" hangingPunct="1">
              <a:buClr>
                <a:srgbClr val="FF3300"/>
              </a:buClr>
              <a:defRPr/>
            </a:pPr>
            <a:r>
              <a:rPr lang="zh-CN" altLang="en-US" sz="2400" dirty="0" smtClean="0">
                <a:solidFill>
                  <a:srgbClr val="FF3300"/>
                </a:solidFill>
                <a:effectLst>
                  <a:outerShdw blurRad="38100" dist="38100" dir="2700000" algn="tl">
                    <a:srgbClr val="C0C0C0"/>
                  </a:outerShdw>
                </a:effectLst>
              </a:rPr>
              <a:t>思考</a:t>
            </a:r>
            <a:r>
              <a:rPr lang="zh-CN" altLang="en-US" sz="2400" dirty="0" smtClean="0">
                <a:effectLst>
                  <a:outerShdw blurRad="38100" dist="38100" dir="2700000" algn="tl">
                    <a:srgbClr val="C0C0C0"/>
                  </a:outerShdw>
                </a:effectLst>
              </a:rPr>
              <a:t>：如何使用</a:t>
            </a:r>
            <a:r>
              <a:rPr lang="zh-CN" altLang="en-US" sz="2400" dirty="0" smtClean="0"/>
              <a:t>延时转移技术。</a:t>
            </a:r>
          </a:p>
        </p:txBody>
      </p:sp>
      <p:sp>
        <p:nvSpPr>
          <p:cNvPr id="113675" name="Text Box 29"/>
          <p:cNvSpPr txBox="1">
            <a:spLocks noChangeArrowheads="1"/>
          </p:cNvSpPr>
          <p:nvPr/>
        </p:nvSpPr>
        <p:spPr bwMode="auto">
          <a:xfrm>
            <a:off x="995164" y="2420888"/>
            <a:ext cx="7753300" cy="1938992"/>
          </a:xfrm>
          <a:prstGeom prst="rect">
            <a:avLst/>
          </a:prstGeom>
          <a:solidFill>
            <a:srgbClr val="FFFF00"/>
          </a:solidFill>
          <a:ln>
            <a:noFill/>
          </a:ln>
          <a:effectLst>
            <a:outerShdw blurRad="50800" dist="38100" dir="2700000" algn="tl" rotWithShape="0">
              <a:prstClr val="black">
                <a:alpha val="40000"/>
              </a:prstClr>
            </a:outerShdw>
          </a:effectLst>
          <a:extLst/>
        </p:spPr>
        <p:txBody>
          <a:bodyPr wrap="square" lIns="0" rIns="0" anchor="ctr">
            <a:spAutoFit/>
          </a:bodyPr>
          <a:lstStyle>
            <a:lvl1pPr eaLnBrk="0" hangingPunct="0">
              <a:buChar char="w"/>
              <a:tabLst>
                <a:tab pos="476250" algn="l"/>
                <a:tab pos="1527175" algn="l"/>
              </a:tabLst>
              <a:defRPr kumimoji="1" sz="3200" b="1">
                <a:solidFill>
                  <a:schemeClr val="tx1"/>
                </a:solidFill>
                <a:latin typeface="Arial" charset="0"/>
                <a:ea typeface="楷体_GB2312" pitchFamily="49" charset="-122"/>
              </a:defRPr>
            </a:lvl1pPr>
            <a:lvl2pPr marL="742950" indent="-285750" eaLnBrk="0" hangingPunct="0">
              <a:buSzPct val="55000"/>
              <a:buChar char="n"/>
              <a:tabLst>
                <a:tab pos="476250" algn="l"/>
                <a:tab pos="1527175" algn="l"/>
              </a:tabLst>
              <a:defRPr kumimoji="1" sz="2800" b="1">
                <a:solidFill>
                  <a:schemeClr val="tx1"/>
                </a:solidFill>
                <a:latin typeface="Arial" charset="0"/>
                <a:ea typeface="楷体_GB2312" pitchFamily="49" charset="-122"/>
              </a:defRPr>
            </a:lvl2pPr>
            <a:lvl3pPr marL="1143000" indent="-228600" eaLnBrk="0" hangingPunct="0">
              <a:buSzPct val="65000"/>
              <a:buChar char="l"/>
              <a:tabLst>
                <a:tab pos="476250" algn="l"/>
                <a:tab pos="1527175" algn="l"/>
              </a:tabLst>
              <a:defRPr kumimoji="1" sz="2400" b="1">
                <a:solidFill>
                  <a:schemeClr val="tx1"/>
                </a:solidFill>
                <a:latin typeface="Arial" charset="0"/>
                <a:ea typeface="楷体_GB2312" pitchFamily="49" charset="-122"/>
              </a:defRPr>
            </a:lvl3pPr>
            <a:lvl4pPr marL="1600200" indent="-228600" eaLnBrk="0" hangingPunct="0">
              <a:buSzPct val="85000"/>
              <a:buChar char="w"/>
              <a:tabLst>
                <a:tab pos="476250" algn="l"/>
                <a:tab pos="1527175" algn="l"/>
              </a:tabLst>
              <a:defRPr kumimoji="1" sz="2000" b="1">
                <a:solidFill>
                  <a:schemeClr val="tx1"/>
                </a:solidFill>
                <a:latin typeface="Arial" charset="0"/>
                <a:ea typeface="楷体_GB2312" pitchFamily="49" charset="-122"/>
              </a:defRPr>
            </a:lvl4pPr>
            <a:lvl5pPr marL="2057400" indent="-228600" eaLnBrk="0" hangingPunct="0">
              <a:buSzPct val="80000"/>
              <a:buChar char="§"/>
              <a:tabLst>
                <a:tab pos="476250" algn="l"/>
                <a:tab pos="1527175" algn="l"/>
              </a:tabLst>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9pPr>
          </a:lstStyle>
          <a:p>
            <a:pPr eaLnBrk="1" hangingPunct="1">
              <a:spcBef>
                <a:spcPts val="0"/>
              </a:spcBef>
              <a:buClrTx/>
              <a:buFontTx/>
              <a:buNone/>
              <a:tabLst>
                <a:tab pos="476250" algn="l"/>
                <a:tab pos="1431925" algn="l"/>
              </a:tabLst>
            </a:pPr>
            <a:r>
              <a:rPr lang="en-US" altLang="zh-CN" sz="2000" dirty="0" smtClean="0">
                <a:solidFill>
                  <a:schemeClr val="tx2"/>
                </a:solidFill>
                <a:latin typeface="+mn-lt"/>
              </a:rPr>
              <a:t> </a:t>
            </a:r>
            <a:r>
              <a:rPr lang="zh-CN" altLang="zh-CN" sz="2000" dirty="0" smtClean="0">
                <a:solidFill>
                  <a:schemeClr val="tx2"/>
                </a:solidFill>
                <a:latin typeface="+mn-lt"/>
              </a:rPr>
              <a:t>1</a:t>
            </a:r>
            <a:r>
              <a:rPr lang="zh-CN" altLang="zh-CN" sz="2000" dirty="0">
                <a:solidFill>
                  <a:schemeClr val="tx2"/>
                </a:solidFill>
                <a:latin typeface="+mn-lt"/>
              </a:rPr>
              <a:t>:	</a:t>
            </a:r>
            <a:r>
              <a:rPr lang="zh-CN" altLang="zh-CN" sz="2000" dirty="0">
                <a:latin typeface="+mn-lt"/>
              </a:rPr>
              <a:t>	</a:t>
            </a:r>
            <a:r>
              <a:rPr lang="en-US" altLang="zh-CN" sz="2000" dirty="0" smtClean="0">
                <a:latin typeface="+mn-lt"/>
              </a:rPr>
              <a:t>move r1,r2</a:t>
            </a:r>
            <a:r>
              <a:rPr lang="en-US" altLang="zh-CN" sz="2000" dirty="0">
                <a:latin typeface="+mn-lt"/>
              </a:rPr>
              <a:t/>
            </a:r>
            <a:br>
              <a:rPr lang="en-US" altLang="zh-CN" sz="2000" dirty="0">
                <a:latin typeface="+mn-lt"/>
              </a:rPr>
            </a:br>
            <a:r>
              <a:rPr lang="en-US" altLang="zh-CN" sz="2000" dirty="0" smtClean="0">
                <a:latin typeface="+mn-lt"/>
              </a:rPr>
              <a:t> </a:t>
            </a:r>
            <a:r>
              <a:rPr lang="en-US" altLang="zh-CN" sz="2000" dirty="0" smtClean="0">
                <a:solidFill>
                  <a:schemeClr val="tx2"/>
                </a:solidFill>
                <a:latin typeface="+mn-lt"/>
              </a:rPr>
              <a:t>2</a:t>
            </a:r>
            <a:r>
              <a:rPr lang="en-US" altLang="zh-CN" sz="2000" dirty="0">
                <a:solidFill>
                  <a:schemeClr val="tx2"/>
                </a:solidFill>
                <a:latin typeface="+mn-lt"/>
              </a:rPr>
              <a:t>:</a:t>
            </a:r>
            <a:r>
              <a:rPr lang="en-US" altLang="zh-CN" sz="2000" dirty="0">
                <a:latin typeface="+mn-lt"/>
              </a:rPr>
              <a:t>		</a:t>
            </a:r>
            <a:r>
              <a:rPr lang="en-US" altLang="zh-CN" sz="2000" dirty="0" err="1" smtClean="0">
                <a:latin typeface="+mn-lt"/>
              </a:rPr>
              <a:t>cmp</a:t>
            </a:r>
            <a:r>
              <a:rPr lang="en-US" altLang="zh-CN" sz="2000" dirty="0" smtClean="0">
                <a:latin typeface="+mn-lt"/>
              </a:rPr>
              <a:t>   r3,r4      ;(r3)</a:t>
            </a:r>
            <a:r>
              <a:rPr lang="zh-CN" altLang="en-US" sz="2000" dirty="0" smtClean="0">
                <a:latin typeface="+mn-lt"/>
              </a:rPr>
              <a:t>与</a:t>
            </a:r>
            <a:r>
              <a:rPr lang="en-US" altLang="zh-CN" sz="2000" dirty="0" smtClean="0">
                <a:latin typeface="+mn-lt"/>
              </a:rPr>
              <a:t>(r4)</a:t>
            </a:r>
            <a:r>
              <a:rPr lang="zh-CN" altLang="en-US" sz="2000" dirty="0" smtClean="0">
                <a:latin typeface="+mn-lt"/>
              </a:rPr>
              <a:t>比较</a:t>
            </a:r>
            <a:r>
              <a:rPr lang="en-US" altLang="zh-CN" sz="2000" dirty="0">
                <a:latin typeface="+mn-lt"/>
              </a:rPr>
              <a:t/>
            </a:r>
            <a:br>
              <a:rPr lang="en-US" altLang="zh-CN" sz="2000" dirty="0">
                <a:latin typeface="+mn-lt"/>
              </a:rPr>
            </a:br>
            <a:r>
              <a:rPr lang="en-US" altLang="zh-CN" sz="2000" dirty="0" smtClean="0">
                <a:latin typeface="+mn-lt"/>
              </a:rPr>
              <a:t> </a:t>
            </a:r>
            <a:r>
              <a:rPr lang="en-US" altLang="zh-CN" sz="2000" dirty="0" smtClean="0">
                <a:solidFill>
                  <a:schemeClr val="tx2"/>
                </a:solidFill>
                <a:latin typeface="+mn-lt"/>
              </a:rPr>
              <a:t>3</a:t>
            </a:r>
            <a:r>
              <a:rPr lang="en-US" altLang="zh-CN" sz="2000" dirty="0">
                <a:solidFill>
                  <a:schemeClr val="tx2"/>
                </a:solidFill>
                <a:latin typeface="+mn-lt"/>
              </a:rPr>
              <a:t>:</a:t>
            </a:r>
            <a:r>
              <a:rPr lang="en-US" altLang="zh-CN" sz="2000" dirty="0">
                <a:latin typeface="+mn-lt"/>
              </a:rPr>
              <a:t>		</a:t>
            </a:r>
            <a:r>
              <a:rPr lang="en-US" altLang="zh-CN" sz="2000" dirty="0" err="1" smtClean="0">
                <a:solidFill>
                  <a:srgbClr val="FF0000"/>
                </a:solidFill>
                <a:latin typeface="+mn-lt"/>
              </a:rPr>
              <a:t>beq</a:t>
            </a:r>
            <a:r>
              <a:rPr lang="en-US" altLang="zh-CN" sz="2000" dirty="0" smtClean="0">
                <a:solidFill>
                  <a:srgbClr val="FF0000"/>
                </a:solidFill>
                <a:latin typeface="+mn-lt"/>
              </a:rPr>
              <a:t>    next       </a:t>
            </a:r>
            <a:r>
              <a:rPr lang="en-US" altLang="zh-CN" sz="2000" dirty="0" smtClean="0">
                <a:latin typeface="+mn-lt"/>
              </a:rPr>
              <a:t>;</a:t>
            </a:r>
            <a:r>
              <a:rPr lang="zh-CN" altLang="en-US" sz="2000" dirty="0" smtClean="0">
                <a:latin typeface="+mn-lt"/>
              </a:rPr>
              <a:t>如果</a:t>
            </a:r>
            <a:r>
              <a:rPr lang="en-US" altLang="zh-CN" sz="2000" dirty="0" smtClean="0"/>
              <a:t>(</a:t>
            </a:r>
            <a:r>
              <a:rPr lang="en-US" altLang="zh-CN" sz="2000" dirty="0"/>
              <a:t>r3</a:t>
            </a:r>
            <a:r>
              <a:rPr lang="en-US" altLang="zh-CN" sz="2000" dirty="0" smtClean="0"/>
              <a:t>)=(</a:t>
            </a:r>
            <a:r>
              <a:rPr lang="en-US" altLang="zh-CN" sz="2000" dirty="0"/>
              <a:t>r4</a:t>
            </a:r>
            <a:r>
              <a:rPr lang="en-US" altLang="zh-CN" sz="2000" dirty="0" smtClean="0"/>
              <a:t>),</a:t>
            </a:r>
            <a:r>
              <a:rPr lang="zh-CN" altLang="en-US" sz="2000" dirty="0" smtClean="0"/>
              <a:t>则转移至</a:t>
            </a:r>
            <a:r>
              <a:rPr lang="en-US" altLang="zh-CN" sz="2000" dirty="0" smtClean="0"/>
              <a:t>next</a:t>
            </a:r>
            <a:endParaRPr lang="en-US" altLang="zh-CN" sz="2000" dirty="0" smtClean="0">
              <a:latin typeface="+mn-lt"/>
            </a:endParaRPr>
          </a:p>
          <a:p>
            <a:pPr eaLnBrk="1" hangingPunct="1">
              <a:spcBef>
                <a:spcPts val="0"/>
              </a:spcBef>
              <a:buClrTx/>
              <a:buFontTx/>
              <a:buNone/>
              <a:tabLst>
                <a:tab pos="476250" algn="l"/>
                <a:tab pos="1431925" algn="l"/>
              </a:tabLst>
            </a:pPr>
            <a:r>
              <a:rPr lang="en-US" altLang="zh-CN" sz="2000" dirty="0" smtClean="0">
                <a:latin typeface="+mn-lt"/>
              </a:rPr>
              <a:t> 4:		add    r4,r5</a:t>
            </a:r>
          </a:p>
          <a:p>
            <a:pPr eaLnBrk="1" hangingPunct="1">
              <a:spcBef>
                <a:spcPts val="0"/>
              </a:spcBef>
              <a:buClrTx/>
              <a:buFontTx/>
              <a:buNone/>
              <a:tabLst>
                <a:tab pos="476250" algn="l"/>
                <a:tab pos="1431925" algn="l"/>
              </a:tabLst>
            </a:pPr>
            <a:r>
              <a:rPr lang="en-US" altLang="zh-CN" sz="2000" dirty="0">
                <a:latin typeface="+mn-lt"/>
              </a:rPr>
              <a:t>		……</a:t>
            </a:r>
            <a:br>
              <a:rPr lang="en-US" altLang="zh-CN" sz="2000" dirty="0">
                <a:latin typeface="+mn-lt"/>
              </a:rPr>
            </a:br>
            <a:r>
              <a:rPr lang="en-US" altLang="zh-CN" sz="2000" dirty="0" smtClean="0">
                <a:latin typeface="+mn-lt"/>
              </a:rPr>
              <a:t> </a:t>
            </a:r>
            <a:r>
              <a:rPr lang="en-US" altLang="zh-CN" sz="2000" dirty="0" smtClean="0">
                <a:solidFill>
                  <a:schemeClr val="tx2"/>
                </a:solidFill>
                <a:latin typeface="+mn-lt"/>
              </a:rPr>
              <a:t>n</a:t>
            </a:r>
            <a:r>
              <a:rPr lang="en-US" altLang="zh-CN" sz="2000" dirty="0">
                <a:solidFill>
                  <a:schemeClr val="tx2"/>
                </a:solidFill>
                <a:latin typeface="+mn-lt"/>
              </a:rPr>
              <a:t>:	</a:t>
            </a:r>
            <a:r>
              <a:rPr lang="en-US" altLang="zh-CN" sz="2000" dirty="0" smtClean="0">
                <a:latin typeface="+mn-lt"/>
              </a:rPr>
              <a:t>next:</a:t>
            </a:r>
            <a:r>
              <a:rPr lang="en-US" altLang="zh-CN" sz="2000" dirty="0">
                <a:latin typeface="+mn-lt"/>
              </a:rPr>
              <a:t>	move r4, a</a:t>
            </a:r>
          </a:p>
        </p:txBody>
      </p:sp>
      <p:sp>
        <p:nvSpPr>
          <p:cNvPr id="113682" name="Text Box 3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4</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3</a:t>
            </a:r>
            <a:endParaRPr lang="zh-CN" altLang="en-US" sz="1200" b="0" dirty="0">
              <a:latin typeface="幼圆" pitchFamily="49" charset="-122"/>
              <a:ea typeface="幼圆" pitchFamily="49" charset="-122"/>
            </a:endParaRPr>
          </a:p>
        </p:txBody>
      </p:sp>
      <p:sp>
        <p:nvSpPr>
          <p:cNvPr id="21" name="Text Box 29"/>
          <p:cNvSpPr txBox="1">
            <a:spLocks noChangeArrowheads="1"/>
          </p:cNvSpPr>
          <p:nvPr/>
        </p:nvSpPr>
        <p:spPr bwMode="auto">
          <a:xfrm>
            <a:off x="995164" y="4437112"/>
            <a:ext cx="7753300" cy="1938992"/>
          </a:xfrm>
          <a:prstGeom prst="rect">
            <a:avLst/>
          </a:prstGeom>
          <a:solidFill>
            <a:srgbClr val="92D050"/>
          </a:solidFill>
          <a:ln>
            <a:noFill/>
          </a:ln>
          <a:effectLst>
            <a:outerShdw blurRad="50800" dist="38100" dir="2700000" algn="tl" rotWithShape="0">
              <a:prstClr val="black">
                <a:alpha val="40000"/>
              </a:prstClr>
            </a:outerShdw>
          </a:effectLst>
          <a:extLst/>
        </p:spPr>
        <p:txBody>
          <a:bodyPr wrap="square" lIns="0" rIns="0" anchor="ctr">
            <a:spAutoFit/>
          </a:bodyPr>
          <a:lstStyle>
            <a:lvl1pPr eaLnBrk="0" hangingPunct="0">
              <a:buChar char="w"/>
              <a:tabLst>
                <a:tab pos="476250" algn="l"/>
                <a:tab pos="1527175" algn="l"/>
              </a:tabLst>
              <a:defRPr kumimoji="1" sz="3200" b="1">
                <a:solidFill>
                  <a:schemeClr val="tx1"/>
                </a:solidFill>
                <a:latin typeface="Arial" charset="0"/>
                <a:ea typeface="楷体_GB2312" pitchFamily="49" charset="-122"/>
              </a:defRPr>
            </a:lvl1pPr>
            <a:lvl2pPr marL="742950" indent="-285750" eaLnBrk="0" hangingPunct="0">
              <a:buSzPct val="55000"/>
              <a:buChar char="n"/>
              <a:tabLst>
                <a:tab pos="476250" algn="l"/>
                <a:tab pos="1527175" algn="l"/>
              </a:tabLst>
              <a:defRPr kumimoji="1" sz="2800" b="1">
                <a:solidFill>
                  <a:schemeClr val="tx1"/>
                </a:solidFill>
                <a:latin typeface="Arial" charset="0"/>
                <a:ea typeface="楷体_GB2312" pitchFamily="49" charset="-122"/>
              </a:defRPr>
            </a:lvl2pPr>
            <a:lvl3pPr marL="1143000" indent="-228600" eaLnBrk="0" hangingPunct="0">
              <a:buSzPct val="65000"/>
              <a:buChar char="l"/>
              <a:tabLst>
                <a:tab pos="476250" algn="l"/>
                <a:tab pos="1527175" algn="l"/>
              </a:tabLst>
              <a:defRPr kumimoji="1" sz="2400" b="1">
                <a:solidFill>
                  <a:schemeClr val="tx1"/>
                </a:solidFill>
                <a:latin typeface="Arial" charset="0"/>
                <a:ea typeface="楷体_GB2312" pitchFamily="49" charset="-122"/>
              </a:defRPr>
            </a:lvl3pPr>
            <a:lvl4pPr marL="1600200" indent="-228600" eaLnBrk="0" hangingPunct="0">
              <a:buSzPct val="85000"/>
              <a:buChar char="w"/>
              <a:tabLst>
                <a:tab pos="476250" algn="l"/>
                <a:tab pos="1527175" algn="l"/>
              </a:tabLst>
              <a:defRPr kumimoji="1" sz="2000" b="1">
                <a:solidFill>
                  <a:schemeClr val="tx1"/>
                </a:solidFill>
                <a:latin typeface="Arial" charset="0"/>
                <a:ea typeface="楷体_GB2312" pitchFamily="49" charset="-122"/>
              </a:defRPr>
            </a:lvl4pPr>
            <a:lvl5pPr marL="2057400" indent="-228600" eaLnBrk="0" hangingPunct="0">
              <a:buSzPct val="80000"/>
              <a:buChar char="§"/>
              <a:tabLst>
                <a:tab pos="476250" algn="l"/>
                <a:tab pos="1527175" algn="l"/>
              </a:tabLst>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tabLst>
                <a:tab pos="476250" algn="l"/>
                <a:tab pos="1527175" algn="l"/>
              </a:tabLst>
              <a:defRPr kumimoji="1" b="1">
                <a:solidFill>
                  <a:schemeClr val="tx1"/>
                </a:solidFill>
                <a:latin typeface="Arial" charset="0"/>
                <a:ea typeface="楷体_GB2312" pitchFamily="49" charset="-122"/>
              </a:defRPr>
            </a:lvl9pPr>
          </a:lstStyle>
          <a:p>
            <a:pPr eaLnBrk="1" hangingPunct="1">
              <a:spcBef>
                <a:spcPts val="0"/>
              </a:spcBef>
              <a:buClrTx/>
              <a:buFontTx/>
              <a:buNone/>
              <a:tabLst>
                <a:tab pos="476250" algn="l"/>
                <a:tab pos="1431925" algn="l"/>
              </a:tabLst>
            </a:pPr>
            <a:r>
              <a:rPr lang="en-US" altLang="zh-CN" sz="2000" dirty="0" smtClean="0">
                <a:solidFill>
                  <a:schemeClr val="tx2"/>
                </a:solidFill>
                <a:latin typeface="+mn-lt"/>
              </a:rPr>
              <a:t> 1:</a:t>
            </a:r>
            <a:r>
              <a:rPr lang="en-US" altLang="zh-CN" sz="2000" dirty="0">
                <a:latin typeface="+mn-lt"/>
              </a:rPr>
              <a:t>		</a:t>
            </a:r>
            <a:r>
              <a:rPr lang="en-US" altLang="zh-CN" sz="2000" dirty="0" err="1" smtClean="0">
                <a:latin typeface="+mn-lt"/>
              </a:rPr>
              <a:t>cmp</a:t>
            </a:r>
            <a:r>
              <a:rPr lang="en-US" altLang="zh-CN" sz="2000" dirty="0" smtClean="0">
                <a:latin typeface="+mn-lt"/>
              </a:rPr>
              <a:t>   r3,r4      ;(r3)</a:t>
            </a:r>
            <a:r>
              <a:rPr lang="zh-CN" altLang="en-US" sz="2000" dirty="0" smtClean="0">
                <a:latin typeface="+mn-lt"/>
              </a:rPr>
              <a:t>与</a:t>
            </a:r>
            <a:r>
              <a:rPr lang="en-US" altLang="zh-CN" sz="2000" dirty="0" smtClean="0">
                <a:latin typeface="+mn-lt"/>
              </a:rPr>
              <a:t>(r4)</a:t>
            </a:r>
            <a:r>
              <a:rPr lang="zh-CN" altLang="en-US" sz="2000" dirty="0" smtClean="0">
                <a:latin typeface="+mn-lt"/>
              </a:rPr>
              <a:t>比较</a:t>
            </a:r>
            <a:r>
              <a:rPr lang="en-US" altLang="zh-CN" sz="2000" dirty="0">
                <a:latin typeface="+mn-lt"/>
              </a:rPr>
              <a:t/>
            </a:r>
            <a:br>
              <a:rPr lang="en-US" altLang="zh-CN" sz="2000" dirty="0">
                <a:latin typeface="+mn-lt"/>
              </a:rPr>
            </a:br>
            <a:r>
              <a:rPr lang="en-US" altLang="zh-CN" sz="2000" dirty="0" smtClean="0">
                <a:latin typeface="+mn-lt"/>
              </a:rPr>
              <a:t> </a:t>
            </a:r>
            <a:r>
              <a:rPr lang="en-US" altLang="zh-CN" sz="2000" dirty="0" smtClean="0">
                <a:solidFill>
                  <a:schemeClr val="tx2"/>
                </a:solidFill>
                <a:latin typeface="+mn-lt"/>
              </a:rPr>
              <a:t>2:</a:t>
            </a:r>
            <a:r>
              <a:rPr lang="en-US" altLang="zh-CN" sz="2000" dirty="0">
                <a:latin typeface="+mn-lt"/>
              </a:rPr>
              <a:t>		</a:t>
            </a:r>
            <a:r>
              <a:rPr lang="en-US" altLang="zh-CN" sz="2000" dirty="0" err="1" smtClean="0">
                <a:solidFill>
                  <a:srgbClr val="FF0000"/>
                </a:solidFill>
                <a:latin typeface="+mn-lt"/>
              </a:rPr>
              <a:t>beq</a:t>
            </a:r>
            <a:r>
              <a:rPr lang="en-US" altLang="zh-CN" sz="2000" dirty="0" smtClean="0">
                <a:solidFill>
                  <a:srgbClr val="FF0000"/>
                </a:solidFill>
                <a:latin typeface="+mn-lt"/>
              </a:rPr>
              <a:t>    next       </a:t>
            </a:r>
            <a:r>
              <a:rPr lang="en-US" altLang="zh-CN" sz="2000" dirty="0" smtClean="0">
                <a:latin typeface="+mn-lt"/>
              </a:rPr>
              <a:t>;</a:t>
            </a:r>
            <a:r>
              <a:rPr lang="zh-CN" altLang="en-US" sz="2000" dirty="0" smtClean="0">
                <a:latin typeface="+mn-lt"/>
              </a:rPr>
              <a:t>如果</a:t>
            </a:r>
            <a:r>
              <a:rPr lang="en-US" altLang="zh-CN" sz="2000" dirty="0" smtClean="0"/>
              <a:t>(</a:t>
            </a:r>
            <a:r>
              <a:rPr lang="en-US" altLang="zh-CN" sz="2000" dirty="0"/>
              <a:t>r3</a:t>
            </a:r>
            <a:r>
              <a:rPr lang="en-US" altLang="zh-CN" sz="2000" dirty="0" smtClean="0"/>
              <a:t>)=(</a:t>
            </a:r>
            <a:r>
              <a:rPr lang="en-US" altLang="zh-CN" sz="2000" dirty="0"/>
              <a:t>r4</a:t>
            </a:r>
            <a:r>
              <a:rPr lang="en-US" altLang="zh-CN" sz="2000" dirty="0" smtClean="0"/>
              <a:t>),</a:t>
            </a:r>
            <a:r>
              <a:rPr lang="zh-CN" altLang="en-US" sz="2000" dirty="0" smtClean="0"/>
              <a:t>则转移至</a:t>
            </a:r>
            <a:r>
              <a:rPr lang="en-US" altLang="zh-CN" sz="2000" dirty="0" smtClean="0"/>
              <a:t>next</a:t>
            </a:r>
            <a:endParaRPr lang="en-US" altLang="zh-CN" sz="2000" dirty="0" smtClean="0">
              <a:latin typeface="+mn-lt"/>
            </a:endParaRPr>
          </a:p>
          <a:p>
            <a:pPr eaLnBrk="1" hangingPunct="1">
              <a:spcBef>
                <a:spcPts val="0"/>
              </a:spcBef>
              <a:buClrTx/>
              <a:buFontTx/>
              <a:buNone/>
              <a:tabLst>
                <a:tab pos="476250" algn="l"/>
                <a:tab pos="1431925" algn="l"/>
              </a:tabLst>
            </a:pPr>
            <a:r>
              <a:rPr lang="en-US" altLang="zh-CN" sz="2000" dirty="0" smtClean="0">
                <a:solidFill>
                  <a:schemeClr val="tx2"/>
                </a:solidFill>
              </a:rPr>
              <a:t> 3</a:t>
            </a:r>
            <a:r>
              <a:rPr lang="zh-CN" altLang="zh-CN" sz="2000" dirty="0" smtClean="0">
                <a:solidFill>
                  <a:schemeClr val="tx2"/>
                </a:solidFill>
              </a:rPr>
              <a:t>:</a:t>
            </a:r>
            <a:r>
              <a:rPr lang="zh-CN" altLang="zh-CN" sz="2000" dirty="0">
                <a:solidFill>
                  <a:schemeClr val="tx2"/>
                </a:solidFill>
              </a:rPr>
              <a:t>	</a:t>
            </a:r>
            <a:r>
              <a:rPr lang="zh-CN" altLang="zh-CN" sz="2000" dirty="0"/>
              <a:t>	</a:t>
            </a:r>
            <a:r>
              <a:rPr lang="en-US" altLang="zh-CN" sz="2000" dirty="0">
                <a:solidFill>
                  <a:srgbClr val="3333FF"/>
                </a:solidFill>
              </a:rPr>
              <a:t>move </a:t>
            </a:r>
            <a:r>
              <a:rPr lang="en-US" altLang="zh-CN" sz="2000" dirty="0" smtClean="0">
                <a:solidFill>
                  <a:srgbClr val="3333FF"/>
                </a:solidFill>
              </a:rPr>
              <a:t>r1,r2       </a:t>
            </a:r>
            <a:r>
              <a:rPr lang="en-US" altLang="zh-CN" sz="2000" dirty="0" smtClean="0"/>
              <a:t>;</a:t>
            </a:r>
            <a:r>
              <a:rPr lang="zh-CN" altLang="en-US" sz="2000" dirty="0" smtClean="0"/>
              <a:t>不能有数据相关，不能改变条件码</a:t>
            </a:r>
            <a:r>
              <a:rPr lang="en-US" altLang="zh-CN" sz="2000" dirty="0">
                <a:solidFill>
                  <a:srgbClr val="3333FF"/>
                </a:solidFill>
              </a:rPr>
              <a:t/>
            </a:r>
            <a:br>
              <a:rPr lang="en-US" altLang="zh-CN" sz="2000" dirty="0">
                <a:solidFill>
                  <a:srgbClr val="3333FF"/>
                </a:solidFill>
              </a:rPr>
            </a:br>
            <a:r>
              <a:rPr lang="en-US" altLang="zh-CN" sz="2000" dirty="0" smtClean="0">
                <a:solidFill>
                  <a:srgbClr val="3333FF"/>
                </a:solidFill>
              </a:rPr>
              <a:t> </a:t>
            </a:r>
            <a:r>
              <a:rPr lang="en-US" altLang="zh-CN" sz="2000" dirty="0" smtClean="0">
                <a:latin typeface="+mn-lt"/>
              </a:rPr>
              <a:t>4:		add    r4,r5</a:t>
            </a:r>
          </a:p>
          <a:p>
            <a:pPr eaLnBrk="1" hangingPunct="1">
              <a:spcBef>
                <a:spcPts val="0"/>
              </a:spcBef>
              <a:buClrTx/>
              <a:buFontTx/>
              <a:buNone/>
              <a:tabLst>
                <a:tab pos="476250" algn="l"/>
                <a:tab pos="1431925" algn="l"/>
              </a:tabLst>
            </a:pPr>
            <a:r>
              <a:rPr lang="en-US" altLang="zh-CN" sz="2000" dirty="0">
                <a:latin typeface="+mn-lt"/>
              </a:rPr>
              <a:t>		……</a:t>
            </a:r>
            <a:br>
              <a:rPr lang="en-US" altLang="zh-CN" sz="2000" dirty="0">
                <a:latin typeface="+mn-lt"/>
              </a:rPr>
            </a:br>
            <a:r>
              <a:rPr lang="en-US" altLang="zh-CN" sz="2000" dirty="0" smtClean="0">
                <a:latin typeface="+mn-lt"/>
              </a:rPr>
              <a:t> </a:t>
            </a:r>
            <a:r>
              <a:rPr lang="en-US" altLang="zh-CN" sz="2000" dirty="0" smtClean="0">
                <a:solidFill>
                  <a:schemeClr val="tx2"/>
                </a:solidFill>
                <a:latin typeface="+mn-lt"/>
              </a:rPr>
              <a:t>n</a:t>
            </a:r>
            <a:r>
              <a:rPr lang="en-US" altLang="zh-CN" sz="2000" dirty="0">
                <a:solidFill>
                  <a:schemeClr val="tx2"/>
                </a:solidFill>
                <a:latin typeface="+mn-lt"/>
              </a:rPr>
              <a:t>:	</a:t>
            </a:r>
            <a:r>
              <a:rPr lang="en-US" altLang="zh-CN" sz="2000" dirty="0" smtClean="0">
                <a:latin typeface="+mn-lt"/>
              </a:rPr>
              <a:t>next:</a:t>
            </a:r>
            <a:r>
              <a:rPr lang="en-US" altLang="zh-CN" sz="2000" dirty="0">
                <a:latin typeface="+mn-lt"/>
              </a:rPr>
              <a:t>	move r4, a</a:t>
            </a:r>
          </a:p>
        </p:txBody>
      </p:sp>
    </p:spTree>
    <p:extLst>
      <p:ext uri="{BB962C8B-B14F-4D97-AF65-F5344CB8AC3E}">
        <p14:creationId xmlns:p14="http://schemas.microsoft.com/office/powerpoint/2010/main" val="863652841"/>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ircle(in)">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p:txBody>
          <a:bodyPr/>
          <a:lstStyle/>
          <a:p>
            <a:pPr eaLnBrk="1" hangingPunct="1">
              <a:defRPr/>
            </a:pPr>
            <a:r>
              <a:rPr lang="zh-CN" altLang="en-US" smtClean="0"/>
              <a:t>延时转移技术</a:t>
            </a: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的关键技术</a:t>
            </a:r>
            <a:endParaRPr lang="zh-CN" altLang="en-US" sz="1200" b="0">
              <a:latin typeface="Times New Roman" pitchFamily="18" charset="0"/>
              <a:ea typeface="幼圆" pitchFamily="49" charset="-122"/>
            </a:endParaRPr>
          </a:p>
        </p:txBody>
      </p:sp>
      <p:sp>
        <p:nvSpPr>
          <p:cNvPr id="372740" name="Rectangle 4"/>
          <p:cNvSpPr>
            <a:spLocks noGrp="1" noChangeArrowheads="1"/>
          </p:cNvSpPr>
          <p:nvPr>
            <p:ph type="body" idx="1"/>
          </p:nvPr>
        </p:nvSpPr>
        <p:spPr>
          <a:xfrm>
            <a:off x="809625" y="1916113"/>
            <a:ext cx="7958138" cy="2881312"/>
          </a:xfrm>
        </p:spPr>
        <p:txBody>
          <a:bodyPr/>
          <a:lstStyle/>
          <a:p>
            <a:pPr marL="0" indent="0" eaLnBrk="1" hangingPunct="1">
              <a:lnSpc>
                <a:spcPct val="90000"/>
              </a:lnSpc>
              <a:buClr>
                <a:srgbClr val="FF3300"/>
              </a:buClr>
              <a:defRPr/>
            </a:pPr>
            <a:r>
              <a:rPr lang="zh-CN" altLang="en-US" smtClean="0">
                <a:solidFill>
                  <a:srgbClr val="FF3300"/>
                </a:solidFill>
                <a:effectLst>
                  <a:outerShdw blurRad="38100" dist="38100" dir="2700000" algn="tl">
                    <a:srgbClr val="C0C0C0"/>
                  </a:outerShdw>
                </a:effectLst>
              </a:rPr>
              <a:t>  分析</a:t>
            </a:r>
          </a:p>
          <a:p>
            <a:pPr marL="0" indent="0" eaLnBrk="1" hangingPunct="1">
              <a:lnSpc>
                <a:spcPct val="90000"/>
              </a:lnSpc>
              <a:buFont typeface="Wingdings" pitchFamily="2" charset="2"/>
              <a:buNone/>
              <a:defRPr/>
            </a:pPr>
            <a:r>
              <a:rPr lang="zh-CN" altLang="en-US" smtClean="0"/>
              <a:t>       </a:t>
            </a:r>
            <a:r>
              <a:rPr lang="zh-CN" altLang="en-US" sz="2800" smtClean="0"/>
              <a:t>采用延迟转移技术的两个限制条件：</a:t>
            </a:r>
          </a:p>
          <a:p>
            <a:pPr marL="765175" lvl="1" eaLnBrk="1" hangingPunct="1">
              <a:lnSpc>
                <a:spcPct val="90000"/>
              </a:lnSpc>
              <a:buFont typeface="Wingdings" pitchFamily="2" charset="2"/>
              <a:buChar char="Ø"/>
              <a:defRPr/>
            </a:pPr>
            <a:r>
              <a:rPr lang="zh-CN" altLang="en-US" smtClean="0"/>
              <a:t>被移动指令在移动过程中与所经过的指令之间不能有数据相关；</a:t>
            </a:r>
          </a:p>
          <a:p>
            <a:pPr marL="765175" lvl="1" eaLnBrk="1" hangingPunct="1">
              <a:lnSpc>
                <a:spcPct val="90000"/>
              </a:lnSpc>
              <a:buFont typeface="Wingdings" pitchFamily="2" charset="2"/>
              <a:buChar char="Ø"/>
              <a:defRPr/>
            </a:pPr>
            <a:r>
              <a:rPr lang="zh-CN" altLang="en-US" smtClean="0"/>
              <a:t>被移动指令不破坏条件码，至少不影响后面的指令使用条件码。</a:t>
            </a:r>
            <a:endParaRPr lang="zh-CN" altLang="en-US" sz="2400" smtClean="0"/>
          </a:p>
        </p:txBody>
      </p:sp>
      <p:sp>
        <p:nvSpPr>
          <p:cNvPr id="114693" name="Rectangle 21"/>
          <p:cNvSpPr>
            <a:spLocks noChangeArrowheads="1"/>
          </p:cNvSpPr>
          <p:nvPr/>
        </p:nvSpPr>
        <p:spPr bwMode="auto">
          <a:xfrm>
            <a:off x="838200" y="4941888"/>
            <a:ext cx="7958138" cy="1301750"/>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a:lstStyle>
            <a:lvl1pPr eaLnBrk="0" hangingPunct="0">
              <a:buChar char="w"/>
              <a:defRPr kumimoji="1" sz="3200" b="1">
                <a:solidFill>
                  <a:schemeClr val="tx1"/>
                </a:solidFill>
                <a:latin typeface="Arial" charset="0"/>
                <a:ea typeface="楷体_GB2312" pitchFamily="49" charset="-122"/>
              </a:defRPr>
            </a:lvl1pPr>
            <a:lvl2pPr marL="765175" indent="-285750" eaLnBrk="0" hangingPunct="0">
              <a:buSzPct val="55000"/>
              <a:buChar char="n"/>
              <a:defRPr kumimoji="1" sz="2800" b="1">
                <a:solidFill>
                  <a:schemeClr val="tx1"/>
                </a:solidFill>
                <a:latin typeface="Arial" charset="0"/>
                <a:ea typeface="楷体_GB2312" pitchFamily="49" charset="-122"/>
              </a:defRPr>
            </a:lvl2pPr>
            <a:lvl3pPr marL="1184275" indent="-228600" eaLnBrk="0" hangingPunct="0">
              <a:buSzPct val="65000"/>
              <a:buChar char="l"/>
              <a:defRPr kumimoji="1" sz="2400" b="1">
                <a:solidFill>
                  <a:schemeClr val="tx1"/>
                </a:solidFill>
                <a:latin typeface="Arial" charset="0"/>
                <a:ea typeface="楷体_GB2312" pitchFamily="49" charset="-122"/>
              </a:defRPr>
            </a:lvl3pPr>
            <a:lvl4pPr marL="1603375" indent="-228600" eaLnBrk="0" hangingPunct="0">
              <a:buSzPct val="85000"/>
              <a:buChar char="w"/>
              <a:defRPr kumimoji="1" sz="2000" b="1">
                <a:solidFill>
                  <a:schemeClr val="tx1"/>
                </a:solidFill>
                <a:latin typeface="Arial" charset="0"/>
                <a:ea typeface="楷体_GB2312" pitchFamily="49" charset="-122"/>
              </a:defRPr>
            </a:lvl4pPr>
            <a:lvl5pPr marL="2022475" indent="-228600" eaLnBrk="0" hangingPunct="0">
              <a:buSzPct val="80000"/>
              <a:buChar char="§"/>
              <a:defRPr kumimoji="1" b="1">
                <a:solidFill>
                  <a:schemeClr val="tx1"/>
                </a:solidFill>
                <a:latin typeface="Arial"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buClr>
                <a:srgbClr val="FF3300"/>
              </a:buClr>
              <a:buFont typeface="Wingdings" pitchFamily="2" charset="2"/>
              <a:buNone/>
            </a:pPr>
            <a:r>
              <a:rPr lang="zh-CN" altLang="en-US" sz="2400">
                <a:latin typeface="Times New Roman" pitchFamily="18" charset="0"/>
              </a:rPr>
              <a:t>        如果找不到符合条件的指令，必须在（条件）转移指令后面插入空操作；如果指令的执行过程分为多个流水段，则要插入多条指令。</a:t>
            </a:r>
          </a:p>
        </p:txBody>
      </p:sp>
      <p:sp>
        <p:nvSpPr>
          <p:cNvPr id="114694" name="Text Box 22"/>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4</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4</a:t>
            </a:r>
            <a:endParaRPr lang="zh-CN" altLang="en-US" sz="1200" b="0" dirty="0">
              <a:latin typeface="幼圆" pitchFamily="49" charset="-122"/>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pPr eaLnBrk="1" hangingPunct="1">
              <a:defRPr/>
            </a:pPr>
            <a:r>
              <a:rPr lang="zh-CN" altLang="en-US" smtClean="0"/>
              <a:t>指令取消技术</a:t>
            </a:r>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的关键技术</a:t>
            </a:r>
            <a:endParaRPr lang="zh-CN" altLang="en-US" sz="1200" b="0">
              <a:latin typeface="Times New Roman" pitchFamily="18" charset="0"/>
              <a:ea typeface="幼圆" pitchFamily="49" charset="-122"/>
            </a:endParaRPr>
          </a:p>
        </p:txBody>
      </p:sp>
      <p:sp>
        <p:nvSpPr>
          <p:cNvPr id="364548" name="Rectangle 4"/>
          <p:cNvSpPr>
            <a:spLocks noGrp="1" noChangeArrowheads="1"/>
          </p:cNvSpPr>
          <p:nvPr>
            <p:ph type="body" idx="1"/>
          </p:nvPr>
        </p:nvSpPr>
        <p:spPr>
          <a:xfrm>
            <a:off x="809625" y="1916113"/>
            <a:ext cx="7958138" cy="4465215"/>
          </a:xfrm>
        </p:spPr>
        <p:txBody>
          <a:bodyPr/>
          <a:lstStyle/>
          <a:p>
            <a:pPr marL="0" indent="0" eaLnBrk="1" hangingPunct="1">
              <a:lnSpc>
                <a:spcPct val="110000"/>
              </a:lnSpc>
              <a:buClr>
                <a:srgbClr val="FF3300"/>
              </a:buClr>
              <a:defRPr/>
            </a:pPr>
            <a:r>
              <a:rPr lang="zh-CN" altLang="en-US" sz="2400" dirty="0" smtClean="0">
                <a:solidFill>
                  <a:srgbClr val="FF3300"/>
                </a:solidFill>
                <a:effectLst>
                  <a:outerShdw blurRad="38100" dist="38100" dir="2700000" algn="tl">
                    <a:srgbClr val="C0C0C0"/>
                  </a:outerShdw>
                </a:effectLst>
              </a:rPr>
              <a:t>  问题</a:t>
            </a:r>
          </a:p>
          <a:p>
            <a:pPr marL="0" indent="0" eaLnBrk="1" hangingPunct="1">
              <a:lnSpc>
                <a:spcPct val="110000"/>
              </a:lnSpc>
              <a:buFont typeface="Wingdings" pitchFamily="2" charset="2"/>
              <a:buNone/>
              <a:defRPr/>
            </a:pPr>
            <a:r>
              <a:rPr lang="zh-CN" altLang="en-US" sz="2400" dirty="0" smtClean="0"/>
              <a:t>    采用指令延时技术，遇到条件转移指令时，调整指令序列非常困难，在许多情况下找不到可以用来调整的指令。</a:t>
            </a:r>
          </a:p>
          <a:p>
            <a:pPr marL="0" indent="0" eaLnBrk="1" hangingPunct="1">
              <a:lnSpc>
                <a:spcPct val="110000"/>
              </a:lnSpc>
              <a:buClr>
                <a:srgbClr val="FF3300"/>
              </a:buClr>
              <a:defRPr/>
            </a:pPr>
            <a:r>
              <a:rPr lang="zh-CN" altLang="en-US" sz="2400" dirty="0" smtClean="0">
                <a:solidFill>
                  <a:srgbClr val="FF3300"/>
                </a:solidFill>
                <a:effectLst>
                  <a:outerShdw blurRad="38100" dist="38100" dir="2700000" algn="tl">
                    <a:srgbClr val="C0C0C0"/>
                  </a:outerShdw>
                </a:effectLst>
              </a:rPr>
              <a:t>  解决</a:t>
            </a:r>
          </a:p>
          <a:p>
            <a:pPr marL="0" indent="0" eaLnBrk="1" hangingPunct="1">
              <a:lnSpc>
                <a:spcPct val="110000"/>
              </a:lnSpc>
              <a:buFont typeface="Wingdings" pitchFamily="2" charset="2"/>
              <a:buNone/>
              <a:defRPr/>
            </a:pPr>
            <a:r>
              <a:rPr lang="zh-CN" altLang="en-US" sz="2400" dirty="0" smtClean="0"/>
              <a:t>    采用指令取消技术（为了提高程序的执行效率，应该尽量少取消指令）。</a:t>
            </a:r>
            <a:endParaRPr lang="en-US" altLang="zh-CN" sz="2400" dirty="0" smtClean="0"/>
          </a:p>
          <a:p>
            <a:pPr marL="933450" indent="-933450" eaLnBrk="1" hangingPunct="1">
              <a:lnSpc>
                <a:spcPct val="110000"/>
              </a:lnSpc>
              <a:buFont typeface="Wingdings" pitchFamily="2" charset="2"/>
              <a:buNone/>
              <a:defRPr/>
            </a:pPr>
            <a:r>
              <a:rPr lang="zh-CN" altLang="en-US" sz="2400" dirty="0" smtClean="0">
                <a:solidFill>
                  <a:srgbClr val="3333FF"/>
                </a:solidFill>
              </a:rPr>
              <a:t>规则：</a:t>
            </a:r>
            <a:r>
              <a:rPr lang="zh-CN" altLang="en-US" sz="2400" dirty="0" smtClean="0"/>
              <a:t>如果是</a:t>
            </a:r>
            <a:r>
              <a:rPr lang="zh-CN" altLang="en-US" sz="2400" dirty="0" smtClean="0">
                <a:solidFill>
                  <a:srgbClr val="3333FF"/>
                </a:solidFill>
              </a:rPr>
              <a:t>向后转移</a:t>
            </a:r>
            <a:r>
              <a:rPr lang="zh-CN" altLang="en-US" sz="2400" dirty="0" smtClean="0"/>
              <a:t>（转移目标地址小于当前程序计数器</a:t>
            </a:r>
            <a:r>
              <a:rPr lang="en-US" altLang="zh-CN" sz="2400" dirty="0" smtClean="0"/>
              <a:t>PC</a:t>
            </a:r>
            <a:r>
              <a:rPr lang="zh-CN" altLang="en-US" sz="2400" dirty="0" smtClean="0"/>
              <a:t>的值），则在转移不成功时取消下条指令，否则执行下条指令；如果是</a:t>
            </a:r>
            <a:r>
              <a:rPr lang="zh-CN" altLang="en-US" sz="2400" dirty="0" smtClean="0">
                <a:solidFill>
                  <a:srgbClr val="3333FF"/>
                </a:solidFill>
              </a:rPr>
              <a:t>向前转移</a:t>
            </a:r>
            <a:r>
              <a:rPr lang="zh-CN" altLang="en-US" sz="2400" dirty="0" smtClean="0"/>
              <a:t>，则正好相反，在转移不成功时执行下条指令，否则取消下条指令。</a:t>
            </a:r>
          </a:p>
        </p:txBody>
      </p:sp>
      <p:sp>
        <p:nvSpPr>
          <p:cNvPr id="11571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pPr eaLnBrk="1" hangingPunct="1">
              <a:defRPr/>
            </a:pPr>
            <a:r>
              <a:rPr lang="zh-CN" altLang="en-US" smtClean="0"/>
              <a:t>例1：向后转移</a:t>
            </a:r>
            <a:br>
              <a:rPr lang="zh-CN" altLang="en-US" smtClean="0"/>
            </a:br>
            <a:r>
              <a:rPr lang="zh-CN" altLang="en-US" smtClean="0"/>
              <a:t>（</a:t>
            </a:r>
            <a:r>
              <a:rPr lang="en-US" altLang="zh-CN" smtClean="0"/>
              <a:t>loop</a:t>
            </a:r>
            <a:r>
              <a:rPr lang="zh-CN" altLang="en-US" smtClean="0"/>
              <a:t>结构）</a:t>
            </a:r>
          </a:p>
        </p:txBody>
      </p:sp>
      <p:sp>
        <p:nvSpPr>
          <p:cNvPr id="11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的关键技术</a:t>
            </a:r>
            <a:endParaRPr lang="zh-CN" altLang="en-US" sz="1200" b="0">
              <a:latin typeface="Times New Roman" pitchFamily="18" charset="0"/>
              <a:ea typeface="幼圆" pitchFamily="49" charset="-122"/>
            </a:endParaRPr>
          </a:p>
        </p:txBody>
      </p:sp>
      <p:sp>
        <p:nvSpPr>
          <p:cNvPr id="373765" name="Rectangle 5"/>
          <p:cNvSpPr>
            <a:spLocks noGrp="1" noChangeArrowheads="1"/>
          </p:cNvSpPr>
          <p:nvPr>
            <p:ph type="body" idx="1"/>
          </p:nvPr>
        </p:nvSpPr>
        <p:spPr>
          <a:xfrm>
            <a:off x="809625" y="1916113"/>
            <a:ext cx="7958138" cy="4484687"/>
          </a:xfrm>
        </p:spPr>
        <p:txBody>
          <a:bodyPr/>
          <a:lstStyle/>
          <a:p>
            <a:pPr marL="0" indent="0" eaLnBrk="1" hangingPunct="1">
              <a:buFont typeface="Wingdings" pitchFamily="2" charset="2"/>
              <a:buNone/>
              <a:defRPr/>
            </a:pPr>
            <a:r>
              <a:rPr lang="zh-CN" altLang="en-US" sz="2800" smtClean="0"/>
              <a:t>         调整前            		调整后</a:t>
            </a:r>
            <a:br>
              <a:rPr lang="zh-CN" altLang="en-US" sz="2800" smtClean="0"/>
            </a:br>
            <a:r>
              <a:rPr lang="en-US" altLang="zh-CN" sz="2800" smtClean="0"/>
              <a:t>loop:	X X X			         </a:t>
            </a:r>
            <a:r>
              <a:rPr lang="en-US" altLang="zh-CN" sz="2800" smtClean="0">
                <a:solidFill>
                  <a:srgbClr val="FF3300"/>
                </a:solidFill>
              </a:rPr>
              <a:t>X X X</a:t>
            </a:r>
            <a:r>
              <a:rPr lang="en-US" altLang="zh-CN" sz="2800" smtClean="0"/>
              <a:t/>
            </a:r>
            <a:br>
              <a:rPr lang="en-US" altLang="zh-CN" sz="2800" smtClean="0"/>
            </a:br>
            <a:r>
              <a:rPr lang="en-US" altLang="zh-CN" sz="2800" smtClean="0"/>
              <a:t>	Y Y Y		         loop:	Y Y Y</a:t>
            </a:r>
            <a:br>
              <a:rPr lang="en-US" altLang="zh-CN" sz="2800" smtClean="0"/>
            </a:br>
            <a:r>
              <a:rPr lang="en-US" altLang="zh-CN" sz="2800" smtClean="0"/>
              <a:t>	……				……</a:t>
            </a:r>
            <a:br>
              <a:rPr lang="en-US" altLang="zh-CN" sz="2800" smtClean="0"/>
            </a:br>
            <a:r>
              <a:rPr lang="en-US" altLang="zh-CN" sz="2800" smtClean="0"/>
              <a:t>	Z Z Z				Z Z Z</a:t>
            </a:r>
            <a:br>
              <a:rPr lang="en-US" altLang="zh-CN" sz="2800" smtClean="0"/>
            </a:br>
            <a:r>
              <a:rPr lang="en-US" altLang="zh-CN" sz="2800" smtClean="0"/>
              <a:t>	cmp r1, r2, loop		cmp r1, r2, loop</a:t>
            </a:r>
            <a:br>
              <a:rPr lang="en-US" altLang="zh-CN" sz="2800" smtClean="0"/>
            </a:br>
            <a:r>
              <a:rPr lang="en-US" altLang="zh-CN" sz="2800" smtClean="0"/>
              <a:t>	W W W			</a:t>
            </a:r>
            <a:r>
              <a:rPr lang="en-US" altLang="zh-CN" sz="2800" smtClean="0">
                <a:solidFill>
                  <a:srgbClr val="FF3300"/>
                </a:solidFill>
              </a:rPr>
              <a:t>X X X</a:t>
            </a:r>
            <a:br>
              <a:rPr lang="en-US" altLang="zh-CN" sz="2800" smtClean="0">
                <a:solidFill>
                  <a:srgbClr val="FF3300"/>
                </a:solidFill>
              </a:rPr>
            </a:br>
            <a:r>
              <a:rPr lang="en-US" altLang="zh-CN" sz="2800" smtClean="0"/>
              <a:t>					W W W</a:t>
            </a:r>
          </a:p>
          <a:p>
            <a:pPr marL="0" indent="0" eaLnBrk="1" hangingPunct="1">
              <a:buFont typeface="Wingdings" pitchFamily="2" charset="2"/>
              <a:buNone/>
              <a:defRPr/>
            </a:pPr>
            <a:r>
              <a:rPr lang="zh-CN" altLang="en-US" sz="2800" smtClean="0">
                <a:solidFill>
                  <a:srgbClr val="FF3300"/>
                </a:solidFill>
                <a:effectLst>
                  <a:outerShdw blurRad="38100" dist="38100" dir="2700000" algn="tl">
                    <a:srgbClr val="C0C0C0"/>
                  </a:outerShdw>
                </a:effectLst>
              </a:rPr>
              <a:t>分析：</a:t>
            </a:r>
            <a:r>
              <a:rPr lang="zh-CN" altLang="en-US" sz="2800" smtClean="0"/>
              <a:t>能够使指令流水线在绝大多数情况下不断流，因为绝大多数情况下，转移是成功的。</a:t>
            </a:r>
          </a:p>
        </p:txBody>
      </p:sp>
      <p:sp>
        <p:nvSpPr>
          <p:cNvPr id="116741" name="Line 6"/>
          <p:cNvSpPr>
            <a:spLocks noChangeShapeType="1"/>
          </p:cNvSpPr>
          <p:nvPr/>
        </p:nvSpPr>
        <p:spPr bwMode="auto">
          <a:xfrm>
            <a:off x="900113" y="5373688"/>
            <a:ext cx="7924800" cy="0"/>
          </a:xfrm>
          <a:prstGeom prst="line">
            <a:avLst/>
          </a:prstGeom>
          <a:noFill/>
          <a:ln w="762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16742"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pPr eaLnBrk="1" hangingPunct="1">
              <a:defRPr/>
            </a:pPr>
            <a:r>
              <a:rPr lang="zh-CN" altLang="en-US" smtClean="0"/>
              <a:t>例2：向前转移</a:t>
            </a:r>
            <a:br>
              <a:rPr lang="zh-CN" altLang="en-US" smtClean="0"/>
            </a:br>
            <a:r>
              <a:rPr lang="zh-CN" altLang="en-US" smtClean="0"/>
              <a:t>（</a:t>
            </a:r>
            <a:r>
              <a:rPr lang="en-US" altLang="zh-CN" smtClean="0"/>
              <a:t>if-then-else</a:t>
            </a:r>
            <a:r>
              <a:rPr lang="zh-CN" altLang="en-US" smtClean="0"/>
              <a:t>结构）</a:t>
            </a:r>
          </a:p>
        </p:txBody>
      </p:sp>
      <p:sp>
        <p:nvSpPr>
          <p:cNvPr id="117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zh-CN" altLang="en-US" sz="1200" b="0">
                <a:latin typeface="Times New Roman" pitchFamily="18" charset="0"/>
                <a:ea typeface="幼圆" pitchFamily="49" charset="-122"/>
                <a:hlinkClick r:id="rId6" action="ppaction://hlinksldjump"/>
              </a:rPr>
              <a:t>的关键技术</a:t>
            </a:r>
            <a:endParaRPr lang="zh-CN" altLang="en-US" sz="1200" b="0">
              <a:latin typeface="Times New Roman" pitchFamily="18" charset="0"/>
              <a:ea typeface="幼圆" pitchFamily="49" charset="-122"/>
            </a:endParaRPr>
          </a:p>
        </p:txBody>
      </p:sp>
      <p:sp>
        <p:nvSpPr>
          <p:cNvPr id="375813" name="Rectangle 5"/>
          <p:cNvSpPr>
            <a:spLocks noGrp="1" noChangeArrowheads="1"/>
          </p:cNvSpPr>
          <p:nvPr>
            <p:ph type="body" idx="1"/>
          </p:nvPr>
        </p:nvSpPr>
        <p:spPr/>
        <p:txBody>
          <a:bodyPr/>
          <a:lstStyle/>
          <a:p>
            <a:pPr marL="0" indent="0" eaLnBrk="1" hangingPunct="1">
              <a:buFont typeface="Wingdings" pitchFamily="2" charset="2"/>
              <a:buNone/>
              <a:defRPr/>
            </a:pPr>
            <a:r>
              <a:rPr lang="en-US" altLang="zh-CN" sz="2800" dirty="0" smtClean="0"/>
              <a:t>	R </a:t>
            </a:r>
            <a:r>
              <a:rPr lang="en-US" altLang="zh-CN" sz="2800" dirty="0" err="1" smtClean="0"/>
              <a:t>R</a:t>
            </a:r>
            <a:r>
              <a:rPr lang="en-US" altLang="zh-CN" sz="2800" dirty="0" smtClean="0"/>
              <a:t> </a:t>
            </a:r>
            <a:r>
              <a:rPr lang="en-US" altLang="zh-CN" sz="2800" dirty="0" err="1" smtClean="0"/>
              <a:t>R</a:t>
            </a:r>
            <a:r>
              <a:rPr lang="en-US" altLang="zh-CN" sz="2800" dirty="0" smtClean="0"/>
              <a:t/>
            </a:r>
            <a:br>
              <a:rPr lang="en-US" altLang="zh-CN" sz="2800" dirty="0" smtClean="0"/>
            </a:br>
            <a:r>
              <a:rPr lang="en-US" altLang="zh-CN" sz="2800" dirty="0" smtClean="0"/>
              <a:t>	……</a:t>
            </a:r>
            <a:br>
              <a:rPr lang="en-US" altLang="zh-CN" sz="2800" dirty="0" smtClean="0"/>
            </a:br>
            <a:r>
              <a:rPr lang="en-US" altLang="zh-CN" sz="2800" dirty="0" smtClean="0"/>
              <a:t>	S </a:t>
            </a:r>
            <a:r>
              <a:rPr lang="en-US" altLang="zh-CN" sz="2800" dirty="0" err="1" smtClean="0"/>
              <a:t>S</a:t>
            </a:r>
            <a:r>
              <a:rPr lang="en-US" altLang="zh-CN" sz="2800" dirty="0" smtClean="0"/>
              <a:t> </a:t>
            </a:r>
            <a:r>
              <a:rPr lang="en-US" altLang="zh-CN" sz="2800" dirty="0" err="1" smtClean="0"/>
              <a:t>S</a:t>
            </a:r>
            <a:r>
              <a:rPr lang="en-US" altLang="zh-CN" sz="2800" dirty="0" smtClean="0"/>
              <a:t>	</a:t>
            </a:r>
            <a:r>
              <a:rPr lang="zh-CN" altLang="en-US" sz="2800" dirty="0" smtClean="0"/>
              <a:t/>
            </a:r>
            <a:br>
              <a:rPr lang="zh-CN" altLang="en-US" sz="2800" dirty="0" smtClean="0"/>
            </a:br>
            <a:r>
              <a:rPr lang="zh-CN" altLang="en-US" sz="2800" dirty="0" smtClean="0"/>
              <a:t>	</a:t>
            </a:r>
            <a:r>
              <a:rPr lang="en-US" altLang="zh-CN" sz="2800" dirty="0" err="1" smtClean="0"/>
              <a:t>cmp</a:t>
            </a:r>
            <a:r>
              <a:rPr lang="en-US" altLang="zh-CN" sz="2800" dirty="0" smtClean="0"/>
              <a:t> r1, r2, thru	;</a:t>
            </a:r>
            <a:r>
              <a:rPr lang="zh-CN" altLang="en-US" sz="2800" dirty="0" smtClean="0"/>
              <a:t>若转移，则取消</a:t>
            </a:r>
            <a:r>
              <a:rPr lang="en-US" altLang="zh-CN" sz="2800" dirty="0" smtClean="0"/>
              <a:t>TTT</a:t>
            </a:r>
            <a:br>
              <a:rPr lang="en-US" altLang="zh-CN" sz="2800" dirty="0" smtClean="0"/>
            </a:br>
            <a:r>
              <a:rPr lang="en-US" altLang="zh-CN" sz="2800" dirty="0" smtClean="0"/>
              <a:t>	</a:t>
            </a:r>
            <a:r>
              <a:rPr lang="en-US" altLang="zh-CN" sz="2800" dirty="0" smtClean="0">
                <a:solidFill>
                  <a:srgbClr val="FF3300"/>
                </a:solidFill>
              </a:rPr>
              <a:t>T </a:t>
            </a:r>
            <a:r>
              <a:rPr lang="en-US" altLang="zh-CN" sz="2800" dirty="0" err="1" smtClean="0">
                <a:solidFill>
                  <a:srgbClr val="FF3300"/>
                </a:solidFill>
              </a:rPr>
              <a:t>T</a:t>
            </a:r>
            <a:r>
              <a:rPr lang="en-US" altLang="zh-CN" sz="2800" dirty="0" smtClean="0">
                <a:solidFill>
                  <a:srgbClr val="FF3300"/>
                </a:solidFill>
              </a:rPr>
              <a:t> </a:t>
            </a:r>
            <a:r>
              <a:rPr lang="en-US" altLang="zh-CN" sz="2800" dirty="0" err="1" smtClean="0">
                <a:solidFill>
                  <a:srgbClr val="FF3300"/>
                </a:solidFill>
              </a:rPr>
              <a:t>T</a:t>
            </a:r>
            <a:r>
              <a:rPr lang="en-US" altLang="zh-CN" sz="2800" dirty="0" smtClean="0">
                <a:solidFill>
                  <a:srgbClr val="FF3300"/>
                </a:solidFill>
              </a:rPr>
              <a:t>	</a:t>
            </a:r>
            <a:r>
              <a:rPr lang="en-US" altLang="zh-CN" sz="2800" dirty="0" smtClean="0"/>
              <a:t>		;</a:t>
            </a:r>
            <a:r>
              <a:rPr lang="zh-CN" altLang="en-US" sz="2800" dirty="0" smtClean="0"/>
              <a:t>若不转移，则执行</a:t>
            </a:r>
            <a:r>
              <a:rPr lang="en-US" altLang="zh-CN" sz="2800" dirty="0" smtClean="0"/>
              <a:t>TTT</a:t>
            </a:r>
            <a:br>
              <a:rPr lang="en-US" altLang="zh-CN" sz="2800" dirty="0" smtClean="0"/>
            </a:br>
            <a:r>
              <a:rPr lang="en-US" altLang="zh-CN" sz="2800" dirty="0" smtClean="0"/>
              <a:t>	……	</a:t>
            </a:r>
            <a:r>
              <a:rPr lang="zh-CN" altLang="en-US" sz="2800" dirty="0" smtClean="0"/>
              <a:t/>
            </a:r>
            <a:br>
              <a:rPr lang="zh-CN" altLang="en-US" sz="2800" dirty="0" smtClean="0"/>
            </a:br>
            <a:r>
              <a:rPr lang="zh-CN" altLang="en-US" sz="2800" dirty="0" smtClean="0"/>
              <a:t>	</a:t>
            </a:r>
            <a:r>
              <a:rPr lang="en-US" altLang="zh-CN" sz="2800" dirty="0" smtClean="0"/>
              <a:t>U </a:t>
            </a:r>
            <a:r>
              <a:rPr lang="en-US" altLang="zh-CN" sz="2800" dirty="0" err="1" smtClean="0"/>
              <a:t>U</a:t>
            </a:r>
            <a:r>
              <a:rPr lang="en-US" altLang="zh-CN" sz="2800" dirty="0" smtClean="0"/>
              <a:t> </a:t>
            </a:r>
            <a:r>
              <a:rPr lang="en-US" altLang="zh-CN" sz="2800" dirty="0" err="1" smtClean="0"/>
              <a:t>U</a:t>
            </a:r>
            <a:r>
              <a:rPr lang="zh-CN" altLang="en-US" sz="2800" dirty="0" smtClean="0"/>
              <a:t/>
            </a:r>
            <a:br>
              <a:rPr lang="zh-CN" altLang="en-US" sz="2800" dirty="0" smtClean="0"/>
            </a:br>
            <a:r>
              <a:rPr lang="en-US" altLang="zh-CN" sz="2800" dirty="0" smtClean="0"/>
              <a:t>thru:	VVV</a:t>
            </a:r>
          </a:p>
          <a:p>
            <a:pPr marL="0" indent="0" eaLnBrk="1" hangingPunct="1">
              <a:buFont typeface="Wingdings" pitchFamily="2" charset="2"/>
              <a:buNone/>
              <a:defRPr/>
            </a:pPr>
            <a:r>
              <a:rPr lang="zh-CN" altLang="en-US" sz="2800" dirty="0" smtClean="0">
                <a:solidFill>
                  <a:srgbClr val="FF3300"/>
                </a:solidFill>
                <a:effectLst>
                  <a:outerShdw blurRad="38100" dist="38100" dir="2700000" algn="tl">
                    <a:srgbClr val="C0C0C0"/>
                  </a:outerShdw>
                </a:effectLst>
              </a:rPr>
              <a:t>分析：</a:t>
            </a:r>
            <a:r>
              <a:rPr lang="zh-CN" altLang="en-US" sz="2800" dirty="0" smtClean="0"/>
              <a:t>成功与不成功的概率通常各为50%，采用正常的指令取消技术即可。</a:t>
            </a:r>
          </a:p>
        </p:txBody>
      </p:sp>
      <p:sp>
        <p:nvSpPr>
          <p:cNvPr id="117765" name="Line 6"/>
          <p:cNvSpPr>
            <a:spLocks noChangeShapeType="1"/>
          </p:cNvSpPr>
          <p:nvPr/>
        </p:nvSpPr>
        <p:spPr bwMode="auto">
          <a:xfrm>
            <a:off x="827088" y="5373688"/>
            <a:ext cx="7924800" cy="0"/>
          </a:xfrm>
          <a:prstGeom prst="line">
            <a:avLst/>
          </a:prstGeom>
          <a:noFill/>
          <a:ln w="762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17766"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1200" b="0" dirty="0" smtClean="0">
                <a:latin typeface="幼圆" pitchFamily="49" charset="-122"/>
                <a:ea typeface="幼圆" pitchFamily="49" charset="-122"/>
              </a:rPr>
              <a:t>3</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pPr eaLnBrk="1" hangingPunct="1">
              <a:defRPr/>
            </a:pPr>
            <a:r>
              <a:rPr lang="zh-CN" altLang="en-US" smtClean="0"/>
              <a:t>指令流调整技术</a:t>
            </a:r>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6" action="ppaction://hlinksldjump"/>
              </a:rPr>
              <a:t>RISC</a:t>
            </a:r>
            <a:r>
              <a:rPr lang="en-US" altLang="zh-CN"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7" action="ppaction://hlinksldjump"/>
              </a:rPr>
              <a:t>RISC</a:t>
            </a:r>
            <a:r>
              <a:rPr lang="zh-CN" altLang="en-US" sz="1200" b="0">
                <a:latin typeface="Times New Roman" pitchFamily="18" charset="0"/>
                <a:ea typeface="幼圆" pitchFamily="49" charset="-122"/>
                <a:hlinkClick r:id="rId7" action="ppaction://hlinksldjump"/>
              </a:rPr>
              <a:t>的关键技术</a:t>
            </a:r>
            <a:endParaRPr lang="zh-CN" altLang="en-US" sz="1200" b="0">
              <a:latin typeface="Times New Roman" pitchFamily="18" charset="0"/>
              <a:ea typeface="幼圆" pitchFamily="49" charset="-122"/>
            </a:endParaRPr>
          </a:p>
        </p:txBody>
      </p:sp>
      <p:sp>
        <p:nvSpPr>
          <p:cNvPr id="365572" name="Rectangle 4"/>
          <p:cNvSpPr>
            <a:spLocks noGrp="1" noChangeArrowheads="1"/>
          </p:cNvSpPr>
          <p:nvPr>
            <p:ph type="body" idx="1"/>
          </p:nvPr>
        </p:nvSpPr>
        <p:spPr>
          <a:xfrm>
            <a:off x="809625" y="1916113"/>
            <a:ext cx="7958138" cy="4332287"/>
          </a:xfrm>
        </p:spPr>
        <p:txBody>
          <a:bodyPr/>
          <a:lstStyle/>
          <a:p>
            <a:pPr marL="0" indent="0" eaLnBrk="1" hangingPunct="1">
              <a:buClr>
                <a:srgbClr val="FF3300"/>
              </a:buClr>
              <a:defRPr/>
            </a:pPr>
            <a:r>
              <a:rPr lang="zh-CN" altLang="en-US" sz="2800" smtClean="0">
                <a:solidFill>
                  <a:srgbClr val="FF3300"/>
                </a:solidFill>
                <a:effectLst>
                  <a:outerShdw blurRad="38100" dist="38100" dir="2700000" algn="tl">
                    <a:srgbClr val="C0C0C0"/>
                  </a:outerShdw>
                </a:effectLst>
              </a:rPr>
              <a:t>  目的</a:t>
            </a:r>
          </a:p>
          <a:p>
            <a:pPr marL="0" indent="0" eaLnBrk="1" hangingPunct="1">
              <a:buFont typeface="Wingdings" pitchFamily="2" charset="2"/>
              <a:buNone/>
              <a:defRPr/>
            </a:pPr>
            <a:r>
              <a:rPr lang="zh-CN" altLang="en-US" sz="2800" smtClean="0"/>
              <a:t>    通过</a:t>
            </a:r>
            <a:r>
              <a:rPr lang="zh-CN" altLang="en-US" sz="2800" smtClean="0">
                <a:solidFill>
                  <a:srgbClr val="0000CC"/>
                </a:solidFill>
                <a:effectLst>
                  <a:outerShdw blurRad="38100" dist="38100" dir="2700000" algn="tl">
                    <a:srgbClr val="C0C0C0"/>
                  </a:outerShdw>
                </a:effectLst>
              </a:rPr>
              <a:t>调整指令序列</a:t>
            </a:r>
            <a:r>
              <a:rPr lang="zh-CN" altLang="en-US" sz="2800" smtClean="0"/>
              <a:t>、</a:t>
            </a:r>
            <a:r>
              <a:rPr lang="zh-CN" altLang="en-US" sz="2800" smtClean="0">
                <a:solidFill>
                  <a:srgbClr val="FF3300"/>
                </a:solidFill>
                <a:effectLst>
                  <a:outerShdw blurRad="38100" dist="38100" dir="2700000" algn="tl">
                    <a:srgbClr val="C0C0C0"/>
                  </a:outerShdw>
                </a:effectLst>
              </a:rPr>
              <a:t>变量重新命名</a:t>
            </a:r>
            <a:r>
              <a:rPr lang="zh-CN" altLang="en-US" sz="2800" smtClean="0"/>
              <a:t>等方法消除数据相关，提高流水线执行效率。</a:t>
            </a:r>
          </a:p>
          <a:p>
            <a:pPr marL="0" indent="0" eaLnBrk="1" hangingPunct="1">
              <a:buClr>
                <a:srgbClr val="FF3300"/>
              </a:buClr>
              <a:defRPr/>
            </a:pPr>
            <a:r>
              <a:rPr lang="zh-CN" altLang="en-US" sz="2800" smtClean="0">
                <a:solidFill>
                  <a:srgbClr val="FF3300"/>
                </a:solidFill>
                <a:effectLst>
                  <a:outerShdw blurRad="38100" dist="38100" dir="2700000" algn="tl">
                    <a:srgbClr val="C0C0C0"/>
                  </a:outerShdw>
                </a:effectLst>
              </a:rPr>
              <a:t>  例子</a:t>
            </a:r>
          </a:p>
          <a:p>
            <a:pPr marL="0" indent="0" eaLnBrk="1" hangingPunct="1">
              <a:buFont typeface="Wingdings" pitchFamily="2" charset="2"/>
              <a:buNone/>
              <a:defRPr/>
            </a:pPr>
            <a:r>
              <a:rPr lang="zh-CN" altLang="en-US" sz="2800" smtClean="0"/>
              <a:t>	调整前		调整后</a:t>
            </a:r>
            <a:endParaRPr lang="en-US" altLang="zh-CN" sz="2800" smtClean="0"/>
          </a:p>
          <a:p>
            <a:pPr marL="0" indent="0" eaLnBrk="1" hangingPunct="1">
              <a:buFont typeface="Wingdings" pitchFamily="2" charset="2"/>
              <a:buNone/>
              <a:defRPr/>
            </a:pPr>
            <a:r>
              <a:rPr lang="en-US" altLang="zh-CN" sz="2800" smtClean="0"/>
              <a:t>	add	r1, r2, r3	add	r1, r2, r3</a:t>
            </a:r>
            <a:br>
              <a:rPr lang="en-US" altLang="zh-CN" sz="2800" smtClean="0"/>
            </a:br>
            <a:r>
              <a:rPr lang="en-US" altLang="zh-CN" sz="2800" smtClean="0"/>
              <a:t>	add	r3, r4, r5	</a:t>
            </a:r>
            <a:r>
              <a:rPr lang="en-US" altLang="zh-CN" sz="2800" smtClean="0">
                <a:solidFill>
                  <a:srgbClr val="0000CC"/>
                </a:solidFill>
              </a:rPr>
              <a:t>mul	r6, r7,</a:t>
            </a:r>
            <a:r>
              <a:rPr lang="en-US" altLang="zh-CN" sz="2800" smtClean="0"/>
              <a:t> </a:t>
            </a:r>
            <a:r>
              <a:rPr lang="en-US" altLang="zh-CN" sz="2800" smtClean="0">
                <a:solidFill>
                  <a:srgbClr val="FF3300"/>
                </a:solidFill>
              </a:rPr>
              <a:t>r0</a:t>
            </a:r>
            <a:r>
              <a:rPr lang="en-US" altLang="zh-CN" sz="2800" smtClean="0"/>
              <a:t/>
            </a:r>
            <a:br>
              <a:rPr lang="en-US" altLang="zh-CN" sz="2800" smtClean="0"/>
            </a:br>
            <a:r>
              <a:rPr lang="en-US" altLang="zh-CN" sz="2800" smtClean="0"/>
              <a:t>	mul	r6, r7, r3	</a:t>
            </a:r>
            <a:r>
              <a:rPr lang="en-US" altLang="zh-CN" sz="2800" smtClean="0">
                <a:solidFill>
                  <a:srgbClr val="0000CC"/>
                </a:solidFill>
              </a:rPr>
              <a:t>add	r3, r4, r5</a:t>
            </a:r>
            <a:r>
              <a:rPr lang="en-US" altLang="zh-CN" sz="2800" smtClean="0"/>
              <a:t/>
            </a:r>
            <a:br>
              <a:rPr lang="en-US" altLang="zh-CN" sz="2800" smtClean="0"/>
            </a:br>
            <a:r>
              <a:rPr lang="en-US" altLang="zh-CN" sz="2800" smtClean="0"/>
              <a:t>	mul	r3, r8, r9	mul	</a:t>
            </a:r>
            <a:r>
              <a:rPr lang="en-US" altLang="zh-CN" sz="2800" smtClean="0">
                <a:solidFill>
                  <a:srgbClr val="FF3300"/>
                </a:solidFill>
              </a:rPr>
              <a:t>r0</a:t>
            </a:r>
            <a:r>
              <a:rPr lang="en-US" altLang="zh-CN" sz="2800" smtClean="0"/>
              <a:t>, r8, r9</a:t>
            </a:r>
            <a:endParaRPr lang="zh-CN" altLang="en-US" sz="2800" smtClean="0"/>
          </a:p>
        </p:txBody>
      </p:sp>
      <p:sp>
        <p:nvSpPr>
          <p:cNvPr id="365573" name="AutoShape 5"/>
          <p:cNvSpPr>
            <a:spLocks noChangeArrowheads="1"/>
          </p:cNvSpPr>
          <p:nvPr/>
        </p:nvSpPr>
        <p:spPr bwMode="auto">
          <a:xfrm>
            <a:off x="5508625" y="3213100"/>
            <a:ext cx="3200400" cy="1066800"/>
          </a:xfrm>
          <a:prstGeom prst="cloudCallout">
            <a:avLst>
              <a:gd name="adj1" fmla="val 20931"/>
              <a:gd name="adj2" fmla="val 133333"/>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zh-CN" altLang="en-US" sz="2400" b="0">
                <a:latin typeface="Times New Roman" pitchFamily="18" charset="0"/>
                <a:ea typeface="方正舒体" pitchFamily="2" charset="-122"/>
              </a:rPr>
              <a:t>调整后执行速度快一倍</a:t>
            </a:r>
          </a:p>
        </p:txBody>
      </p:sp>
      <p:sp>
        <p:nvSpPr>
          <p:cNvPr id="119814" name="Line 6"/>
          <p:cNvSpPr>
            <a:spLocks noChangeShapeType="1"/>
          </p:cNvSpPr>
          <p:nvPr/>
        </p:nvSpPr>
        <p:spPr bwMode="auto">
          <a:xfrm>
            <a:off x="827088" y="4365625"/>
            <a:ext cx="7924800" cy="0"/>
          </a:xfrm>
          <a:prstGeom prst="line">
            <a:avLst/>
          </a:prstGeom>
          <a:noFill/>
          <a:ln w="762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pic>
        <p:nvPicPr>
          <p:cNvPr id="119815" name="Picture 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96200" y="5105400"/>
            <a:ext cx="685800" cy="1090613"/>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365573"/>
                                        </p:tgtEl>
                                        <p:attrNameLst>
                                          <p:attrName>style.visibility</p:attrName>
                                        </p:attrNameLst>
                                      </p:cBhvr>
                                      <p:to>
                                        <p:strVal val="visible"/>
                                      </p:to>
                                    </p:set>
                                    <p:anim to="" calcmode="lin" valueType="num">
                                      <p:cBhvr>
                                        <p:cTn id="7" dur="1" fill="hold"/>
                                        <p:tgtEl>
                                          <p:spTgt spid="365573"/>
                                        </p:tgtEl>
                                        <p:attrNameLst>
                                          <p:attrName/>
                                        </p:attrNameLst>
                                      </p:cBhvr>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3" grpId="0" animBg="1"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pPr eaLnBrk="1" hangingPunct="1">
              <a:defRPr/>
            </a:pPr>
            <a:r>
              <a:rPr lang="en-US" altLang="zh-CN" smtClean="0"/>
              <a:t>RISC</a:t>
            </a:r>
            <a:r>
              <a:rPr lang="zh-CN" altLang="en-US" smtClean="0"/>
              <a:t>的特点</a:t>
            </a:r>
          </a:p>
        </p:txBody>
      </p:sp>
      <p:sp>
        <p:nvSpPr>
          <p:cNvPr id="358404" name="Rectangle 4"/>
          <p:cNvSpPr>
            <a:spLocks noGrp="1" noChangeArrowheads="1"/>
          </p:cNvSpPr>
          <p:nvPr>
            <p:ph type="body" sz="half" idx="1"/>
          </p:nvPr>
        </p:nvSpPr>
        <p:spPr>
          <a:xfrm>
            <a:off x="809625" y="1916113"/>
            <a:ext cx="3902075" cy="4408487"/>
          </a:xfrm>
          <a:solidFill>
            <a:srgbClr val="FFFF00"/>
          </a:solidFill>
          <a:ln w="57150" cmpd="thickThin">
            <a:solidFill>
              <a:schemeClr val="tx1"/>
            </a:solidFill>
            <a:miter lim="800000"/>
            <a:headEnd/>
            <a:tailEnd/>
          </a:ln>
          <a:effectLst>
            <a:outerShdw dist="35921" dir="2700000" algn="ctr" rotWithShape="0">
              <a:schemeClr val="bg2"/>
            </a:outerShdw>
          </a:effectLst>
        </p:spPr>
        <p:txBody>
          <a:bodyPr/>
          <a:lstStyle/>
          <a:p>
            <a:pPr eaLnBrk="1" hangingPunct="1">
              <a:lnSpc>
                <a:spcPct val="110000"/>
              </a:lnSpc>
              <a:buClr>
                <a:srgbClr val="FF0000"/>
              </a:buClr>
              <a:defRPr/>
            </a:pPr>
            <a:r>
              <a:rPr lang="zh-CN" altLang="en-US" smtClean="0">
                <a:solidFill>
                  <a:srgbClr val="FF0000"/>
                </a:solidFill>
                <a:effectLst>
                  <a:outerShdw blurRad="38100" dist="38100" dir="2700000" algn="tl">
                    <a:srgbClr val="000000"/>
                  </a:outerShdw>
                </a:effectLst>
              </a:rPr>
              <a:t>优点</a:t>
            </a:r>
          </a:p>
          <a:p>
            <a:pPr lvl="1" eaLnBrk="1" hangingPunct="1">
              <a:lnSpc>
                <a:spcPct val="110000"/>
              </a:lnSpc>
              <a:buFont typeface="Wingdings" pitchFamily="2" charset="2"/>
              <a:buChar char="Ø"/>
              <a:defRPr/>
            </a:pPr>
            <a:r>
              <a:rPr lang="zh-CN" altLang="en-US" smtClean="0"/>
              <a:t>简化指令系统设计，适合</a:t>
            </a:r>
            <a:r>
              <a:rPr lang="en-US" altLang="zh-CN" smtClean="0"/>
              <a:t>VLSI</a:t>
            </a:r>
            <a:r>
              <a:rPr lang="zh-CN" altLang="en-US" smtClean="0"/>
              <a:t>实现</a:t>
            </a:r>
          </a:p>
          <a:p>
            <a:pPr lvl="1" eaLnBrk="1" hangingPunct="1">
              <a:lnSpc>
                <a:spcPct val="110000"/>
              </a:lnSpc>
              <a:buFont typeface="Wingdings" pitchFamily="2" charset="2"/>
              <a:buChar char="Ø"/>
              <a:defRPr/>
            </a:pPr>
            <a:r>
              <a:rPr lang="zh-CN" altLang="en-US" smtClean="0"/>
              <a:t>提高执行速度和效率</a:t>
            </a:r>
          </a:p>
          <a:p>
            <a:pPr lvl="1" eaLnBrk="1" hangingPunct="1">
              <a:lnSpc>
                <a:spcPct val="110000"/>
              </a:lnSpc>
              <a:buFont typeface="Wingdings" pitchFamily="2" charset="2"/>
              <a:buChar char="Ø"/>
              <a:defRPr/>
            </a:pPr>
            <a:r>
              <a:rPr lang="zh-CN" altLang="en-US" smtClean="0"/>
              <a:t>降低设计成本，提高了系统的可靠性</a:t>
            </a:r>
          </a:p>
          <a:p>
            <a:pPr lvl="1" eaLnBrk="1" hangingPunct="1">
              <a:lnSpc>
                <a:spcPct val="110000"/>
              </a:lnSpc>
              <a:buFont typeface="Wingdings" pitchFamily="2" charset="2"/>
              <a:buChar char="Ø"/>
              <a:defRPr/>
            </a:pPr>
            <a:r>
              <a:rPr lang="zh-CN" altLang="en-US" smtClean="0"/>
              <a:t>可以提供直接支持高级语言的能力，简化编译程序的设计</a:t>
            </a:r>
          </a:p>
        </p:txBody>
      </p:sp>
      <p:sp>
        <p:nvSpPr>
          <p:cNvPr id="358405" name="Rectangle 5"/>
          <p:cNvSpPr>
            <a:spLocks noGrp="1" noChangeArrowheads="1"/>
          </p:cNvSpPr>
          <p:nvPr>
            <p:ph type="body" sz="half" idx="2"/>
          </p:nvPr>
        </p:nvSpPr>
        <p:spPr>
          <a:xfrm>
            <a:off x="4864100" y="1916113"/>
            <a:ext cx="3903663" cy="4408487"/>
          </a:xfrm>
          <a:solidFill>
            <a:srgbClr val="CC99FF"/>
          </a:solidFill>
          <a:ln w="57150" cmpd="thickThin">
            <a:solidFill>
              <a:schemeClr val="tx1"/>
            </a:solidFill>
            <a:miter lim="800000"/>
            <a:headEnd/>
            <a:tailEnd/>
          </a:ln>
          <a:effectLst>
            <a:outerShdw dist="35921" dir="2700000" algn="ctr" rotWithShape="0">
              <a:schemeClr val="bg2"/>
            </a:outerShdw>
          </a:effectLst>
        </p:spPr>
        <p:txBody>
          <a:bodyPr/>
          <a:lstStyle/>
          <a:p>
            <a:pPr eaLnBrk="1" hangingPunct="1">
              <a:lnSpc>
                <a:spcPct val="130000"/>
              </a:lnSpc>
              <a:buClr>
                <a:srgbClr val="FF0000"/>
              </a:buClr>
              <a:defRPr/>
            </a:pPr>
            <a:r>
              <a:rPr lang="zh-CN" altLang="en-US" smtClean="0">
                <a:solidFill>
                  <a:srgbClr val="FF0000"/>
                </a:solidFill>
                <a:effectLst>
                  <a:outerShdw blurRad="38100" dist="38100" dir="2700000" algn="tl">
                    <a:srgbClr val="000000"/>
                  </a:outerShdw>
                </a:effectLst>
              </a:rPr>
              <a:t>缺点</a:t>
            </a:r>
          </a:p>
          <a:p>
            <a:pPr lvl="1" eaLnBrk="1" hangingPunct="1">
              <a:lnSpc>
                <a:spcPct val="130000"/>
              </a:lnSpc>
              <a:buFont typeface="Wingdings" pitchFamily="2" charset="2"/>
              <a:buChar char="Ø"/>
              <a:defRPr/>
            </a:pPr>
            <a:r>
              <a:rPr lang="zh-CN" altLang="en-US" smtClean="0"/>
              <a:t>加重了汇编语言程序员的负担</a:t>
            </a:r>
          </a:p>
          <a:p>
            <a:pPr lvl="1" eaLnBrk="1" hangingPunct="1">
              <a:lnSpc>
                <a:spcPct val="130000"/>
              </a:lnSpc>
              <a:buFont typeface="Wingdings" pitchFamily="2" charset="2"/>
              <a:buChar char="Ø"/>
              <a:defRPr/>
            </a:pPr>
            <a:r>
              <a:rPr lang="zh-CN" altLang="en-US" smtClean="0"/>
              <a:t>对浮点运算和虚拟存储器的支持不够理想</a:t>
            </a:r>
          </a:p>
          <a:p>
            <a:pPr lvl="1" eaLnBrk="1" hangingPunct="1">
              <a:lnSpc>
                <a:spcPct val="130000"/>
              </a:lnSpc>
              <a:buFont typeface="Wingdings" pitchFamily="2" charset="2"/>
              <a:buChar char="Ø"/>
              <a:defRPr/>
            </a:pPr>
            <a:r>
              <a:rPr lang="zh-CN" altLang="en-US" smtClean="0"/>
              <a:t>相对来说，</a:t>
            </a:r>
            <a:r>
              <a:rPr lang="en-US" altLang="zh-CN" smtClean="0"/>
              <a:t>RISC</a:t>
            </a:r>
            <a:r>
              <a:rPr lang="zh-CN" altLang="en-US" smtClean="0"/>
              <a:t>机器上的编译程序要比</a:t>
            </a:r>
            <a:r>
              <a:rPr lang="en-US" altLang="zh-CN" smtClean="0"/>
              <a:t>CISC</a:t>
            </a:r>
            <a:r>
              <a:rPr lang="zh-CN" altLang="en-US" smtClean="0"/>
              <a:t>机器上的难写。</a:t>
            </a:r>
          </a:p>
        </p:txBody>
      </p:sp>
      <p:sp>
        <p:nvSpPr>
          <p:cNvPr id="12083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指令系统的功能设计</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RISC</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pPr eaLnBrk="1" hangingPunct="1">
              <a:defRPr/>
            </a:pPr>
            <a:r>
              <a:rPr lang="zh-CN" altLang="en-US" smtClean="0"/>
              <a:t>综合实例</a:t>
            </a:r>
            <a:br>
              <a:rPr lang="zh-CN" altLang="en-US" smtClean="0"/>
            </a:br>
            <a:r>
              <a:rPr lang="en-US" altLang="zh-CN" smtClean="0"/>
              <a:t>MIPS</a:t>
            </a:r>
            <a:r>
              <a:rPr lang="zh-CN" altLang="en-US" smtClean="0"/>
              <a:t>指令集</a:t>
            </a:r>
          </a:p>
        </p:txBody>
      </p:sp>
      <p:sp>
        <p:nvSpPr>
          <p:cNvPr id="121859" name="Rectangle 4"/>
          <p:cNvSpPr>
            <a:spLocks noGrp="1" noChangeArrowheads="1"/>
          </p:cNvSpPr>
          <p:nvPr>
            <p:ph type="body" sz="half" idx="1"/>
          </p:nvPr>
        </p:nvSpPr>
        <p:spPr>
          <a:xfrm>
            <a:off x="2555875" y="2060575"/>
            <a:ext cx="3990975" cy="4176713"/>
          </a:xfrm>
        </p:spPr>
        <p:txBody>
          <a:bodyPr/>
          <a:lstStyle/>
          <a:p>
            <a:pPr eaLnBrk="1" hangingPunct="1">
              <a:lnSpc>
                <a:spcPct val="120000"/>
              </a:lnSpc>
            </a:pPr>
            <a:r>
              <a:rPr lang="zh-CN" altLang="en-US" sz="3200" smtClean="0">
                <a:hlinkClick r:id="rId3" action="ppaction://hlinksldjump"/>
              </a:rPr>
              <a:t>概述</a:t>
            </a:r>
            <a:endParaRPr lang="zh-CN" altLang="en-US" sz="3200" smtClean="0"/>
          </a:p>
          <a:p>
            <a:pPr eaLnBrk="1" hangingPunct="1">
              <a:lnSpc>
                <a:spcPct val="120000"/>
              </a:lnSpc>
            </a:pPr>
            <a:r>
              <a:rPr lang="en-US" altLang="zh-CN" sz="3200" smtClean="0">
                <a:hlinkClick r:id="rId4" action="ppaction://hlinksldjump"/>
              </a:rPr>
              <a:t>MIPS</a:t>
            </a:r>
            <a:r>
              <a:rPr lang="zh-CN" altLang="en-US" sz="3200" smtClean="0">
                <a:hlinkClick r:id="rId4" action="ppaction://hlinksldjump"/>
              </a:rPr>
              <a:t>的寄存器</a:t>
            </a:r>
            <a:endParaRPr lang="zh-CN" altLang="en-US" sz="3200" smtClean="0"/>
          </a:p>
          <a:p>
            <a:pPr eaLnBrk="1" hangingPunct="1">
              <a:lnSpc>
                <a:spcPct val="120000"/>
              </a:lnSpc>
            </a:pPr>
            <a:r>
              <a:rPr lang="en-US" altLang="zh-CN" sz="3200" smtClean="0">
                <a:hlinkClick r:id="rId5" action="ppaction://hlinksldjump"/>
              </a:rPr>
              <a:t>MIPS</a:t>
            </a:r>
            <a:r>
              <a:rPr lang="zh-CN" altLang="en-US" sz="3200" smtClean="0">
                <a:hlinkClick r:id="rId5" action="ppaction://hlinksldjump"/>
              </a:rPr>
              <a:t>的数据表示</a:t>
            </a:r>
            <a:endParaRPr lang="zh-CN" altLang="en-US" sz="3200" smtClean="0"/>
          </a:p>
          <a:p>
            <a:pPr eaLnBrk="1" hangingPunct="1">
              <a:lnSpc>
                <a:spcPct val="120000"/>
              </a:lnSpc>
            </a:pPr>
            <a:r>
              <a:rPr lang="en-US" altLang="zh-CN" sz="3200" smtClean="0">
                <a:hlinkClick r:id="rId6" action="ppaction://hlinksldjump"/>
              </a:rPr>
              <a:t>MIPS</a:t>
            </a:r>
            <a:r>
              <a:rPr lang="zh-CN" altLang="en-US" sz="3200" smtClean="0">
                <a:hlinkClick r:id="rId6" action="ppaction://hlinksldjump"/>
              </a:rPr>
              <a:t>的寻址方式</a:t>
            </a:r>
            <a:endParaRPr lang="zh-CN" altLang="en-US" sz="3200" smtClean="0"/>
          </a:p>
          <a:p>
            <a:pPr eaLnBrk="1" hangingPunct="1">
              <a:lnSpc>
                <a:spcPct val="120000"/>
              </a:lnSpc>
            </a:pPr>
            <a:r>
              <a:rPr lang="en-US" altLang="zh-CN" sz="3200" smtClean="0">
                <a:hlinkClick r:id="rId7" action="ppaction://hlinksldjump"/>
              </a:rPr>
              <a:t>MIPS</a:t>
            </a:r>
            <a:r>
              <a:rPr lang="zh-CN" altLang="en-US" sz="3200" smtClean="0">
                <a:hlinkClick r:id="rId7" action="ppaction://hlinksldjump"/>
              </a:rPr>
              <a:t>指令格式</a:t>
            </a:r>
            <a:endParaRPr lang="zh-CN" altLang="en-US" sz="3200" smtClean="0"/>
          </a:p>
          <a:p>
            <a:pPr eaLnBrk="1" hangingPunct="1">
              <a:lnSpc>
                <a:spcPct val="120000"/>
              </a:lnSpc>
            </a:pPr>
            <a:r>
              <a:rPr lang="en-US" altLang="zh-CN" sz="3200" smtClean="0">
                <a:hlinkClick r:id="rId8" action="ppaction://hlinksldjump"/>
              </a:rPr>
              <a:t>MIPS</a:t>
            </a:r>
            <a:r>
              <a:rPr lang="zh-CN" altLang="en-US" sz="3200" smtClean="0">
                <a:hlinkClick r:id="rId8" action="ppaction://hlinksldjump"/>
              </a:rPr>
              <a:t>操作</a:t>
            </a:r>
            <a:endParaRPr lang="zh-CN" altLang="en-US" sz="3200" smtClean="0"/>
          </a:p>
        </p:txBody>
      </p:sp>
      <p:sp>
        <p:nvSpPr>
          <p:cNvPr id="12186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9" action="ppaction://hlinksldjump"/>
              </a:rPr>
              <a:t>本章内容</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defRPr/>
            </a:pPr>
            <a:r>
              <a:rPr lang="zh-CN" altLang="en-US" smtClean="0"/>
              <a:t>概  述</a:t>
            </a:r>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MIPS</a:t>
            </a:r>
            <a:r>
              <a:rPr lang="zh-CN" altLang="en-US" sz="1200" b="0">
                <a:latin typeface="Times New Roman" pitchFamily="18" charset="0"/>
                <a:ea typeface="幼圆" pitchFamily="49" charset="-122"/>
                <a:hlinkClick r:id="rId5" action="ppaction://hlinksldjump"/>
              </a:rPr>
              <a:t>指令集</a:t>
            </a:r>
            <a:endParaRPr lang="zh-CN" altLang="en-US" sz="1200" b="0">
              <a:latin typeface="Times New Roman" pitchFamily="18" charset="0"/>
              <a:ea typeface="幼圆" pitchFamily="49" charset="-122"/>
            </a:endParaRPr>
          </a:p>
        </p:txBody>
      </p:sp>
      <p:sp>
        <p:nvSpPr>
          <p:cNvPr id="122884" name="Rectangle 9"/>
          <p:cNvSpPr>
            <a:spLocks noGrp="1" noChangeArrowheads="1"/>
          </p:cNvSpPr>
          <p:nvPr>
            <p:ph type="body" idx="1"/>
          </p:nvPr>
        </p:nvSpPr>
        <p:spPr>
          <a:xfrm>
            <a:off x="809625" y="1916113"/>
            <a:ext cx="7958138" cy="3238500"/>
          </a:xfrm>
        </p:spPr>
        <p:txBody>
          <a:bodyPr/>
          <a:lstStyle/>
          <a:p>
            <a:pPr marL="0" indent="0" eaLnBrk="1" hangingPunct="1">
              <a:lnSpc>
                <a:spcPct val="120000"/>
              </a:lnSpc>
              <a:buFont typeface="Wingdings" pitchFamily="2" charset="2"/>
              <a:buNone/>
            </a:pPr>
            <a:r>
              <a:rPr lang="en-US" altLang="zh-CN" sz="2800" smtClean="0"/>
              <a:t>     MIPS</a:t>
            </a:r>
            <a:r>
              <a:rPr lang="zh-CN" altLang="en-US" sz="2800" smtClean="0"/>
              <a:t>计算机是一个简单的64</a:t>
            </a:r>
            <a:r>
              <a:rPr lang="en-US" altLang="zh-CN" sz="2800" smtClean="0"/>
              <a:t>bit load-store</a:t>
            </a:r>
            <a:r>
              <a:rPr lang="zh-CN" altLang="en-US" sz="2800" smtClean="0"/>
              <a:t>系统结构的</a:t>
            </a:r>
            <a:r>
              <a:rPr lang="en-US" altLang="zh-CN" sz="2800" smtClean="0"/>
              <a:t>RISC</a:t>
            </a:r>
            <a:r>
              <a:rPr lang="zh-CN" altLang="en-US" sz="2800" smtClean="0"/>
              <a:t>计算机。</a:t>
            </a:r>
            <a:r>
              <a:rPr lang="en-US" altLang="zh-CN" sz="2800" smtClean="0"/>
              <a:t>MIPS</a:t>
            </a:r>
            <a:r>
              <a:rPr lang="zh-CN" altLang="en-US" sz="2800" smtClean="0"/>
              <a:t>强调：</a:t>
            </a:r>
          </a:p>
          <a:p>
            <a:pPr marL="0" indent="0" eaLnBrk="1" hangingPunct="1">
              <a:lnSpc>
                <a:spcPct val="120000"/>
              </a:lnSpc>
            </a:pPr>
            <a:r>
              <a:rPr lang="zh-CN" altLang="en-US" sz="2800" smtClean="0"/>
              <a:t>  简单的</a:t>
            </a:r>
            <a:r>
              <a:rPr lang="en-US" altLang="zh-CN" sz="2800" smtClean="0"/>
              <a:t>load-store</a:t>
            </a:r>
            <a:r>
              <a:rPr lang="zh-CN" altLang="en-US" sz="2800" smtClean="0"/>
              <a:t>指令集；</a:t>
            </a:r>
          </a:p>
          <a:p>
            <a:pPr marL="0" indent="0" eaLnBrk="1" hangingPunct="1">
              <a:lnSpc>
                <a:spcPct val="120000"/>
              </a:lnSpc>
            </a:pPr>
            <a:r>
              <a:rPr lang="zh-CN" altLang="en-US" sz="2800" smtClean="0"/>
              <a:t>  设计上重视流水线效率；</a:t>
            </a:r>
          </a:p>
          <a:p>
            <a:pPr marL="0" indent="0" eaLnBrk="1" hangingPunct="1">
              <a:lnSpc>
                <a:spcPct val="120000"/>
              </a:lnSpc>
            </a:pPr>
            <a:r>
              <a:rPr lang="zh-CN" altLang="en-US" sz="2800" smtClean="0"/>
              <a:t>  使得编译器更容易产生高效的目标代码。</a:t>
            </a:r>
          </a:p>
        </p:txBody>
      </p:sp>
      <p:pic>
        <p:nvPicPr>
          <p:cNvPr id="122885"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0600" y="5029200"/>
            <a:ext cx="685800" cy="1090613"/>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3243" name="AutoShape 11"/>
          <p:cNvSpPr>
            <a:spLocks noChangeArrowheads="1"/>
          </p:cNvSpPr>
          <p:nvPr/>
        </p:nvSpPr>
        <p:spPr bwMode="auto">
          <a:xfrm>
            <a:off x="2895600" y="5029200"/>
            <a:ext cx="5257800" cy="1371600"/>
          </a:xfrm>
          <a:prstGeom prst="cloudCallout">
            <a:avLst>
              <a:gd name="adj1" fmla="val -74667"/>
              <a:gd name="adj2" fmla="val -42708"/>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buFont typeface="Wingdings" pitchFamily="2" charset="2"/>
              <a:buNone/>
            </a:pPr>
            <a:r>
              <a:rPr lang="en-US" altLang="zh-CN" sz="2400" b="0">
                <a:latin typeface="Times New Roman" pitchFamily="18" charset="0"/>
                <a:ea typeface="方正舒体" pitchFamily="2" charset="-122"/>
              </a:rPr>
              <a:t>MIPS</a:t>
            </a:r>
            <a:r>
              <a:rPr lang="zh-CN" altLang="en-US" sz="2400" b="0">
                <a:latin typeface="Times New Roman" pitchFamily="18" charset="0"/>
                <a:ea typeface="方正舒体" pitchFamily="2" charset="-122"/>
              </a:rPr>
              <a:t>是一种适合学习和理解的系统结构模型</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223243"/>
                                        </p:tgtEl>
                                        <p:attrNameLst>
                                          <p:attrName>style.visibility</p:attrName>
                                        </p:attrNameLst>
                                      </p:cBhvr>
                                      <p:to>
                                        <p:strVal val="visible"/>
                                      </p:to>
                                    </p:set>
                                    <p:anim to="" calcmode="lin" valueType="num">
                                      <p:cBhvr>
                                        <p:cTn id="7" dur="1" fill="hold"/>
                                        <p:tgtEl>
                                          <p:spTgt spid="223243"/>
                                        </p:tgtEl>
                                        <p:attrNameLst>
                                          <p:attrName/>
                                        </p:attrNameLst>
                                      </p:cBhvr>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3" grpId="0" animBg="1"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pPr eaLnBrk="1" hangingPunct="1">
              <a:defRPr/>
            </a:pPr>
            <a:r>
              <a:rPr lang="en-US" altLang="zh-CN" smtClean="0"/>
              <a:t>MIPS</a:t>
            </a:r>
            <a:r>
              <a:rPr lang="zh-CN" altLang="en-US" smtClean="0"/>
              <a:t>的寄存器</a:t>
            </a:r>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4" action="ppaction://hlinksldjump"/>
              </a:rPr>
              <a:t>MIPS</a:t>
            </a:r>
            <a:r>
              <a:rPr lang="zh-CN" altLang="en-US" sz="1200" b="0">
                <a:latin typeface="Times New Roman" pitchFamily="18" charset="0"/>
                <a:ea typeface="幼圆" pitchFamily="49" charset="-122"/>
                <a:hlinkClick r:id="rId4" action="ppaction://hlinksldjump"/>
              </a:rPr>
              <a:t>指令集</a:t>
            </a:r>
            <a:endParaRPr lang="zh-CN" altLang="en-US" sz="1200" b="0">
              <a:latin typeface="Times New Roman" pitchFamily="18" charset="0"/>
              <a:ea typeface="幼圆" pitchFamily="49" charset="-122"/>
            </a:endParaRPr>
          </a:p>
        </p:txBody>
      </p:sp>
      <p:sp>
        <p:nvSpPr>
          <p:cNvPr id="379911" name="Rectangle 7"/>
          <p:cNvSpPr>
            <a:spLocks noGrp="1" noChangeArrowheads="1"/>
          </p:cNvSpPr>
          <p:nvPr>
            <p:ph type="body" idx="1"/>
          </p:nvPr>
        </p:nvSpPr>
        <p:spPr/>
        <p:txBody>
          <a:bodyPr/>
          <a:lstStyle/>
          <a:p>
            <a:pPr marL="0" indent="0" eaLnBrk="1" hangingPunct="1">
              <a:lnSpc>
                <a:spcPct val="120000"/>
              </a:lnSpc>
              <a:buClr>
                <a:srgbClr val="FF0000"/>
              </a:buClr>
              <a:defRPr/>
            </a:pPr>
            <a:r>
              <a:rPr lang="zh-CN" altLang="en-US" sz="2400" smtClean="0">
                <a:solidFill>
                  <a:srgbClr val="FF0000"/>
                </a:solidFill>
                <a:effectLst>
                  <a:outerShdw blurRad="38100" dist="38100" dir="2700000" algn="tl">
                    <a:srgbClr val="C0C0C0"/>
                  </a:outerShdw>
                </a:effectLst>
              </a:rPr>
              <a:t>  整数寄存器</a:t>
            </a:r>
          </a:p>
          <a:p>
            <a:pPr marL="0" indent="0" eaLnBrk="1" hangingPunct="1">
              <a:lnSpc>
                <a:spcPct val="120000"/>
              </a:lnSpc>
              <a:buFont typeface="Wingdings" pitchFamily="2" charset="2"/>
              <a:buNone/>
              <a:defRPr/>
            </a:pPr>
            <a:r>
              <a:rPr lang="en-US" altLang="zh-CN" sz="2400" smtClean="0"/>
              <a:t>    MIPS</a:t>
            </a:r>
            <a:r>
              <a:rPr lang="zh-CN" altLang="en-US" sz="2400" smtClean="0"/>
              <a:t>设置了32个64</a:t>
            </a:r>
            <a:r>
              <a:rPr lang="en-US" altLang="zh-CN" sz="2400" smtClean="0"/>
              <a:t>bit</a:t>
            </a:r>
            <a:r>
              <a:rPr lang="zh-CN" altLang="en-US" sz="2400" smtClean="0"/>
              <a:t>的通用寄存器（</a:t>
            </a:r>
            <a:r>
              <a:rPr lang="en-US" altLang="zh-CN" sz="2400" smtClean="0"/>
              <a:t>GPR）</a:t>
            </a:r>
            <a:r>
              <a:rPr lang="zh-CN" altLang="en-US" sz="2400" smtClean="0"/>
              <a:t>用于整数操作，分别命名为：</a:t>
            </a:r>
            <a:r>
              <a:rPr lang="en-US" altLang="zh-CN" sz="2400" smtClean="0"/>
              <a:t>R0、R1、…、R31。</a:t>
            </a:r>
            <a:r>
              <a:rPr lang="zh-CN" altLang="en-US" sz="2400" b="0" smtClean="0">
                <a:solidFill>
                  <a:srgbClr val="0000CC"/>
                </a:solidFill>
                <a:effectLst>
                  <a:outerShdw blurRad="38100" dist="38100" dir="2700000" algn="tl">
                    <a:srgbClr val="C0C0C0"/>
                  </a:outerShdw>
                </a:effectLst>
              </a:rPr>
              <a:t>其中</a:t>
            </a:r>
            <a:r>
              <a:rPr lang="en-US" altLang="zh-CN" sz="2400" b="0" smtClean="0">
                <a:solidFill>
                  <a:srgbClr val="0000CC"/>
                </a:solidFill>
                <a:effectLst>
                  <a:outerShdw blurRad="38100" dist="38100" dir="2700000" algn="tl">
                    <a:srgbClr val="C0C0C0"/>
                  </a:outerShdw>
                </a:effectLst>
              </a:rPr>
              <a:t>R0</a:t>
            </a:r>
            <a:r>
              <a:rPr lang="zh-CN" altLang="en-US" sz="2400" b="0" smtClean="0">
                <a:solidFill>
                  <a:srgbClr val="0000CC"/>
                </a:solidFill>
                <a:effectLst>
                  <a:outerShdw blurRad="38100" dist="38100" dir="2700000" algn="tl">
                    <a:srgbClr val="C0C0C0"/>
                  </a:outerShdw>
                </a:effectLst>
              </a:rPr>
              <a:t>的值永远为0</a:t>
            </a:r>
            <a:r>
              <a:rPr lang="zh-CN" altLang="en-US" sz="2400" smtClean="0"/>
              <a:t>。</a:t>
            </a:r>
          </a:p>
          <a:p>
            <a:pPr marL="0" indent="0" eaLnBrk="1" hangingPunct="1">
              <a:lnSpc>
                <a:spcPct val="120000"/>
              </a:lnSpc>
              <a:buClr>
                <a:srgbClr val="FF0000"/>
              </a:buClr>
              <a:defRPr/>
            </a:pPr>
            <a:r>
              <a:rPr lang="zh-CN" altLang="en-US" sz="2400" smtClean="0"/>
              <a:t>  </a:t>
            </a:r>
            <a:r>
              <a:rPr lang="zh-CN" altLang="en-US" sz="2400" smtClean="0">
                <a:solidFill>
                  <a:srgbClr val="FF0000"/>
                </a:solidFill>
                <a:effectLst>
                  <a:outerShdw blurRad="38100" dist="38100" dir="2700000" algn="tl">
                    <a:srgbClr val="C0C0C0"/>
                  </a:outerShdw>
                </a:effectLst>
              </a:rPr>
              <a:t>浮点寄存器</a:t>
            </a:r>
            <a:endParaRPr lang="en-US" altLang="zh-CN" sz="2400" smtClean="0">
              <a:solidFill>
                <a:srgbClr val="FF0000"/>
              </a:solidFill>
              <a:effectLst>
                <a:outerShdw blurRad="38100" dist="38100" dir="2700000" algn="tl">
                  <a:srgbClr val="C0C0C0"/>
                </a:outerShdw>
              </a:effectLst>
            </a:endParaRPr>
          </a:p>
          <a:p>
            <a:pPr marL="0" indent="0" eaLnBrk="1" hangingPunct="1">
              <a:lnSpc>
                <a:spcPct val="120000"/>
              </a:lnSpc>
              <a:buFont typeface="Wingdings" pitchFamily="2" charset="2"/>
              <a:buNone/>
              <a:defRPr/>
            </a:pPr>
            <a:r>
              <a:rPr lang="en-US" altLang="zh-CN" sz="2400" smtClean="0"/>
              <a:t>    MIPS</a:t>
            </a:r>
            <a:r>
              <a:rPr lang="zh-CN" altLang="en-US" sz="2400" smtClean="0"/>
              <a:t>设置了32个64</a:t>
            </a:r>
            <a:r>
              <a:rPr lang="en-US" altLang="zh-CN" sz="2400" smtClean="0"/>
              <a:t>bit</a:t>
            </a:r>
            <a:r>
              <a:rPr lang="zh-CN" altLang="en-US" sz="2400" smtClean="0"/>
              <a:t>的浮点数寄存器（</a:t>
            </a:r>
            <a:r>
              <a:rPr lang="en-US" altLang="zh-CN" sz="2400" smtClean="0"/>
              <a:t>FPR）</a:t>
            </a:r>
            <a:r>
              <a:rPr lang="zh-CN" altLang="en-US" sz="2400" smtClean="0"/>
              <a:t>用于浮点数数操作，分别命名为：</a:t>
            </a:r>
            <a:r>
              <a:rPr lang="en-US" altLang="zh-CN" sz="2400" smtClean="0"/>
              <a:t>F0、F1、…、F31。</a:t>
            </a:r>
          </a:p>
          <a:p>
            <a:pPr marL="0" indent="0" eaLnBrk="1" hangingPunct="1">
              <a:lnSpc>
                <a:spcPct val="120000"/>
              </a:lnSpc>
              <a:buClr>
                <a:srgbClr val="FF0000"/>
              </a:buClr>
              <a:defRPr/>
            </a:pPr>
            <a:r>
              <a:rPr lang="zh-CN" altLang="en-US" sz="2400" smtClean="0"/>
              <a:t>  </a:t>
            </a:r>
            <a:r>
              <a:rPr lang="zh-CN" altLang="en-US" sz="2400" smtClean="0">
                <a:solidFill>
                  <a:srgbClr val="FF0000"/>
                </a:solidFill>
                <a:effectLst>
                  <a:outerShdw blurRad="38100" dist="38100" dir="2700000" algn="tl">
                    <a:srgbClr val="C0C0C0"/>
                  </a:outerShdw>
                </a:effectLst>
              </a:rPr>
              <a:t>特殊寄存器</a:t>
            </a:r>
          </a:p>
          <a:p>
            <a:pPr marL="0" indent="0" eaLnBrk="1" hangingPunct="1">
              <a:lnSpc>
                <a:spcPct val="120000"/>
              </a:lnSpc>
              <a:buFont typeface="Wingdings" pitchFamily="2" charset="2"/>
              <a:buNone/>
              <a:defRPr/>
            </a:pPr>
            <a:r>
              <a:rPr lang="zh-CN" altLang="en-US" sz="2400" smtClean="0"/>
              <a:t>    例如：浮点状态寄存器等。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eaLnBrk="1" hangingPunct="1">
              <a:defRPr/>
            </a:pPr>
            <a:r>
              <a:rPr lang="en-US" altLang="zh-CN" smtClean="0"/>
              <a:t>MIPS</a:t>
            </a:r>
            <a:r>
              <a:rPr lang="zh-CN" altLang="en-US" smtClean="0"/>
              <a:t>的数据表示</a:t>
            </a:r>
          </a:p>
        </p:txBody>
      </p:sp>
      <p:sp>
        <p:nvSpPr>
          <p:cNvPr id="124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4" action="ppaction://hlinksldjump"/>
              </a:rPr>
              <a:t>MIPS</a:t>
            </a:r>
            <a:r>
              <a:rPr lang="zh-CN" altLang="en-US" sz="1200" b="0">
                <a:latin typeface="Times New Roman" pitchFamily="18" charset="0"/>
                <a:ea typeface="幼圆" pitchFamily="49" charset="-122"/>
                <a:hlinkClick r:id="rId4" action="ppaction://hlinksldjump"/>
              </a:rPr>
              <a:t>指令集</a:t>
            </a:r>
            <a:endParaRPr lang="zh-CN" altLang="en-US" sz="1200" b="0">
              <a:latin typeface="Times New Roman" pitchFamily="18" charset="0"/>
              <a:ea typeface="幼圆" pitchFamily="49" charset="-122"/>
            </a:endParaRPr>
          </a:p>
        </p:txBody>
      </p:sp>
      <p:sp>
        <p:nvSpPr>
          <p:cNvPr id="380933" name="Rectangle 5"/>
          <p:cNvSpPr>
            <a:spLocks noGrp="1" noChangeArrowheads="1"/>
          </p:cNvSpPr>
          <p:nvPr>
            <p:ph type="body" idx="1"/>
          </p:nvPr>
        </p:nvSpPr>
        <p:spPr>
          <a:xfrm>
            <a:off x="809625" y="2205038"/>
            <a:ext cx="8334375" cy="4176712"/>
          </a:xfrm>
        </p:spPr>
        <p:txBody>
          <a:bodyPr/>
          <a:lstStyle/>
          <a:p>
            <a:pPr marL="0" indent="0" eaLnBrk="1" hangingPunct="1">
              <a:lnSpc>
                <a:spcPct val="130000"/>
              </a:lnSpc>
              <a:buClr>
                <a:srgbClr val="FF3300"/>
              </a:buClr>
              <a:defRPr/>
            </a:pPr>
            <a:r>
              <a:rPr lang="zh-CN" altLang="en-US" smtClean="0">
                <a:solidFill>
                  <a:srgbClr val="FF0000"/>
                </a:solidFill>
                <a:effectLst>
                  <a:outerShdw blurRad="38100" dist="38100" dir="2700000" algn="tl">
                    <a:srgbClr val="C0C0C0"/>
                  </a:outerShdw>
                </a:effectLst>
              </a:rPr>
              <a:t>  用于整数的数据类型</a:t>
            </a:r>
          </a:p>
          <a:p>
            <a:pPr marL="0" indent="0" eaLnBrk="1" hangingPunct="1">
              <a:lnSpc>
                <a:spcPct val="130000"/>
              </a:lnSpc>
              <a:buFont typeface="Wingdings" pitchFamily="2" charset="2"/>
              <a:buNone/>
              <a:defRPr/>
            </a:pPr>
            <a:r>
              <a:rPr lang="zh-CN" altLang="en-US" smtClean="0"/>
              <a:t>    有：字节（8</a:t>
            </a:r>
            <a:r>
              <a:rPr lang="en-US" altLang="zh-CN" smtClean="0"/>
              <a:t>bit）、</a:t>
            </a:r>
            <a:r>
              <a:rPr lang="zh-CN" altLang="en-US" smtClean="0"/>
              <a:t>半字（16</a:t>
            </a:r>
            <a:r>
              <a:rPr lang="en-US" altLang="zh-CN" smtClean="0"/>
              <a:t>bit）、</a:t>
            </a:r>
            <a:r>
              <a:rPr lang="zh-CN" altLang="en-US" smtClean="0"/>
              <a:t>字（32</a:t>
            </a:r>
            <a:r>
              <a:rPr lang="en-US" altLang="zh-CN" smtClean="0"/>
              <a:t>bit）</a:t>
            </a:r>
            <a:r>
              <a:rPr lang="zh-CN" altLang="en-US" smtClean="0"/>
              <a:t>和双字（64</a:t>
            </a:r>
            <a:r>
              <a:rPr lang="en-US" altLang="zh-CN" smtClean="0"/>
              <a:t>bit）。</a:t>
            </a:r>
          </a:p>
          <a:p>
            <a:pPr marL="0" indent="0" eaLnBrk="1" hangingPunct="1">
              <a:lnSpc>
                <a:spcPct val="130000"/>
              </a:lnSpc>
              <a:buClr>
                <a:srgbClr val="FF3300"/>
              </a:buClr>
              <a:defRPr/>
            </a:pPr>
            <a:r>
              <a:rPr lang="zh-CN" altLang="en-US" smtClean="0">
                <a:solidFill>
                  <a:srgbClr val="FF0000"/>
                </a:solidFill>
                <a:effectLst>
                  <a:outerShdw blurRad="38100" dist="38100" dir="2700000" algn="tl">
                    <a:srgbClr val="C0C0C0"/>
                  </a:outerShdw>
                </a:effectLst>
              </a:rPr>
              <a:t>  用于浮点数的数据类型</a:t>
            </a:r>
          </a:p>
          <a:p>
            <a:pPr marL="0" indent="0" eaLnBrk="1" hangingPunct="1">
              <a:lnSpc>
                <a:spcPct val="130000"/>
              </a:lnSpc>
              <a:buFont typeface="Wingdings" pitchFamily="2" charset="2"/>
              <a:buNone/>
              <a:defRPr/>
            </a:pPr>
            <a:r>
              <a:rPr lang="zh-CN" altLang="en-US" smtClean="0"/>
              <a:t>    有：单精度（32</a:t>
            </a:r>
            <a:r>
              <a:rPr lang="en-US" altLang="zh-CN" smtClean="0"/>
              <a:t>bit），</a:t>
            </a:r>
            <a:r>
              <a:rPr lang="zh-CN" altLang="en-US" smtClean="0"/>
              <a:t>双精度（64</a:t>
            </a:r>
            <a:r>
              <a:rPr lang="en-US" altLang="zh-CN" smtClean="0"/>
              <a:t>bit）。</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pPr eaLnBrk="1" hangingPunct="1">
              <a:defRPr/>
            </a:pPr>
            <a:r>
              <a:rPr lang="en-US" altLang="zh-CN" smtClean="0"/>
              <a:t>MIPS</a:t>
            </a:r>
            <a:r>
              <a:rPr lang="zh-CN" altLang="en-US" smtClean="0"/>
              <a:t>的寻址方式</a:t>
            </a:r>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4" action="ppaction://hlinksldjump"/>
              </a:rPr>
              <a:t>MIPS</a:t>
            </a:r>
            <a:r>
              <a:rPr lang="zh-CN" altLang="en-US" sz="1200" b="0">
                <a:latin typeface="Times New Roman" pitchFamily="18" charset="0"/>
                <a:ea typeface="幼圆" pitchFamily="49" charset="-122"/>
                <a:hlinkClick r:id="rId4" action="ppaction://hlinksldjump"/>
              </a:rPr>
              <a:t>指令集</a:t>
            </a:r>
            <a:endParaRPr lang="zh-CN" altLang="en-US" sz="1200" b="0">
              <a:latin typeface="Times New Roman" pitchFamily="18" charset="0"/>
              <a:ea typeface="幼圆" pitchFamily="49" charset="-122"/>
            </a:endParaRPr>
          </a:p>
        </p:txBody>
      </p:sp>
      <p:sp>
        <p:nvSpPr>
          <p:cNvPr id="381957" name="Rectangle 5"/>
          <p:cNvSpPr>
            <a:spLocks noGrp="1" noChangeArrowheads="1"/>
          </p:cNvSpPr>
          <p:nvPr>
            <p:ph type="body" idx="1"/>
          </p:nvPr>
        </p:nvSpPr>
        <p:spPr>
          <a:xfrm>
            <a:off x="809625" y="1916113"/>
            <a:ext cx="7958138" cy="1571625"/>
          </a:xfrm>
        </p:spPr>
        <p:txBody>
          <a:bodyPr/>
          <a:lstStyle/>
          <a:p>
            <a:pPr marL="0" indent="0" eaLnBrk="1" hangingPunct="1">
              <a:lnSpc>
                <a:spcPct val="120000"/>
              </a:lnSpc>
              <a:buFont typeface="Wingdings" pitchFamily="2" charset="2"/>
              <a:buNone/>
              <a:defRPr/>
            </a:pPr>
            <a:r>
              <a:rPr lang="zh-CN" altLang="en-US" smtClean="0"/>
              <a:t>        数据寻址方式只有两种：</a:t>
            </a:r>
            <a:r>
              <a:rPr lang="zh-CN" altLang="en-US" smtClean="0">
                <a:solidFill>
                  <a:srgbClr val="FF0000"/>
                </a:solidFill>
                <a:effectLst>
                  <a:outerShdw blurRad="38100" dist="38100" dir="2700000" algn="tl">
                    <a:srgbClr val="C0C0C0"/>
                  </a:outerShdw>
                </a:effectLst>
              </a:rPr>
              <a:t>立即数</a:t>
            </a:r>
            <a:r>
              <a:rPr lang="zh-CN" altLang="en-US" smtClean="0"/>
              <a:t>和</a:t>
            </a:r>
            <a:r>
              <a:rPr lang="zh-CN" altLang="en-US" smtClean="0">
                <a:solidFill>
                  <a:srgbClr val="FF0000"/>
                </a:solidFill>
                <a:effectLst>
                  <a:outerShdw blurRad="38100" dist="38100" dir="2700000" algn="tl">
                    <a:srgbClr val="C0C0C0"/>
                  </a:outerShdw>
                </a:effectLst>
              </a:rPr>
              <a:t>偏移寻址</a:t>
            </a:r>
            <a:r>
              <a:rPr lang="zh-CN" altLang="en-US" smtClean="0"/>
              <a:t>，字段长度都为16</a:t>
            </a:r>
            <a:r>
              <a:rPr lang="en-US" altLang="zh-CN" smtClean="0"/>
              <a:t>bit。</a:t>
            </a:r>
          </a:p>
        </p:txBody>
      </p:sp>
      <p:sp>
        <p:nvSpPr>
          <p:cNvPr id="381958" name="Rectangle 6"/>
          <p:cNvSpPr>
            <a:spLocks noChangeArrowheads="1"/>
          </p:cNvSpPr>
          <p:nvPr/>
        </p:nvSpPr>
        <p:spPr bwMode="auto">
          <a:xfrm>
            <a:off x="3203575" y="3284538"/>
            <a:ext cx="5486400" cy="3070225"/>
          </a:xfrm>
          <a:prstGeom prst="rect">
            <a:avLst/>
          </a:prstGeom>
          <a:solidFill>
            <a:srgbClr val="FFFF00"/>
          </a:solidFill>
          <a:ln w="57150" cmpd="thickThin">
            <a:solidFill>
              <a:schemeClr val="tx1"/>
            </a:solidFill>
            <a:miter lim="800000"/>
            <a:headEnd/>
            <a:tailEnd/>
          </a:ln>
          <a:effectLst>
            <a:outerShdw dist="107763" dir="2700000" algn="ctr" rotWithShape="0">
              <a:schemeClr val="bg2"/>
            </a:outerShdw>
          </a:effectLst>
        </p:spPr>
        <p:txBody>
          <a:bodyPr lIns="90000" tIns="46800" rIns="90000" bIns="46800">
            <a:spAutoFit/>
          </a:bodyPr>
          <a:lstStyle/>
          <a:p>
            <a:pPr>
              <a:lnSpc>
                <a:spcPct val="120000"/>
              </a:lnSpc>
              <a:spcBef>
                <a:spcPct val="50000"/>
              </a:spcBef>
              <a:defRPr/>
            </a:pPr>
            <a:r>
              <a:rPr lang="zh-CN" altLang="en-US" sz="3200" b="1">
                <a:latin typeface="Arial" charset="0"/>
                <a:ea typeface="楷体_GB2312" pitchFamily="49" charset="-122"/>
              </a:rPr>
              <a:t>       </a:t>
            </a:r>
            <a:r>
              <a:rPr lang="zh-CN" altLang="en-US" sz="3200" b="1">
                <a:solidFill>
                  <a:srgbClr val="FF0000"/>
                </a:solidFill>
                <a:effectLst>
                  <a:outerShdw blurRad="38100" dist="38100" dir="2700000" algn="tl">
                    <a:srgbClr val="000000"/>
                  </a:outerShdw>
                </a:effectLst>
                <a:latin typeface="Arial" charset="0"/>
                <a:ea typeface="楷体_GB2312" pitchFamily="49" charset="-122"/>
              </a:rPr>
              <a:t>寄存器间接寻址</a:t>
            </a:r>
            <a:r>
              <a:rPr lang="zh-CN" altLang="en-US" sz="3200" b="1">
                <a:latin typeface="Arial" charset="0"/>
                <a:ea typeface="楷体_GB2312" pitchFamily="49" charset="-122"/>
              </a:rPr>
              <a:t>是通过将0放入16</a:t>
            </a:r>
            <a:r>
              <a:rPr lang="en-US" altLang="zh-CN" sz="3200" b="1">
                <a:latin typeface="Arial" charset="0"/>
                <a:ea typeface="楷体_GB2312" pitchFamily="49" charset="-122"/>
              </a:rPr>
              <a:t>bit</a:t>
            </a:r>
            <a:r>
              <a:rPr lang="zh-CN" altLang="en-US" sz="3200" b="1">
                <a:latin typeface="Arial" charset="0"/>
                <a:ea typeface="楷体_GB2312" pitchFamily="49" charset="-122"/>
              </a:rPr>
              <a:t>位移字段中得到的；</a:t>
            </a:r>
            <a:r>
              <a:rPr lang="zh-CN" altLang="en-US" sz="3200" b="1">
                <a:solidFill>
                  <a:srgbClr val="FF0000"/>
                </a:solidFill>
                <a:effectLst>
                  <a:outerShdw blurRad="38100" dist="38100" dir="2700000" algn="tl">
                    <a:srgbClr val="000000"/>
                  </a:outerShdw>
                </a:effectLst>
                <a:latin typeface="Arial" charset="0"/>
                <a:ea typeface="楷体_GB2312" pitchFamily="49" charset="-122"/>
              </a:rPr>
              <a:t>16</a:t>
            </a:r>
            <a:r>
              <a:rPr lang="en-US" altLang="zh-CN" sz="3200" b="1">
                <a:solidFill>
                  <a:srgbClr val="FF0000"/>
                </a:solidFill>
                <a:effectLst>
                  <a:outerShdw blurRad="38100" dist="38100" dir="2700000" algn="tl">
                    <a:srgbClr val="000000"/>
                  </a:outerShdw>
                </a:effectLst>
                <a:latin typeface="Arial" charset="0"/>
                <a:ea typeface="楷体_GB2312" pitchFamily="49" charset="-122"/>
              </a:rPr>
              <a:t>bit</a:t>
            </a:r>
            <a:r>
              <a:rPr lang="zh-CN" altLang="en-US" sz="3200" b="1">
                <a:solidFill>
                  <a:srgbClr val="FF0000"/>
                </a:solidFill>
                <a:effectLst>
                  <a:outerShdw blurRad="38100" dist="38100" dir="2700000" algn="tl">
                    <a:srgbClr val="000000"/>
                  </a:outerShdw>
                </a:effectLst>
                <a:latin typeface="Arial" charset="0"/>
                <a:ea typeface="楷体_GB2312" pitchFamily="49" charset="-122"/>
              </a:rPr>
              <a:t>绝对寻址</a:t>
            </a:r>
            <a:r>
              <a:rPr lang="zh-CN" altLang="en-US" sz="3200" b="1">
                <a:latin typeface="Arial" charset="0"/>
                <a:ea typeface="楷体_GB2312" pitchFamily="49" charset="-122"/>
              </a:rPr>
              <a:t>是通过将寄存器</a:t>
            </a:r>
            <a:r>
              <a:rPr lang="en-US" altLang="zh-CN" sz="3200" b="1">
                <a:latin typeface="Arial" charset="0"/>
                <a:ea typeface="楷体_GB2312" pitchFamily="49" charset="-122"/>
              </a:rPr>
              <a:t>R0</a:t>
            </a:r>
            <a:r>
              <a:rPr lang="zh-CN" altLang="en-US" sz="3200" b="1">
                <a:latin typeface="Arial" charset="0"/>
                <a:ea typeface="楷体_GB2312" pitchFamily="49" charset="-122"/>
              </a:rPr>
              <a:t>作为基址寄存器得到的。</a:t>
            </a:r>
          </a:p>
        </p:txBody>
      </p:sp>
      <p:pic>
        <p:nvPicPr>
          <p:cNvPr id="125958"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7088" y="3860800"/>
            <a:ext cx="2303462" cy="17272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eaLnBrk="1" hangingPunct="1">
              <a:defRPr/>
            </a:pPr>
            <a:r>
              <a:rPr lang="en-US" altLang="zh-CN" smtClean="0"/>
              <a:t>MIPS</a:t>
            </a:r>
            <a:r>
              <a:rPr lang="zh-CN" altLang="en-US" smtClean="0"/>
              <a:t>指令格式</a:t>
            </a:r>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4" action="ppaction://hlinksldjump"/>
              </a:rPr>
              <a:t>MIPS</a:t>
            </a:r>
            <a:r>
              <a:rPr lang="zh-CN" altLang="en-US" sz="1200" b="0">
                <a:latin typeface="Times New Roman" pitchFamily="18" charset="0"/>
                <a:ea typeface="幼圆" pitchFamily="49" charset="-122"/>
                <a:hlinkClick r:id="rId4" action="ppaction://hlinksldjump"/>
              </a:rPr>
              <a:t>指令集</a:t>
            </a:r>
            <a:endParaRPr lang="zh-CN" altLang="en-US" sz="1200" b="0">
              <a:latin typeface="Times New Roman" pitchFamily="18" charset="0"/>
              <a:ea typeface="幼圆" pitchFamily="49" charset="-122"/>
            </a:endParaRPr>
          </a:p>
        </p:txBody>
      </p:sp>
      <p:sp>
        <p:nvSpPr>
          <p:cNvPr id="126980" name="Rectangle 5"/>
          <p:cNvSpPr>
            <a:spLocks noGrp="1" noChangeArrowheads="1"/>
          </p:cNvSpPr>
          <p:nvPr>
            <p:ph type="body" idx="1"/>
          </p:nvPr>
        </p:nvSpPr>
        <p:spPr>
          <a:xfrm>
            <a:off x="809625" y="2060575"/>
            <a:ext cx="2847975" cy="4105275"/>
          </a:xfrm>
          <a:solidFill>
            <a:srgbClr val="FFFF00"/>
          </a:solidFill>
          <a:ln w="76200" cmpd="tri">
            <a:solidFill>
              <a:schemeClr val="tx1"/>
            </a:solidFill>
            <a:miter lim="800000"/>
            <a:headEnd/>
            <a:tailEnd/>
          </a:ln>
          <a:effectLst>
            <a:outerShdw dist="107763" dir="2700000" algn="ctr" rotWithShape="0">
              <a:schemeClr val="bg2"/>
            </a:outerShdw>
          </a:effectLst>
        </p:spPr>
        <p:txBody>
          <a:bodyPr/>
          <a:lstStyle/>
          <a:p>
            <a:pPr marL="0" indent="0" eaLnBrk="1" hangingPunct="1">
              <a:lnSpc>
                <a:spcPct val="140000"/>
              </a:lnSpc>
              <a:buFont typeface="Wingdings" pitchFamily="2" charset="2"/>
              <a:buNone/>
            </a:pPr>
            <a:r>
              <a:rPr lang="zh-CN" altLang="en-US" sz="2800" smtClean="0"/>
              <a:t>       所有的指令都是32</a:t>
            </a:r>
            <a:r>
              <a:rPr lang="en-US" altLang="zh-CN" sz="2800" smtClean="0"/>
              <a:t>bit，</a:t>
            </a:r>
            <a:r>
              <a:rPr lang="zh-CN" altLang="en-US" sz="2800" smtClean="0"/>
              <a:t>其中6</a:t>
            </a:r>
            <a:r>
              <a:rPr lang="en-US" altLang="zh-CN" sz="2800" smtClean="0"/>
              <a:t>bit</a:t>
            </a:r>
            <a:r>
              <a:rPr lang="zh-CN" altLang="en-US" sz="2800" smtClean="0"/>
              <a:t>为操作码（包含寻址模式），具体格式见右图</a:t>
            </a:r>
            <a:r>
              <a:rPr lang="en-US" altLang="zh-CN" sz="2800" smtClean="0"/>
              <a:t>。</a:t>
            </a:r>
          </a:p>
        </p:txBody>
      </p:sp>
      <p:pic>
        <p:nvPicPr>
          <p:cNvPr id="126981" name="Picture 6" descr="Ch2-fig27"/>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b="14804"/>
          <a:stretch>
            <a:fillRect/>
          </a:stretch>
        </p:blipFill>
        <p:spPr bwMode="auto">
          <a:xfrm>
            <a:off x="3851275" y="2060575"/>
            <a:ext cx="493712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eaLnBrk="1" hangingPunct="1">
              <a:defRPr/>
            </a:pPr>
            <a:r>
              <a:rPr lang="en-US" altLang="zh-CN" smtClean="0"/>
              <a:t>MIPS</a:t>
            </a:r>
            <a:r>
              <a:rPr lang="zh-CN" altLang="en-US" smtClean="0"/>
              <a:t>操作</a:t>
            </a:r>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4" action="ppaction://hlinksldjump"/>
              </a:rPr>
              <a:t>MIPS</a:t>
            </a:r>
            <a:r>
              <a:rPr lang="zh-CN" altLang="en-US" sz="1200" b="0">
                <a:latin typeface="Times New Roman" pitchFamily="18" charset="0"/>
                <a:ea typeface="幼圆" pitchFamily="49" charset="-122"/>
                <a:hlinkClick r:id="rId4" action="ppaction://hlinksldjump"/>
              </a:rPr>
              <a:t>指令集</a:t>
            </a:r>
            <a:endParaRPr lang="zh-CN" altLang="en-US" sz="1200" b="0">
              <a:latin typeface="Times New Roman" pitchFamily="18" charset="0"/>
              <a:ea typeface="幼圆" pitchFamily="49" charset="-122"/>
            </a:endParaRPr>
          </a:p>
        </p:txBody>
      </p:sp>
      <p:sp>
        <p:nvSpPr>
          <p:cNvPr id="128004" name="Rectangle 5"/>
          <p:cNvSpPr>
            <a:spLocks noGrp="1" noChangeArrowheads="1"/>
          </p:cNvSpPr>
          <p:nvPr>
            <p:ph type="body" idx="1"/>
          </p:nvPr>
        </p:nvSpPr>
        <p:spPr>
          <a:xfrm>
            <a:off x="2700338" y="2133600"/>
            <a:ext cx="3687762" cy="3887788"/>
          </a:xfrm>
        </p:spPr>
        <p:txBody>
          <a:bodyPr/>
          <a:lstStyle/>
          <a:p>
            <a:pPr eaLnBrk="1" hangingPunct="1">
              <a:lnSpc>
                <a:spcPct val="160000"/>
              </a:lnSpc>
            </a:pPr>
            <a:r>
              <a:rPr lang="en-US" altLang="zh-CN" smtClean="0">
                <a:hlinkClick r:id="rId5" action="ppaction://hlinksldjump"/>
              </a:rPr>
              <a:t>ALU</a:t>
            </a:r>
            <a:r>
              <a:rPr lang="zh-CN" altLang="en-US" smtClean="0">
                <a:hlinkClick r:id="rId5" action="ppaction://hlinksldjump"/>
              </a:rPr>
              <a:t>操作</a:t>
            </a:r>
            <a:endParaRPr lang="zh-CN" altLang="en-US" smtClean="0"/>
          </a:p>
          <a:p>
            <a:pPr eaLnBrk="1" hangingPunct="1">
              <a:lnSpc>
                <a:spcPct val="160000"/>
              </a:lnSpc>
            </a:pPr>
            <a:r>
              <a:rPr lang="zh-CN" altLang="en-US" smtClean="0">
                <a:hlinkClick r:id="rId6" action="ppaction://hlinksldjump"/>
              </a:rPr>
              <a:t>分支与跳转</a:t>
            </a:r>
            <a:endParaRPr lang="zh-CN" altLang="en-US" smtClean="0"/>
          </a:p>
          <a:p>
            <a:pPr eaLnBrk="1" hangingPunct="1">
              <a:lnSpc>
                <a:spcPct val="160000"/>
              </a:lnSpc>
            </a:pPr>
            <a:r>
              <a:rPr lang="en-US" altLang="zh-CN" smtClean="0">
                <a:hlinkClick r:id="rId7" action="ppaction://hlinksldjump"/>
              </a:rPr>
              <a:t>load/store</a:t>
            </a:r>
            <a:r>
              <a:rPr lang="zh-CN" altLang="en-US" smtClean="0">
                <a:hlinkClick r:id="rId7" action="ppaction://hlinksldjump"/>
              </a:rPr>
              <a:t>操作</a:t>
            </a:r>
            <a:endParaRPr lang="zh-CN" altLang="en-US" smtClean="0"/>
          </a:p>
          <a:p>
            <a:pPr eaLnBrk="1" hangingPunct="1">
              <a:lnSpc>
                <a:spcPct val="160000"/>
              </a:lnSpc>
            </a:pPr>
            <a:r>
              <a:rPr lang="zh-CN" altLang="en-US" smtClean="0">
                <a:hlinkClick r:id="rId8" action="ppaction://hlinksldjump"/>
              </a:rPr>
              <a:t>浮点数操作</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026" name="Text Box 2"/>
          <p:cNvSpPr txBox="1">
            <a:spLocks noChangeArrowheads="1"/>
          </p:cNvSpPr>
          <p:nvPr/>
        </p:nvSpPr>
        <p:spPr bwMode="auto">
          <a:xfrm>
            <a:off x="2895600" y="533400"/>
            <a:ext cx="3124200" cy="579438"/>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a:latin typeface="Times New Roman" pitchFamily="18" charset="0"/>
                <a:ea typeface="方正舒体" pitchFamily="2" charset="-122"/>
              </a:rPr>
              <a:t>ALU</a:t>
            </a:r>
            <a:r>
              <a:rPr lang="zh-CN" altLang="en-US">
                <a:latin typeface="Times New Roman" pitchFamily="18" charset="0"/>
                <a:ea typeface="方正舒体" pitchFamily="2" charset="-122"/>
              </a:rPr>
              <a:t>操作举例</a:t>
            </a:r>
          </a:p>
        </p:txBody>
      </p:sp>
      <p:sp>
        <p:nvSpPr>
          <p:cNvPr id="392196" name="AutoShape 4">
            <a:hlinkClick r:id="rId4"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p>
        </p:txBody>
      </p:sp>
      <p:pic>
        <p:nvPicPr>
          <p:cNvPr id="12902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524000"/>
            <a:ext cx="8229600" cy="2295525"/>
          </a:xfrm>
          <a:prstGeom prst="rect">
            <a:avLst/>
          </a:prstGeom>
          <a:noFill/>
          <a:ln w="38100">
            <a:solidFill>
              <a:schemeClr val="tx1"/>
            </a:solidFill>
            <a:miter lim="800000"/>
            <a:headEnd/>
            <a:tailEnd/>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392200" name="Text Box 8"/>
          <p:cNvSpPr txBox="1">
            <a:spLocks noChangeArrowheads="1"/>
          </p:cNvSpPr>
          <p:nvPr/>
        </p:nvSpPr>
        <p:spPr bwMode="auto">
          <a:xfrm>
            <a:off x="3563938" y="4191000"/>
            <a:ext cx="5046662" cy="1858963"/>
          </a:xfrm>
          <a:prstGeom prst="rect">
            <a:avLst/>
          </a:prstGeom>
          <a:noFill/>
          <a:ln w="57150" cmpd="thickThin">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spAutoFit/>
          </a:bodyPr>
          <a:lstStyle/>
          <a:p>
            <a:pPr>
              <a:spcBef>
                <a:spcPct val="50000"/>
              </a:spcBef>
              <a:defRPr/>
            </a:pPr>
            <a:r>
              <a:rPr lang="zh-CN" altLang="en-US" b="1">
                <a:solidFill>
                  <a:srgbClr val="FF0000"/>
                </a:solidFill>
                <a:effectLst>
                  <a:outerShdw blurRad="38100" dist="38100" dir="2700000" algn="tl">
                    <a:srgbClr val="C0C0C0"/>
                  </a:outerShdw>
                </a:effectLst>
                <a:ea typeface="楷体_GB2312" pitchFamily="49" charset="-122"/>
              </a:rPr>
              <a:t>上标：</a:t>
            </a:r>
            <a:r>
              <a:rPr lang="zh-CN" altLang="en-US" b="1">
                <a:ea typeface="楷体_GB2312" pitchFamily="49" charset="-122"/>
              </a:rPr>
              <a:t>表示对字段进行复制。</a:t>
            </a:r>
          </a:p>
          <a:p>
            <a:pPr>
              <a:spcBef>
                <a:spcPct val="50000"/>
              </a:spcBef>
              <a:defRPr/>
            </a:pPr>
            <a:r>
              <a:rPr lang="zh-CN" altLang="en-US" b="1">
                <a:solidFill>
                  <a:srgbClr val="FF0000"/>
                </a:solidFill>
                <a:effectLst>
                  <a:outerShdw blurRad="38100" dist="38100" dir="2700000" algn="tl">
                    <a:srgbClr val="C0C0C0"/>
                  </a:outerShdw>
                </a:effectLst>
                <a:ea typeface="楷体_GB2312" pitchFamily="49" charset="-122"/>
              </a:rPr>
              <a:t>  ##  ：</a:t>
            </a:r>
            <a:r>
              <a:rPr lang="zh-CN" altLang="en-US" b="1">
                <a:ea typeface="楷体_GB2312" pitchFamily="49" charset="-122"/>
              </a:rPr>
              <a:t>连接两个字段。</a:t>
            </a:r>
          </a:p>
          <a:p>
            <a:pPr>
              <a:spcBef>
                <a:spcPct val="50000"/>
              </a:spcBef>
              <a:defRPr/>
            </a:pPr>
            <a:r>
              <a:rPr lang="zh-CN" altLang="en-US" b="1">
                <a:solidFill>
                  <a:srgbClr val="FF0000"/>
                </a:solidFill>
                <a:effectLst>
                  <a:outerShdw blurRad="38100" dist="38100" dir="2700000" algn="tl">
                    <a:srgbClr val="C0C0C0"/>
                  </a:outerShdw>
                </a:effectLst>
                <a:ea typeface="楷体_GB2312" pitchFamily="49" charset="-122"/>
              </a:rPr>
              <a:t>  &lt;&lt;  ：</a:t>
            </a:r>
            <a:r>
              <a:rPr lang="zh-CN" altLang="en-US" b="1">
                <a:ea typeface="楷体_GB2312" pitchFamily="49" charset="-122"/>
              </a:rPr>
              <a:t>逻辑左移</a:t>
            </a:r>
          </a:p>
        </p:txBody>
      </p:sp>
      <p:pic>
        <p:nvPicPr>
          <p:cNvPr id="129030"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8200" y="4038600"/>
            <a:ext cx="2438400" cy="2160588"/>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50" name="Text Box 2"/>
          <p:cNvSpPr txBox="1">
            <a:spLocks noChangeArrowheads="1"/>
          </p:cNvSpPr>
          <p:nvPr/>
        </p:nvSpPr>
        <p:spPr bwMode="auto">
          <a:xfrm>
            <a:off x="2971800" y="457200"/>
            <a:ext cx="3124200" cy="579438"/>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zh-CN" altLang="en-US">
                <a:latin typeface="Times New Roman" pitchFamily="18" charset="0"/>
                <a:ea typeface="方正舒体" pitchFamily="2" charset="-122"/>
              </a:rPr>
              <a:t>分支与跳转举例</a:t>
            </a:r>
          </a:p>
        </p:txBody>
      </p:sp>
      <p:sp>
        <p:nvSpPr>
          <p:cNvPr id="394244" name="AutoShape 4">
            <a:hlinkClick r:id="rId4"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p>
        </p:txBody>
      </p:sp>
      <p:pic>
        <p:nvPicPr>
          <p:cNvPr id="13005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447800"/>
            <a:ext cx="8239125" cy="3314700"/>
          </a:xfrm>
          <a:prstGeom prst="rect">
            <a:avLst/>
          </a:prstGeom>
          <a:noFill/>
          <a:ln w="38100">
            <a:solidFill>
              <a:schemeClr val="tx1"/>
            </a:solidFill>
            <a:miter lim="800000"/>
            <a:headEnd/>
            <a:tailEnd/>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394246" name="Text Box 6"/>
          <p:cNvSpPr txBox="1">
            <a:spLocks noChangeArrowheads="1"/>
          </p:cNvSpPr>
          <p:nvPr/>
        </p:nvSpPr>
        <p:spPr bwMode="auto">
          <a:xfrm>
            <a:off x="3635375" y="5257800"/>
            <a:ext cx="5051425" cy="576263"/>
          </a:xfrm>
          <a:prstGeom prst="rect">
            <a:avLst/>
          </a:prstGeom>
          <a:noFill/>
          <a:ln w="57150" cmpd="thickThin">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spAutoFit/>
          </a:bodyPr>
          <a:lstStyle/>
          <a:p>
            <a:pPr>
              <a:spcBef>
                <a:spcPct val="50000"/>
              </a:spcBef>
              <a:defRPr/>
            </a:pPr>
            <a:r>
              <a:rPr lang="zh-CN" altLang="en-US" b="1">
                <a:solidFill>
                  <a:srgbClr val="FF0000"/>
                </a:solidFill>
                <a:effectLst>
                  <a:outerShdw blurRad="38100" dist="38100" dir="2700000" algn="tl">
                    <a:srgbClr val="C0C0C0"/>
                  </a:outerShdw>
                </a:effectLst>
                <a:latin typeface="Arial" charset="0"/>
                <a:ea typeface="楷体_GB2312" pitchFamily="49" charset="-122"/>
              </a:rPr>
              <a:t>下标：</a:t>
            </a:r>
            <a:r>
              <a:rPr lang="zh-CN" altLang="en-US" b="1">
                <a:latin typeface="Arial" charset="0"/>
                <a:ea typeface="楷体_GB2312" pitchFamily="49" charset="-122"/>
              </a:rPr>
              <a:t>标识字段中特定的位。</a:t>
            </a:r>
          </a:p>
        </p:txBody>
      </p:sp>
      <p:pic>
        <p:nvPicPr>
          <p:cNvPr id="130054"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8200" y="5029200"/>
            <a:ext cx="1752600" cy="1552575"/>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4" name="Text Box 2"/>
          <p:cNvSpPr txBox="1">
            <a:spLocks noChangeArrowheads="1"/>
          </p:cNvSpPr>
          <p:nvPr/>
        </p:nvSpPr>
        <p:spPr bwMode="auto">
          <a:xfrm>
            <a:off x="3203575" y="5949950"/>
            <a:ext cx="31242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algn="ctr" eaLnBrk="1" hangingPunct="1">
              <a:spcBef>
                <a:spcPct val="50000"/>
              </a:spcBef>
              <a:buFont typeface="Wingdings" pitchFamily="2" charset="2"/>
              <a:buNone/>
            </a:pPr>
            <a:r>
              <a:rPr lang="en-US" altLang="zh-CN" sz="2400">
                <a:latin typeface="Times New Roman" pitchFamily="18" charset="0"/>
                <a:ea typeface="方正舒体" pitchFamily="2" charset="-122"/>
              </a:rPr>
              <a:t>load/store</a:t>
            </a:r>
            <a:r>
              <a:rPr lang="zh-CN" altLang="en-US" sz="2400">
                <a:latin typeface="Times New Roman" pitchFamily="18" charset="0"/>
                <a:ea typeface="方正舒体" pitchFamily="2" charset="-122"/>
              </a:rPr>
              <a:t>操作举例</a:t>
            </a:r>
          </a:p>
        </p:txBody>
      </p:sp>
      <p:pic>
        <p:nvPicPr>
          <p:cNvPr id="131075" name="Picture 10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533400"/>
            <a:ext cx="8258175" cy="5143500"/>
          </a:xfrm>
          <a:prstGeom prst="rect">
            <a:avLst/>
          </a:prstGeom>
          <a:noFill/>
          <a:ln w="38100">
            <a:solidFill>
              <a:schemeClr val="tx1"/>
            </a:solidFill>
            <a:miter lim="800000"/>
            <a:headEnd/>
            <a:tailEnd/>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390252" name="AutoShape 108">
            <a:hlinkClick r:id="rId5"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3200"/>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eaLnBrk="1" hangingPunct="1">
              <a:defRPr/>
            </a:pPr>
            <a:r>
              <a:rPr lang="zh-CN" altLang="en-US" smtClean="0"/>
              <a:t>浮点数操作</a:t>
            </a:r>
          </a:p>
        </p:txBody>
      </p:sp>
      <p:sp>
        <p:nvSpPr>
          <p:cNvPr id="132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charset="0"/>
                <a:ea typeface="楷体_GB2312" pitchFamily="49" charset="-122"/>
              </a:defRPr>
            </a:lvl1pPr>
            <a:lvl2pPr marL="742950" indent="-285750" eaLnBrk="0" hangingPunct="0">
              <a:buSzPct val="55000"/>
              <a:buChar char="n"/>
              <a:defRPr kumimoji="1" sz="2800" b="1">
                <a:solidFill>
                  <a:schemeClr val="tx1"/>
                </a:solidFill>
                <a:latin typeface="Arial" charset="0"/>
                <a:ea typeface="楷体_GB2312" pitchFamily="49" charset="-122"/>
              </a:defRPr>
            </a:lvl2pPr>
            <a:lvl3pPr marL="1143000" indent="-228600" eaLnBrk="0" hangingPunct="0">
              <a:buSzPct val="65000"/>
              <a:buChar char="l"/>
              <a:defRPr kumimoji="1" sz="2400" b="1">
                <a:solidFill>
                  <a:schemeClr val="tx1"/>
                </a:solidFill>
                <a:latin typeface="Arial" charset="0"/>
                <a:ea typeface="楷体_GB2312" pitchFamily="49" charset="-122"/>
              </a:defRPr>
            </a:lvl3pPr>
            <a:lvl4pPr marL="1600200" indent="-228600" eaLnBrk="0" hangingPunct="0">
              <a:buSzPct val="85000"/>
              <a:buChar char="w"/>
              <a:defRPr kumimoji="1" sz="2000" b="1">
                <a:solidFill>
                  <a:schemeClr val="tx1"/>
                </a:solidFill>
                <a:latin typeface="Arial" charset="0"/>
                <a:ea typeface="楷体_GB2312" pitchFamily="49" charset="-122"/>
              </a:defRPr>
            </a:lvl4pPr>
            <a:lvl5pPr marL="2057400" indent="-228600" eaLnBrk="0" hangingPunct="0">
              <a:buSzPct val="80000"/>
              <a:buChar char="§"/>
              <a:defRPr kumimoji="1" b="1">
                <a:solidFill>
                  <a:schemeClr val="tx1"/>
                </a:solidFill>
                <a:latin typeface="Arial"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charset="0"/>
                <a:ea typeface="楷体_GB2312" pitchFamily="49" charset="-122"/>
              </a:defRPr>
            </a:lvl9pPr>
          </a:lstStyle>
          <a:p>
            <a:pPr eaLnBrk="1" hangingPunct="1">
              <a:spcBef>
                <a:spcPct val="50000"/>
              </a:spcBef>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4" action="ppaction://hlinksldjump"/>
              </a:rPr>
              <a:t>MIPS</a:t>
            </a:r>
            <a:r>
              <a:rPr lang="zh-CN" altLang="en-US" sz="1200" b="0">
                <a:latin typeface="Times New Roman" pitchFamily="18" charset="0"/>
                <a:ea typeface="幼圆" pitchFamily="49" charset="-122"/>
                <a:hlinkClick r:id="rId4" action="ppaction://hlinksldjump"/>
              </a:rPr>
              <a:t>指令集</a:t>
            </a:r>
            <a:r>
              <a:rPr lang="zh-CN" altLang="en-US" sz="1200" b="0">
                <a:latin typeface="Times New Roman" pitchFamily="18" charset="0"/>
                <a:ea typeface="幼圆" pitchFamily="49" charset="-122"/>
              </a:rPr>
              <a:t>&gt;&gt;</a:t>
            </a:r>
            <a:r>
              <a:rPr lang="en-US" altLang="zh-CN" sz="1200" b="0">
                <a:latin typeface="Times New Roman" pitchFamily="18" charset="0"/>
                <a:ea typeface="幼圆" pitchFamily="49" charset="-122"/>
                <a:hlinkClick r:id="rId5" action="ppaction://hlinksldjump"/>
              </a:rPr>
              <a:t>MIPS</a:t>
            </a:r>
            <a:r>
              <a:rPr lang="zh-CN" altLang="en-US" sz="1200" b="0">
                <a:latin typeface="Times New Roman" pitchFamily="18" charset="0"/>
                <a:ea typeface="幼圆" pitchFamily="49" charset="-122"/>
                <a:hlinkClick r:id="rId5" action="ppaction://hlinksldjump"/>
              </a:rPr>
              <a:t>操作</a:t>
            </a:r>
            <a:endParaRPr lang="zh-CN" altLang="en-US" sz="1200" b="0">
              <a:latin typeface="Times New Roman" pitchFamily="18" charset="0"/>
              <a:ea typeface="幼圆" pitchFamily="49" charset="-122"/>
            </a:endParaRPr>
          </a:p>
        </p:txBody>
      </p:sp>
      <p:sp>
        <p:nvSpPr>
          <p:cNvPr id="132100" name="Rectangle 4"/>
          <p:cNvSpPr>
            <a:spLocks noGrp="1" noChangeArrowheads="1"/>
          </p:cNvSpPr>
          <p:nvPr>
            <p:ph type="body" idx="1"/>
          </p:nvPr>
        </p:nvSpPr>
        <p:spPr>
          <a:xfrm>
            <a:off x="809625" y="2349500"/>
            <a:ext cx="7958138" cy="4032250"/>
          </a:xfrm>
        </p:spPr>
        <p:txBody>
          <a:bodyPr/>
          <a:lstStyle/>
          <a:p>
            <a:pPr marL="0" indent="0" eaLnBrk="1" hangingPunct="1">
              <a:lnSpc>
                <a:spcPct val="130000"/>
              </a:lnSpc>
              <a:buFont typeface="Wingdings" pitchFamily="2" charset="2"/>
              <a:buNone/>
            </a:pPr>
            <a:r>
              <a:rPr lang="zh-CN" altLang="en-US" smtClean="0"/>
              <a:t>        浮点操作包括加、减、乘、除，后缀</a:t>
            </a:r>
            <a:r>
              <a:rPr lang="en-US" altLang="zh-CN" smtClean="0"/>
              <a:t>S</a:t>
            </a:r>
            <a:r>
              <a:rPr lang="zh-CN" altLang="en-US" smtClean="0"/>
              <a:t>表示单精度浮点数，后缀</a:t>
            </a:r>
            <a:r>
              <a:rPr lang="en-US" altLang="zh-CN" smtClean="0"/>
              <a:t>D</a:t>
            </a:r>
            <a:r>
              <a:rPr lang="zh-CN" altLang="en-US" smtClean="0"/>
              <a:t>表示双精度浮点数，例如：</a:t>
            </a:r>
            <a:r>
              <a:rPr lang="en-US" altLang="zh-CN" smtClean="0"/>
              <a:t>ADD.D、ADD.S、SUB.D、SUB.S、MUL.D、MUL.S、DIV.D、DIV.S</a:t>
            </a:r>
            <a:r>
              <a:rPr lang="zh-CN" altLang="en-US" smtClean="0"/>
              <a:t>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Designs\Notebook.pot</Template>
  <TotalTime>7730</TotalTime>
  <Words>9286</Words>
  <Application>Microsoft Office PowerPoint</Application>
  <PresentationFormat>全屏显示(4:3)</PresentationFormat>
  <Paragraphs>1623</Paragraphs>
  <Slides>132</Slides>
  <Notes>11</Notes>
  <HiddenSlides>0</HiddenSlides>
  <MMClips>0</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132</vt:i4>
      </vt:variant>
    </vt:vector>
  </HeadingPairs>
  <TitlesOfParts>
    <vt:vector size="137" baseType="lpstr">
      <vt:lpstr>Straight Edge</vt:lpstr>
      <vt:lpstr>Equation</vt:lpstr>
      <vt:lpstr>公式</vt:lpstr>
      <vt:lpstr>Picture2</vt:lpstr>
      <vt:lpstr>图片</vt:lpstr>
      <vt:lpstr>指令系统</vt:lpstr>
      <vt:lpstr>指令系统的分类</vt:lpstr>
      <vt:lpstr>PowerPoint 演示文稿</vt:lpstr>
      <vt:lpstr>三种指令系统的特点</vt:lpstr>
      <vt:lpstr>通用寄存器型指令系统的分类</vt:lpstr>
      <vt:lpstr>不同通用寄存器型指令系统的特点</vt:lpstr>
      <vt:lpstr>指令系统的选择</vt:lpstr>
      <vt:lpstr>数据表示 </vt:lpstr>
      <vt:lpstr>基本概念</vt:lpstr>
      <vt:lpstr>三者之间的关系</vt:lpstr>
      <vt:lpstr>结  论</vt:lpstr>
      <vt:lpstr>基本数据表示</vt:lpstr>
      <vt:lpstr>浮点数数据表示设计</vt:lpstr>
      <vt:lpstr>浮点数格式</vt:lpstr>
      <vt:lpstr>浮点数尾数基值 的选择</vt:lpstr>
      <vt:lpstr>浮点数尾数下溢 的处理</vt:lpstr>
      <vt:lpstr>浮点数格式设计</vt:lpstr>
      <vt:lpstr>浮点数格式设计</vt:lpstr>
      <vt:lpstr>高级数据表示</vt:lpstr>
      <vt:lpstr>自定义数据表示</vt:lpstr>
      <vt:lpstr>存在问题</vt:lpstr>
      <vt:lpstr>带标志符的数据 表示法</vt:lpstr>
      <vt:lpstr>带标志符的数据 表示法</vt:lpstr>
      <vt:lpstr>存储空间分析</vt:lpstr>
      <vt:lpstr>存储空间分析</vt:lpstr>
      <vt:lpstr>数据描述符表示法</vt:lpstr>
      <vt:lpstr>B-6700中的格式</vt:lpstr>
      <vt:lpstr>取操作数的过程</vt:lpstr>
      <vt:lpstr>描述二维阵列 （按行存储）</vt:lpstr>
      <vt:lpstr>特  点</vt:lpstr>
      <vt:lpstr>数据表示设计</vt:lpstr>
      <vt:lpstr>设计原则一</vt:lpstr>
      <vt:lpstr>设计原则二</vt:lpstr>
      <vt:lpstr>寻址技术</vt:lpstr>
      <vt:lpstr>编址方式</vt:lpstr>
      <vt:lpstr>编址单位</vt:lpstr>
      <vt:lpstr>字编址</vt:lpstr>
      <vt:lpstr>字节编址</vt:lpstr>
      <vt:lpstr>从任意位置开始存储</vt:lpstr>
      <vt:lpstr>从存储字起始位置 开始存储</vt:lpstr>
      <vt:lpstr>从地址整数倍位置 开始存储</vt:lpstr>
      <vt:lpstr>位编址</vt:lpstr>
      <vt:lpstr>几种编址设备的性能比较</vt:lpstr>
      <vt:lpstr>三个零地址空间</vt:lpstr>
      <vt:lpstr>两个零地址空间</vt:lpstr>
      <vt:lpstr>一个/没有零地址空间</vt:lpstr>
      <vt:lpstr>I/O设备的编址技术</vt:lpstr>
      <vt:lpstr>I/O设备的编址技术</vt:lpstr>
      <vt:lpstr>并行存储器的 编址技术</vt:lpstr>
      <vt:lpstr>高位交叉编址</vt:lpstr>
      <vt:lpstr>低位交叉编址</vt:lpstr>
      <vt:lpstr>寻址方式</vt:lpstr>
      <vt:lpstr>PowerPoint 演示文稿</vt:lpstr>
      <vt:lpstr>寻址方式选择</vt:lpstr>
      <vt:lpstr>PowerPoint 演示文稿</vt:lpstr>
      <vt:lpstr>寻址方式参数 大小选择</vt:lpstr>
      <vt:lpstr>PowerPoint 演示文稿</vt:lpstr>
      <vt:lpstr>PowerPoint 演示文稿</vt:lpstr>
      <vt:lpstr>定位方式</vt:lpstr>
      <vt:lpstr>指令格式的优化设计</vt:lpstr>
      <vt:lpstr>指令的组成</vt:lpstr>
      <vt:lpstr>操作码的优化设计</vt:lpstr>
      <vt:lpstr>评价方法</vt:lpstr>
      <vt:lpstr>例  子</vt:lpstr>
      <vt:lpstr>固定长度操作码</vt:lpstr>
      <vt:lpstr>Huffman编码</vt:lpstr>
      <vt:lpstr>Huffman编码算法</vt:lpstr>
      <vt:lpstr>Huffman编码举例</vt:lpstr>
      <vt:lpstr>Huffman编码举例</vt:lpstr>
      <vt:lpstr>扩展编码法</vt:lpstr>
      <vt:lpstr>扩展编码法举例</vt:lpstr>
      <vt:lpstr>等长(4-8-12)15/15/15 扩展编码法</vt:lpstr>
      <vt:lpstr>等长(4-8-12)8/64/512 扩展编码法</vt:lpstr>
      <vt:lpstr>不等长(4-6-10)  扩展编码法</vt:lpstr>
      <vt:lpstr>地址码的优化设计</vt:lpstr>
      <vt:lpstr>地址个数的选择</vt:lpstr>
      <vt:lpstr>优化单个地址码</vt:lpstr>
      <vt:lpstr>优化单个地址码</vt:lpstr>
      <vt:lpstr>优化单个地址码</vt:lpstr>
      <vt:lpstr>指令字格式的 优化设计</vt:lpstr>
      <vt:lpstr>变长编码格式</vt:lpstr>
      <vt:lpstr>定长编码格式</vt:lpstr>
      <vt:lpstr>混合型编码格式</vt:lpstr>
      <vt:lpstr>指令系统的功能设计</vt:lpstr>
      <vt:lpstr>指令系统设计的基本原则</vt:lpstr>
      <vt:lpstr>指令系统设计的基本原则</vt:lpstr>
      <vt:lpstr>指令系统设计的基本原则</vt:lpstr>
      <vt:lpstr>基本指令系统</vt:lpstr>
      <vt:lpstr>复杂指令系统计算机（CISC）</vt:lpstr>
      <vt:lpstr>从面向目标程序的优化实现来改进</vt:lpstr>
      <vt:lpstr>指令的使用频度</vt:lpstr>
      <vt:lpstr>优化方法</vt:lpstr>
      <vt:lpstr>例  子</vt:lpstr>
      <vt:lpstr>从面向高级语言的优化实现来改进</vt:lpstr>
      <vt:lpstr>增强对高级语言支持的指令的功能</vt:lpstr>
      <vt:lpstr>问题及解决</vt:lpstr>
      <vt:lpstr>同时面向各种高级语言的优化实现来改进</vt:lpstr>
      <vt:lpstr>动态自适应指令系统</vt:lpstr>
      <vt:lpstr>高级语言计算机</vt:lpstr>
      <vt:lpstr>操作系统与计算机系统结构的关系</vt:lpstr>
      <vt:lpstr>从面向操作系统的优化实现来改进</vt:lpstr>
      <vt:lpstr>精简指令系统计算机（RISC）</vt:lpstr>
      <vt:lpstr>CISC→RISC</vt:lpstr>
      <vt:lpstr>RISC的定义</vt:lpstr>
      <vt:lpstr>Carnegie -Mellon大学的定义</vt:lpstr>
      <vt:lpstr>IEEE的Michael Slater的定义</vt:lpstr>
      <vt:lpstr>RISC的思想</vt:lpstr>
      <vt:lpstr>RISC的关键技术</vt:lpstr>
      <vt:lpstr>重叠寄存器窗口技术</vt:lpstr>
      <vt:lpstr>PowerPoint 演示文稿</vt:lpstr>
      <vt:lpstr>PowerPoint 演示文稿</vt:lpstr>
      <vt:lpstr>重叠寄存器窗口技术</vt:lpstr>
      <vt:lpstr>延时转移技术</vt:lpstr>
      <vt:lpstr>延时转移技术</vt:lpstr>
      <vt:lpstr>延时转移技术</vt:lpstr>
      <vt:lpstr>延时转移技术</vt:lpstr>
      <vt:lpstr>指令取消技术</vt:lpstr>
      <vt:lpstr>例1：向后转移 （loop结构）</vt:lpstr>
      <vt:lpstr>例2：向前转移 （if-then-else结构）</vt:lpstr>
      <vt:lpstr>指令流调整技术</vt:lpstr>
      <vt:lpstr>RISC的特点</vt:lpstr>
      <vt:lpstr>综合实例 MIPS指令集</vt:lpstr>
      <vt:lpstr>概  述</vt:lpstr>
      <vt:lpstr>MIPS的寄存器</vt:lpstr>
      <vt:lpstr>MIPS的数据表示</vt:lpstr>
      <vt:lpstr>MIPS的寻址方式</vt:lpstr>
      <vt:lpstr>MIPS指令格式</vt:lpstr>
      <vt:lpstr>MIPS操作</vt:lpstr>
      <vt:lpstr>PowerPoint 演示文稿</vt:lpstr>
      <vt:lpstr>PowerPoint 演示文稿</vt:lpstr>
      <vt:lpstr>PowerPoint 演示文稿</vt:lpstr>
      <vt:lpstr>浮点数操作</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dc:title>
  <dc:subject>指令系统</dc:subject>
  <dc:creator>陆有军</dc:creator>
  <cp:lastModifiedBy>lyj</cp:lastModifiedBy>
  <cp:revision>162</cp:revision>
  <dcterms:created xsi:type="dcterms:W3CDTF">1601-01-01T00:00:00Z</dcterms:created>
  <dcterms:modified xsi:type="dcterms:W3CDTF">2025-09-22T03:48:09Z</dcterms:modified>
</cp:coreProperties>
</file>