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8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69" r:id="rId12"/>
    <p:sldId id="271" r:id="rId13"/>
    <p:sldId id="272" r:id="rId14"/>
    <p:sldId id="273" r:id="rId15"/>
    <p:sldId id="274" r:id="rId16"/>
    <p:sldId id="276" r:id="rId17"/>
    <p:sldId id="277" r:id="rId18"/>
    <p:sldId id="278" r:id="rId19"/>
    <p:sldId id="279" r:id="rId20"/>
    <p:sldId id="280" r:id="rId21"/>
  </p:sldIdLst>
  <p:sldSz cx="12192000" cy="6858000"/>
  <p:notesSz cx="9158288" cy="6865938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DD6"/>
    <a:srgbClr val="4F81BE"/>
    <a:srgbClr val="D15A3E"/>
    <a:srgbClr val="FFFF1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20" autoAdjust="0"/>
    <p:restoredTop sz="91748" autoAdjust="0"/>
  </p:normalViewPr>
  <p:slideViewPr>
    <p:cSldViewPr snapToGrid="0">
      <p:cViewPr>
        <p:scale>
          <a:sx n="80" d="100"/>
          <a:sy n="80" d="100"/>
        </p:scale>
        <p:origin x="2202" y="5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8591" cy="344489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7577" y="1"/>
            <a:ext cx="3968591" cy="344489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pPr rtl="0"/>
            <a:fld id="{50176C01-2996-41EA-87C6-D94E8BA12DB2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2025年3月31日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21450"/>
            <a:ext cx="3968591" cy="344488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7577" y="6521450"/>
            <a:ext cx="3968591" cy="344488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8591" cy="344489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7577" y="1"/>
            <a:ext cx="3968591" cy="344489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A50F75F-AD11-4973-BAED-59A0098129E9}" type="datetime2">
              <a:rPr lang="zh-CN" altLang="en-US" smtClean="0"/>
              <a:pPr/>
              <a:t>2025年3月31日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20950" y="858838"/>
            <a:ext cx="4116388" cy="2316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5829" y="3304234"/>
            <a:ext cx="7326630" cy="2317254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21450"/>
            <a:ext cx="3968591" cy="344488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7577" y="6521450"/>
            <a:ext cx="3968591" cy="344488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869989-EB00-4EE7-BCB5-25BDC5BB29F8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50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598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执行单元给出 </a:t>
            </a:r>
            <a:r>
              <a:rPr lang="en-US" altLang="zh-CN" dirty="0"/>
              <a:t>VA</a:t>
            </a:r>
            <a:r>
              <a:rPr lang="zh-CN" altLang="en-US" dirty="0"/>
              <a:t>，</a:t>
            </a:r>
            <a:r>
              <a:rPr lang="en-US" altLang="zh-CN" dirty="0"/>
              <a:t>MMU</a:t>
            </a:r>
            <a:r>
              <a:rPr lang="zh-CN" altLang="en-US" dirty="0"/>
              <a:t>执行内存保护和地址映射操作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、用</a:t>
            </a:r>
            <a:r>
              <a:rPr lang="en-US" altLang="zh-CN" dirty="0"/>
              <a:t>VA</a:t>
            </a:r>
            <a:r>
              <a:rPr lang="zh-CN" altLang="en-US" dirty="0"/>
              <a:t>查先运行进程页表，定位映射需要的</a:t>
            </a:r>
            <a:r>
              <a:rPr lang="en-US" altLang="zh-CN" dirty="0"/>
              <a:t>PTE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Null</a:t>
            </a:r>
            <a:r>
              <a:rPr lang="zh-CN" altLang="en-US" dirty="0"/>
              <a:t>，抛出</a:t>
            </a:r>
            <a:r>
              <a:rPr lang="en-US" altLang="zh-CN" dirty="0"/>
              <a:t>14#</a:t>
            </a:r>
            <a:r>
              <a:rPr lang="zh-CN" altLang="en-US" dirty="0"/>
              <a:t>缺页异常。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非</a:t>
            </a:r>
            <a:r>
              <a:rPr lang="en-US" altLang="zh-CN" dirty="0"/>
              <a:t>Null</a:t>
            </a:r>
            <a:r>
              <a:rPr lang="zh-CN" altLang="en-US" dirty="0"/>
              <a:t>，获得映射需要的</a:t>
            </a:r>
            <a:r>
              <a:rPr lang="en-US" altLang="zh-CN" dirty="0"/>
              <a:t>PTE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</a:t>
            </a:r>
            <a:r>
              <a:rPr lang="zh-CN" altLang="en-US" dirty="0"/>
              <a:t>、权限检测</a:t>
            </a:r>
            <a:endParaRPr lang="en-US" altLang="zh-C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CPU</a:t>
            </a:r>
            <a:r>
              <a:rPr lang="zh-CN" altLang="en-US" dirty="0"/>
              <a:t>用户态运行，</a:t>
            </a:r>
            <a:r>
              <a:rPr lang="en-US" altLang="zh-CN" dirty="0" err="1"/>
              <a:t>Ubit</a:t>
            </a:r>
            <a:r>
              <a:rPr lang="zh-CN" altLang="en-US" dirty="0"/>
              <a:t>是</a:t>
            </a:r>
            <a:r>
              <a:rPr lang="en-US" altLang="zh-CN" dirty="0"/>
              <a:t>0</a:t>
            </a:r>
            <a:r>
              <a:rPr lang="zh-CN" altLang="en-US" dirty="0"/>
              <a:t>，抛出</a:t>
            </a:r>
            <a:r>
              <a:rPr lang="en-US" altLang="zh-CN" dirty="0"/>
              <a:t>14#</a:t>
            </a:r>
            <a:r>
              <a:rPr lang="zh-CN" altLang="en-US" dirty="0"/>
              <a:t>缺页异常。</a:t>
            </a:r>
            <a:endParaRPr lang="en-US" altLang="zh-C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写操作，</a:t>
            </a:r>
            <a:r>
              <a:rPr lang="en-US" altLang="zh-CN" dirty="0"/>
              <a:t>R/</a:t>
            </a:r>
            <a:r>
              <a:rPr lang="en-US" altLang="zh-CN" dirty="0" err="1"/>
              <a:t>Wbit</a:t>
            </a:r>
            <a:r>
              <a:rPr lang="zh-CN" altLang="en-US" dirty="0"/>
              <a:t>是</a:t>
            </a:r>
            <a:r>
              <a:rPr lang="en-US" altLang="zh-CN" dirty="0"/>
              <a:t>0</a:t>
            </a:r>
            <a:r>
              <a:rPr lang="zh-CN" altLang="en-US" dirty="0"/>
              <a:t>，抛出</a:t>
            </a:r>
            <a:r>
              <a:rPr lang="en-US" altLang="zh-CN" dirty="0"/>
              <a:t>14#</a:t>
            </a:r>
            <a:r>
              <a:rPr lang="zh-CN" altLang="en-US" dirty="0"/>
              <a:t>缺页异常。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3</a:t>
            </a:r>
            <a:r>
              <a:rPr lang="zh-CN" altLang="en-US" dirty="0"/>
              <a:t>、地址映射</a:t>
            </a:r>
            <a:endParaRPr lang="en-US" altLang="zh-C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用</a:t>
            </a:r>
            <a:r>
              <a:rPr lang="en-US" altLang="zh-CN" dirty="0"/>
              <a:t>PTE</a:t>
            </a:r>
            <a:r>
              <a:rPr lang="zh-CN" altLang="en-US" dirty="0"/>
              <a:t>中的</a:t>
            </a:r>
            <a:r>
              <a:rPr lang="en-US" altLang="zh-CN" dirty="0"/>
              <a:t>base</a:t>
            </a:r>
            <a:r>
              <a:rPr lang="zh-CN" altLang="en-US" dirty="0"/>
              <a:t>和</a:t>
            </a:r>
            <a:r>
              <a:rPr lang="en-US" altLang="zh-CN" dirty="0"/>
              <a:t>VA</a:t>
            </a:r>
            <a:r>
              <a:rPr lang="zh-CN" altLang="en-US" dirty="0"/>
              <a:t>中的偏移量拼出物理地址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7919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F2AB-FF3F-5E78-1851-F4FCB900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5D8B24-3F8D-0D3A-2DE5-F6E24732C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3A14FC-F586-2637-94E4-C305E4E4F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0C12CB-0F70-021B-EB05-BF8DCEFFD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2701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631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5699-E9EB-3481-6501-F45CC50A1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ECAE26-6B68-05E3-C44C-61455EFB4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018176-EE14-9BEE-9243-BCED1BE20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7BAEEF-E602-9A15-4BA0-20B3F9167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55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213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138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685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2F21-5772-F8A7-C342-8FDC72EE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E0EC5-D26F-8A97-6EC8-1200B8DAF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72EC2F-0F13-A02B-E2AD-B4DFC7ECD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643AED-B41E-7556-5B6E-37C0A6EC8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3138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841D-09F1-E3E3-FEAF-B619DE61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90A208-41B7-3710-38DD-CC1D7F949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496631-9956-98A1-38E9-BE9E0D7CD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30227-AB69-A481-480F-8FFE53AC4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8928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596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17F8-7AA5-D257-6A6E-22042803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A4D523-1AA8-9865-2E63-ED0E68883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3C4A29-233E-7E4D-3A43-834731701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CAF315-6125-44B6-F507-2D2AE25F7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1700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8000" cap="none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操作系统  </a:t>
            </a:r>
            <a:r>
              <a:rPr lang="zh-CN" altLang="en-US" sz="3600" noProof="0" dirty="0"/>
              <a:t>同济大学计算机系 邓蓉</a:t>
            </a:r>
            <a:r>
              <a:rPr lang="zh-CN" altLang="en-US" noProof="0" dirty="0"/>
              <a:t> 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第一章</a:t>
            </a:r>
            <a:r>
              <a:rPr lang="en-US" altLang="zh-CN" noProof="0" dirty="0"/>
              <a:t>		</a:t>
            </a:r>
            <a:r>
              <a:rPr lang="zh-CN" altLang="en-US" noProof="0" dirty="0"/>
              <a:t>绪论</a:t>
            </a:r>
            <a:r>
              <a:rPr lang="en-US" altLang="zh-CN" noProof="0" dirty="0"/>
              <a:t>			</a:t>
            </a:r>
            <a:endParaRPr lang="zh-CN" altLang="en-US" noProof="0" dirty="0"/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1699" y="50772"/>
            <a:ext cx="906161" cy="906161"/>
          </a:xfrm>
          <a:prstGeom prst="rect">
            <a:avLst/>
          </a:prstGeom>
        </p:spPr>
      </p:pic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>
          <a:xfrm>
            <a:off x="609600" y="6289679"/>
            <a:ext cx="6219567" cy="222436"/>
          </a:xfrm>
        </p:spPr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09600" y="6289679"/>
            <a:ext cx="6384323" cy="222436"/>
          </a:xfrm>
        </p:spPr>
        <p:txBody>
          <a:bodyPr rtlCol="0"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0001" y="49661"/>
            <a:ext cx="908383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​​(S)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​​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​​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​​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组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直接连接符​​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​​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​​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​​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​​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​​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​​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​​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​​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​​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​​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​​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​​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​​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​​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​​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组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直接连接符​​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​​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组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直接连接符​​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​​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连接符​​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连接符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​​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直接连接符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​​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​​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​​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组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直接连接符​​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​​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​​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组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直接连接符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​​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​​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​​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​​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直接连接符​​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​​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​​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​​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​​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页脚占位符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212" name="日期占位符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214" name="幻灯片编号占位符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标题的内容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0"/>
              <a:t>操作系统</a:t>
            </a:r>
            <a:r>
              <a:rPr lang="en-US" altLang="zh-CN" noProof="0"/>
              <a:t>( </a:t>
            </a:r>
            <a:r>
              <a:rPr lang="zh-CN" altLang="en-US" noProof="0"/>
              <a:t>拔尖班 </a:t>
            </a:r>
            <a:r>
              <a:rPr lang="en-US" altLang="zh-CN" noProof="0"/>
              <a:t>/ </a:t>
            </a:r>
            <a:r>
              <a:rPr lang="zh-CN" altLang="en-US" noProof="0"/>
              <a:t>国豪 </a:t>
            </a:r>
            <a:r>
              <a:rPr lang="en-US" altLang="zh-CN" noProof="0"/>
              <a:t>2024 )                                                               </a:t>
            </a:r>
            <a:r>
              <a:rPr lang="zh-CN" altLang="en-US" noProof="0"/>
              <a:t>同济大学计算机系 邓蓉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题注的图片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直接连接符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​​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直接连接符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直接连接符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直接连接符​​(S)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组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直接连接符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直接连接符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矩形​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​​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操作系统</a:t>
            </a:r>
            <a:r>
              <a:rPr lang="en-US" altLang="zh-CN" noProof="0"/>
              <a:t>( </a:t>
            </a:r>
            <a:r>
              <a:rPr lang="zh-CN" altLang="en-US" noProof="0"/>
              <a:t>拔尖班 </a:t>
            </a:r>
            <a:r>
              <a:rPr lang="en-US" altLang="zh-CN" noProof="0"/>
              <a:t>/ </a:t>
            </a:r>
            <a:r>
              <a:rPr lang="zh-CN" altLang="en-US" noProof="0"/>
              <a:t>国豪 </a:t>
            </a:r>
            <a:r>
              <a:rPr lang="en-US" altLang="zh-CN" noProof="0"/>
              <a:t>2024 )                                                               </a:t>
            </a:r>
            <a:r>
              <a:rPr lang="zh-CN" altLang="en-US" noProof="0"/>
              <a:t>同济大学计算机系 邓蓉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操作系统</a:t>
            </a:r>
            <a:r>
              <a:rPr lang="en-US" altLang="zh-CN" noProof="0"/>
              <a:t>( </a:t>
            </a:r>
            <a:r>
              <a:rPr lang="zh-CN" altLang="en-US" noProof="0"/>
              <a:t>拔尖班 </a:t>
            </a:r>
            <a:r>
              <a:rPr lang="en-US" altLang="zh-CN" noProof="0"/>
              <a:t>/ </a:t>
            </a:r>
            <a:r>
              <a:rPr lang="zh-CN" altLang="en-US" noProof="0"/>
              <a:t>国豪 </a:t>
            </a:r>
            <a:r>
              <a:rPr lang="en-US" altLang="zh-CN" noProof="0"/>
              <a:t>2024 )                                                               </a:t>
            </a:r>
            <a:r>
              <a:rPr lang="zh-CN" altLang="en-US" noProof="0"/>
              <a:t>同济大学计算机系 邓蓉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cxnSp>
        <p:nvCxnSpPr>
          <p:cNvPr id="148" name="直接连接符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0"/>
              <a:t>操作系统</a:t>
            </a:r>
            <a:r>
              <a:rPr lang="en-US" altLang="zh-CN" noProof="0"/>
              <a:t>( </a:t>
            </a:r>
            <a:r>
              <a:rPr lang="zh-CN" altLang="en-US" noProof="0"/>
              <a:t>拔尖班 </a:t>
            </a:r>
            <a:r>
              <a:rPr lang="en-US" altLang="zh-CN" noProof="0"/>
              <a:t>/ </a:t>
            </a:r>
            <a:r>
              <a:rPr lang="zh-CN" altLang="en-US" noProof="0"/>
              <a:t>国豪 </a:t>
            </a:r>
            <a:r>
              <a:rPr lang="en-US" altLang="zh-CN" noProof="0"/>
              <a:t>2024 )                                                               </a:t>
            </a:r>
            <a:r>
              <a:rPr lang="zh-CN" altLang="en-US" noProof="0"/>
              <a:t>同济大学计算机系 邓蓉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04222" y="2584464"/>
            <a:ext cx="10783556" cy="844536"/>
          </a:xfrm>
        </p:spPr>
        <p:txBody>
          <a:bodyPr>
            <a:normAutofit/>
          </a:bodyPr>
          <a:lstStyle/>
          <a:p>
            <a:pPr lvl="0" algn="ctr"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请求调页式虚拟存储器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同济大学计算机系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5E7A16-CE93-4301-90C8-01EB33E2B5B5}"/>
              </a:ext>
            </a:extLst>
          </p:cNvPr>
          <p:cNvSpPr/>
          <p:nvPr/>
        </p:nvSpPr>
        <p:spPr>
          <a:xfrm>
            <a:off x="704222" y="1938133"/>
            <a:ext cx="58432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操作系统课程设计，</a:t>
            </a:r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2025</a:t>
            </a:r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春</a:t>
            </a:r>
          </a:p>
        </p:txBody>
      </p:sp>
    </p:spTree>
    <p:extLst>
      <p:ext uri="{BB962C8B-B14F-4D97-AF65-F5344CB8AC3E}">
        <p14:creationId xmlns:p14="http://schemas.microsoft.com/office/powerpoint/2010/main" val="63995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BE4F7-74BA-F34B-AD14-6259977C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73ABF-2E15-DF64-6649-0AB81D4EE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虚拟内存（</a:t>
            </a:r>
            <a:r>
              <a:rPr lang="en-US" altLang="zh-CN" dirty="0"/>
              <a:t>Virtual Memory</a:t>
            </a:r>
            <a:r>
              <a:rPr lang="zh-CN" altLang="en-US" dirty="0"/>
              <a:t>）是计算机操作系统管理内存的一种技术，它通过将物理内存（</a:t>
            </a:r>
            <a:r>
              <a:rPr lang="en-US" altLang="zh-CN" dirty="0"/>
              <a:t>RAM</a:t>
            </a:r>
            <a:r>
              <a:rPr lang="zh-CN" altLang="en-US" dirty="0"/>
              <a:t>）和磁盘存储结合使用，</a:t>
            </a:r>
            <a:endParaRPr lang="en-US" altLang="zh-CN" dirty="0"/>
          </a:p>
          <a:p>
            <a:pPr lvl="1"/>
            <a:r>
              <a:rPr lang="zh-CN" altLang="en-US" dirty="0"/>
              <a:t>可以为进程（应用程序）提供比实际物理内存更大的连续地址空间。所有进程使用相同的视图，为编译器、进程提供方便。</a:t>
            </a:r>
            <a:endParaRPr lang="en-US" altLang="zh-CN" dirty="0"/>
          </a:p>
          <a:p>
            <a:pPr lvl="1"/>
            <a:r>
              <a:rPr lang="zh-CN" altLang="en-US" dirty="0"/>
              <a:t>扩展可执行存储器的容量，提高系统并发度和性能。</a:t>
            </a:r>
            <a:endParaRPr lang="en-US" altLang="zh-CN" dirty="0"/>
          </a:p>
          <a:p>
            <a:pPr lvl="1"/>
            <a:r>
              <a:rPr lang="zh-CN" altLang="en-US" dirty="0"/>
              <a:t>简化内存管理的复杂性。</a:t>
            </a:r>
            <a:endParaRPr lang="en-US" altLang="zh-CN" dirty="0"/>
          </a:p>
          <a:p>
            <a:pPr marL="45720" indent="0">
              <a:buNone/>
            </a:pPr>
            <a:r>
              <a:rPr lang="zh-CN" altLang="en-US" dirty="0"/>
              <a:t>是现代操作系统的核心机制之一。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4D4BA9-2C04-8AAC-A96A-B679ADA7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446F89-A1DB-4E85-1E6E-731F1FF5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2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1210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A158D-3695-0B4C-5029-59F1AF24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一、核心原理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E59C81-DFFB-2EFF-56B9-79BF5329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75A6E4-DFAB-1346-BC1C-F911F9FE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3</a:t>
            </a:fld>
            <a:endParaRPr lang="zh-CN" altLang="en-US" noProof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68B66-1B84-6FC8-2AE9-D87550613566}"/>
              </a:ext>
            </a:extLst>
          </p:cNvPr>
          <p:cNvSpPr txBox="1"/>
          <p:nvPr/>
        </p:nvSpPr>
        <p:spPr>
          <a:xfrm>
            <a:off x="742483" y="2194496"/>
            <a:ext cx="10658942" cy="318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5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地址空间分离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虚拟地址空间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‌：每个进程看到的是一块连续的、独立的等长地址空间（如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位系统为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4GB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），与物理内存的实际分布无关。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物理地址空间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‌：真实的硬件内存（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RAM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）的地址空间，为所有进程共享，由操作系统统一管理。</a:t>
            </a:r>
          </a:p>
          <a:p>
            <a:pPr algn="l">
              <a:lnSpc>
                <a:spcPts val="2175"/>
              </a:lnSpc>
              <a:spcBef>
                <a:spcPts val="525"/>
              </a:spcBef>
              <a:spcAft>
                <a:spcPts val="525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分页（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Paging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</a:t>
            </a:r>
            <a:r>
              <a:rPr lang="zh-CN" altLang="en-US" b="1" i="0" dirty="0">
                <a:solidFill>
                  <a:schemeClr val="bg1">
                    <a:lumMod val="75000"/>
                  </a:schemeClr>
                </a:solidFill>
                <a:effectLst/>
                <a:latin typeface="PingFang SC"/>
              </a:rPr>
              <a:t>或分段（</a:t>
            </a:r>
            <a:r>
              <a:rPr lang="en-US" altLang="zh-CN" b="1" i="0" dirty="0">
                <a:solidFill>
                  <a:schemeClr val="bg1">
                    <a:lumMod val="75000"/>
                  </a:schemeClr>
                </a:solidFill>
                <a:effectLst/>
                <a:latin typeface="PingFang SC"/>
              </a:rPr>
              <a:t>Segmentation</a:t>
            </a:r>
            <a:r>
              <a:rPr lang="zh-CN" altLang="en-US" b="1" i="0" dirty="0">
                <a:solidFill>
                  <a:schemeClr val="bg1">
                    <a:lumMod val="75000"/>
                  </a:schemeClr>
                </a:solidFill>
                <a:effectLst/>
                <a:latin typeface="PingFang SC"/>
              </a:rPr>
              <a:t>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虚拟内存通常采用‌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分页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‌技术，将虚拟地址空间划分为固定大小的页（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Page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4KB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），物理内存划分为同样大小的页框（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Frame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进程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用虚拟地址访存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操作系统通过‌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页表（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Page Table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）、内存描述符 和 其它辅助内核数据结构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‌，借助缺页异常处理程序将虚拟页映射到物理页框 或 磁盘空间。</a:t>
            </a:r>
          </a:p>
        </p:txBody>
      </p:sp>
    </p:spTree>
    <p:extLst>
      <p:ext uri="{BB962C8B-B14F-4D97-AF65-F5344CB8AC3E}">
        <p14:creationId xmlns:p14="http://schemas.microsoft.com/office/powerpoint/2010/main" val="19086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E93A-5768-21D9-E870-B8F54A39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C8F77-DA0D-22EA-BE75-25213421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核心原理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CBE0E7-8434-6BF8-9E39-2A322A85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4BE25F-022A-58E9-9F88-6FB1C3E2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4</a:t>
            </a:fld>
            <a:endParaRPr lang="zh-CN" altLang="en-US" noProof="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85BB48-E6F3-E953-E68C-1F305D82453D}"/>
              </a:ext>
            </a:extLst>
          </p:cNvPr>
          <p:cNvSpPr txBox="1"/>
          <p:nvPr/>
        </p:nvSpPr>
        <p:spPr>
          <a:xfrm>
            <a:off x="609600" y="1809499"/>
            <a:ext cx="11155568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5"/>
              </a:lnSpc>
              <a:spcBef>
                <a:spcPts val="525"/>
              </a:spcBef>
              <a:spcAft>
                <a:spcPts val="525"/>
              </a:spcAft>
            </a:pPr>
            <a:r>
              <a:rPr lang="en-US" altLang="zh-CN" b="1" dirty="0">
                <a:solidFill>
                  <a:srgbClr val="333333"/>
                </a:solidFill>
                <a:latin typeface="PingFang SC"/>
              </a:rPr>
              <a:t>3. </a:t>
            </a:r>
            <a:r>
              <a:rPr lang="zh-CN" altLang="en-US" b="1" dirty="0">
                <a:solidFill>
                  <a:srgbClr val="333333"/>
                </a:solidFill>
                <a:latin typeface="PingFang SC"/>
              </a:rPr>
              <a:t>按需加载‌：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无需为目前不用的页分配内存。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742950" lvl="1" indent="-28575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惰性内存分配，请求调页（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Lazy Allocation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Demand Paging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marL="742950" lvl="1" indent="-28575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物理页框分配延迟至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进程实际访问某个具体的虚拟页。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742950" lvl="1" indent="-28575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虚拟页加载由虚地址访存触发。具体而言，进程用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VA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访存</a:t>
            </a:r>
            <a:r>
              <a:rPr lang="zh-CN" altLang="en-US" sz="1300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sz="1300" dirty="0">
                <a:solidFill>
                  <a:srgbClr val="C00000"/>
                </a:solidFill>
              </a:rPr>
              <a:t> </a:t>
            </a:r>
            <a:r>
              <a:rPr lang="zh-CN" altLang="en-US" sz="1300" dirty="0"/>
              <a:t>暂不考虑非法内存访问，堆栈扩展 和 </a:t>
            </a:r>
            <a:r>
              <a:rPr lang="en-US" altLang="zh-CN" sz="1300" dirty="0"/>
              <a:t>zero</a:t>
            </a:r>
            <a:r>
              <a:rPr lang="zh-CN" altLang="en-US" sz="1300" dirty="0"/>
              <a:t>页 </a:t>
            </a:r>
            <a:r>
              <a:rPr lang="zh-CN" altLang="en-US" sz="1300" dirty="0">
                <a:solidFill>
                  <a:srgbClr val="333333"/>
                </a:solidFill>
                <a:latin typeface="PingFang SC"/>
              </a:rPr>
              <a:t>），</a:t>
            </a:r>
            <a:endParaRPr lang="en-US" altLang="zh-CN" sz="1300" dirty="0">
              <a:solidFill>
                <a:srgbClr val="333333"/>
              </a:solidFill>
              <a:latin typeface="PingFang SC"/>
            </a:endParaRPr>
          </a:p>
          <a:p>
            <a:pPr lvl="2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age = VA &gt;&gt; 12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得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PTE  </a:t>
            </a:r>
            <a:r>
              <a:rPr lang="en-US" altLang="zh-CN" sz="1500" dirty="0">
                <a:solidFill>
                  <a:srgbClr val="C00000"/>
                </a:solidFill>
              </a:rPr>
              <a:t>base    U/S   R/W    P</a:t>
            </a:r>
            <a:endParaRPr lang="zh-CN" altLang="en-US" dirty="0"/>
          </a:p>
          <a:p>
            <a:pPr marL="1200150" lvl="2" indent="-28575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page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在内存，物理页框号是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base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1200150" lvl="2" indent="-285750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page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分配物理页框，写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PTE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，初始化这个物理页框（</a:t>
            </a:r>
            <a:r>
              <a:rPr lang="zh-CN" altLang="en-US" sz="1300" dirty="0">
                <a:solidFill>
                  <a:srgbClr val="333333"/>
                </a:solidFill>
                <a:latin typeface="PingFang SC"/>
              </a:rPr>
              <a:t>初始化逻辑依赖于逻辑页属性和使用状态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b="1" dirty="0">
                <a:solidFill>
                  <a:srgbClr val="333333"/>
                </a:solidFill>
                <a:latin typeface="PingFang SC"/>
              </a:rPr>
              <a:t>4.</a:t>
            </a:r>
            <a:r>
              <a:rPr lang="zh-CN" altLang="en-US" b="1" dirty="0">
                <a:solidFill>
                  <a:srgbClr val="333333"/>
                </a:solidFill>
                <a:latin typeface="PingFang SC"/>
              </a:rPr>
              <a:t> 页面置换算法‌：</a:t>
            </a: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物理内存不足时，操作系统通过算法（如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LRU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FIFO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）选择一页换出到磁盘，腾出空间给新页。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742950" lvl="1" indent="-285750" algn="l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PingFang SC"/>
              </a:rPr>
              <a:t>……</a:t>
            </a: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7791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BFBE7-1A7E-911E-E6B2-1A1EEDD0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二、硬件逻辑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4FAD72-D40E-540E-88F4-18E68DC8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5EE93B-5350-EBD6-5837-8101D631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5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7FC0A5-D08A-23F0-445F-6D9B3F6E2B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64" t="14915" r="19956" b="30621"/>
          <a:stretch/>
        </p:blipFill>
        <p:spPr>
          <a:xfrm rot="16200000">
            <a:off x="553755" y="1549188"/>
            <a:ext cx="4012840" cy="49594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80DFE2F-F175-CE1F-22B0-9FBA488B8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188" y="2022498"/>
            <a:ext cx="6849359" cy="391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1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52CF-DFB6-F2C8-EEB4-2FAC3D10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BCA77-F5C4-5712-0E0F-4A5C1568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13" y="133788"/>
            <a:ext cx="11208691" cy="1022887"/>
          </a:xfrm>
        </p:spPr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lang="zh-CN" altLang="en-US" dirty="0"/>
              <a:t>执行单元给出 </a:t>
            </a:r>
            <a:r>
              <a:rPr lang="en-US" altLang="zh-CN" dirty="0"/>
              <a:t>VA</a:t>
            </a:r>
            <a:r>
              <a:rPr lang="zh-CN" altLang="en-US" dirty="0"/>
              <a:t>，</a:t>
            </a:r>
            <a:r>
              <a:rPr lang="en-US" altLang="zh-CN" dirty="0"/>
              <a:t>MMU</a:t>
            </a:r>
            <a:r>
              <a:rPr lang="zh-CN" altLang="en-US" dirty="0"/>
              <a:t>执行内存保护和地址映射操作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51342E-366F-F4C2-E6B4-3548B6FE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9BE29E-FC6C-B8F4-9318-8314D8C9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6</a:t>
            </a:fld>
            <a:endParaRPr lang="zh-CN" altLang="en-US" noProof="0" dirty="0"/>
          </a:p>
        </p:txBody>
      </p:sp>
      <p:pic>
        <p:nvPicPr>
          <p:cNvPr id="3" name="图片 2" descr="文本, 电子邮件&#10;&#10;描述已自动生成">
            <a:extLst>
              <a:ext uri="{FF2B5EF4-FFF2-40B4-BE49-F238E27FC236}">
                <a16:creationId xmlns:a16="http://schemas.microsoft.com/office/drawing/2014/main" id="{8028D065-7D3A-D52E-F8BB-D00FDF0DDB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4" t="6239" r="11861" b="11495"/>
          <a:stretch/>
        </p:blipFill>
        <p:spPr>
          <a:xfrm>
            <a:off x="6564798" y="2963720"/>
            <a:ext cx="4401312" cy="27617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6A1CE66-92C8-732C-2793-2E787649CB2F}"/>
              </a:ext>
            </a:extLst>
          </p:cNvPr>
          <p:cNvSpPr txBox="1"/>
          <p:nvPr/>
        </p:nvSpPr>
        <p:spPr>
          <a:xfrm>
            <a:off x="142595" y="1678525"/>
            <a:ext cx="5281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、用</a:t>
            </a:r>
            <a:r>
              <a:rPr lang="en-US" altLang="zh-CN" dirty="0"/>
              <a:t>VA</a:t>
            </a:r>
            <a:r>
              <a:rPr lang="zh-CN" altLang="en-US" dirty="0"/>
              <a:t>查先运行进程页表，定位映射需要的</a:t>
            </a:r>
            <a:r>
              <a:rPr lang="en-US" altLang="zh-CN" dirty="0"/>
              <a:t>PTE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Null</a:t>
            </a:r>
            <a:r>
              <a:rPr lang="zh-CN" altLang="en-US" dirty="0"/>
              <a:t>，抛出</a:t>
            </a:r>
            <a:r>
              <a:rPr lang="en-US" altLang="zh-CN" dirty="0"/>
              <a:t>14#</a:t>
            </a:r>
            <a:r>
              <a:rPr lang="zh-CN" altLang="en-US" dirty="0"/>
              <a:t>缺页异常。</a:t>
            </a:r>
            <a:r>
              <a:rPr lang="en-US" altLang="zh-CN" dirty="0">
                <a:solidFill>
                  <a:srgbClr val="C00000"/>
                </a:solidFill>
              </a:rPr>
              <a:t>P = 0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非</a:t>
            </a:r>
            <a:r>
              <a:rPr lang="en-US" altLang="zh-CN" dirty="0"/>
              <a:t>Null</a:t>
            </a:r>
            <a:r>
              <a:rPr lang="zh-CN" altLang="en-US" dirty="0"/>
              <a:t>，获得映射需要的</a:t>
            </a:r>
            <a:r>
              <a:rPr lang="en-US" altLang="zh-CN" dirty="0"/>
              <a:t>PTE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3E1E3F-4F4B-DA35-474D-6CFF6865314F}"/>
              </a:ext>
            </a:extLst>
          </p:cNvPr>
          <p:cNvSpPr txBox="1"/>
          <p:nvPr/>
        </p:nvSpPr>
        <p:spPr>
          <a:xfrm>
            <a:off x="7248446" y="5700005"/>
            <a:ext cx="3034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C00000"/>
                </a:solidFill>
              </a:rPr>
              <a:t>图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error code</a:t>
            </a:r>
            <a:r>
              <a:rPr lang="zh-CN" altLang="en-US" dirty="0">
                <a:solidFill>
                  <a:srgbClr val="C00000"/>
                </a:solidFill>
              </a:rPr>
              <a:t>中</a:t>
            </a:r>
            <a:r>
              <a:rPr lang="en-US" altLang="zh-CN" dirty="0">
                <a:solidFill>
                  <a:srgbClr val="C00000"/>
                </a:solidFill>
              </a:rPr>
              <a:t>bit</a:t>
            </a:r>
            <a:r>
              <a:rPr lang="zh-CN" altLang="en-US" dirty="0">
                <a:solidFill>
                  <a:srgbClr val="C00000"/>
                </a:solidFill>
              </a:rPr>
              <a:t>的含义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2A069BD-03B8-4D0D-A4A5-3D8662A80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2914673"/>
            <a:ext cx="5017604" cy="281084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C86C9A7-FB05-AAB0-41A0-13D54D79DD0A}"/>
              </a:ext>
            </a:extLst>
          </p:cNvPr>
          <p:cNvSpPr txBox="1"/>
          <p:nvPr/>
        </p:nvSpPr>
        <p:spPr>
          <a:xfrm>
            <a:off x="1325983" y="5676470"/>
            <a:ext cx="3850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Page Table Entry</a:t>
            </a:r>
            <a:r>
              <a:rPr lang="zh-CN" altLang="en-US" dirty="0"/>
              <a:t>中</a:t>
            </a:r>
            <a:r>
              <a:rPr lang="en-US" altLang="zh-CN" dirty="0"/>
              <a:t>bit</a:t>
            </a:r>
            <a:r>
              <a:rPr lang="zh-CN" altLang="en-US" dirty="0"/>
              <a:t>的含义</a:t>
            </a: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F48EC2-9D96-CD00-DF6A-E801B8F29375}"/>
              </a:ext>
            </a:extLst>
          </p:cNvPr>
          <p:cNvSpPr txBox="1"/>
          <p:nvPr/>
        </p:nvSpPr>
        <p:spPr>
          <a:xfrm>
            <a:off x="5329878" y="1209394"/>
            <a:ext cx="68058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、权限检测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CPU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用户态运行，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U/S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，抛出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14#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缺页异常。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U/S = 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P = 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写操作，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R/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Wbit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，抛出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14#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缺页异常。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W/R = 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P = 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、地址映射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PTE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中的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base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VA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幼圆" panose="02010509060101010101" pitchFamily="49" charset="-122"/>
                <a:cs typeface="+mn-cs"/>
              </a:rPr>
              <a:t>中的偏移量拼出物理地址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更新</a:t>
            </a:r>
            <a:r>
              <a:rPr lang="en-US" altLang="zh-CN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PTE</a:t>
            </a:r>
            <a:r>
              <a:rPr lang="zh-CN" altLang="en-US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。</a:t>
            </a:r>
            <a:r>
              <a:rPr lang="en-US" altLang="zh-CN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Accessed</a:t>
            </a:r>
            <a:r>
              <a:rPr lang="zh-CN" altLang="en-US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置</a:t>
            </a:r>
            <a:r>
              <a:rPr lang="en-US" altLang="zh-CN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1</a:t>
            </a:r>
            <a:r>
              <a:rPr lang="zh-CN" altLang="en-US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，写操作</a:t>
            </a:r>
            <a:r>
              <a:rPr lang="en-US" altLang="zh-CN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Dirty</a:t>
            </a:r>
            <a:r>
              <a:rPr lang="zh-CN" altLang="en-US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置</a:t>
            </a:r>
            <a:r>
              <a:rPr lang="en-US" altLang="zh-CN" dirty="0">
                <a:solidFill>
                  <a:srgbClr val="2D2E2D"/>
                </a:solidFill>
                <a:latin typeface="Arial"/>
                <a:ea typeface="幼圆" panose="02010509060101010101" pitchFamily="49" charset="-122"/>
              </a:rPr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72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374EF-A333-B5A9-4A33-519DA1F7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41142"/>
            <a:ext cx="9601200" cy="1142385"/>
          </a:xfrm>
        </p:spPr>
        <p:txBody>
          <a:bodyPr/>
          <a:lstStyle/>
          <a:p>
            <a:r>
              <a:rPr lang="en-US" altLang="zh-CN" dirty="0"/>
              <a:t>14#</a:t>
            </a:r>
            <a:r>
              <a:rPr lang="zh-CN" altLang="en-US" dirty="0"/>
              <a:t>缺页异常处理程序根据 </a:t>
            </a:r>
            <a:r>
              <a:rPr lang="en-US" altLang="zh-CN" dirty="0"/>
              <a:t>error code </a:t>
            </a:r>
            <a:r>
              <a:rPr lang="zh-CN" altLang="en-US" dirty="0"/>
              <a:t>和 </a:t>
            </a:r>
            <a:r>
              <a:rPr lang="en-US" altLang="zh-CN" dirty="0"/>
              <a:t>cr2       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en-US" dirty="0"/>
              <a:t>实施内存保护、请求调页 和 堆栈扩展操作  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22A85B-9351-5C01-28B9-648E48A8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8C8FEC-0CE2-AE35-703F-944CC2DF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7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228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CB56E-B805-BA95-176E-91DA16E9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en-US" altLang="zh-CN" dirty="0"/>
              <a:t>Linux</a:t>
            </a:r>
            <a:r>
              <a:rPr lang="zh-CN" altLang="en-US" dirty="0"/>
              <a:t>的方法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F14425-104D-3C99-A41D-8BF815B1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05ED9A-21FD-ABC1-D947-B87ABD23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8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1483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F4D9A-822B-97F4-2579-D1D650AF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6183"/>
            <a:ext cx="9601200" cy="1142385"/>
          </a:xfrm>
        </p:spPr>
        <p:txBody>
          <a:bodyPr/>
          <a:lstStyle/>
          <a:p>
            <a:r>
              <a:rPr lang="en-US" altLang="zh-CN" dirty="0"/>
              <a:t>3.1  </a:t>
            </a:r>
            <a:r>
              <a:rPr lang="zh-CN" altLang="en-US" dirty="0"/>
              <a:t>进程的虚拟内存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30B776-165B-831B-CC3A-3F2ADC3C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0E4806-8890-36BB-CE77-8587F1EA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9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53696C-960F-7DA2-386A-08BD22912B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8" r="27392" b="37653"/>
          <a:stretch/>
        </p:blipFill>
        <p:spPr>
          <a:xfrm>
            <a:off x="1295400" y="1325062"/>
            <a:ext cx="3859078" cy="4774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6D41E1B-0291-0302-0E60-A28A56A06022}"/>
              </a:ext>
            </a:extLst>
          </p:cNvPr>
          <p:cNvSpPr txBox="1"/>
          <p:nvPr/>
        </p:nvSpPr>
        <p:spPr>
          <a:xfrm>
            <a:off x="5975525" y="2615398"/>
            <a:ext cx="54881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用户空间，分成若干个</a:t>
            </a:r>
            <a:r>
              <a:rPr lang="en-US" altLang="zh-CN" dirty="0"/>
              <a:t>area</a:t>
            </a:r>
          </a:p>
          <a:p>
            <a:endParaRPr lang="en-US" altLang="zh-CN" dirty="0"/>
          </a:p>
          <a:p>
            <a:r>
              <a:rPr lang="zh-CN" altLang="en-US" dirty="0"/>
              <a:t>每个</a:t>
            </a:r>
            <a:r>
              <a:rPr lang="en-US" altLang="zh-CN" dirty="0"/>
              <a:t>area</a:t>
            </a:r>
            <a:r>
              <a:rPr lang="zh-CN" altLang="en-US" dirty="0"/>
              <a:t>独立管理，有自己的控制块 </a:t>
            </a:r>
            <a:r>
              <a:rPr lang="en-US" altLang="zh-CN" dirty="0" err="1"/>
              <a:t>vm_area_struct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41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B6520-B6C0-363B-79E1-D6132FA8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6E5E0-F0F5-9342-CB6D-2725A478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6183"/>
            <a:ext cx="9601200" cy="1142385"/>
          </a:xfrm>
        </p:spPr>
        <p:txBody>
          <a:bodyPr/>
          <a:lstStyle/>
          <a:p>
            <a:r>
              <a:rPr lang="zh-CN" altLang="en-US" dirty="0"/>
              <a:t>虚空间分页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73B7C3-DF52-871C-B096-697DD0F3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69853C-011F-4456-71AB-EEA3C3B2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10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E5EC85-B610-95A0-7875-6A7C8EBC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8" r="27392" b="37653"/>
          <a:stretch/>
        </p:blipFill>
        <p:spPr>
          <a:xfrm>
            <a:off x="1295400" y="1325062"/>
            <a:ext cx="3859078" cy="4774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6BC90E6-A012-F148-C53A-68B15E526B7C}"/>
              </a:ext>
            </a:extLst>
          </p:cNvPr>
          <p:cNvSpPr txBox="1"/>
          <p:nvPr/>
        </p:nvSpPr>
        <p:spPr>
          <a:xfrm>
            <a:off x="5583936" y="2029402"/>
            <a:ext cx="64373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属于同一个</a:t>
            </a:r>
            <a:r>
              <a:rPr lang="en-US" altLang="zh-CN" dirty="0"/>
              <a:t>area</a:t>
            </a:r>
            <a:r>
              <a:rPr lang="zh-CN" altLang="en-US" dirty="0"/>
              <a:t>的逻辑页，不需要连续存放。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按需分配。没有访问到的逻辑页，不分配物理页框。分配给逻辑页的物理页框号，登记在进程的页表。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用户空间逻辑页，</a:t>
            </a:r>
            <a:r>
              <a:rPr lang="en-US" altLang="zh-CN" dirty="0"/>
              <a:t>3</a:t>
            </a:r>
            <a:r>
              <a:rPr lang="zh-CN" altLang="en-US" dirty="0"/>
              <a:t>种不同的状态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不存在。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存在，有物理页框。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不存在，没有物理页框（等待分配）。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属于同一个</a:t>
            </a:r>
            <a:r>
              <a:rPr lang="en-US" altLang="zh-CN" dirty="0"/>
              <a:t>area</a:t>
            </a:r>
            <a:r>
              <a:rPr lang="zh-CN" altLang="en-US" dirty="0"/>
              <a:t>的所有逻辑页，保护位</a:t>
            </a:r>
            <a:r>
              <a:rPr lang="en-US" altLang="zh-CN" dirty="0" err="1"/>
              <a:t>prot</a:t>
            </a:r>
            <a:r>
              <a:rPr lang="zh-CN" altLang="en-US" dirty="0"/>
              <a:t>（</a:t>
            </a:r>
            <a:r>
              <a:rPr lang="en-US" altLang="zh-CN" sz="1200" dirty="0">
                <a:solidFill>
                  <a:srgbClr val="C00000"/>
                </a:solidFill>
              </a:rPr>
              <a:t>U/S   R/W    P</a:t>
            </a:r>
            <a:r>
              <a:rPr lang="zh-CN" altLang="en-US" dirty="0"/>
              <a:t>）相同。</a:t>
            </a:r>
          </a:p>
        </p:txBody>
      </p:sp>
    </p:spTree>
    <p:extLst>
      <p:ext uri="{BB962C8B-B14F-4D97-AF65-F5344CB8AC3E}">
        <p14:creationId xmlns:p14="http://schemas.microsoft.com/office/powerpoint/2010/main" val="5818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CA9BD-612E-2590-65E1-CB536FFB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705925"/>
          </a:xfrm>
        </p:spPr>
        <p:txBody>
          <a:bodyPr/>
          <a:lstStyle/>
          <a:p>
            <a:r>
              <a:rPr lang="en-US" altLang="zh-CN" dirty="0"/>
              <a:t>3.2   </a:t>
            </a:r>
            <a:r>
              <a:rPr lang="zh-CN" altLang="en-US" dirty="0"/>
              <a:t>核心数据结构（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9D2121-FB1B-EE94-6DA1-19E540F7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7329E9-FCFC-566F-A027-B6F60CF5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11</a:t>
            </a:fld>
            <a:endParaRPr lang="zh-CN" altLang="en-US" noProof="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B42C43-9C50-306B-AE74-A34585652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4" b="7841"/>
          <a:stretch/>
        </p:blipFill>
        <p:spPr>
          <a:xfrm>
            <a:off x="0" y="1646239"/>
            <a:ext cx="6219566" cy="40961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F007C0-717F-B095-A26B-7B1F5857E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789" y="1706866"/>
            <a:ext cx="1449522" cy="22610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9BE373-50AC-DF00-78FC-145D8800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6" t="8944" r="61625" b="56399"/>
          <a:stretch/>
        </p:blipFill>
        <p:spPr>
          <a:xfrm>
            <a:off x="6540073" y="1828800"/>
            <a:ext cx="2190427" cy="161182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C7180AD-E618-1301-CFEA-DA92E855E3A7}"/>
              </a:ext>
            </a:extLst>
          </p:cNvPr>
          <p:cNvSpPr/>
          <p:nvPr/>
        </p:nvSpPr>
        <p:spPr>
          <a:xfrm>
            <a:off x="8657963" y="2580468"/>
            <a:ext cx="165527" cy="108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AAB17C97-8E99-272C-6E83-58B6DEBA3968}"/>
              </a:ext>
            </a:extLst>
          </p:cNvPr>
          <p:cNvCxnSpPr/>
          <p:nvPr/>
        </p:nvCxnSpPr>
        <p:spPr>
          <a:xfrm>
            <a:off x="8657963" y="2262753"/>
            <a:ext cx="557826" cy="1859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2D71501-FDD8-ADB7-4827-D7B16A557884}"/>
              </a:ext>
            </a:extLst>
          </p:cNvPr>
          <p:cNvSpPr txBox="1"/>
          <p:nvPr/>
        </p:nvSpPr>
        <p:spPr>
          <a:xfrm>
            <a:off x="9038815" y="1956377"/>
            <a:ext cx="932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进程私有页目录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F4B910-C4B0-548D-9ABB-635BB5A547C3}"/>
              </a:ext>
            </a:extLst>
          </p:cNvPr>
          <p:cNvSpPr txBox="1"/>
          <p:nvPr/>
        </p:nvSpPr>
        <p:spPr>
          <a:xfrm>
            <a:off x="9925196" y="1248995"/>
            <a:ext cx="918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zh-cn"/>
            </a:defPPr>
            <a:lvl1pPr algn="ctr">
              <a:defRPr sz="1200"/>
            </a:lvl1pPr>
          </a:lstStyle>
          <a:p>
            <a:r>
              <a:rPr lang="zh-CN" altLang="en-US" dirty="0"/>
              <a:t>用户页表私有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9A31DE-D865-720E-AD1A-E2A3E9572516}"/>
              </a:ext>
            </a:extLst>
          </p:cNvPr>
          <p:cNvSpPr txBox="1"/>
          <p:nvPr/>
        </p:nvSpPr>
        <p:spPr>
          <a:xfrm>
            <a:off x="9940550" y="3975066"/>
            <a:ext cx="918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zh-cn"/>
            </a:defPPr>
            <a:lvl1pPr algn="ctr">
              <a:defRPr sz="1200"/>
            </a:lvl1pPr>
          </a:lstStyle>
          <a:p>
            <a:r>
              <a:rPr lang="zh-CN" altLang="en-US" dirty="0"/>
              <a:t>核心页表公用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387786-0893-CE1F-8D40-C65AC3168AD2}"/>
              </a:ext>
            </a:extLst>
          </p:cNvPr>
          <p:cNvSpPr txBox="1"/>
          <p:nvPr/>
        </p:nvSpPr>
        <p:spPr>
          <a:xfrm>
            <a:off x="1443396" y="5740329"/>
            <a:ext cx="3433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管理进程的虚拟内存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6C95EF-A29F-FD3D-7E13-741702BC2BCB}"/>
              </a:ext>
            </a:extLst>
          </p:cNvPr>
          <p:cNvSpPr txBox="1"/>
          <p:nvPr/>
        </p:nvSpPr>
        <p:spPr>
          <a:xfrm>
            <a:off x="7322113" y="5740329"/>
            <a:ext cx="3433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管理进程的物理内存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3A792F1-BD23-32C4-F94C-2872097FE0B7}"/>
              </a:ext>
            </a:extLst>
          </p:cNvPr>
          <p:cNvCxnSpPr/>
          <p:nvPr/>
        </p:nvCxnSpPr>
        <p:spPr>
          <a:xfrm flipV="1">
            <a:off x="10753344" y="1616642"/>
            <a:ext cx="371408" cy="212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9093F57-9746-4A65-DED1-7E8420FFB23E}"/>
              </a:ext>
            </a:extLst>
          </p:cNvPr>
          <p:cNvCxnSpPr/>
          <p:nvPr/>
        </p:nvCxnSpPr>
        <p:spPr>
          <a:xfrm>
            <a:off x="10753344" y="2005441"/>
            <a:ext cx="397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C2A20F3-F806-6D32-633D-171B131E01BF}"/>
              </a:ext>
            </a:extLst>
          </p:cNvPr>
          <p:cNvCxnSpPr/>
          <p:nvPr/>
        </p:nvCxnSpPr>
        <p:spPr>
          <a:xfrm>
            <a:off x="10753344" y="2187209"/>
            <a:ext cx="371408" cy="168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E548BB6-8B17-D80C-53B5-D03C8611C2DE}"/>
              </a:ext>
            </a:extLst>
          </p:cNvPr>
          <p:cNvCxnSpPr/>
          <p:nvPr/>
        </p:nvCxnSpPr>
        <p:spPr>
          <a:xfrm flipV="1">
            <a:off x="10753344" y="2425890"/>
            <a:ext cx="371408" cy="212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8B2E8C-CF73-78F9-80ED-3F7288CAA9E5}"/>
              </a:ext>
            </a:extLst>
          </p:cNvPr>
          <p:cNvCxnSpPr/>
          <p:nvPr/>
        </p:nvCxnSpPr>
        <p:spPr>
          <a:xfrm>
            <a:off x="10753344" y="2814689"/>
            <a:ext cx="397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F7B2FB2-5ABF-9915-2336-EC54AE89007F}"/>
              </a:ext>
            </a:extLst>
          </p:cNvPr>
          <p:cNvCxnSpPr/>
          <p:nvPr/>
        </p:nvCxnSpPr>
        <p:spPr>
          <a:xfrm>
            <a:off x="10753344" y="2996457"/>
            <a:ext cx="371408" cy="168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B1DF7B8-F5C4-A204-8EC8-E4E21C4FC36F}"/>
              </a:ext>
            </a:extLst>
          </p:cNvPr>
          <p:cNvCxnSpPr/>
          <p:nvPr/>
        </p:nvCxnSpPr>
        <p:spPr>
          <a:xfrm flipV="1">
            <a:off x="10755676" y="3228466"/>
            <a:ext cx="371408" cy="212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971FB67-7E63-D38A-9E21-E7D87B02B575}"/>
              </a:ext>
            </a:extLst>
          </p:cNvPr>
          <p:cNvCxnSpPr/>
          <p:nvPr/>
        </p:nvCxnSpPr>
        <p:spPr>
          <a:xfrm>
            <a:off x="10755676" y="3617265"/>
            <a:ext cx="397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860711F-BB44-BB2B-A111-0E520F25237A}"/>
              </a:ext>
            </a:extLst>
          </p:cNvPr>
          <p:cNvCxnSpPr/>
          <p:nvPr/>
        </p:nvCxnSpPr>
        <p:spPr>
          <a:xfrm>
            <a:off x="10755676" y="3799033"/>
            <a:ext cx="371408" cy="168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538EA63-2B68-4A90-0C02-096F95157203}"/>
              </a:ext>
            </a:extLst>
          </p:cNvPr>
          <p:cNvCxnSpPr/>
          <p:nvPr/>
        </p:nvCxnSpPr>
        <p:spPr>
          <a:xfrm>
            <a:off x="9215789" y="3228466"/>
            <a:ext cx="21227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620711B-BF70-E702-8C7A-BA4AE0C4E871}"/>
              </a:ext>
            </a:extLst>
          </p:cNvPr>
          <p:cNvSpPr txBox="1"/>
          <p:nvPr/>
        </p:nvSpPr>
        <p:spPr>
          <a:xfrm>
            <a:off x="11238633" y="1767708"/>
            <a:ext cx="9188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分配给逻辑页的物理页框</a:t>
            </a:r>
            <a:endParaRPr lang="en-US" altLang="zh-CN" dirty="0"/>
          </a:p>
          <a:p>
            <a:pPr algn="ctr"/>
            <a:r>
              <a:rPr lang="zh-CN" altLang="en-US" dirty="0"/>
              <a:t>可以和其它进程共用</a:t>
            </a:r>
          </a:p>
        </p:txBody>
      </p:sp>
    </p:spTree>
    <p:extLst>
      <p:ext uri="{BB962C8B-B14F-4D97-AF65-F5344CB8AC3E}">
        <p14:creationId xmlns:p14="http://schemas.microsoft.com/office/powerpoint/2010/main" val="54660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AC13C-EE74-F093-B063-979CF710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4"/>
            <a:ext cx="9601200" cy="630884"/>
          </a:xfrm>
        </p:spPr>
        <p:txBody>
          <a:bodyPr/>
          <a:lstStyle/>
          <a:p>
            <a:r>
              <a:rPr lang="en-US" altLang="zh-CN" dirty="0"/>
              <a:t>3.3  </a:t>
            </a:r>
            <a:r>
              <a:rPr lang="zh-CN" altLang="en-US" dirty="0"/>
              <a:t>不同</a:t>
            </a:r>
            <a:r>
              <a:rPr lang="en-US" altLang="zh-CN" dirty="0"/>
              <a:t>area</a:t>
            </a:r>
            <a:r>
              <a:rPr lang="zh-CN" altLang="en-US" dirty="0"/>
              <a:t>，不同的物理页框初始化方法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AA8DE5-446D-895A-8493-503A45F4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AC23C3-B697-8705-C33A-8BAC2F25B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12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E222BF-2741-5D61-866B-C590D537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8" r="27392" b="37653"/>
          <a:stretch/>
        </p:blipFill>
        <p:spPr>
          <a:xfrm>
            <a:off x="1295400" y="1325062"/>
            <a:ext cx="3859078" cy="477429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C5E5829-E3E7-E5A8-7DDD-2AF8BBF47CD5}"/>
              </a:ext>
            </a:extLst>
          </p:cNvPr>
          <p:cNvCxnSpPr>
            <a:cxnSpLocks/>
          </p:cNvCxnSpPr>
          <p:nvPr/>
        </p:nvCxnSpPr>
        <p:spPr>
          <a:xfrm flipH="1">
            <a:off x="4605838" y="2138153"/>
            <a:ext cx="6671762" cy="0"/>
          </a:xfrm>
          <a:prstGeom prst="straightConnector1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30A2C9F-A6B2-751F-42C8-5FDC4F37763A}"/>
              </a:ext>
            </a:extLst>
          </p:cNvPr>
          <p:cNvSpPr txBox="1"/>
          <p:nvPr/>
        </p:nvSpPr>
        <p:spPr>
          <a:xfrm>
            <a:off x="5154478" y="1353323"/>
            <a:ext cx="703752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/>
              <a:t>PTE == Null</a:t>
            </a:r>
            <a:r>
              <a:rPr lang="zh-CN" altLang="en-US" sz="1500" dirty="0"/>
              <a:t>。首次访问。执行同一个应用程序的所有进程共享物理页框。</a:t>
            </a:r>
            <a:endParaRPr lang="en-US" altLang="zh-CN" sz="1500" dirty="0"/>
          </a:p>
          <a:p>
            <a:r>
              <a:rPr lang="en-US" altLang="zh-CN" sz="1500" dirty="0"/>
              <a:t>    </a:t>
            </a:r>
            <a:r>
              <a:rPr lang="zh-CN" altLang="en-US" sz="1500" dirty="0"/>
              <a:t>如果内存中没这个逻辑页，分配物理页框，访问磁盘文件，</a:t>
            </a:r>
            <a:r>
              <a:rPr lang="en-US" altLang="zh-CN" sz="1500" dirty="0"/>
              <a:t>IO</a:t>
            </a:r>
            <a:r>
              <a:rPr lang="zh-CN" altLang="en-US" sz="1500" dirty="0"/>
              <a:t>读入逻辑页。</a:t>
            </a:r>
            <a:endParaRPr lang="en-US" altLang="zh-CN" sz="1500" dirty="0"/>
          </a:p>
          <a:p>
            <a:r>
              <a:rPr lang="en-US" altLang="zh-CN" sz="1500" dirty="0"/>
              <a:t>PTE != Null</a:t>
            </a:r>
            <a:r>
              <a:rPr lang="zh-CN" altLang="en-US" sz="1500" dirty="0"/>
              <a:t>。分配物理页框，访问磁盘文件，</a:t>
            </a:r>
            <a:r>
              <a:rPr lang="en-US" altLang="zh-CN" sz="1500" dirty="0"/>
              <a:t>IO</a:t>
            </a:r>
            <a:r>
              <a:rPr lang="zh-CN" altLang="en-US" sz="1500" dirty="0"/>
              <a:t>读入逻辑页。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32274F-D418-D13A-4B78-C4FE744A9793}"/>
              </a:ext>
            </a:extLst>
          </p:cNvPr>
          <p:cNvCxnSpPr>
            <a:cxnSpLocks/>
          </p:cNvCxnSpPr>
          <p:nvPr/>
        </p:nvCxnSpPr>
        <p:spPr>
          <a:xfrm flipH="1">
            <a:off x="4630222" y="2771691"/>
            <a:ext cx="6671762" cy="0"/>
          </a:xfrm>
          <a:prstGeom prst="straightConnector1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1D13641-8125-77BF-3D53-2560C102ECCA}"/>
              </a:ext>
            </a:extLst>
          </p:cNvPr>
          <p:cNvSpPr txBox="1"/>
          <p:nvPr/>
        </p:nvSpPr>
        <p:spPr>
          <a:xfrm>
            <a:off x="5264205" y="2242077"/>
            <a:ext cx="65620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/>
              <a:t>PTE == Null</a:t>
            </a:r>
            <a:r>
              <a:rPr lang="zh-CN" altLang="en-US" sz="1500" dirty="0"/>
              <a:t>。首次访问。分配物理页框。访问磁盘文件，</a:t>
            </a:r>
            <a:r>
              <a:rPr lang="en-US" altLang="zh-CN" sz="1500" dirty="0"/>
              <a:t>IO</a:t>
            </a:r>
            <a:r>
              <a:rPr lang="zh-CN" altLang="en-US" sz="1500" dirty="0"/>
              <a:t>读入全局变量初值（逻辑页）。</a:t>
            </a:r>
            <a:r>
              <a:rPr lang="en-US" altLang="zh-CN" sz="1500" dirty="0"/>
              <a:t>PTE != Null</a:t>
            </a:r>
            <a:r>
              <a:rPr lang="zh-CN" altLang="en-US" sz="1500" dirty="0"/>
              <a:t>。分配物理页框，</a:t>
            </a:r>
            <a:r>
              <a:rPr lang="en-US" altLang="zh-CN" sz="1500" dirty="0"/>
              <a:t>Swap</a:t>
            </a:r>
            <a:r>
              <a:rPr lang="zh-CN" altLang="en-US" sz="1500" dirty="0"/>
              <a:t>分区换入（</a:t>
            </a:r>
            <a:r>
              <a:rPr lang="en-US" altLang="zh-CN" sz="1500" dirty="0"/>
              <a:t>IO</a:t>
            </a:r>
            <a:r>
              <a:rPr lang="zh-CN" altLang="en-US" sz="1500" dirty="0"/>
              <a:t>操作）。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C8D8A23-8625-C885-AB77-485995896111}"/>
              </a:ext>
            </a:extLst>
          </p:cNvPr>
          <p:cNvCxnSpPr>
            <a:cxnSpLocks/>
          </p:cNvCxnSpPr>
          <p:nvPr/>
        </p:nvCxnSpPr>
        <p:spPr>
          <a:xfrm flipH="1">
            <a:off x="4678990" y="3125705"/>
            <a:ext cx="6671762" cy="0"/>
          </a:xfrm>
          <a:prstGeom prst="straightConnector1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7A31537-9A5E-4439-194F-86197E716ED1}"/>
              </a:ext>
            </a:extLst>
          </p:cNvPr>
          <p:cNvSpPr txBox="1"/>
          <p:nvPr/>
        </p:nvSpPr>
        <p:spPr>
          <a:xfrm>
            <a:off x="5264205" y="2802540"/>
            <a:ext cx="12307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/>
              <a:t>同代码段。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4AE9CC-245B-121C-084C-05158DA2DEEB}"/>
              </a:ext>
            </a:extLst>
          </p:cNvPr>
          <p:cNvSpPr txBox="1"/>
          <p:nvPr/>
        </p:nvSpPr>
        <p:spPr>
          <a:xfrm>
            <a:off x="5264205" y="3126367"/>
            <a:ext cx="65620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/>
              <a:t>PTE == Null</a:t>
            </a:r>
            <a:r>
              <a:rPr lang="zh-CN" altLang="en-US" sz="1500" dirty="0"/>
              <a:t>。首次访问。分配物理页框。刷 </a:t>
            </a:r>
            <a:r>
              <a:rPr lang="en-US" altLang="zh-CN" sz="1500" dirty="0"/>
              <a:t>0</a:t>
            </a:r>
            <a:r>
              <a:rPr lang="zh-CN" altLang="en-US" sz="1500" dirty="0"/>
              <a:t>。</a:t>
            </a:r>
            <a:endParaRPr lang="en-US" altLang="zh-CN" sz="1500" dirty="0"/>
          </a:p>
          <a:p>
            <a:r>
              <a:rPr lang="en-US" altLang="zh-CN" sz="1500" dirty="0"/>
              <a:t>PTE != Null</a:t>
            </a:r>
            <a:r>
              <a:rPr lang="zh-CN" altLang="en-US" sz="1500" dirty="0"/>
              <a:t>。分配物理页框，</a:t>
            </a:r>
            <a:r>
              <a:rPr lang="en-US" altLang="zh-CN" sz="1500" dirty="0"/>
              <a:t>Swap</a:t>
            </a:r>
            <a:r>
              <a:rPr lang="zh-CN" altLang="en-US" sz="1500" dirty="0"/>
              <a:t>分区换入（</a:t>
            </a:r>
            <a:r>
              <a:rPr lang="en-US" altLang="zh-CN" sz="1500" dirty="0"/>
              <a:t>IO</a:t>
            </a:r>
            <a:r>
              <a:rPr lang="zh-CN" altLang="en-US" sz="1500" dirty="0"/>
              <a:t>操作）。</a:t>
            </a: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FE00A4B5-59AA-84D7-CBAB-EE4BEA0097E8}"/>
              </a:ext>
            </a:extLst>
          </p:cNvPr>
          <p:cNvCxnSpPr>
            <a:cxnSpLocks/>
          </p:cNvCxnSpPr>
          <p:nvPr/>
        </p:nvCxnSpPr>
        <p:spPr>
          <a:xfrm rot="10800000">
            <a:off x="4678990" y="3429001"/>
            <a:ext cx="6671762" cy="251365"/>
          </a:xfrm>
          <a:prstGeom prst="bentConnector3">
            <a:avLst>
              <a:gd name="adj1" fmla="val 91482"/>
            </a:avLst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32892AE-973E-8BCE-A3D5-880BF5E932D1}"/>
              </a:ext>
            </a:extLst>
          </p:cNvPr>
          <p:cNvSpPr txBox="1"/>
          <p:nvPr/>
        </p:nvSpPr>
        <p:spPr>
          <a:xfrm>
            <a:off x="5285900" y="3705999"/>
            <a:ext cx="65620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/>
              <a:t>PTE == Null</a:t>
            </a:r>
            <a:r>
              <a:rPr lang="zh-CN" altLang="en-US" sz="1500" dirty="0"/>
              <a:t>。首次访问。分配物理页框。刷 </a:t>
            </a:r>
            <a:r>
              <a:rPr lang="en-US" altLang="zh-CN" sz="1500" dirty="0"/>
              <a:t>0</a:t>
            </a:r>
            <a:r>
              <a:rPr lang="zh-CN" altLang="en-US" sz="1500" dirty="0"/>
              <a:t>（不必须，安全）。</a:t>
            </a:r>
            <a:endParaRPr lang="en-US" altLang="zh-CN" sz="1500" dirty="0"/>
          </a:p>
          <a:p>
            <a:r>
              <a:rPr lang="en-US" altLang="zh-CN" sz="1500" dirty="0"/>
              <a:t>PTE != Null</a:t>
            </a:r>
            <a:r>
              <a:rPr lang="zh-CN" altLang="en-US" sz="1500" dirty="0"/>
              <a:t>。分配物理页框，</a:t>
            </a:r>
            <a:r>
              <a:rPr lang="en-US" altLang="zh-CN" sz="1500" dirty="0"/>
              <a:t>Swap</a:t>
            </a:r>
            <a:r>
              <a:rPr lang="zh-CN" altLang="en-US" sz="1500" dirty="0"/>
              <a:t>分区换入（</a:t>
            </a:r>
            <a:r>
              <a:rPr lang="en-US" altLang="zh-CN" sz="1500" dirty="0"/>
              <a:t>IO</a:t>
            </a:r>
            <a:r>
              <a:rPr lang="zh-CN" altLang="en-US" sz="1500" dirty="0"/>
              <a:t>操作）。</a:t>
            </a: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89E5A54A-D20C-DE3D-4C76-C2636498467C}"/>
              </a:ext>
            </a:extLst>
          </p:cNvPr>
          <p:cNvCxnSpPr>
            <a:cxnSpLocks/>
          </p:cNvCxnSpPr>
          <p:nvPr/>
        </p:nvCxnSpPr>
        <p:spPr>
          <a:xfrm rot="10800000">
            <a:off x="4721971" y="3723211"/>
            <a:ext cx="6650479" cy="536793"/>
          </a:xfrm>
          <a:prstGeom prst="bentConnector3">
            <a:avLst>
              <a:gd name="adj1" fmla="val 94365"/>
            </a:avLst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7992920-2039-407E-19A8-7331564DFEB1}"/>
              </a:ext>
            </a:extLst>
          </p:cNvPr>
          <p:cNvCxnSpPr>
            <a:cxnSpLocks/>
          </p:cNvCxnSpPr>
          <p:nvPr/>
        </p:nvCxnSpPr>
        <p:spPr>
          <a:xfrm flipH="1">
            <a:off x="4721970" y="4728276"/>
            <a:ext cx="6671762" cy="0"/>
          </a:xfrm>
          <a:prstGeom prst="straightConnector1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9B5A01E-7A0E-6E05-8172-F13D290F4F9D}"/>
              </a:ext>
            </a:extLst>
          </p:cNvPr>
          <p:cNvSpPr txBox="1"/>
          <p:nvPr/>
        </p:nvSpPr>
        <p:spPr>
          <a:xfrm>
            <a:off x="5307185" y="4405111"/>
            <a:ext cx="12307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/>
              <a:t>与堆相同</a:t>
            </a:r>
          </a:p>
        </p:txBody>
      </p:sp>
    </p:spTree>
    <p:extLst>
      <p:ext uri="{BB962C8B-B14F-4D97-AF65-F5344CB8AC3E}">
        <p14:creationId xmlns:p14="http://schemas.microsoft.com/office/powerpoint/2010/main" val="333956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7ABDF-147B-F96E-7B5C-3704D4AC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 </a:t>
            </a:r>
            <a:r>
              <a:rPr lang="zh-CN" altLang="en-US" dirty="0"/>
              <a:t>缺页异常处理程序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F166C-EDF8-C053-14AB-EA73676D0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内存保护操作</a:t>
            </a:r>
            <a:endParaRPr lang="en-US" altLang="zh-CN" dirty="0"/>
          </a:p>
          <a:p>
            <a:pPr lvl="1"/>
            <a:r>
              <a:rPr lang="zh-CN" altLang="en-US" dirty="0"/>
              <a:t>遍历 </a:t>
            </a:r>
            <a:r>
              <a:rPr lang="en-US" altLang="zh-CN" dirty="0" err="1"/>
              <a:t>vm_area_struct</a:t>
            </a:r>
            <a:r>
              <a:rPr lang="zh-CN" altLang="en-US" dirty="0"/>
              <a:t>，寻找 </a:t>
            </a:r>
            <a:r>
              <a:rPr lang="en-US" altLang="zh-CN" dirty="0"/>
              <a:t>cr2</a:t>
            </a:r>
            <a:r>
              <a:rPr lang="zh-CN" altLang="en-US" dirty="0"/>
              <a:t>所在的 </a:t>
            </a:r>
            <a:r>
              <a:rPr lang="en-US" altLang="zh-CN" dirty="0"/>
              <a:t>area</a:t>
            </a:r>
            <a:r>
              <a:rPr lang="zh-CN" altLang="en-US" dirty="0"/>
              <a:t>，即 </a:t>
            </a:r>
            <a:r>
              <a:rPr lang="en-US" altLang="zh-CN" dirty="0"/>
              <a:t>cr2 </a:t>
            </a:r>
            <a:r>
              <a:rPr lang="zh-CN" altLang="en-US" dirty="0"/>
              <a:t>属于</a:t>
            </a:r>
            <a:r>
              <a:rPr lang="en-US" altLang="zh-CN" dirty="0"/>
              <a:t>[</a:t>
            </a:r>
            <a:r>
              <a:rPr lang="en-US" altLang="zh-CN" dirty="0" err="1"/>
              <a:t>vm_start</a:t>
            </a:r>
            <a:r>
              <a:rPr lang="en-US" altLang="zh-CN" dirty="0"/>
              <a:t>, </a:t>
            </a:r>
            <a:r>
              <a:rPr lang="en-US" altLang="zh-CN" dirty="0" err="1"/>
              <a:t>vm_end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没找到，</a:t>
            </a:r>
            <a:endParaRPr lang="en-US" altLang="zh-CN" dirty="0"/>
          </a:p>
          <a:p>
            <a:pPr lvl="3"/>
            <a:r>
              <a:rPr lang="zh-CN" altLang="en-US" dirty="0"/>
              <a:t>堆栈扩展？  是，扩展堆栈。    否，非法内存访问，向现运行进程发</a:t>
            </a:r>
            <a:r>
              <a:rPr lang="en-US" altLang="zh-CN" dirty="0"/>
              <a:t>SIGSEGV</a:t>
            </a:r>
            <a:r>
              <a:rPr lang="zh-CN" altLang="en-US" dirty="0"/>
              <a:t>信号（包括阻止野指针，应用程序访问内核空间）。</a:t>
            </a:r>
            <a:endParaRPr lang="en-US" altLang="zh-CN" dirty="0"/>
          </a:p>
          <a:p>
            <a:pPr lvl="2"/>
            <a:r>
              <a:rPr lang="zh-CN" altLang="en-US" dirty="0"/>
              <a:t>找到，</a:t>
            </a:r>
            <a:endParaRPr lang="en-US" altLang="zh-CN" dirty="0"/>
          </a:p>
          <a:p>
            <a:pPr lvl="3"/>
            <a:r>
              <a:rPr lang="en-US" altLang="zh-CN" dirty="0" err="1"/>
              <a:t>vm_prot</a:t>
            </a:r>
            <a:r>
              <a:rPr lang="en-US" altLang="zh-CN" dirty="0"/>
              <a:t> </a:t>
            </a:r>
            <a:r>
              <a:rPr lang="zh-CN" altLang="en-US" dirty="0"/>
              <a:t>只读、</a:t>
            </a:r>
            <a:r>
              <a:rPr lang="en-US" altLang="zh-CN" dirty="0"/>
              <a:t>error code </a:t>
            </a:r>
            <a:r>
              <a:rPr lang="zh-CN" altLang="en-US" dirty="0"/>
              <a:t>中</a:t>
            </a:r>
            <a:r>
              <a:rPr lang="en-US" altLang="zh-CN" dirty="0"/>
              <a:t> W/R</a:t>
            </a:r>
            <a:r>
              <a:rPr lang="zh-CN" altLang="en-US" dirty="0"/>
              <a:t>为 </a:t>
            </a:r>
            <a:r>
              <a:rPr lang="en-US" altLang="zh-CN" dirty="0"/>
              <a:t>1</a:t>
            </a:r>
            <a:r>
              <a:rPr lang="zh-CN" altLang="en-US" dirty="0"/>
              <a:t>，非法内存访问，向现运行进程发</a:t>
            </a:r>
            <a:r>
              <a:rPr lang="en-US" altLang="zh-CN" dirty="0"/>
              <a:t>SIGSEGV</a:t>
            </a:r>
            <a:r>
              <a:rPr lang="zh-CN" altLang="en-US" dirty="0"/>
              <a:t>信号。</a:t>
            </a:r>
            <a:endParaRPr lang="en-US" altLang="zh-CN" dirty="0"/>
          </a:p>
          <a:p>
            <a:pPr lvl="3"/>
            <a:r>
              <a:rPr lang="zh-CN" altLang="en-US" dirty="0"/>
              <a:t>否则，继续</a:t>
            </a:r>
            <a:endParaRPr lang="en-US" altLang="zh-CN" dirty="0"/>
          </a:p>
          <a:p>
            <a:r>
              <a:rPr lang="zh-CN" altLang="en-US" dirty="0"/>
              <a:t>执行请求调页、写时复制操作。</a:t>
            </a:r>
            <a:endParaRPr lang="en-US" altLang="zh-CN" dirty="0"/>
          </a:p>
          <a:p>
            <a:r>
              <a:rPr lang="zh-CN" altLang="en-US" dirty="0"/>
              <a:t>返回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5111AA-3872-ED42-1DF0-D88B238E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DCA774-7F39-141D-EBE3-7A7C1371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13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60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65DA-BE45-649E-E91B-B6B1DE0E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7118-AA7D-952A-393F-388787AF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21" y="222086"/>
            <a:ext cx="9601200" cy="1142385"/>
          </a:xfrm>
        </p:spPr>
        <p:txBody>
          <a:bodyPr/>
          <a:lstStyle/>
          <a:p>
            <a:r>
              <a:rPr lang="zh-CN" altLang="en-US" dirty="0"/>
              <a:t>核心数据结构（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B7C639-EF53-E93F-1417-1383423F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操作系统</a:t>
            </a:r>
            <a:r>
              <a:rPr lang="en-US" altLang="zh-CN" dirty="0"/>
              <a:t>( </a:t>
            </a:r>
            <a:r>
              <a:rPr lang="zh-CN" altLang="en-US" dirty="0"/>
              <a:t>拔尖班 </a:t>
            </a:r>
            <a:r>
              <a:rPr lang="en-US" altLang="zh-CN" dirty="0"/>
              <a:t>/ </a:t>
            </a:r>
            <a:r>
              <a:rPr lang="zh-CN" altLang="en-US" dirty="0"/>
              <a:t>国豪 </a:t>
            </a:r>
            <a:r>
              <a:rPr lang="en-US" altLang="zh-CN" dirty="0"/>
              <a:t>2024 )         </a:t>
            </a:r>
            <a:r>
              <a:rPr lang="zh-CN" altLang="en-US" dirty="0"/>
              <a:t>同济大学计算机系 邓蓉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83882-2F0E-1239-D6BE-456E1062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14</a:t>
            </a:fld>
            <a:endParaRPr lang="zh-CN" altLang="en-US" noProof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31A902-573E-E566-6D7F-7479ABB69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725" y="2580572"/>
            <a:ext cx="4658855" cy="42774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F0213D-FCFD-DE7E-3223-C10DFC26D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91" r="10918" b="3625"/>
          <a:stretch/>
        </p:blipFill>
        <p:spPr>
          <a:xfrm rot="16200000">
            <a:off x="905456" y="675618"/>
            <a:ext cx="4579879" cy="63767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2A556F-7507-E177-D88A-38707FC28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214" t="1987" r="11664" b="1696"/>
          <a:stretch/>
        </p:blipFill>
        <p:spPr>
          <a:xfrm rot="16200000">
            <a:off x="8165157" y="-1198608"/>
            <a:ext cx="1803640" cy="592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3D61C-2BB0-273F-FCBD-0DAEAD9B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缺页异常处理程序的实现</a:t>
            </a:r>
            <a:r>
              <a:rPr lang="en-US" altLang="zh-CN" dirty="0"/>
              <a:t>	  </a:t>
            </a:r>
            <a:r>
              <a:rPr lang="zh-CN" altLang="en-US" dirty="0"/>
              <a:t>代码段、只读数据段缺页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7D79C2-BFA2-F705-3672-B3C93F62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7847EA-2D3A-C382-64B3-5C533416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15</a:t>
            </a:fld>
            <a:endParaRPr lang="zh-CN" altLang="en-US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158442-CB3C-64A3-165F-BE6A4DA32C35}"/>
              </a:ext>
            </a:extLst>
          </p:cNvPr>
          <p:cNvSpPr txBox="1"/>
          <p:nvPr/>
        </p:nvSpPr>
        <p:spPr>
          <a:xfrm>
            <a:off x="490414" y="2696217"/>
            <a:ext cx="7366208" cy="2947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f_offset</a:t>
            </a:r>
            <a:r>
              <a:rPr lang="en-US" altLang="zh-CN" dirty="0"/>
              <a:t> (</a:t>
            </a:r>
            <a:r>
              <a:rPr lang="zh-CN" altLang="en-US" dirty="0"/>
              <a:t>逻辑页在文件中的偏移量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 cr2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vm_start</a:t>
            </a:r>
            <a:r>
              <a:rPr lang="en-US" altLang="zh-CN" dirty="0"/>
              <a:t> + </a:t>
            </a:r>
            <a:r>
              <a:rPr lang="en-US" altLang="zh-CN" dirty="0" err="1"/>
              <a:t>f_start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</a:t>
            </a:r>
            <a:r>
              <a:rPr lang="en-US" altLang="zh-CN" dirty="0" err="1"/>
              <a:t>f_offset</a:t>
            </a:r>
            <a:r>
              <a:rPr lang="zh-CN" altLang="en-US" dirty="0"/>
              <a:t>查基树，叶子节点非空，写页表：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pte.base</a:t>
            </a:r>
            <a:r>
              <a:rPr lang="en-US" altLang="zh-CN" dirty="0"/>
              <a:t> = page#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prot</a:t>
            </a:r>
            <a:r>
              <a:rPr lang="en-US" altLang="zh-CN" dirty="0"/>
              <a:t> = </a:t>
            </a:r>
            <a:r>
              <a:rPr lang="en-US" altLang="zh-CN" dirty="0" err="1"/>
              <a:t>vm_prot</a:t>
            </a:r>
            <a:r>
              <a:rPr lang="zh-CN" altLang="en-US" dirty="0"/>
              <a:t>，返回（共享代码段）</a:t>
            </a:r>
            <a:r>
              <a:rPr lang="en-US" altLang="zh-CN" dirty="0"/>
              <a:t>  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否则，分配物理页框 </a:t>
            </a:r>
            <a:r>
              <a:rPr lang="en-US" altLang="zh-CN" dirty="0"/>
              <a:t>new</a:t>
            </a:r>
            <a:r>
              <a:rPr lang="zh-CN" altLang="en-US" dirty="0"/>
              <a:t>，写基树，</a:t>
            </a:r>
            <a:r>
              <a:rPr lang="en-US" altLang="zh-CN" dirty="0" err="1"/>
              <a:t>readi</a:t>
            </a:r>
            <a:r>
              <a:rPr lang="zh-CN" altLang="en-US" dirty="0"/>
              <a:t>从磁盘文件加载代码页：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	</a:t>
            </a:r>
            <a:r>
              <a:rPr lang="zh-CN" altLang="en-US" dirty="0"/>
              <a:t>设置</a:t>
            </a:r>
            <a:r>
              <a:rPr lang="en-US" altLang="zh-CN" dirty="0" err="1"/>
              <a:t>pte</a:t>
            </a:r>
            <a:r>
              <a:rPr lang="zh-CN" altLang="en-US" dirty="0"/>
              <a:t>，</a:t>
            </a:r>
            <a:r>
              <a:rPr lang="en-US" altLang="zh-CN" dirty="0"/>
              <a:t>base = new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en-US" altLang="zh-CN" dirty="0"/>
              <a:t> = </a:t>
            </a:r>
            <a:r>
              <a:rPr lang="en-US" altLang="zh-CN" dirty="0" err="1"/>
              <a:t>vm_prot</a:t>
            </a:r>
            <a:r>
              <a:rPr lang="en-US" altLang="zh-CN" dirty="0"/>
              <a:t> | RW</a:t>
            </a:r>
            <a:r>
              <a:rPr lang="zh-CN" altLang="en-US" dirty="0"/>
              <a:t>，</a:t>
            </a:r>
            <a:r>
              <a:rPr lang="en-US" altLang="zh-CN" dirty="0"/>
              <a:t>flush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	</a:t>
            </a:r>
            <a:r>
              <a:rPr lang="zh-CN" altLang="en-US" dirty="0"/>
              <a:t>用</a:t>
            </a:r>
            <a:r>
              <a:rPr lang="en-US" altLang="zh-CN" dirty="0" err="1"/>
              <a:t>f_offset</a:t>
            </a:r>
            <a:r>
              <a:rPr lang="zh-CN" altLang="en-US" dirty="0"/>
              <a:t>查混合索引树，读磁盘文件获得代码页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	 base = new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en-US" altLang="zh-CN" dirty="0"/>
              <a:t> = </a:t>
            </a:r>
            <a:r>
              <a:rPr lang="en-US" altLang="zh-CN" dirty="0" err="1"/>
              <a:t>vm_prot</a:t>
            </a:r>
            <a:r>
              <a:rPr lang="zh-CN" altLang="en-US" dirty="0"/>
              <a:t>，</a:t>
            </a:r>
            <a:r>
              <a:rPr lang="en-US" altLang="zh-CN" dirty="0"/>
              <a:t>flush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7588F15-30A6-A372-E2D8-C0BCE335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451" y="2208239"/>
            <a:ext cx="3833275" cy="351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A103-E0FB-0CAA-3B14-EA72C876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F742-1CEB-EE68-145B-FF924369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126" y="420300"/>
            <a:ext cx="7726067" cy="574883"/>
          </a:xfrm>
        </p:spPr>
        <p:txBody>
          <a:bodyPr>
            <a:normAutofit/>
          </a:bodyPr>
          <a:lstStyle/>
          <a:p>
            <a:r>
              <a:rPr lang="zh-CN" altLang="en-US" dirty="0"/>
              <a:t>缺页异常处理程序的实现</a:t>
            </a:r>
            <a:r>
              <a:rPr lang="en-US" altLang="zh-CN" dirty="0"/>
              <a:t>	  </a:t>
            </a:r>
            <a:r>
              <a:rPr lang="zh-CN" altLang="en-US" dirty="0"/>
              <a:t>数据段缺页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34D389-5233-169A-92E3-131D97B1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8323E4-17E2-D709-4F1F-8CB37A6D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16</a:t>
            </a:fld>
            <a:endParaRPr lang="zh-CN" altLang="en-US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BF58C0-E042-B781-0C63-39BF50234909}"/>
              </a:ext>
            </a:extLst>
          </p:cNvPr>
          <p:cNvSpPr txBox="1"/>
          <p:nvPr/>
        </p:nvSpPr>
        <p:spPr>
          <a:xfrm>
            <a:off x="607807" y="611489"/>
            <a:ext cx="7221765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pte</a:t>
            </a:r>
            <a:r>
              <a:rPr lang="zh-CN" altLang="en-US" dirty="0"/>
              <a:t>非空，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error code</a:t>
            </a:r>
            <a:r>
              <a:rPr lang="zh-CN" altLang="en-US" dirty="0"/>
              <a:t> </a:t>
            </a:r>
            <a:r>
              <a:rPr lang="en-US" altLang="zh-CN" dirty="0"/>
              <a:t>W/R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  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page</a:t>
            </a:r>
            <a:r>
              <a:rPr lang="zh-CN" altLang="en-US" dirty="0"/>
              <a:t>计数器</a:t>
            </a:r>
            <a:r>
              <a:rPr lang="en-US" altLang="zh-CN" dirty="0"/>
              <a:t>&gt;1</a:t>
            </a:r>
            <a:r>
              <a:rPr lang="zh-CN" altLang="en-US" dirty="0"/>
              <a:t>，写时复制 </a:t>
            </a:r>
            <a:r>
              <a:rPr lang="en-US" altLang="zh-CN" dirty="0" err="1"/>
              <a:t>pte.base</a:t>
            </a:r>
            <a:r>
              <a:rPr lang="en-US" altLang="zh-CN" dirty="0"/>
              <a:t> </a:t>
            </a:r>
            <a:r>
              <a:rPr lang="zh-CN" altLang="en-US" dirty="0"/>
              <a:t>页框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page</a:t>
            </a:r>
            <a:r>
              <a:rPr lang="zh-CN" altLang="en-US" dirty="0"/>
              <a:t>计数器</a:t>
            </a:r>
            <a:r>
              <a:rPr lang="en-US" altLang="zh-CN" dirty="0"/>
              <a:t>==1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zh-CN" altLang="en-US" dirty="0"/>
              <a:t>改回</a:t>
            </a:r>
            <a:r>
              <a:rPr lang="en-US" altLang="zh-CN" dirty="0"/>
              <a:t>RW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 = 0</a:t>
            </a:r>
            <a:r>
              <a:rPr lang="zh-CN" altLang="en-US" dirty="0"/>
              <a:t>，</a:t>
            </a:r>
            <a:r>
              <a:rPr lang="en-US" altLang="zh-CN" dirty="0"/>
              <a:t>base</a:t>
            </a:r>
            <a:r>
              <a:rPr lang="zh-CN" altLang="en-US" dirty="0"/>
              <a:t>是磁盘起始扇区号，去读盘交换区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pte</a:t>
            </a:r>
            <a:r>
              <a:rPr lang="zh-CN" altLang="en-US" dirty="0"/>
              <a:t>空，加载</a:t>
            </a:r>
            <a:r>
              <a:rPr lang="en-US" altLang="zh-CN" dirty="0"/>
              <a:t>radix</a:t>
            </a:r>
            <a:r>
              <a:rPr lang="zh-CN" altLang="en-US" dirty="0"/>
              <a:t>树上的缓存块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f_offset</a:t>
            </a:r>
            <a:r>
              <a:rPr lang="en-US" altLang="zh-CN" dirty="0"/>
              <a:t> (</a:t>
            </a:r>
            <a:r>
              <a:rPr lang="zh-CN" altLang="en-US" dirty="0"/>
              <a:t>逻辑页在文件中的偏移量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 cr2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vm_start</a:t>
            </a:r>
            <a:r>
              <a:rPr lang="en-US" altLang="zh-CN" dirty="0"/>
              <a:t> + </a:t>
            </a:r>
            <a:r>
              <a:rPr lang="en-US" altLang="zh-CN" dirty="0" err="1"/>
              <a:t>f_start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</a:t>
            </a:r>
            <a:r>
              <a:rPr lang="en-US" altLang="zh-CN" dirty="0" err="1"/>
              <a:t>f_offset</a:t>
            </a:r>
            <a:r>
              <a:rPr lang="zh-CN" altLang="en-US" dirty="0"/>
              <a:t>查基树，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叶子节点为空，初始化数据页的缓存块：为数据页分配物理页框</a:t>
            </a:r>
            <a:r>
              <a:rPr lang="en-US" altLang="zh-CN" dirty="0"/>
              <a:t>original</a:t>
            </a:r>
            <a:r>
              <a:rPr lang="zh-CN" altLang="en-US" dirty="0"/>
              <a:t>、清</a:t>
            </a:r>
            <a:r>
              <a:rPr lang="en-US" altLang="zh-CN" dirty="0"/>
              <a:t>0</a:t>
            </a:r>
            <a:r>
              <a:rPr lang="zh-CN" altLang="en-US" dirty="0"/>
              <a:t>、挂基树，</a:t>
            </a:r>
            <a:r>
              <a:rPr lang="en-US" altLang="zh-CN" dirty="0" err="1"/>
              <a:t>readi</a:t>
            </a:r>
            <a:r>
              <a:rPr lang="zh-CN" altLang="en-US" dirty="0"/>
              <a:t>从磁盘文件加载全局变量初值。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再分配一个物理页框</a:t>
            </a:r>
            <a:r>
              <a:rPr lang="en-US" altLang="zh-CN" dirty="0"/>
              <a:t>new</a:t>
            </a:r>
            <a:r>
              <a:rPr lang="zh-CN" altLang="en-US" dirty="0"/>
              <a:t>，挂页表，复制基树上的缓存块。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	</a:t>
            </a:r>
            <a:r>
              <a:rPr lang="en-US" altLang="zh-CN" dirty="0" err="1"/>
              <a:t>pte.base</a:t>
            </a:r>
            <a:r>
              <a:rPr lang="en-US" altLang="zh-CN" dirty="0"/>
              <a:t> = new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en-US" altLang="zh-CN" dirty="0"/>
              <a:t> = </a:t>
            </a:r>
            <a:r>
              <a:rPr lang="en-US" altLang="zh-CN" dirty="0" err="1"/>
              <a:t>vm_prot</a:t>
            </a:r>
            <a:r>
              <a:rPr lang="zh-CN" altLang="en-US" dirty="0"/>
              <a:t>，</a:t>
            </a:r>
            <a:r>
              <a:rPr lang="en-US" altLang="zh-CN" dirty="0"/>
              <a:t>flush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 </a:t>
            </a:r>
            <a:r>
              <a:rPr lang="en-US" altLang="zh-CN" dirty="0" err="1"/>
              <a:t>copySeg</a:t>
            </a:r>
            <a:r>
              <a:rPr lang="en-US" altLang="zh-CN" dirty="0"/>
              <a:t>( )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1F1A696-4D07-0A00-2129-403E7147E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135" y="2208238"/>
            <a:ext cx="3833275" cy="351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7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51DE-50F1-7249-8DBE-53B00368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3703-F541-5834-59FD-2155312F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83" y="494716"/>
            <a:ext cx="9435543" cy="574883"/>
          </a:xfrm>
        </p:spPr>
        <p:txBody>
          <a:bodyPr>
            <a:normAutofit/>
          </a:bodyPr>
          <a:lstStyle/>
          <a:p>
            <a:r>
              <a:rPr lang="zh-CN" altLang="en-US" dirty="0"/>
              <a:t>缺页异常处理程序的实现</a:t>
            </a:r>
            <a:r>
              <a:rPr lang="en-US" altLang="zh-CN" dirty="0"/>
              <a:t>	  </a:t>
            </a:r>
            <a:r>
              <a:rPr lang="en-US" altLang="zh-CN" dirty="0" err="1"/>
              <a:t>bss</a:t>
            </a:r>
            <a:r>
              <a:rPr lang="zh-CN" altLang="en-US" dirty="0"/>
              <a:t>、堆、用户栈 缺页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8C5156-484C-456E-7B9E-B7132B95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D05865-BD2B-BD31-3101-5B8DD549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17</a:t>
            </a:fld>
            <a:endParaRPr lang="zh-CN" altLang="en-US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063B8D-B9D1-09D3-A904-F75131280436}"/>
              </a:ext>
            </a:extLst>
          </p:cNvPr>
          <p:cNvSpPr txBox="1"/>
          <p:nvPr/>
        </p:nvSpPr>
        <p:spPr>
          <a:xfrm>
            <a:off x="1055994" y="2090168"/>
            <a:ext cx="7221765" cy="336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pte</a:t>
            </a:r>
            <a:r>
              <a:rPr lang="zh-CN" altLang="en-US" dirty="0"/>
              <a:t>非空，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error code</a:t>
            </a:r>
            <a:r>
              <a:rPr lang="zh-CN" altLang="en-US" dirty="0"/>
              <a:t> </a:t>
            </a:r>
            <a:r>
              <a:rPr lang="en-US" altLang="zh-CN" dirty="0"/>
              <a:t>W/R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  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page</a:t>
            </a:r>
            <a:r>
              <a:rPr lang="zh-CN" altLang="en-US" dirty="0"/>
              <a:t>计数器</a:t>
            </a:r>
            <a:r>
              <a:rPr lang="en-US" altLang="zh-CN" dirty="0"/>
              <a:t>&gt;1</a:t>
            </a:r>
            <a:r>
              <a:rPr lang="zh-CN" altLang="en-US" dirty="0"/>
              <a:t>，写时复制 </a:t>
            </a:r>
            <a:r>
              <a:rPr lang="en-US" altLang="zh-CN" dirty="0" err="1"/>
              <a:t>pte.base</a:t>
            </a:r>
            <a:r>
              <a:rPr lang="en-US" altLang="zh-CN" dirty="0"/>
              <a:t> </a:t>
            </a:r>
            <a:r>
              <a:rPr lang="zh-CN" altLang="en-US" dirty="0"/>
              <a:t>页框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page</a:t>
            </a:r>
            <a:r>
              <a:rPr lang="zh-CN" altLang="en-US" dirty="0"/>
              <a:t>计数器</a:t>
            </a:r>
            <a:r>
              <a:rPr lang="en-US" altLang="zh-CN" dirty="0"/>
              <a:t>==1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zh-CN" altLang="en-US" dirty="0"/>
              <a:t>改回</a:t>
            </a:r>
            <a:r>
              <a:rPr lang="en-US" altLang="zh-CN" dirty="0"/>
              <a:t>RW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 = 0</a:t>
            </a:r>
            <a:r>
              <a:rPr lang="zh-CN" altLang="en-US" dirty="0"/>
              <a:t>，</a:t>
            </a:r>
            <a:r>
              <a:rPr lang="en-US" altLang="zh-CN" dirty="0"/>
              <a:t>base</a:t>
            </a:r>
            <a:r>
              <a:rPr lang="zh-CN" altLang="en-US" dirty="0"/>
              <a:t>是磁盘起始扇区号，去读盘交换区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pte</a:t>
            </a:r>
            <a:r>
              <a:rPr lang="zh-CN" altLang="en-US" dirty="0"/>
              <a:t>空，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分配一个物理页框</a:t>
            </a:r>
            <a:r>
              <a:rPr lang="en-US" altLang="zh-CN" dirty="0"/>
              <a:t>new</a:t>
            </a:r>
            <a:r>
              <a:rPr lang="zh-CN" altLang="en-US" dirty="0"/>
              <a:t>，挂页表，清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	</a:t>
            </a:r>
            <a:r>
              <a:rPr lang="en-US" altLang="zh-CN" dirty="0" err="1"/>
              <a:t>pte.base</a:t>
            </a:r>
            <a:r>
              <a:rPr lang="en-US" altLang="zh-CN" dirty="0"/>
              <a:t> = new</a:t>
            </a:r>
            <a:r>
              <a:rPr lang="zh-CN" altLang="en-US" dirty="0"/>
              <a:t>，</a:t>
            </a:r>
            <a:r>
              <a:rPr lang="en-US" altLang="zh-CN" dirty="0" err="1"/>
              <a:t>prot</a:t>
            </a:r>
            <a:r>
              <a:rPr lang="en-US" altLang="zh-CN" dirty="0"/>
              <a:t> = </a:t>
            </a:r>
            <a:r>
              <a:rPr lang="en-US" altLang="zh-CN" dirty="0" err="1"/>
              <a:t>vm_prot</a:t>
            </a:r>
            <a:r>
              <a:rPr lang="zh-CN" altLang="en-US" dirty="0"/>
              <a:t>，</a:t>
            </a:r>
            <a:r>
              <a:rPr lang="en-US" altLang="zh-CN" dirty="0"/>
              <a:t>flush</a:t>
            </a:r>
          </a:p>
        </p:txBody>
      </p:sp>
    </p:spTree>
    <p:extLst>
      <p:ext uri="{BB962C8B-B14F-4D97-AF65-F5344CB8AC3E}">
        <p14:creationId xmlns:p14="http://schemas.microsoft.com/office/powerpoint/2010/main" val="129263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E4E90-63FE-4421-1916-4F15AB2F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804807"/>
          </a:xfrm>
        </p:spPr>
        <p:txBody>
          <a:bodyPr/>
          <a:lstStyle/>
          <a:p>
            <a:r>
              <a:rPr lang="en-US" altLang="zh-CN" dirty="0"/>
              <a:t>3.5  fork </a:t>
            </a:r>
            <a:r>
              <a:rPr lang="zh-CN" altLang="en-US" dirty="0"/>
              <a:t>创建子进程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9FEB33-CD24-91D5-1AAD-1B2261E7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9AD7AE-9708-6A95-AAD2-DC84A014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18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64BBD-3CFD-48A5-E5CA-60A51CC5D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68" y="1269252"/>
            <a:ext cx="9294843" cy="37867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EDBA490-6BF3-6479-4D28-1E3DEA929132}"/>
              </a:ext>
            </a:extLst>
          </p:cNvPr>
          <p:cNvSpPr txBox="1"/>
          <p:nvPr/>
        </p:nvSpPr>
        <p:spPr>
          <a:xfrm>
            <a:off x="1014420" y="5127083"/>
            <a:ext cx="9882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复制父进程的 </a:t>
            </a:r>
            <a:r>
              <a:rPr lang="en-US" altLang="zh-CN" dirty="0" err="1"/>
              <a:t>vm_area_struct</a:t>
            </a:r>
            <a:endParaRPr lang="en-US" altLang="zh-CN" dirty="0"/>
          </a:p>
          <a:p>
            <a:r>
              <a:rPr lang="zh-CN" altLang="en-US" dirty="0"/>
              <a:t>修改父进程页表，</a:t>
            </a:r>
            <a:r>
              <a:rPr lang="en-US" altLang="zh-CN" dirty="0"/>
              <a:t>RW </a:t>
            </a:r>
            <a:r>
              <a:rPr lang="en-US" altLang="zh-CN" dirty="0">
                <a:sym typeface="Wingdings" panose="05000000000000000000" pitchFamily="2" charset="2"/>
              </a:rPr>
              <a:t> RO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page</a:t>
            </a:r>
            <a:r>
              <a:rPr lang="zh-CN" altLang="en-US" dirty="0">
                <a:sym typeface="Wingdings" panose="05000000000000000000" pitchFamily="2" charset="2"/>
              </a:rPr>
              <a:t>的计数器</a:t>
            </a:r>
            <a:r>
              <a:rPr lang="en-US" altLang="zh-CN" dirty="0">
                <a:sym typeface="Wingdings" panose="05000000000000000000" pitchFamily="2" charset="2"/>
              </a:rPr>
              <a:t>++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为子进程分配页表 并且 复制父进程的页表。不为数据页分配物理页框，不复制父进程数据页。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07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3981-19FC-4BE8-D4B8-FAC70A87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43E55-6967-C252-8BC1-85D20E62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804807"/>
          </a:xfrm>
        </p:spPr>
        <p:txBody>
          <a:bodyPr/>
          <a:lstStyle/>
          <a:p>
            <a:r>
              <a:rPr lang="en-US" altLang="zh-CN" dirty="0"/>
              <a:t>3.6  </a:t>
            </a:r>
            <a:r>
              <a:rPr lang="zh-CN" altLang="en-US" dirty="0"/>
              <a:t>进程 </a:t>
            </a:r>
            <a:r>
              <a:rPr lang="en-US" altLang="zh-CN" dirty="0"/>
              <a:t>exec </a:t>
            </a:r>
            <a:r>
              <a:rPr lang="zh-CN" altLang="en-US" dirty="0"/>
              <a:t>加载应用程序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D23E4A-0F10-ECB4-76D7-F6DB964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56B9A4-7439-06C2-BF96-EF1B17BA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19</a:t>
            </a:fld>
            <a:endParaRPr lang="zh-CN" altLang="en-US" noProof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D1E9A3-8CA7-253B-A51D-7650EB8F1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68" y="1016580"/>
            <a:ext cx="9294843" cy="37867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1ED64F-7733-1B80-FCC2-C7B3DE4F5772}"/>
              </a:ext>
            </a:extLst>
          </p:cNvPr>
          <p:cNvSpPr txBox="1"/>
          <p:nvPr/>
        </p:nvSpPr>
        <p:spPr>
          <a:xfrm>
            <a:off x="609600" y="4681392"/>
            <a:ext cx="111236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构造新的用户栈，记下来物理页框号。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释放 原有的 </a:t>
            </a:r>
            <a:r>
              <a:rPr lang="en-US" altLang="zh-CN" dirty="0" err="1"/>
              <a:t>vm_area_struct</a:t>
            </a:r>
            <a:r>
              <a:rPr lang="en-US" altLang="zh-CN" dirty="0"/>
              <a:t> </a:t>
            </a:r>
            <a:r>
              <a:rPr lang="zh-CN" altLang="en-US" dirty="0"/>
              <a:t>列表，释放逻辑页占用的所有物理页框（</a:t>
            </a:r>
            <a:r>
              <a:rPr lang="en-US" altLang="zh-CN" dirty="0"/>
              <a:t>page</a:t>
            </a:r>
            <a:r>
              <a:rPr lang="zh-CN" altLang="en-US" dirty="0"/>
              <a:t>计数器减</a:t>
            </a:r>
            <a:r>
              <a:rPr lang="en-US" altLang="zh-CN" dirty="0"/>
              <a:t>1</a:t>
            </a:r>
            <a:r>
              <a:rPr lang="zh-CN" altLang="en-US" dirty="0"/>
              <a:t>），刷新用户页表。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读目标应用程序程序头，构造新的</a:t>
            </a:r>
            <a:r>
              <a:rPr lang="en-US" altLang="zh-CN" dirty="0" err="1"/>
              <a:t>vm_area_struct</a:t>
            </a:r>
            <a:r>
              <a:rPr lang="en-US" altLang="zh-CN" dirty="0"/>
              <a:t> </a:t>
            </a:r>
            <a:r>
              <a:rPr lang="zh-CN" altLang="en-US" dirty="0"/>
              <a:t>列表，填入所有逻辑段的虚空间起始地址长度，文件中的起始地址和长度。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新用户栈挂页表。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72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1DDDC-0039-4710-BACC-074BA678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  </a:t>
            </a:r>
            <a:r>
              <a:rPr lang="zh-CN" altLang="en-US" dirty="0"/>
              <a:t>栈扩展 和 堆的扩大和收缩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E4853-794A-13CE-9967-C28551A8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自己来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588B9-B641-864A-0A45-383E2D51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  <a:r>
              <a:rPr lang="en-US" altLang="zh-CN"/>
              <a:t>( </a:t>
            </a:r>
            <a:r>
              <a:rPr lang="zh-CN" altLang="en-US"/>
              <a:t>拔尖班 </a:t>
            </a:r>
            <a:r>
              <a:rPr lang="en-US" altLang="zh-CN"/>
              <a:t>/ </a:t>
            </a:r>
            <a:r>
              <a:rPr lang="zh-CN" altLang="en-US"/>
              <a:t>国豪 </a:t>
            </a:r>
            <a:r>
              <a:rPr lang="en-US" altLang="zh-CN"/>
              <a:t>2024 )                                                               </a:t>
            </a:r>
            <a:r>
              <a:rPr lang="zh-CN" altLang="en-US"/>
              <a:t>同济大学计算机系 邓蓉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67480A-AC9D-6A79-604C-A192973F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20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3171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菱形网格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19_TF03031015" id="{4D6D15B2-A3EB-4896-B32E-5E1845D70213}" vid="{3C8FFD1D-C814-4C51-B282-C32E538AEF55}"/>
    </a:ext>
  </a:extLst>
</a:theme>
</file>

<file path=ppt/theme/theme2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菱形网格业务演示文稿（宽屏）</Template>
  <TotalTime>40512</TotalTime>
  <Words>2028</Words>
  <Application>Microsoft Office PowerPoint</Application>
  <PresentationFormat>宽屏</PresentationFormat>
  <Paragraphs>195</Paragraphs>
  <Slides>20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PingFang SC</vt:lpstr>
      <vt:lpstr>微软雅黑</vt:lpstr>
      <vt:lpstr>Arial</vt:lpstr>
      <vt:lpstr>Wingdings</vt:lpstr>
      <vt:lpstr>菱形网格 16x9</vt:lpstr>
      <vt:lpstr>请求调页式虚拟存储器</vt:lpstr>
      <vt:lpstr>虚拟内存</vt:lpstr>
      <vt:lpstr>一、核心原理 1</vt:lpstr>
      <vt:lpstr>核心原理 2</vt:lpstr>
      <vt:lpstr>二、硬件逻辑</vt:lpstr>
      <vt:lpstr>CPU执行单元给出 VA，MMU执行内存保护和地址映射操作</vt:lpstr>
      <vt:lpstr>14#缺页异常处理程序根据 error code 和 cr2            实施内存保护、请求调页 和 堆栈扩展操作  </vt:lpstr>
      <vt:lpstr>三、Linux的方法</vt:lpstr>
      <vt:lpstr>3.1  进程的虚拟内存</vt:lpstr>
      <vt:lpstr>虚空间分页</vt:lpstr>
      <vt:lpstr>3.2   核心数据结构（1）</vt:lpstr>
      <vt:lpstr>3.3  不同area，不同的物理页框初始化方法</vt:lpstr>
      <vt:lpstr>3.4  缺页异常处理程序</vt:lpstr>
      <vt:lpstr>核心数据结构（2）</vt:lpstr>
      <vt:lpstr>缺页异常处理程序的实现   代码段、只读数据段缺页</vt:lpstr>
      <vt:lpstr>缺页异常处理程序的实现   数据段缺页</vt:lpstr>
      <vt:lpstr>缺页异常处理程序的实现   bss、堆、用户栈 缺页</vt:lpstr>
      <vt:lpstr>3.5  fork 创建子进程</vt:lpstr>
      <vt:lpstr>3.6  进程 exec 加载应用程序</vt:lpstr>
      <vt:lpstr>3.7   栈扩展 和 堆的扩大和收缩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     01  绪论</dc:title>
  <dc:creator>Deng Rong</dc:creator>
  <cp:lastModifiedBy>蓉 邓</cp:lastModifiedBy>
  <cp:revision>890</cp:revision>
  <cp:lastPrinted>2021-09-05T14:29:47Z</cp:lastPrinted>
  <dcterms:created xsi:type="dcterms:W3CDTF">2018-09-08T05:34:46Z</dcterms:created>
  <dcterms:modified xsi:type="dcterms:W3CDTF">2025-03-31T08:20:48Z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