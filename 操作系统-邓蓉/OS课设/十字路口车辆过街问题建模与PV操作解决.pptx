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0" r:id="rId3"/>
    <p:sldId id="257" r:id="rId4"/>
    <p:sldId id="256" r:id="rId5"/>
    <p:sldId id="258" r:id="rId6"/>
    <p:sldId id="259" r:id="rId7"/>
    <p:sldId id="261" r:id="rId8"/>
    <p:sldId id="262" r:id="rId9"/>
    <p:sldId id="263" r:id="rId10"/>
    <p:sldId id="264" r:id="rId11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C2EE1F2-3829-4F65-8D67-8762CA021E10}" styleName="表样式 1 12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Ref idx="none">
          <a:srgbClr val="FFFFFF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72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4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5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145915" y="333375"/>
            <a:ext cx="8046085" cy="63620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>
              <a:lnSpc>
                <a:spcPct val="150000"/>
              </a:lnSpc>
            </a:pPr>
            <a:r>
              <a:rPr lang="zh-CN" altLang="en-US"/>
              <a:t>如果简单地把十字路口划分为 </a:t>
            </a:r>
            <a:r>
              <a:rPr lang="en-US" altLang="zh-CN"/>
              <a:t>A、B、C、D </a:t>
            </a:r>
            <a:r>
              <a:rPr lang="zh-CN" altLang="en-US"/>
              <a:t>四个临界资源，并让车辆按照自己直行的先后顺序依次申请资源，就可能发生死锁。</a:t>
            </a:r>
            <a:endParaRPr lang="en-US" altLang="zh-CN"/>
          </a:p>
          <a:p>
            <a:pPr indent="457200">
              <a:lnSpc>
                <a:spcPct val="150000"/>
              </a:lnSpc>
            </a:pPr>
            <a:r>
              <a:rPr lang="zh-CN" altLang="en-US"/>
              <a:t>例如，四个方向同时各来一辆车：</a:t>
            </a:r>
            <a:endParaRPr lang="en-US" altLang="zh-CN"/>
          </a:p>
          <a:p>
            <a:pPr>
              <a:lnSpc>
                <a:spcPct val="150000"/>
              </a:lnSpc>
            </a:pPr>
            <a:r>
              <a:rPr lang="zh-CN" altLang="en-US"/>
              <a:t>北向南车辆需要经过 </a:t>
            </a:r>
            <a:r>
              <a:rPr lang="en-US" altLang="zh-CN"/>
              <a:t>A、C，</a:t>
            </a:r>
            <a:r>
              <a:rPr lang="zh-CN" altLang="en-US"/>
              <a:t>先占用 </a:t>
            </a:r>
            <a:r>
              <a:rPr lang="en-US" altLang="zh-CN"/>
              <a:t>A，</a:t>
            </a:r>
            <a:r>
              <a:rPr lang="zh-CN" altLang="en-US"/>
              <a:t>再申请 </a:t>
            </a:r>
            <a:r>
              <a:rPr lang="en-US" altLang="zh-CN"/>
              <a:t>C；</a:t>
            </a:r>
            <a:endParaRPr lang="en-US" altLang="zh-CN"/>
          </a:p>
          <a:p>
            <a:pPr>
              <a:lnSpc>
                <a:spcPct val="150000"/>
              </a:lnSpc>
            </a:pPr>
            <a:r>
              <a:rPr lang="zh-CN" altLang="en-US"/>
              <a:t>西向东车辆需要经过 </a:t>
            </a:r>
            <a:r>
              <a:rPr lang="en-US" altLang="zh-CN"/>
              <a:t>C、D，</a:t>
            </a:r>
            <a:r>
              <a:rPr lang="zh-CN" altLang="en-US"/>
              <a:t>先占用 </a:t>
            </a:r>
            <a:r>
              <a:rPr lang="en-US" altLang="zh-CN"/>
              <a:t>C，</a:t>
            </a:r>
            <a:r>
              <a:rPr lang="zh-CN" altLang="en-US"/>
              <a:t>再申请 </a:t>
            </a:r>
            <a:r>
              <a:rPr lang="en-US" altLang="zh-CN"/>
              <a:t>D；</a:t>
            </a:r>
            <a:endParaRPr lang="en-US" altLang="zh-CN"/>
          </a:p>
          <a:p>
            <a:pPr>
              <a:lnSpc>
                <a:spcPct val="150000"/>
              </a:lnSpc>
            </a:pPr>
            <a:r>
              <a:rPr lang="zh-CN" altLang="en-US"/>
              <a:t>南向北车辆需要经过 </a:t>
            </a:r>
            <a:r>
              <a:rPr lang="en-US" altLang="zh-CN"/>
              <a:t>D、B，</a:t>
            </a:r>
            <a:r>
              <a:rPr lang="zh-CN" altLang="en-US"/>
              <a:t>先占用 </a:t>
            </a:r>
            <a:r>
              <a:rPr lang="en-US" altLang="zh-CN"/>
              <a:t>D，</a:t>
            </a:r>
            <a:r>
              <a:rPr lang="zh-CN" altLang="en-US"/>
              <a:t>再申请 </a:t>
            </a:r>
            <a:r>
              <a:rPr lang="en-US" altLang="zh-CN"/>
              <a:t>B；</a:t>
            </a:r>
            <a:endParaRPr lang="en-US" altLang="zh-CN"/>
          </a:p>
          <a:p>
            <a:pPr>
              <a:lnSpc>
                <a:spcPct val="150000"/>
              </a:lnSpc>
            </a:pPr>
            <a:r>
              <a:rPr lang="zh-CN" altLang="en-US"/>
              <a:t>东向西车辆需要经过 </a:t>
            </a:r>
            <a:r>
              <a:rPr lang="en-US" altLang="zh-CN"/>
              <a:t>B、A，</a:t>
            </a:r>
            <a:r>
              <a:rPr lang="zh-CN" altLang="en-US"/>
              <a:t>先占用 </a:t>
            </a:r>
            <a:r>
              <a:rPr lang="en-US" altLang="zh-CN"/>
              <a:t>B，</a:t>
            </a:r>
            <a:r>
              <a:rPr lang="zh-CN" altLang="en-US"/>
              <a:t>再申请 </a:t>
            </a:r>
            <a:r>
              <a:rPr lang="en-US" altLang="zh-CN"/>
              <a:t>A。</a:t>
            </a:r>
            <a:endParaRPr lang="en-US" altLang="zh-CN"/>
          </a:p>
          <a:p>
            <a:pPr indent="457200">
              <a:lnSpc>
                <a:spcPct val="150000"/>
              </a:lnSpc>
            </a:pPr>
            <a:r>
              <a:rPr lang="zh-CN" altLang="en-US"/>
              <a:t>如果它们同时到达并分别占用了自己的第一个区域，就会出现如下情况：</a:t>
            </a:r>
            <a:endParaRPr lang="en-US" altLang="zh-CN"/>
          </a:p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FF0000"/>
                </a:solidFill>
              </a:rPr>
              <a:t>北向南车辆已经占用 </a:t>
            </a:r>
            <a:r>
              <a:rPr lang="en-US" altLang="zh-CN">
                <a:solidFill>
                  <a:srgbClr val="FF0000"/>
                </a:solidFill>
              </a:rPr>
              <a:t>A，</a:t>
            </a:r>
            <a:r>
              <a:rPr lang="zh-CN" altLang="en-US">
                <a:solidFill>
                  <a:srgbClr val="FF0000"/>
                </a:solidFill>
              </a:rPr>
              <a:t>等待 </a:t>
            </a:r>
            <a:r>
              <a:rPr lang="en-US" altLang="zh-CN">
                <a:solidFill>
                  <a:srgbClr val="FF0000"/>
                </a:solidFill>
              </a:rPr>
              <a:t>C；</a:t>
            </a:r>
            <a:endParaRPr lang="en-US" altLang="zh-CN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FF0000"/>
                </a:solidFill>
              </a:rPr>
              <a:t>西向东车辆已经占用 </a:t>
            </a:r>
            <a:r>
              <a:rPr lang="en-US" altLang="zh-CN">
                <a:solidFill>
                  <a:srgbClr val="FF0000"/>
                </a:solidFill>
              </a:rPr>
              <a:t>C，</a:t>
            </a:r>
            <a:r>
              <a:rPr lang="zh-CN" altLang="en-US">
                <a:solidFill>
                  <a:srgbClr val="FF0000"/>
                </a:solidFill>
              </a:rPr>
              <a:t>等待 </a:t>
            </a:r>
            <a:r>
              <a:rPr lang="en-US" altLang="zh-CN">
                <a:solidFill>
                  <a:srgbClr val="FF0000"/>
                </a:solidFill>
              </a:rPr>
              <a:t>D；</a:t>
            </a:r>
            <a:endParaRPr lang="en-US" altLang="zh-CN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FF0000"/>
                </a:solidFill>
              </a:rPr>
              <a:t>南向北车辆已经占用 </a:t>
            </a:r>
            <a:r>
              <a:rPr lang="en-US" altLang="zh-CN">
                <a:solidFill>
                  <a:srgbClr val="FF0000"/>
                </a:solidFill>
              </a:rPr>
              <a:t>D，</a:t>
            </a:r>
            <a:r>
              <a:rPr lang="zh-CN" altLang="en-US">
                <a:solidFill>
                  <a:srgbClr val="FF0000"/>
                </a:solidFill>
              </a:rPr>
              <a:t>等待 </a:t>
            </a:r>
            <a:r>
              <a:rPr lang="en-US" altLang="zh-CN">
                <a:solidFill>
                  <a:srgbClr val="FF0000"/>
                </a:solidFill>
              </a:rPr>
              <a:t>B；</a:t>
            </a:r>
            <a:endParaRPr lang="en-US" altLang="zh-CN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FF0000"/>
                </a:solidFill>
              </a:rPr>
              <a:t>东向西车辆已经占用 </a:t>
            </a:r>
            <a:r>
              <a:rPr lang="en-US" altLang="zh-CN">
                <a:solidFill>
                  <a:srgbClr val="FF0000"/>
                </a:solidFill>
              </a:rPr>
              <a:t>B，</a:t>
            </a:r>
            <a:r>
              <a:rPr lang="zh-CN" altLang="en-US">
                <a:solidFill>
                  <a:srgbClr val="FF0000"/>
                </a:solidFill>
              </a:rPr>
              <a:t>等待 </a:t>
            </a:r>
            <a:r>
              <a:rPr lang="en-US" altLang="zh-CN">
                <a:solidFill>
                  <a:srgbClr val="FF0000"/>
                </a:solidFill>
              </a:rPr>
              <a:t>A。</a:t>
            </a:r>
            <a:endParaRPr lang="en-US" altLang="zh-CN">
              <a:solidFill>
                <a:srgbClr val="FF0000"/>
              </a:solidFill>
            </a:endParaRPr>
          </a:p>
          <a:p>
            <a:pPr indent="457200">
              <a:lnSpc>
                <a:spcPct val="150000"/>
              </a:lnSpc>
            </a:pPr>
            <a:r>
              <a:rPr lang="zh-CN" altLang="en-US"/>
              <a:t>此时形成循环等待关系：</a:t>
            </a:r>
            <a:r>
              <a:rPr lang="en-US" altLang="zh-CN"/>
              <a:t>A → C → D → B → A</a:t>
            </a:r>
            <a:r>
              <a:rPr lang="zh-CN" altLang="en-US"/>
              <a:t>。四辆车都占有一个资源，同时又等待另一个资源，谁也无法继续前进，因此发生死锁。</a:t>
            </a:r>
            <a:endParaRPr lang="zh-CN" altLang="en-US"/>
          </a:p>
        </p:txBody>
      </p:sp>
      <p:pic>
        <p:nvPicPr>
          <p:cNvPr id="1786753437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9190" y="2302510"/>
            <a:ext cx="2374900" cy="225361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8900" y="233045"/>
            <a:ext cx="431546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002060"/>
                </a:solidFill>
              </a:rPr>
              <a:t>15. 双车道（每个路段仅存在一来一回2条车道）交通系统。请为该系统建模，并用</a:t>
            </a:r>
            <a:r>
              <a:rPr lang="en-US" altLang="zh-CN">
                <a:solidFill>
                  <a:srgbClr val="002060"/>
                </a:solidFill>
              </a:rPr>
              <a:t>PV</a:t>
            </a:r>
            <a:r>
              <a:rPr lang="zh-CN" altLang="en-US">
                <a:solidFill>
                  <a:srgbClr val="002060"/>
                </a:solidFill>
              </a:rPr>
              <a:t>操作解决车辆过十字路口问题。要求，不会产生死锁。 仅考虑直行。 </a:t>
            </a:r>
            <a:endParaRPr lang="zh-CN" altLang="en-US">
              <a:solidFill>
                <a:srgbClr val="002060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" name="表格 4"/>
          <p:cNvGraphicFramePr/>
          <p:nvPr/>
        </p:nvGraphicFramePr>
        <p:xfrm>
          <a:off x="91440" y="3711575"/>
          <a:ext cx="6585585" cy="2647950"/>
        </p:xfrm>
        <a:graphic>
          <a:graphicData uri="http://schemas.openxmlformats.org/drawingml/2006/table">
            <a:tbl>
              <a:tblPr firstRow="1">
                <a:tableStyleId>{0C2EE1F2-3829-4F65-8D67-8762CA021E10}</a:tableStyleId>
              </a:tblPr>
              <a:tblGrid>
                <a:gridCol w="2075815"/>
                <a:gridCol w="2075815"/>
                <a:gridCol w="2075815"/>
              </a:tblGrid>
              <a:tr h="529590">
                <a:tc>
                  <a:txBody>
                    <a:bodyPr/>
                    <a:p>
                      <a:pPr algn="ctr"/>
                      <a:r>
                        <a:rPr lang="zh-CN" altLang="en-US" sz="1800"/>
                        <a:t>来车方向</a:t>
                      </a:r>
                      <a:endParaRPr lang="zh-CN" altLang="en-US" sz="1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800"/>
                        <a:t>行驶方向</a:t>
                      </a:r>
                      <a:endParaRPr lang="zh-CN" altLang="en-US" sz="1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800"/>
                        <a:t>经过区域</a:t>
                      </a:r>
                      <a:endParaRPr lang="zh-CN" altLang="en-US" sz="1800"/>
                    </a:p>
                  </a:txBody>
                  <a:tcPr marL="0" marR="0" marT="0" marB="0" anchor="ctr" anchorCtr="0"/>
                </a:tc>
              </a:tr>
              <a:tr h="529590">
                <a:tc>
                  <a:txBody>
                    <a:bodyPr/>
                    <a:p>
                      <a:pPr algn="ctr"/>
                      <a:r>
                        <a:rPr lang="zh-CN" altLang="en-US" sz="1800"/>
                        <a:t>北来车</a:t>
                      </a:r>
                      <a:endParaRPr lang="zh-CN" altLang="en-US" sz="1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800"/>
                        <a:t>北 </a:t>
                      </a:r>
                      <a:r>
                        <a:rPr lang="en-US" altLang="zh-CN" sz="1800"/>
                        <a:t>→ </a:t>
                      </a:r>
                      <a:r>
                        <a:rPr lang="zh-CN" altLang="en-US" sz="1800"/>
                        <a:t>南</a:t>
                      </a:r>
                      <a:endParaRPr lang="zh-CN" altLang="en-US" sz="1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800"/>
                        <a:t>A</a:t>
                      </a:r>
                      <a:r>
                        <a:rPr lang="zh-CN" altLang="en-US" sz="1800"/>
                        <a:t>，</a:t>
                      </a:r>
                      <a:r>
                        <a:rPr lang="en-US" altLang="zh-CN" sz="1800"/>
                        <a:t>C</a:t>
                      </a:r>
                      <a:endParaRPr lang="en-US" altLang="zh-CN" sz="1800"/>
                    </a:p>
                  </a:txBody>
                  <a:tcPr marL="0" marR="0" marT="0" marB="0" anchor="ctr" anchorCtr="0"/>
                </a:tc>
              </a:tr>
              <a:tr h="529590">
                <a:tc>
                  <a:txBody>
                    <a:bodyPr/>
                    <a:p>
                      <a:pPr algn="ctr"/>
                      <a:r>
                        <a:rPr lang="zh-CN" altLang="en-US" sz="1800"/>
                        <a:t>南来车</a:t>
                      </a:r>
                      <a:endParaRPr lang="zh-CN" altLang="en-US" sz="1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800"/>
                        <a:t>南 </a:t>
                      </a:r>
                      <a:r>
                        <a:rPr lang="en-US" altLang="zh-CN" sz="1800"/>
                        <a:t>→ </a:t>
                      </a:r>
                      <a:r>
                        <a:rPr lang="zh-CN" altLang="en-US" sz="1800"/>
                        <a:t>北</a:t>
                      </a:r>
                      <a:endParaRPr lang="zh-CN" altLang="en-US" sz="1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800"/>
                        <a:t>D</a:t>
                      </a:r>
                      <a:r>
                        <a:rPr lang="zh-CN" altLang="en-US" sz="1800"/>
                        <a:t>，</a:t>
                      </a:r>
                      <a:r>
                        <a:rPr lang="en-US" altLang="zh-CN" sz="1800"/>
                        <a:t>B</a:t>
                      </a:r>
                      <a:endParaRPr lang="en-US" altLang="zh-CN" sz="1800"/>
                    </a:p>
                  </a:txBody>
                  <a:tcPr marL="0" marR="0" marT="0" marB="0" anchor="ctr" anchorCtr="0"/>
                </a:tc>
              </a:tr>
              <a:tr h="529590">
                <a:tc>
                  <a:txBody>
                    <a:bodyPr/>
                    <a:p>
                      <a:pPr algn="ctr"/>
                      <a:r>
                        <a:rPr lang="zh-CN" altLang="en-US" sz="1800"/>
                        <a:t>西来车</a:t>
                      </a:r>
                      <a:endParaRPr lang="zh-CN" altLang="en-US" sz="1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800"/>
                        <a:t>西 </a:t>
                      </a:r>
                      <a:r>
                        <a:rPr lang="en-US" altLang="zh-CN" sz="1800"/>
                        <a:t>→ </a:t>
                      </a:r>
                      <a:r>
                        <a:rPr lang="zh-CN" altLang="en-US" sz="1800"/>
                        <a:t>东</a:t>
                      </a:r>
                      <a:endParaRPr lang="zh-CN" altLang="en-US" sz="1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800"/>
                        <a:t>C</a:t>
                      </a:r>
                      <a:r>
                        <a:rPr lang="zh-CN" altLang="en-US" sz="1800"/>
                        <a:t>，</a:t>
                      </a:r>
                      <a:r>
                        <a:rPr lang="en-US" altLang="zh-CN" sz="1800"/>
                        <a:t>D</a:t>
                      </a:r>
                      <a:endParaRPr lang="en-US" altLang="zh-CN" sz="1800"/>
                    </a:p>
                  </a:txBody>
                  <a:tcPr marL="0" marR="0" marT="0" marB="0" anchor="ctr" anchorCtr="0"/>
                </a:tc>
              </a:tr>
              <a:tr h="529590">
                <a:tc>
                  <a:txBody>
                    <a:bodyPr/>
                    <a:p>
                      <a:pPr algn="ctr"/>
                      <a:r>
                        <a:rPr lang="zh-CN" altLang="en-US" sz="1800"/>
                        <a:t>东来车</a:t>
                      </a:r>
                      <a:endParaRPr lang="zh-CN" altLang="en-US" sz="1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800"/>
                        <a:t>东 </a:t>
                      </a:r>
                      <a:r>
                        <a:rPr lang="en-US" altLang="zh-CN" sz="1800"/>
                        <a:t>→ </a:t>
                      </a:r>
                      <a:r>
                        <a:rPr lang="zh-CN" altLang="en-US" sz="1800"/>
                        <a:t>西</a:t>
                      </a:r>
                      <a:endParaRPr lang="zh-CN" altLang="en-US" sz="1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800"/>
                        <a:t>B</a:t>
                      </a:r>
                      <a:r>
                        <a:rPr lang="zh-CN" altLang="en-US" sz="1800"/>
                        <a:t>，</a:t>
                      </a:r>
                      <a:r>
                        <a:rPr lang="en-US" altLang="zh-CN" sz="1800"/>
                        <a:t>A</a:t>
                      </a:r>
                      <a:endParaRPr lang="en-US" altLang="zh-CN" sz="1800"/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395605" y="233045"/>
            <a:ext cx="606361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002060"/>
                </a:solidFill>
              </a:rPr>
              <a:t>15. 双车道（每个路段仅存在一来一回2条车道）交通系统。请为该系统建模，并用</a:t>
            </a:r>
            <a:r>
              <a:rPr lang="en-US" altLang="zh-CN">
                <a:solidFill>
                  <a:srgbClr val="002060"/>
                </a:solidFill>
              </a:rPr>
              <a:t>PV</a:t>
            </a:r>
            <a:r>
              <a:rPr lang="zh-CN" altLang="en-US">
                <a:solidFill>
                  <a:srgbClr val="002060"/>
                </a:solidFill>
              </a:rPr>
              <a:t>操作解决车辆过十字路口问题。要求，不会产生死锁。 仅考虑直行。 </a:t>
            </a:r>
            <a:endParaRPr lang="zh-CN" altLang="en-US">
              <a:solidFill>
                <a:srgbClr val="002060"/>
              </a:solidFill>
            </a:endParaRPr>
          </a:p>
        </p:txBody>
      </p:sp>
      <p:pic>
        <p:nvPicPr>
          <p:cNvPr id="1786753437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7415" y="1293495"/>
            <a:ext cx="2374900" cy="225361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677025" y="308610"/>
            <a:ext cx="5514975" cy="6609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zh-CN" altLang="en-US" sz="2000"/>
              <a:t>为此，可以设置</a:t>
            </a:r>
            <a:r>
              <a:rPr lang="zh-CN" altLang="en-US" sz="2000" b="1"/>
              <a:t>如下资源和信号量</a:t>
            </a:r>
            <a:r>
              <a:rPr lang="zh-CN" altLang="en-US" sz="2000"/>
              <a:t>：</a:t>
            </a:r>
            <a:endParaRPr lang="en-US" altLang="zh-CN" sz="2000"/>
          </a:p>
          <a:p>
            <a:pPr indent="457200"/>
            <a:r>
              <a:rPr lang="zh-CN" altLang="en-US" sz="2000"/>
              <a:t>设置一个信号量</a:t>
            </a:r>
            <a:r>
              <a:rPr lang="zh-CN" altLang="en-US" sz="2000">
                <a:solidFill>
                  <a:srgbClr val="FF0000"/>
                </a:solidFill>
              </a:rPr>
              <a:t> </a:t>
            </a:r>
            <a:r>
              <a:rPr lang="en-US" altLang="zh-CN" sz="2000">
                <a:solidFill>
                  <a:srgbClr val="FF0000"/>
                </a:solidFill>
              </a:rPr>
              <a:t>road = 1，</a:t>
            </a:r>
            <a:r>
              <a:rPr lang="zh-CN" altLang="en-US" sz="2000"/>
              <a:t>表示路口当前的通行权。它用于控制南北方向车流和东西方向车流之间的互斥。如果南北方向车辆已经占用了 </a:t>
            </a:r>
            <a:r>
              <a:rPr lang="en-US" altLang="zh-CN" sz="2000"/>
              <a:t>road，</a:t>
            </a:r>
            <a:r>
              <a:rPr lang="zh-CN" altLang="en-US" sz="2000"/>
              <a:t>则东西方向车辆必须等待；反之亦然。</a:t>
            </a:r>
            <a:endParaRPr lang="zh-CN" altLang="en-US" sz="2000"/>
          </a:p>
          <a:p>
            <a:pPr indent="457200"/>
            <a:r>
              <a:rPr lang="zh-CN" altLang="en-US" sz="2000"/>
              <a:t>设置两个计数变量</a:t>
            </a:r>
            <a:r>
              <a:rPr lang="zh-CN" altLang="en-US" sz="2000">
                <a:solidFill>
                  <a:srgbClr val="FF0000"/>
                </a:solidFill>
              </a:rPr>
              <a:t> </a:t>
            </a:r>
            <a:r>
              <a:rPr lang="en-US" altLang="zh-CN" sz="2000">
                <a:solidFill>
                  <a:srgbClr val="FF0000"/>
                </a:solidFill>
              </a:rPr>
              <a:t>countNS </a:t>
            </a:r>
            <a:r>
              <a:rPr lang="zh-CN" altLang="en-US" sz="2000">
                <a:solidFill>
                  <a:srgbClr val="FF0000"/>
                </a:solidFill>
              </a:rPr>
              <a:t>和 </a:t>
            </a:r>
            <a:r>
              <a:rPr lang="en-US" altLang="zh-CN" sz="2000">
                <a:solidFill>
                  <a:srgbClr val="FF0000"/>
                </a:solidFill>
              </a:rPr>
              <a:t>countEW</a:t>
            </a:r>
            <a:r>
              <a:rPr lang="en-US" altLang="zh-CN" sz="2000"/>
              <a:t>，</a:t>
            </a:r>
            <a:r>
              <a:rPr lang="zh-CN" altLang="en-US" sz="2000"/>
              <a:t>分别表示当前正在通过路口的南北方向车辆数和东西方向车辆数。同一方向组内可能有多辆车同时通过，因此需要用计数变量记录当前该方向组中有多少车辆正在使用路口。</a:t>
            </a:r>
            <a:endParaRPr lang="zh-CN" altLang="en-US" sz="2000"/>
          </a:p>
          <a:p>
            <a:pPr indent="457200"/>
            <a:r>
              <a:rPr lang="zh-CN" altLang="en-US" sz="2000">
                <a:solidFill>
                  <a:srgbClr val="FF0000"/>
                </a:solidFill>
              </a:rPr>
              <a:t>设置两个互斥信号量 </a:t>
            </a:r>
            <a:r>
              <a:rPr lang="en-US" altLang="zh-CN" sz="2000">
                <a:solidFill>
                  <a:srgbClr val="FF0000"/>
                </a:solidFill>
              </a:rPr>
              <a:t>mutexNS = 1 </a:t>
            </a:r>
            <a:r>
              <a:rPr lang="zh-CN" altLang="en-US" sz="2000">
                <a:solidFill>
                  <a:srgbClr val="FF0000"/>
                </a:solidFill>
              </a:rPr>
              <a:t>和 </a:t>
            </a:r>
            <a:r>
              <a:rPr lang="en-US" altLang="zh-CN" sz="2000">
                <a:solidFill>
                  <a:srgbClr val="FF0000"/>
                </a:solidFill>
              </a:rPr>
              <a:t>mutexEW = 1，</a:t>
            </a:r>
            <a:r>
              <a:rPr lang="zh-CN" altLang="en-US" sz="2000">
                <a:solidFill>
                  <a:srgbClr val="FF0000"/>
                </a:solidFill>
              </a:rPr>
              <a:t>分别用于保护 </a:t>
            </a:r>
            <a:r>
              <a:rPr lang="en-US" altLang="zh-CN" sz="2000">
                <a:solidFill>
                  <a:srgbClr val="FF0000"/>
                </a:solidFill>
              </a:rPr>
              <a:t>countNS </a:t>
            </a:r>
            <a:r>
              <a:rPr lang="zh-CN" altLang="en-US" sz="2000">
                <a:solidFill>
                  <a:srgbClr val="FF0000"/>
                </a:solidFill>
              </a:rPr>
              <a:t>和 </a:t>
            </a:r>
            <a:r>
              <a:rPr lang="en-US" altLang="zh-CN" sz="2000">
                <a:solidFill>
                  <a:srgbClr val="FF0000"/>
                </a:solidFill>
              </a:rPr>
              <a:t>countEW。</a:t>
            </a:r>
            <a:endParaRPr lang="en-US" altLang="zh-CN" sz="2000">
              <a:solidFill>
                <a:srgbClr val="FF0000"/>
              </a:solidFill>
            </a:endParaRPr>
          </a:p>
          <a:p>
            <a:pPr indent="457200"/>
            <a:r>
              <a:rPr lang="zh-CN" altLang="en-US" sz="2000"/>
              <a:t>因为计数变量是共享变量，多个车辆进程可能同时修改它们，所以必须用互斥信号量保证同一时刻只有一个进程修改计数变量。</a:t>
            </a:r>
            <a:endParaRPr lang="zh-CN" altLang="en-US" sz="2000"/>
          </a:p>
          <a:p>
            <a:pPr indent="457200"/>
            <a:r>
              <a:rPr lang="zh-CN" altLang="en-US" sz="2000"/>
              <a:t>为了防止某一方向车辆连续到来而导致另一方向车辆长期等待，还可以设</a:t>
            </a:r>
            <a:r>
              <a:rPr lang="zh-CN" altLang="en-US" sz="2000">
                <a:solidFill>
                  <a:srgbClr val="FF0000"/>
                </a:solidFill>
              </a:rPr>
              <a:t>置一个公平排队信号量 </a:t>
            </a:r>
            <a:r>
              <a:rPr lang="en-US" altLang="zh-CN" sz="2000">
                <a:solidFill>
                  <a:srgbClr val="FF0000"/>
                </a:solidFill>
              </a:rPr>
              <a:t>queue = 1</a:t>
            </a:r>
            <a:r>
              <a:rPr lang="en-US" altLang="zh-CN" sz="2000"/>
              <a:t>。</a:t>
            </a:r>
            <a:r>
              <a:rPr lang="zh-CN" altLang="en-US" sz="2000"/>
              <a:t>它的作用是让车辆按照到达顺序进入判断过程，</a:t>
            </a:r>
            <a:r>
              <a:rPr lang="zh-CN" altLang="en-US" sz="2000">
                <a:solidFill>
                  <a:srgbClr val="FF0000"/>
                </a:solidFill>
              </a:rPr>
              <a:t>避免后来的同方向车辆不断插队。</a:t>
            </a:r>
            <a:endParaRPr lang="zh-CN" altLang="en-US" sz="2000">
              <a:solidFill>
                <a:srgbClr val="FF0000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/>
          <p:nvPr/>
        </p:nvGraphicFramePr>
        <p:xfrm>
          <a:off x="449580" y="3711575"/>
          <a:ext cx="6227445" cy="2647950"/>
        </p:xfrm>
        <a:graphic>
          <a:graphicData uri="http://schemas.openxmlformats.org/drawingml/2006/table">
            <a:tbl>
              <a:tblPr firstRow="1">
                <a:tableStyleId>{0C2EE1F2-3829-4F65-8D67-8762CA021E10}</a:tableStyleId>
              </a:tblPr>
              <a:tblGrid>
                <a:gridCol w="2075815"/>
                <a:gridCol w="2075815"/>
                <a:gridCol w="2075815"/>
              </a:tblGrid>
              <a:tr h="529590">
                <a:tc>
                  <a:txBody>
                    <a:bodyPr/>
                    <a:p>
                      <a:pPr algn="ctr"/>
                      <a:r>
                        <a:rPr lang="zh-CN" altLang="en-US" sz="1800"/>
                        <a:t>来车方向</a:t>
                      </a:r>
                      <a:endParaRPr lang="zh-CN" altLang="en-US" sz="1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800"/>
                        <a:t>行驶方向</a:t>
                      </a:r>
                      <a:endParaRPr lang="zh-CN" altLang="en-US" sz="1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800"/>
                        <a:t>经过区域</a:t>
                      </a:r>
                      <a:endParaRPr lang="zh-CN" altLang="en-US" sz="1800"/>
                    </a:p>
                  </a:txBody>
                  <a:tcPr marL="0" marR="0" marT="0" marB="0" anchor="ctr" anchorCtr="0"/>
                </a:tc>
              </a:tr>
              <a:tr h="529590">
                <a:tc>
                  <a:txBody>
                    <a:bodyPr/>
                    <a:p>
                      <a:pPr algn="ctr"/>
                      <a:r>
                        <a:rPr lang="zh-CN" altLang="en-US" sz="1800"/>
                        <a:t>北来车</a:t>
                      </a:r>
                      <a:endParaRPr lang="zh-CN" altLang="en-US" sz="1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800"/>
                        <a:t>北 </a:t>
                      </a:r>
                      <a:r>
                        <a:rPr lang="en-US" altLang="zh-CN" sz="1800"/>
                        <a:t>→ </a:t>
                      </a:r>
                      <a:r>
                        <a:rPr lang="zh-CN" altLang="en-US" sz="1800"/>
                        <a:t>南</a:t>
                      </a:r>
                      <a:endParaRPr lang="zh-CN" altLang="en-US" sz="1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800"/>
                        <a:t>A</a:t>
                      </a:r>
                      <a:r>
                        <a:rPr lang="zh-CN" altLang="en-US" sz="1800"/>
                        <a:t>，</a:t>
                      </a:r>
                      <a:r>
                        <a:rPr lang="en-US" altLang="zh-CN" sz="1800"/>
                        <a:t>C</a:t>
                      </a:r>
                      <a:endParaRPr lang="en-US" altLang="zh-CN" sz="1800"/>
                    </a:p>
                  </a:txBody>
                  <a:tcPr marL="0" marR="0" marT="0" marB="0" anchor="ctr" anchorCtr="0"/>
                </a:tc>
              </a:tr>
              <a:tr h="529590">
                <a:tc>
                  <a:txBody>
                    <a:bodyPr/>
                    <a:p>
                      <a:pPr algn="ctr"/>
                      <a:r>
                        <a:rPr lang="zh-CN" altLang="en-US" sz="1800"/>
                        <a:t>南来车</a:t>
                      </a:r>
                      <a:endParaRPr lang="zh-CN" altLang="en-US" sz="1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800"/>
                        <a:t>南 </a:t>
                      </a:r>
                      <a:r>
                        <a:rPr lang="en-US" altLang="zh-CN" sz="1800"/>
                        <a:t>→ </a:t>
                      </a:r>
                      <a:r>
                        <a:rPr lang="zh-CN" altLang="en-US" sz="1800"/>
                        <a:t>北</a:t>
                      </a:r>
                      <a:endParaRPr lang="zh-CN" altLang="en-US" sz="1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800"/>
                        <a:t>D</a:t>
                      </a:r>
                      <a:r>
                        <a:rPr lang="zh-CN" altLang="en-US" sz="1800"/>
                        <a:t>，</a:t>
                      </a:r>
                      <a:r>
                        <a:rPr lang="en-US" altLang="zh-CN" sz="1800"/>
                        <a:t>B</a:t>
                      </a:r>
                      <a:endParaRPr lang="en-US" altLang="zh-CN" sz="1800"/>
                    </a:p>
                  </a:txBody>
                  <a:tcPr marL="0" marR="0" marT="0" marB="0" anchor="ctr" anchorCtr="0"/>
                </a:tc>
              </a:tr>
              <a:tr h="529590">
                <a:tc>
                  <a:txBody>
                    <a:bodyPr/>
                    <a:p>
                      <a:pPr algn="ctr"/>
                      <a:r>
                        <a:rPr lang="zh-CN" altLang="en-US" sz="1800"/>
                        <a:t>西来车</a:t>
                      </a:r>
                      <a:endParaRPr lang="zh-CN" altLang="en-US" sz="1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800"/>
                        <a:t>西 </a:t>
                      </a:r>
                      <a:r>
                        <a:rPr lang="en-US" altLang="zh-CN" sz="1800"/>
                        <a:t>→ </a:t>
                      </a:r>
                      <a:r>
                        <a:rPr lang="zh-CN" altLang="en-US" sz="1800"/>
                        <a:t>东</a:t>
                      </a:r>
                      <a:endParaRPr lang="zh-CN" altLang="en-US" sz="1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800"/>
                        <a:t>C</a:t>
                      </a:r>
                      <a:r>
                        <a:rPr lang="zh-CN" altLang="en-US" sz="1800"/>
                        <a:t>，</a:t>
                      </a:r>
                      <a:r>
                        <a:rPr lang="en-US" altLang="zh-CN" sz="1800"/>
                        <a:t>D</a:t>
                      </a:r>
                      <a:endParaRPr lang="en-US" altLang="zh-CN" sz="1800"/>
                    </a:p>
                  </a:txBody>
                  <a:tcPr marL="0" marR="0" marT="0" marB="0" anchor="ctr" anchorCtr="0"/>
                </a:tc>
              </a:tr>
              <a:tr h="529590">
                <a:tc>
                  <a:txBody>
                    <a:bodyPr/>
                    <a:p>
                      <a:pPr algn="ctr"/>
                      <a:r>
                        <a:rPr lang="zh-CN" altLang="en-US" sz="1800"/>
                        <a:t>东来车</a:t>
                      </a:r>
                      <a:endParaRPr lang="zh-CN" altLang="en-US" sz="1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800"/>
                        <a:t>东 </a:t>
                      </a:r>
                      <a:r>
                        <a:rPr lang="en-US" altLang="zh-CN" sz="1800"/>
                        <a:t>→ </a:t>
                      </a:r>
                      <a:r>
                        <a:rPr lang="zh-CN" altLang="en-US" sz="1800"/>
                        <a:t>西</a:t>
                      </a:r>
                      <a:endParaRPr lang="zh-CN" altLang="en-US" sz="1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800"/>
                        <a:t>B</a:t>
                      </a:r>
                      <a:r>
                        <a:rPr lang="zh-CN" altLang="en-US" sz="1800"/>
                        <a:t>，</a:t>
                      </a:r>
                      <a:r>
                        <a:rPr lang="en-US" altLang="zh-CN" sz="1800"/>
                        <a:t>A</a:t>
                      </a:r>
                      <a:endParaRPr lang="en-US" altLang="zh-CN" sz="1800"/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6806565" y="342265"/>
            <a:ext cx="5385435" cy="5649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>
              <a:lnSpc>
                <a:spcPct val="150000"/>
              </a:lnSpc>
            </a:pPr>
            <a:r>
              <a:rPr lang="zh-CN" altLang="en-US" sz="2400" b="1"/>
              <a:t>大体思路：</a:t>
            </a:r>
            <a:r>
              <a:rPr lang="zh-CN" altLang="en-US" sz="2000"/>
              <a:t>首先为了解答这个问题，需要先明确各个方向的车辆分别需要经过哪些区域。可以看到，由于每条道路都有一来一回两条车道，所以同一条道路上相反方向的车辆可以同时直行通过，例如北向南和南向北可以同时通行，西向东和东向西也可以同时通行。</a:t>
            </a:r>
            <a:endParaRPr lang="en-US" altLang="zh-CN" sz="2000"/>
          </a:p>
          <a:p>
            <a:pPr indent="457200">
              <a:lnSpc>
                <a:spcPct val="150000"/>
              </a:lnSpc>
            </a:pPr>
            <a:r>
              <a:rPr lang="zh-CN" altLang="en-US" sz="2000"/>
              <a:t>但是，南北方向的车辆和东西方向的车辆不能同时通行，因为它们会占用相同的路口区域，从而发生冲突。</a:t>
            </a:r>
            <a:r>
              <a:rPr lang="zh-CN" altLang="en-US" sz="2000">
                <a:solidFill>
                  <a:srgbClr val="FF0000"/>
                </a:solidFill>
              </a:rPr>
              <a:t>因此，本题可以把车辆分成两类：南北方向车辆和东西方向车辆</a:t>
            </a:r>
            <a:r>
              <a:rPr lang="zh-CN" altLang="en-US" sz="2000"/>
              <a:t>。解决问题时不需要简单地让每一辆车独占整个路口，而是让同一方向组内的车辆可以并行通过，不同方向组之间互斥。</a:t>
            </a:r>
            <a:endParaRPr lang="zh-CN" altLang="en-US" sz="2000"/>
          </a:p>
        </p:txBody>
      </p:sp>
      <p:sp>
        <p:nvSpPr>
          <p:cNvPr id="7" name="文本框 6"/>
          <p:cNvSpPr txBox="1"/>
          <p:nvPr/>
        </p:nvSpPr>
        <p:spPr>
          <a:xfrm>
            <a:off x="395605" y="233045"/>
            <a:ext cx="606361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002060"/>
                </a:solidFill>
              </a:rPr>
              <a:t>15. 双车道（每个路段仅存在一来一回2条车道）交通系统。请为该系统建模，并用</a:t>
            </a:r>
            <a:r>
              <a:rPr lang="en-US" altLang="zh-CN">
                <a:solidFill>
                  <a:srgbClr val="002060"/>
                </a:solidFill>
              </a:rPr>
              <a:t>PV</a:t>
            </a:r>
            <a:r>
              <a:rPr lang="zh-CN" altLang="en-US">
                <a:solidFill>
                  <a:srgbClr val="002060"/>
                </a:solidFill>
              </a:rPr>
              <a:t>操作解决车辆过十字路口问题。要求，不会产生死锁。 仅考虑直行。 </a:t>
            </a:r>
            <a:endParaRPr lang="zh-CN" altLang="en-US">
              <a:solidFill>
                <a:srgbClr val="002060"/>
              </a:solidFill>
            </a:endParaRPr>
          </a:p>
        </p:txBody>
      </p:sp>
      <p:pic>
        <p:nvPicPr>
          <p:cNvPr id="1786753437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7415" y="1293495"/>
            <a:ext cx="2374900" cy="225361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28270" y="144780"/>
            <a:ext cx="5529580" cy="62630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semaphore road = 1;     </a:t>
            </a:r>
            <a:r>
              <a:rPr lang="en-US" altLang="zh-CN">
                <a:solidFill>
                  <a:schemeClr val="accent1"/>
                </a:solidFill>
              </a:rPr>
              <a:t> // </a:t>
            </a:r>
            <a:r>
              <a:rPr lang="zh-CN" altLang="en-US">
                <a:solidFill>
                  <a:schemeClr val="accent1"/>
                </a:solidFill>
              </a:rPr>
              <a:t>控制路口当前属于南北组还是东西组</a:t>
            </a:r>
            <a:endParaRPr lang="zh-CN" altLang="en-US">
              <a:solidFill>
                <a:schemeClr val="accent1"/>
              </a:solidFill>
            </a:endParaRPr>
          </a:p>
          <a:p>
            <a:endParaRPr lang="en-US" altLang="zh-CN"/>
          </a:p>
          <a:p>
            <a:r>
              <a:rPr lang="en-US" altLang="zh-CN"/>
              <a:t>semaphore mutexNS = 1;  </a:t>
            </a:r>
            <a:r>
              <a:rPr lang="en-US" altLang="zh-CN">
                <a:solidFill>
                  <a:schemeClr val="accent1"/>
                </a:solidFill>
              </a:rPr>
              <a:t> // </a:t>
            </a:r>
            <a:r>
              <a:rPr lang="zh-CN" altLang="en-US">
                <a:solidFill>
                  <a:schemeClr val="accent1"/>
                </a:solidFill>
              </a:rPr>
              <a:t>保护 </a:t>
            </a:r>
            <a:r>
              <a:rPr lang="en-US" altLang="zh-CN">
                <a:solidFill>
                  <a:schemeClr val="accent1"/>
                </a:solidFill>
              </a:rPr>
              <a:t>countNS</a:t>
            </a:r>
            <a:endParaRPr lang="en-US" altLang="zh-CN"/>
          </a:p>
          <a:p>
            <a:r>
              <a:rPr lang="en-US" altLang="zh-CN"/>
              <a:t>semaphore mutexEW = 1;  </a:t>
            </a:r>
            <a:r>
              <a:rPr lang="en-US" altLang="zh-CN">
                <a:solidFill>
                  <a:schemeClr val="accent1"/>
                </a:solidFill>
              </a:rPr>
              <a:t> // </a:t>
            </a:r>
            <a:r>
              <a:rPr lang="zh-CN" altLang="en-US">
                <a:solidFill>
                  <a:schemeClr val="accent1"/>
                </a:solidFill>
              </a:rPr>
              <a:t>保护 </a:t>
            </a:r>
            <a:r>
              <a:rPr lang="en-US" altLang="zh-CN">
                <a:solidFill>
                  <a:schemeClr val="accent1"/>
                </a:solidFill>
              </a:rPr>
              <a:t>countEW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semaphore queue = 1;    </a:t>
            </a:r>
            <a:r>
              <a:rPr lang="en-US" altLang="zh-CN">
                <a:solidFill>
                  <a:schemeClr val="accent1"/>
                </a:solidFill>
              </a:rPr>
              <a:t> // </a:t>
            </a:r>
            <a:r>
              <a:rPr lang="zh-CN" altLang="en-US">
                <a:solidFill>
                  <a:schemeClr val="accent1"/>
                </a:solidFill>
              </a:rPr>
              <a:t>公平排队，防止某一方向一直占用路口</a:t>
            </a:r>
            <a:endParaRPr lang="zh-CN" altLang="en-US">
              <a:solidFill>
                <a:schemeClr val="accent1"/>
              </a:solidFill>
            </a:endParaRPr>
          </a:p>
          <a:p>
            <a:endParaRPr lang="en-US" altLang="zh-CN"/>
          </a:p>
          <a:p>
            <a:r>
              <a:rPr lang="en-US" altLang="zh-CN"/>
              <a:t>int countNS = 0;       </a:t>
            </a:r>
            <a:r>
              <a:rPr lang="en-US" altLang="zh-CN">
                <a:solidFill>
                  <a:schemeClr val="accent1"/>
                </a:solidFill>
              </a:rPr>
              <a:t>  // </a:t>
            </a:r>
            <a:r>
              <a:rPr lang="zh-CN" altLang="en-US">
                <a:solidFill>
                  <a:schemeClr val="accent1"/>
                </a:solidFill>
              </a:rPr>
              <a:t>当前南北方向正在通过的车辆数</a:t>
            </a:r>
            <a:endParaRPr lang="zh-CN" altLang="en-US"/>
          </a:p>
          <a:p>
            <a:r>
              <a:rPr lang="en-US" altLang="zh-CN"/>
              <a:t>int countEW = 0;        </a:t>
            </a:r>
            <a:r>
              <a:rPr lang="en-US" altLang="zh-CN">
                <a:solidFill>
                  <a:schemeClr val="accent1"/>
                </a:solidFill>
              </a:rPr>
              <a:t> // </a:t>
            </a:r>
            <a:r>
              <a:rPr lang="zh-CN" altLang="en-US">
                <a:solidFill>
                  <a:schemeClr val="accent1"/>
                </a:solidFill>
              </a:rPr>
              <a:t>当前东西方向正在通过的车辆数</a:t>
            </a:r>
            <a:endParaRPr lang="zh-CN" altLang="en-US"/>
          </a:p>
          <a:p>
            <a:endParaRPr lang="zh-CN" altLang="en-US"/>
          </a:p>
          <a:p>
            <a:r>
              <a:rPr lang="en-US" altLang="zh-CN">
                <a:solidFill>
                  <a:schemeClr val="accent1"/>
                </a:solidFill>
                <a:sym typeface="+mn-ea"/>
              </a:rPr>
              <a:t>/*</a:t>
            </a:r>
            <a:endParaRPr lang="en-US" altLang="zh-CN">
              <a:solidFill>
                <a:schemeClr val="accent1"/>
              </a:solidFill>
              <a:sym typeface="+mn-ea"/>
            </a:endParaRPr>
          </a:p>
          <a:p>
            <a:r>
              <a:rPr lang="zh-CN" altLang="en-US">
                <a:solidFill>
                  <a:schemeClr val="accent1"/>
                </a:solidFill>
              </a:rPr>
              <a:t>含义：</a:t>
            </a:r>
            <a:r>
              <a:rPr lang="en-US" altLang="zh-CN">
                <a:solidFill>
                  <a:schemeClr val="accent1"/>
                </a:solidFill>
              </a:rPr>
              <a:t>road = 1：</a:t>
            </a:r>
            <a:r>
              <a:rPr lang="zh-CN" altLang="en-US">
                <a:solidFill>
                  <a:schemeClr val="accent1"/>
                </a:solidFill>
              </a:rPr>
              <a:t>路口空闲；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en-US" altLang="zh-CN">
                <a:solidFill>
                  <a:schemeClr val="accent1"/>
                </a:solidFill>
              </a:rPr>
              <a:t>road = 0：</a:t>
            </a:r>
            <a:r>
              <a:rPr lang="zh-CN" altLang="en-US">
                <a:solidFill>
                  <a:schemeClr val="accent1"/>
                </a:solidFill>
              </a:rPr>
              <a:t>路口已经被某一组车辆占用。</a:t>
            </a:r>
            <a:endParaRPr lang="en-US" altLang="zh-CN">
              <a:solidFill>
                <a:schemeClr val="accent1"/>
              </a:solidFill>
            </a:endParaRPr>
          </a:p>
          <a:p>
            <a:r>
              <a:rPr lang="en-US" altLang="zh-CN">
                <a:solidFill>
                  <a:schemeClr val="accent1"/>
                </a:solidFill>
              </a:rPr>
              <a:t>countNS：</a:t>
            </a:r>
            <a:r>
              <a:rPr lang="zh-CN" altLang="en-US">
                <a:solidFill>
                  <a:schemeClr val="accent1"/>
                </a:solidFill>
              </a:rPr>
              <a:t>当前有多少南北方向车辆正在通过；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en-US" altLang="zh-CN">
                <a:solidFill>
                  <a:schemeClr val="accent1"/>
                </a:solidFill>
              </a:rPr>
              <a:t>countEW：</a:t>
            </a:r>
            <a:r>
              <a:rPr lang="zh-CN" altLang="en-US">
                <a:solidFill>
                  <a:schemeClr val="accent1"/>
                </a:solidFill>
              </a:rPr>
              <a:t>当前有多少东西方向车辆正在通过。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en-US" altLang="zh-CN">
                <a:solidFill>
                  <a:schemeClr val="accent1"/>
                </a:solidFill>
              </a:rPr>
              <a:t>*/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657850" y="144780"/>
            <a:ext cx="1904365" cy="70700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//</a:t>
            </a:r>
            <a:r>
              <a:rPr lang="zh-CN" altLang="en-US"/>
              <a:t>南北方向</a:t>
            </a:r>
            <a:endParaRPr lang="en-US" altLang="zh-CN"/>
          </a:p>
          <a:p>
            <a:r>
              <a:rPr lang="en-US" altLang="zh-CN"/>
              <a:t>P(queue);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P(mutexNS);</a:t>
            </a:r>
            <a:endParaRPr lang="en-US" altLang="zh-CN"/>
          </a:p>
          <a:p>
            <a:r>
              <a:rPr lang="en-US" altLang="zh-CN"/>
              <a:t>countNS++;</a:t>
            </a:r>
            <a:endParaRPr lang="en-US" altLang="zh-CN"/>
          </a:p>
          <a:p>
            <a:r>
              <a:rPr lang="en-US" altLang="zh-CN"/>
              <a:t>if (countNS == 1) {</a:t>
            </a:r>
            <a:endParaRPr lang="en-US" altLang="zh-CN"/>
          </a:p>
          <a:p>
            <a:r>
              <a:rPr lang="en-US" altLang="zh-CN"/>
              <a:t>    P(road);</a:t>
            </a:r>
            <a:endParaRPr lang="en-US" altLang="zh-CN"/>
          </a:p>
          <a:p>
            <a:r>
              <a:rPr lang="en-US" altLang="zh-CN"/>
              <a:t>}</a:t>
            </a:r>
            <a:endParaRPr lang="en-US" altLang="zh-CN"/>
          </a:p>
          <a:p>
            <a:r>
              <a:rPr lang="en-US" altLang="zh-CN"/>
              <a:t>V(mutexNS);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V(queue);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en-US" altLang="zh-CN"/>
              <a:t>//</a:t>
            </a:r>
            <a:r>
              <a:rPr lang="zh-CN" altLang="en-US"/>
              <a:t>通过 路口</a:t>
            </a:r>
            <a:r>
              <a:rPr lang="en-US" altLang="zh-CN"/>
              <a:t>;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en-US" altLang="zh-CN"/>
              <a:t>P(mutexNS);</a:t>
            </a:r>
            <a:endParaRPr lang="en-US" altLang="zh-CN"/>
          </a:p>
          <a:p>
            <a:r>
              <a:rPr lang="en-US" altLang="zh-CN"/>
              <a:t>countNS--;</a:t>
            </a:r>
            <a:endParaRPr lang="en-US" altLang="zh-CN"/>
          </a:p>
          <a:p>
            <a:r>
              <a:rPr lang="en-US" altLang="zh-CN"/>
              <a:t>if (countNS == 0) {</a:t>
            </a:r>
            <a:endParaRPr lang="en-US" altLang="zh-CN"/>
          </a:p>
          <a:p>
            <a:r>
              <a:rPr lang="en-US" altLang="zh-CN"/>
              <a:t>    V(road);</a:t>
            </a:r>
            <a:endParaRPr lang="en-US" altLang="zh-CN"/>
          </a:p>
          <a:p>
            <a:r>
              <a:rPr lang="en-US" altLang="zh-CN"/>
              <a:t>}</a:t>
            </a:r>
            <a:endParaRPr lang="en-US" altLang="zh-CN"/>
          </a:p>
          <a:p>
            <a:r>
              <a:rPr lang="en-US" altLang="zh-CN"/>
              <a:t>V(mutexNS);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7870190" y="144780"/>
            <a:ext cx="1946910" cy="65811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//</a:t>
            </a:r>
            <a:r>
              <a:rPr lang="zh-CN" altLang="en-US"/>
              <a:t>东西方向</a:t>
            </a:r>
            <a:endParaRPr lang="en-US" altLang="zh-CN"/>
          </a:p>
          <a:p>
            <a:r>
              <a:rPr lang="en-US" altLang="zh-CN"/>
              <a:t>P(queue);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P(mutexEW);</a:t>
            </a:r>
            <a:endParaRPr lang="en-US" altLang="zh-CN"/>
          </a:p>
          <a:p>
            <a:r>
              <a:rPr lang="en-US" altLang="zh-CN"/>
              <a:t>countEW++;</a:t>
            </a:r>
            <a:endParaRPr lang="en-US" altLang="zh-CN"/>
          </a:p>
          <a:p>
            <a:r>
              <a:rPr lang="en-US" altLang="zh-CN"/>
              <a:t>if (countEW == 1)</a:t>
            </a:r>
            <a:endParaRPr lang="en-US" altLang="zh-CN"/>
          </a:p>
          <a:p>
            <a:r>
              <a:rPr lang="en-US" altLang="zh-CN"/>
              <a:t>    P(road);</a:t>
            </a:r>
            <a:endParaRPr lang="en-US" altLang="zh-CN"/>
          </a:p>
          <a:p>
            <a:r>
              <a:rPr lang="en-US" altLang="zh-CN"/>
              <a:t>V(mutexEW);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V(queue);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en-US" altLang="zh-CN"/>
              <a:t>//</a:t>
            </a:r>
            <a:r>
              <a:rPr lang="zh-CN" altLang="en-US"/>
              <a:t>通过路口;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en-US" altLang="zh-CN"/>
              <a:t>P(mutexEW);</a:t>
            </a:r>
            <a:endParaRPr lang="en-US" altLang="zh-CN"/>
          </a:p>
          <a:p>
            <a:r>
              <a:rPr lang="en-US" altLang="zh-CN"/>
              <a:t>countEW--;</a:t>
            </a:r>
            <a:endParaRPr lang="en-US" altLang="zh-CN"/>
          </a:p>
          <a:p>
            <a:r>
              <a:rPr lang="en-US" altLang="zh-CN"/>
              <a:t>if (countEW == 0)</a:t>
            </a:r>
            <a:endParaRPr lang="en-US" altLang="zh-CN"/>
          </a:p>
          <a:p>
            <a:r>
              <a:rPr lang="en-US" altLang="zh-CN">
                <a:sym typeface="+mn-ea"/>
              </a:rPr>
              <a:t>{</a:t>
            </a:r>
            <a:endParaRPr lang="en-US" altLang="zh-CN"/>
          </a:p>
          <a:p>
            <a:r>
              <a:rPr lang="en-US" altLang="zh-CN">
                <a:sym typeface="+mn-ea"/>
              </a:rPr>
              <a:t>    V(road);</a:t>
            </a:r>
            <a:endParaRPr lang="en-US" altLang="zh-CN"/>
          </a:p>
          <a:p>
            <a:r>
              <a:rPr lang="en-US" altLang="zh-CN">
                <a:sym typeface="+mn-ea"/>
              </a:rPr>
              <a:t>}</a:t>
            </a:r>
            <a:endParaRPr lang="en-US" altLang="zh-CN"/>
          </a:p>
          <a:p>
            <a:r>
              <a:rPr lang="en-US" altLang="zh-CN"/>
              <a:t>V(mutexEW);</a:t>
            </a:r>
            <a:endParaRPr lang="en-US" altLang="zh-CN"/>
          </a:p>
        </p:txBody>
      </p:sp>
      <p:pic>
        <p:nvPicPr>
          <p:cNvPr id="9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7100" y="584200"/>
            <a:ext cx="2374900" cy="225361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310130" y="356235"/>
            <a:ext cx="8598535" cy="5998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chemeClr val="accent1"/>
                </a:solidFill>
              </a:rPr>
              <a:t>// 南北方向车辆进入路口前</a:t>
            </a:r>
            <a:endParaRPr lang="en-US" altLang="zh-CN">
              <a:solidFill>
                <a:schemeClr val="accent1"/>
              </a:solidFill>
            </a:endParaRPr>
          </a:p>
          <a:p>
            <a:r>
              <a:rPr lang="en-US" altLang="zh-CN"/>
              <a:t>P(queue);          </a:t>
            </a:r>
            <a:r>
              <a:rPr lang="en-US" altLang="zh-CN">
                <a:solidFill>
                  <a:schemeClr val="accent1"/>
                </a:solidFill>
              </a:rPr>
              <a:t>// </a:t>
            </a:r>
            <a:r>
              <a:rPr lang="zh-CN" altLang="en-US">
                <a:solidFill>
                  <a:schemeClr val="accent1"/>
                </a:solidFill>
              </a:rPr>
              <a:t>进入公平排队区，防止某一方向车辆一直插队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P(mutexNS);        </a:t>
            </a:r>
            <a:r>
              <a:rPr lang="en-US" altLang="zh-CN">
                <a:solidFill>
                  <a:schemeClr val="accent1"/>
                </a:solidFill>
              </a:rPr>
              <a:t>// </a:t>
            </a:r>
            <a:r>
              <a:rPr lang="zh-CN" altLang="en-US">
                <a:solidFill>
                  <a:schemeClr val="accent1"/>
                </a:solidFill>
              </a:rPr>
              <a:t>申请访问 </a:t>
            </a:r>
            <a:r>
              <a:rPr lang="en-US" altLang="zh-CN">
                <a:solidFill>
                  <a:schemeClr val="accent1"/>
                </a:solidFill>
              </a:rPr>
              <a:t>countNS，</a:t>
            </a:r>
            <a:r>
              <a:rPr lang="zh-CN" altLang="en-US">
                <a:solidFill>
                  <a:schemeClr val="accent1"/>
                </a:solidFill>
              </a:rPr>
              <a:t>防止多个车辆同时修改 </a:t>
            </a:r>
            <a:r>
              <a:rPr lang="en-US" altLang="zh-CN">
                <a:solidFill>
                  <a:schemeClr val="accent1"/>
                </a:solidFill>
              </a:rPr>
              <a:t>countNS</a:t>
            </a:r>
            <a:endParaRPr lang="en-US" altLang="zh-CN"/>
          </a:p>
          <a:p>
            <a:r>
              <a:rPr lang="en-US" altLang="zh-CN"/>
              <a:t>countNS++;        </a:t>
            </a:r>
            <a:r>
              <a:rPr lang="en-US" altLang="zh-CN">
                <a:solidFill>
                  <a:schemeClr val="accent1"/>
                </a:solidFill>
              </a:rPr>
              <a:t> // </a:t>
            </a:r>
            <a:r>
              <a:rPr lang="zh-CN" altLang="en-US">
                <a:solidFill>
                  <a:schemeClr val="accent1"/>
                </a:solidFill>
              </a:rPr>
              <a:t>南北方向准备通过的车辆数加 1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if (countNS == 1) {</a:t>
            </a:r>
            <a:endParaRPr lang="en-US" altLang="zh-CN"/>
          </a:p>
          <a:p>
            <a:r>
              <a:rPr lang="en-US" altLang="zh-CN"/>
              <a:t>    P(road);       </a:t>
            </a:r>
            <a:r>
              <a:rPr lang="en-US" altLang="zh-CN">
                <a:solidFill>
                  <a:schemeClr val="accent1"/>
                </a:solidFill>
              </a:rPr>
              <a:t>// </a:t>
            </a:r>
            <a:r>
              <a:rPr lang="zh-CN" altLang="en-US">
                <a:solidFill>
                  <a:schemeClr val="accent1"/>
                </a:solidFill>
              </a:rPr>
              <a:t>如果是第一辆南北方向车，则申请路口使用权</a:t>
            </a:r>
            <a:endParaRPr lang="zh-CN" altLang="en-US"/>
          </a:p>
          <a:p>
            <a:r>
              <a:rPr lang="en-US" altLang="zh-CN"/>
              <a:t>}</a:t>
            </a:r>
            <a:endParaRPr lang="en-US" altLang="zh-CN"/>
          </a:p>
          <a:p>
            <a:r>
              <a:rPr lang="en-US" altLang="zh-CN"/>
              <a:t>V(mutexNS);       </a:t>
            </a:r>
            <a:r>
              <a:rPr lang="en-US" altLang="zh-CN">
                <a:solidFill>
                  <a:schemeClr val="accent1"/>
                </a:solidFill>
              </a:rPr>
              <a:t> // countNS </a:t>
            </a:r>
            <a:r>
              <a:rPr lang="zh-CN" altLang="en-US">
                <a:solidFill>
                  <a:schemeClr val="accent1"/>
                </a:solidFill>
              </a:rPr>
              <a:t>修改完毕，释放互斥信号量</a:t>
            </a:r>
            <a:endParaRPr lang="zh-CN" altLang="en-US"/>
          </a:p>
          <a:p>
            <a:r>
              <a:rPr lang="en-US" altLang="zh-CN"/>
              <a:t>V(queue);      </a:t>
            </a:r>
            <a:r>
              <a:rPr lang="en-US" altLang="zh-CN">
                <a:solidFill>
                  <a:schemeClr val="accent1"/>
                </a:solidFill>
              </a:rPr>
              <a:t>    // </a:t>
            </a:r>
            <a:r>
              <a:rPr lang="zh-CN" altLang="en-US">
                <a:solidFill>
                  <a:schemeClr val="accent1"/>
                </a:solidFill>
              </a:rPr>
              <a:t>进入判断过程结束，允许下一辆车排队判断</a:t>
            </a:r>
            <a:endParaRPr lang="en-US" altLang="zh-CN"/>
          </a:p>
          <a:p>
            <a:r>
              <a:rPr lang="zh-CN" altLang="en-US"/>
              <a:t>// 车辆通过路口;</a:t>
            </a:r>
            <a:endParaRPr lang="en-US" altLang="zh-CN"/>
          </a:p>
          <a:p>
            <a:r>
              <a:rPr lang="zh-CN" altLang="en-US"/>
              <a:t>// 南北方向车辆离开路口后</a:t>
            </a:r>
            <a:endParaRPr lang="en-US" altLang="zh-CN"/>
          </a:p>
          <a:p>
            <a:r>
              <a:rPr lang="en-US" altLang="zh-CN"/>
              <a:t>P(mutexNS);       </a:t>
            </a:r>
            <a:r>
              <a:rPr lang="en-US" altLang="zh-CN">
                <a:solidFill>
                  <a:schemeClr val="accent1"/>
                </a:solidFill>
              </a:rPr>
              <a:t> // </a:t>
            </a:r>
            <a:r>
              <a:rPr lang="zh-CN" altLang="en-US">
                <a:solidFill>
                  <a:schemeClr val="accent1"/>
                </a:solidFill>
              </a:rPr>
              <a:t>再次申请访问 </a:t>
            </a:r>
            <a:r>
              <a:rPr lang="en-US" altLang="zh-CN">
                <a:solidFill>
                  <a:schemeClr val="accent1"/>
                </a:solidFill>
              </a:rPr>
              <a:t>countNS</a:t>
            </a:r>
            <a:endParaRPr lang="en-US" altLang="zh-CN"/>
          </a:p>
          <a:p>
            <a:r>
              <a:rPr lang="en-US" altLang="zh-CN"/>
              <a:t>countNS--;  </a:t>
            </a:r>
            <a:r>
              <a:rPr lang="en-US" altLang="zh-CN">
                <a:solidFill>
                  <a:schemeClr val="accent1"/>
                </a:solidFill>
              </a:rPr>
              <a:t>       // </a:t>
            </a:r>
            <a:r>
              <a:rPr lang="zh-CN" altLang="en-US">
                <a:solidFill>
                  <a:schemeClr val="accent1"/>
                </a:solidFill>
              </a:rPr>
              <a:t>一辆南北方向车辆已经离开，数量减 1</a:t>
            </a:r>
            <a:endParaRPr lang="en-US" altLang="zh-CN"/>
          </a:p>
          <a:p>
            <a:r>
              <a:rPr lang="en-US" altLang="zh-CN"/>
              <a:t>if (countNS == 0) {</a:t>
            </a:r>
            <a:endParaRPr lang="en-US" altLang="zh-CN"/>
          </a:p>
          <a:p>
            <a:r>
              <a:rPr lang="en-US" altLang="zh-CN"/>
              <a:t>    V(road);  </a:t>
            </a:r>
            <a:r>
              <a:rPr lang="en-US" altLang="zh-CN">
                <a:solidFill>
                  <a:schemeClr val="accent1"/>
                </a:solidFill>
              </a:rPr>
              <a:t>     // </a:t>
            </a:r>
            <a:r>
              <a:rPr lang="zh-CN" altLang="en-US">
                <a:solidFill>
                  <a:schemeClr val="accent1"/>
                </a:solidFill>
              </a:rPr>
              <a:t>如果是最后一辆南北方向车，则释放路口</a:t>
            </a:r>
            <a:endParaRPr lang="zh-CN" altLang="en-US"/>
          </a:p>
          <a:p>
            <a:r>
              <a:rPr lang="en-US" altLang="zh-CN"/>
              <a:t>}</a:t>
            </a:r>
            <a:endParaRPr lang="en-US" altLang="zh-CN"/>
          </a:p>
          <a:p>
            <a:r>
              <a:rPr lang="en-US" altLang="zh-CN"/>
              <a:t>V(mutexNS);     </a:t>
            </a:r>
            <a:r>
              <a:rPr lang="en-US" altLang="zh-CN">
                <a:solidFill>
                  <a:schemeClr val="accent1"/>
                </a:solidFill>
              </a:rPr>
              <a:t>   // countNS </a:t>
            </a:r>
            <a:r>
              <a:rPr lang="zh-CN" altLang="en-US">
                <a:solidFill>
                  <a:schemeClr val="accent1"/>
                </a:solidFill>
              </a:rPr>
              <a:t>修改完毕，释放互斥信号量</a:t>
            </a:r>
            <a:endParaRPr lang="zh-CN" altLang="en-US">
              <a:solidFill>
                <a:schemeClr val="accent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21945" y="371475"/>
            <a:ext cx="480123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1">
                    <a:lumMod val="50000"/>
                  </a:schemeClr>
                </a:solidFill>
              </a:rPr>
              <a:t>16. 羊村有条小河，河上有一座独木桥，一只小羊的宽度。河东住着一群小黑羊，河西住着一群小白羊。小黑羊要去河西吃草，小白羊要去河东吃草。请使用</a:t>
            </a:r>
            <a:r>
              <a:rPr lang="en-US" altLang="zh-CN">
                <a:solidFill>
                  <a:schemeClr val="accent1">
                    <a:lumMod val="50000"/>
                  </a:schemeClr>
                </a:solidFill>
              </a:rPr>
              <a:t>PV</a:t>
            </a:r>
            <a:r>
              <a:rPr lang="zh-CN" altLang="en-US">
                <a:solidFill>
                  <a:schemeClr val="accent1">
                    <a:lumMod val="50000"/>
                  </a:schemeClr>
                </a:solidFill>
              </a:rPr>
              <a:t>操作给出没有死锁的解。</a:t>
            </a:r>
            <a:endParaRPr lang="zh-CN" altLang="en-US">
              <a:solidFill>
                <a:schemeClr val="accent1">
                  <a:lumMod val="50000"/>
                </a:schemeClr>
              </a:solidFill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489585" y="2141220"/>
            <a:ext cx="4634230" cy="4029710"/>
            <a:chOff x="771" y="3372"/>
            <a:chExt cx="7298" cy="6346"/>
          </a:xfrm>
        </p:grpSpPr>
        <p:sp>
          <p:nvSpPr>
            <p:cNvPr id="11" name="矩形 10"/>
            <p:cNvSpPr/>
            <p:nvPr/>
          </p:nvSpPr>
          <p:spPr>
            <a:xfrm>
              <a:off x="771" y="3372"/>
              <a:ext cx="7298" cy="6346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3120" y="3372"/>
              <a:ext cx="1325" cy="634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3120" y="5837"/>
              <a:ext cx="1326" cy="645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1408" y="5837"/>
              <a:ext cx="636" cy="645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5339" y="5837"/>
              <a:ext cx="636" cy="64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2244" y="4862"/>
              <a:ext cx="636" cy="645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477" y="7052"/>
              <a:ext cx="636" cy="645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1882" y="8268"/>
              <a:ext cx="636" cy="645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>
              <a:off x="5609" y="7197"/>
              <a:ext cx="636" cy="64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矩形 16"/>
            <p:cNvSpPr/>
            <p:nvPr/>
          </p:nvSpPr>
          <p:spPr>
            <a:xfrm>
              <a:off x="4867" y="4477"/>
              <a:ext cx="636" cy="64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/>
          </p:nvSpPr>
          <p:spPr>
            <a:xfrm>
              <a:off x="5063" y="8268"/>
              <a:ext cx="636" cy="64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9" name="文本框 18"/>
          <p:cNvSpPr txBox="1"/>
          <p:nvPr/>
        </p:nvSpPr>
        <p:spPr>
          <a:xfrm>
            <a:off x="5302250" y="67310"/>
            <a:ext cx="6593840" cy="64477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zh-CN" altLang="en-US"/>
              <a:t>河东的小黑羊要从东 → 西，河西的小白羊要从西 → 东。独木桥只有一只小羊的宽度，所以：小黑羊和小白羊不能同时从相反方向上桥。否则可能在桥上相遇，谁也过不去。</a:t>
            </a:r>
            <a:endParaRPr lang="zh-CN" altLang="en-US"/>
          </a:p>
          <a:p>
            <a:pPr indent="457200"/>
            <a:r>
              <a:rPr lang="zh-CN" altLang="en-US"/>
              <a:t>用资源等待关系表示可以把桥看成左右两段：东半桥 、西半桥。如果：黑羊占有东半桥，等待西半桥；白羊占有西半桥，等待东半桥。就形成了：黑羊等待白羊释放西半桥；白羊等待黑羊释放东半桥。</a:t>
            </a:r>
            <a:r>
              <a:rPr lang="zh-CN" altLang="en-US">
                <a:solidFill>
                  <a:srgbClr val="FF0000"/>
                </a:solidFill>
              </a:rPr>
              <a:t>也就是：黑羊 → 白羊 → 黑羊。这是循环等待，所以发生死锁。</a:t>
            </a:r>
            <a:endParaRPr lang="zh-CN" altLang="en-US">
              <a:solidFill>
                <a:srgbClr val="FF0000"/>
              </a:solidFill>
            </a:endParaRPr>
          </a:p>
          <a:p>
            <a:pPr indent="457200"/>
            <a:r>
              <a:rPr lang="zh-CN" altLang="en-US" b="1"/>
              <a:t>最简单的无死锁解法：</a:t>
            </a:r>
            <a:r>
              <a:rPr lang="zh-CN" altLang="en-US"/>
              <a:t>如果题目可以理解为：独木桥一次只能过一只羊，那么只需要一个信号量即可。</a:t>
            </a:r>
            <a:endParaRPr lang="en-US" altLang="zh-CN"/>
          </a:p>
          <a:p>
            <a:r>
              <a:rPr lang="zh-CN" altLang="en-US"/>
              <a:t>设</a:t>
            </a:r>
            <a:r>
              <a:rPr lang="en-US" altLang="zh-CN"/>
              <a:t>semaphore bridge = 1;   // </a:t>
            </a:r>
            <a:r>
              <a:rPr lang="zh-CN" altLang="en-US"/>
              <a:t>表示独木桥，初值为 1</a:t>
            </a:r>
            <a:endParaRPr lang="zh-CN" altLang="en-US"/>
          </a:p>
          <a:p>
            <a:endParaRPr lang="zh-CN" altLang="en-US"/>
          </a:p>
          <a:p>
            <a:r>
              <a:rPr lang="zh-CN" altLang="en-US" b="1">
                <a:solidFill>
                  <a:schemeClr val="accent1">
                    <a:lumMod val="50000"/>
                  </a:schemeClr>
                </a:solidFill>
              </a:rPr>
              <a:t>小黑羊：东 → 西</a:t>
            </a:r>
            <a:endParaRPr lang="zh-CN" altLang="en-US" b="1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altLang="zh-CN"/>
              <a:t>P(bridge);      // </a:t>
            </a:r>
            <a:r>
              <a:rPr lang="zh-CN" altLang="en-US"/>
              <a:t>申请使用独木桥</a:t>
            </a:r>
            <a:endParaRPr lang="en-US" altLang="zh-CN"/>
          </a:p>
          <a:p>
            <a:r>
              <a:rPr lang="zh-CN" altLang="en-US"/>
              <a:t>小黑羊过桥;</a:t>
            </a:r>
            <a:endParaRPr lang="en-US" altLang="zh-CN"/>
          </a:p>
          <a:p>
            <a:r>
              <a:rPr lang="en-US" altLang="zh-CN"/>
              <a:t>V(bridge);      // </a:t>
            </a:r>
            <a:r>
              <a:rPr lang="zh-CN" altLang="en-US"/>
              <a:t>释放独木桥</a:t>
            </a:r>
            <a:endParaRPr lang="zh-CN" altLang="en-US"/>
          </a:p>
          <a:p>
            <a:endParaRPr lang="zh-CN" altLang="en-US"/>
          </a:p>
          <a:p>
            <a:r>
              <a:rPr lang="zh-CN" altLang="en-US" b="1">
                <a:solidFill>
                  <a:schemeClr val="accent1">
                    <a:lumMod val="50000"/>
                  </a:schemeClr>
                </a:solidFill>
              </a:rPr>
              <a:t>小白羊：西 → 东</a:t>
            </a:r>
            <a:endParaRPr lang="zh-CN" altLang="en-US" b="1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altLang="zh-CN"/>
              <a:t>P(bridge);      // </a:t>
            </a:r>
            <a:r>
              <a:rPr lang="zh-CN" altLang="en-US"/>
              <a:t>申请使用独木桥</a:t>
            </a:r>
            <a:endParaRPr lang="en-US" altLang="zh-CN"/>
          </a:p>
          <a:p>
            <a:r>
              <a:rPr lang="zh-CN" altLang="en-US"/>
              <a:t>小白羊过桥;</a:t>
            </a:r>
            <a:endParaRPr lang="en-US" altLang="zh-CN"/>
          </a:p>
          <a:p>
            <a:r>
              <a:rPr lang="en-US" altLang="zh-CN"/>
              <a:t>V(bridge);      // </a:t>
            </a:r>
            <a:r>
              <a:rPr lang="zh-CN" altLang="en-US"/>
              <a:t>释放独木桥</a:t>
            </a:r>
            <a:endParaRPr lang="en-US" altLang="zh-CN"/>
          </a:p>
          <a:p>
            <a:pPr indent="457200"/>
            <a:r>
              <a:rPr lang="zh-CN" altLang="en-US"/>
              <a:t>这个方案一定不会死锁，因为每只羊只申请一个资源 </a:t>
            </a:r>
            <a:r>
              <a:rPr lang="en-US" altLang="zh-CN"/>
              <a:t>bridge，</a:t>
            </a:r>
            <a:r>
              <a:rPr lang="zh-CN" altLang="en-US"/>
              <a:t>不存在“占着一个资源再等另一个资源”的情况。但是这个方案效率较低，因为它一次只允许一只羊过桥。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21945" y="371475"/>
            <a:ext cx="480123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1">
                    <a:lumMod val="50000"/>
                  </a:schemeClr>
                </a:solidFill>
              </a:rPr>
              <a:t>16. 羊村有条小河，河上有一座独木桥，一只小羊的宽度。河东住着一群小黑羊，河西住着一群小白羊。小黑羊要去河西吃草，小白羊要去河东吃草。请使用</a:t>
            </a:r>
            <a:r>
              <a:rPr lang="en-US" altLang="zh-CN">
                <a:solidFill>
                  <a:schemeClr val="accent1">
                    <a:lumMod val="50000"/>
                  </a:schemeClr>
                </a:solidFill>
              </a:rPr>
              <a:t>PV</a:t>
            </a:r>
            <a:r>
              <a:rPr lang="zh-CN" altLang="en-US">
                <a:solidFill>
                  <a:schemeClr val="accent1">
                    <a:lumMod val="50000"/>
                  </a:schemeClr>
                </a:solidFill>
              </a:rPr>
              <a:t>操作给出没有死锁的解。</a:t>
            </a:r>
            <a:endParaRPr lang="zh-CN" altLang="en-US">
              <a:solidFill>
                <a:schemeClr val="accent1">
                  <a:lumMod val="50000"/>
                </a:schemeClr>
              </a:solidFill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489585" y="2141220"/>
            <a:ext cx="4634230" cy="4029710"/>
            <a:chOff x="771" y="3372"/>
            <a:chExt cx="7298" cy="6346"/>
          </a:xfrm>
        </p:grpSpPr>
        <p:sp>
          <p:nvSpPr>
            <p:cNvPr id="11" name="矩形 10"/>
            <p:cNvSpPr/>
            <p:nvPr/>
          </p:nvSpPr>
          <p:spPr>
            <a:xfrm>
              <a:off x="771" y="3372"/>
              <a:ext cx="7298" cy="6346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3120" y="3372"/>
              <a:ext cx="1325" cy="634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3120" y="5837"/>
              <a:ext cx="1326" cy="645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1408" y="5837"/>
              <a:ext cx="636" cy="645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5339" y="5837"/>
              <a:ext cx="636" cy="64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2244" y="4862"/>
              <a:ext cx="636" cy="645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477" y="7052"/>
              <a:ext cx="636" cy="645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1882" y="8268"/>
              <a:ext cx="636" cy="645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>
              <a:off x="5609" y="7197"/>
              <a:ext cx="636" cy="64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矩形 16"/>
            <p:cNvSpPr/>
            <p:nvPr/>
          </p:nvSpPr>
          <p:spPr>
            <a:xfrm>
              <a:off x="4867" y="4477"/>
              <a:ext cx="636" cy="64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/>
          </p:nvSpPr>
          <p:spPr>
            <a:xfrm>
              <a:off x="5063" y="8268"/>
              <a:ext cx="636" cy="64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5234940" y="65405"/>
            <a:ext cx="6706870" cy="39243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zh-CN" altLang="en-US"/>
              <a:t>如果题目理解为：独木桥宽度只能容纳一只羊，但同方向的小羊可以排队连续通过，那么可以允许：</a:t>
            </a:r>
            <a:r>
              <a:rPr lang="zh-CN" altLang="en-US">
                <a:solidFill>
                  <a:srgbClr val="FF0000"/>
                </a:solidFill>
              </a:rPr>
              <a:t>多只小黑羊同方向过桥；或者多只小白羊同方向过桥；但黑羊和白羊不能同时过桥。</a:t>
            </a:r>
            <a:endParaRPr lang="en-US" altLang="zh-CN"/>
          </a:p>
          <a:p>
            <a:pPr indent="457200"/>
            <a:r>
              <a:rPr lang="zh-CN" altLang="en-US"/>
              <a:t>这时可以仿照第 15 题的思路，把小羊分成两个方向：黑羊方向：东 → 西；白羊方向：西 → 东</a:t>
            </a:r>
            <a:endParaRPr lang="en-US" altLang="zh-CN"/>
          </a:p>
          <a:p>
            <a:r>
              <a:rPr lang="zh-CN" altLang="en-US"/>
              <a:t>设：</a:t>
            </a:r>
            <a:endParaRPr lang="en-US" altLang="zh-CN"/>
          </a:p>
          <a:p>
            <a:r>
              <a:rPr lang="en-US" altLang="zh-CN"/>
              <a:t>semaphore bridge = 1;     </a:t>
            </a:r>
            <a:r>
              <a:rPr lang="en-US" altLang="zh-CN">
                <a:solidFill>
                  <a:schemeClr val="accent1"/>
                </a:solidFill>
              </a:rPr>
              <a:t>// </a:t>
            </a:r>
            <a:r>
              <a:rPr lang="zh-CN" altLang="en-US">
                <a:solidFill>
                  <a:schemeClr val="accent1"/>
                </a:solidFill>
              </a:rPr>
              <a:t>控制桥的方向使用权</a:t>
            </a:r>
            <a:endParaRPr lang="zh-CN" altLang="en-US"/>
          </a:p>
          <a:p>
            <a:r>
              <a:rPr lang="en-US" altLang="zh-CN"/>
              <a:t>semaphore mutexB = 1;  </a:t>
            </a:r>
            <a:r>
              <a:rPr lang="en-US" altLang="zh-CN">
                <a:solidFill>
                  <a:schemeClr val="accent1"/>
                </a:solidFill>
              </a:rPr>
              <a:t>   // </a:t>
            </a:r>
            <a:r>
              <a:rPr lang="zh-CN" altLang="en-US">
                <a:solidFill>
                  <a:schemeClr val="accent1"/>
                </a:solidFill>
              </a:rPr>
              <a:t>保护 </a:t>
            </a:r>
            <a:r>
              <a:rPr lang="en-US" altLang="zh-CN">
                <a:solidFill>
                  <a:schemeClr val="accent1"/>
                </a:solidFill>
              </a:rPr>
              <a:t>blackCount</a:t>
            </a:r>
            <a:endParaRPr lang="en-US" altLang="zh-CN"/>
          </a:p>
          <a:p>
            <a:r>
              <a:rPr lang="en-US" altLang="zh-CN"/>
              <a:t>semaphore mutexW = 1;   </a:t>
            </a:r>
            <a:r>
              <a:rPr lang="en-US" altLang="zh-CN">
                <a:solidFill>
                  <a:schemeClr val="accent1"/>
                </a:solidFill>
              </a:rPr>
              <a:t>  // </a:t>
            </a:r>
            <a:r>
              <a:rPr lang="zh-CN" altLang="en-US">
                <a:solidFill>
                  <a:schemeClr val="accent1"/>
                </a:solidFill>
              </a:rPr>
              <a:t>保护 </a:t>
            </a:r>
            <a:r>
              <a:rPr lang="en-US" altLang="zh-CN">
                <a:solidFill>
                  <a:schemeClr val="accent1"/>
                </a:solidFill>
              </a:rPr>
              <a:t>whiteCount</a:t>
            </a:r>
            <a:endParaRPr lang="en-US" altLang="zh-CN"/>
          </a:p>
          <a:p>
            <a:r>
              <a:rPr lang="en-US" altLang="zh-CN"/>
              <a:t>semaphore queue = 1;    </a:t>
            </a:r>
            <a:r>
              <a:rPr lang="en-US" altLang="zh-CN">
                <a:solidFill>
                  <a:schemeClr val="accent1"/>
                </a:solidFill>
              </a:rPr>
              <a:t>  // </a:t>
            </a:r>
            <a:r>
              <a:rPr lang="zh-CN" altLang="en-US">
                <a:solidFill>
                  <a:schemeClr val="accent1"/>
                </a:solidFill>
              </a:rPr>
              <a:t>公平排队，防止一方一直插队</a:t>
            </a:r>
            <a:endParaRPr lang="en-US" altLang="zh-CN"/>
          </a:p>
          <a:p>
            <a:r>
              <a:rPr lang="en-US" altLang="zh-CN"/>
              <a:t>int blackCount = 0;       </a:t>
            </a:r>
            <a:r>
              <a:rPr lang="en-US" altLang="zh-CN">
                <a:solidFill>
                  <a:schemeClr val="accent1"/>
                </a:solidFill>
              </a:rPr>
              <a:t>// </a:t>
            </a:r>
            <a:r>
              <a:rPr lang="zh-CN" altLang="en-US">
                <a:solidFill>
                  <a:schemeClr val="accent1"/>
                </a:solidFill>
              </a:rPr>
              <a:t>当前正在过桥的黑羊数量</a:t>
            </a:r>
            <a:endParaRPr lang="zh-CN" altLang="en-US"/>
          </a:p>
          <a:p>
            <a:r>
              <a:rPr lang="en-US" altLang="zh-CN"/>
              <a:t>int whiteCount = 0;  </a:t>
            </a:r>
            <a:r>
              <a:rPr lang="en-US" altLang="zh-CN">
                <a:solidFill>
                  <a:schemeClr val="accent1"/>
                </a:solidFill>
              </a:rPr>
              <a:t>     // </a:t>
            </a:r>
            <a:r>
              <a:rPr lang="zh-CN" altLang="en-US">
                <a:solidFill>
                  <a:schemeClr val="accent1"/>
                </a:solidFill>
              </a:rPr>
              <a:t>当前正在过桥的白羊数量</a:t>
            </a:r>
            <a:endParaRPr lang="zh-CN" altLang="en-US">
              <a:solidFill>
                <a:schemeClr val="accent1"/>
              </a:solidFill>
            </a:endParaRPr>
          </a:p>
          <a:p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我们可以发现其实和上一题的变量设置完全一致</a:t>
            </a:r>
            <a:r>
              <a:rPr lang="en-US" altLang="zh-CN">
                <a:solidFill>
                  <a:schemeClr val="tx1"/>
                </a:solidFill>
              </a:rPr>
              <a:t>,</a:t>
            </a:r>
            <a:r>
              <a:rPr lang="zh-CN" altLang="en-US">
                <a:solidFill>
                  <a:schemeClr val="tx1"/>
                </a:solidFill>
              </a:rPr>
              <a:t>因此给出的</a:t>
            </a:r>
            <a:r>
              <a:rPr lang="en-US" altLang="zh-CN">
                <a:solidFill>
                  <a:schemeClr val="tx1"/>
                </a:solidFill>
              </a:rPr>
              <a:t>PV</a:t>
            </a:r>
            <a:r>
              <a:rPr lang="zh-CN" altLang="en-US">
                <a:solidFill>
                  <a:schemeClr val="tx1"/>
                </a:solidFill>
              </a:rPr>
              <a:t>操作也是高度一致的</a:t>
            </a:r>
            <a:endParaRPr lang="zh-CN" altLang="en-US">
              <a:solidFill>
                <a:schemeClr val="tx1"/>
              </a:solidFill>
            </a:endParaRPr>
          </a:p>
          <a:p>
            <a:endParaRPr lang="en-US" altLang="zh-CN"/>
          </a:p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0" y="-635"/>
            <a:ext cx="6248400" cy="5809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小黑羊过桥过程</a:t>
            </a:r>
            <a:endParaRPr lang="zh-CN" altLang="en-US"/>
          </a:p>
          <a:p>
            <a:r>
              <a:rPr lang="en-US" altLang="zh-CN"/>
              <a:t>P(queue);              </a:t>
            </a:r>
            <a:r>
              <a:rPr lang="en-US" altLang="zh-CN">
                <a:solidFill>
                  <a:schemeClr val="accent1"/>
                </a:solidFill>
              </a:rPr>
              <a:t>   // </a:t>
            </a:r>
            <a:r>
              <a:rPr lang="zh-CN" altLang="en-US">
                <a:solidFill>
                  <a:schemeClr val="accent1"/>
                </a:solidFill>
              </a:rPr>
              <a:t>进入公平排队区</a:t>
            </a:r>
            <a:endParaRPr lang="en-US" altLang="zh-CN"/>
          </a:p>
          <a:p>
            <a:r>
              <a:rPr lang="en-US" altLang="zh-CN"/>
              <a:t>P(mutexB);               </a:t>
            </a:r>
            <a:r>
              <a:rPr lang="en-US" altLang="zh-CN">
                <a:solidFill>
                  <a:schemeClr val="accent1"/>
                </a:solidFill>
              </a:rPr>
              <a:t> // </a:t>
            </a:r>
            <a:r>
              <a:rPr lang="zh-CN" altLang="en-US">
                <a:solidFill>
                  <a:schemeClr val="accent1"/>
                </a:solidFill>
              </a:rPr>
              <a:t>互斥访问 </a:t>
            </a:r>
            <a:r>
              <a:rPr lang="en-US" altLang="zh-CN">
                <a:solidFill>
                  <a:schemeClr val="accent1"/>
                </a:solidFill>
              </a:rPr>
              <a:t>blackCount</a:t>
            </a:r>
            <a:endParaRPr lang="en-US" altLang="zh-CN"/>
          </a:p>
          <a:p>
            <a:r>
              <a:rPr lang="en-US" altLang="zh-CN"/>
              <a:t>blackCount++;             </a:t>
            </a:r>
            <a:r>
              <a:rPr lang="en-US" altLang="zh-CN">
                <a:solidFill>
                  <a:schemeClr val="accent1"/>
                </a:solidFill>
              </a:rPr>
              <a:t>// </a:t>
            </a:r>
            <a:r>
              <a:rPr lang="zh-CN" altLang="en-US">
                <a:solidFill>
                  <a:schemeClr val="accent1"/>
                </a:solidFill>
              </a:rPr>
              <a:t>黑羊数量加 1</a:t>
            </a:r>
            <a:endParaRPr lang="en-US" altLang="zh-CN"/>
          </a:p>
          <a:p>
            <a:r>
              <a:rPr lang="en-US" altLang="zh-CN"/>
              <a:t>if (blackCount == 1) {</a:t>
            </a:r>
            <a:endParaRPr lang="en-US" altLang="zh-CN"/>
          </a:p>
          <a:p>
            <a:r>
              <a:rPr lang="en-US" altLang="zh-CN"/>
              <a:t>    P(bridge);          </a:t>
            </a:r>
            <a:r>
              <a:rPr lang="en-US" altLang="zh-CN">
                <a:solidFill>
                  <a:schemeClr val="accent1"/>
                </a:solidFill>
              </a:rPr>
              <a:t>  // </a:t>
            </a:r>
            <a:r>
              <a:rPr lang="zh-CN" altLang="en-US">
                <a:solidFill>
                  <a:schemeClr val="accent1"/>
                </a:solidFill>
              </a:rPr>
              <a:t>第一只黑羊申请桥的使用权</a:t>
            </a:r>
            <a:endParaRPr lang="zh-CN" altLang="en-US"/>
          </a:p>
          <a:p>
            <a:r>
              <a:rPr lang="en-US" altLang="zh-CN"/>
              <a:t>}</a:t>
            </a:r>
            <a:endParaRPr lang="en-US" altLang="zh-CN"/>
          </a:p>
          <a:p>
            <a:r>
              <a:rPr lang="en-US" altLang="zh-CN"/>
              <a:t>V(mutexB);              </a:t>
            </a:r>
            <a:r>
              <a:rPr lang="en-US" altLang="zh-CN">
                <a:solidFill>
                  <a:schemeClr val="accent1"/>
                </a:solidFill>
              </a:rPr>
              <a:t>  // </a:t>
            </a:r>
            <a:r>
              <a:rPr lang="zh-CN" altLang="en-US">
                <a:solidFill>
                  <a:schemeClr val="accent1"/>
                </a:solidFill>
              </a:rPr>
              <a:t>释放 </a:t>
            </a:r>
            <a:r>
              <a:rPr lang="en-US" altLang="zh-CN">
                <a:solidFill>
                  <a:schemeClr val="accent1"/>
                </a:solidFill>
              </a:rPr>
              <a:t>blackCount </a:t>
            </a:r>
            <a:r>
              <a:rPr lang="zh-CN" altLang="en-US">
                <a:solidFill>
                  <a:schemeClr val="accent1"/>
                </a:solidFill>
              </a:rPr>
              <a:t>的访问权</a:t>
            </a:r>
            <a:endParaRPr lang="zh-CN" altLang="en-US"/>
          </a:p>
          <a:p>
            <a:r>
              <a:rPr lang="en-US" altLang="zh-CN"/>
              <a:t>V(queue);               </a:t>
            </a:r>
            <a:r>
              <a:rPr lang="en-US" altLang="zh-CN">
                <a:solidFill>
                  <a:schemeClr val="accent1"/>
                </a:solidFill>
              </a:rPr>
              <a:t>  // </a:t>
            </a:r>
            <a:r>
              <a:rPr lang="zh-CN" altLang="en-US">
                <a:solidFill>
                  <a:schemeClr val="accent1"/>
                </a:solidFill>
              </a:rPr>
              <a:t>释放排队区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//</a:t>
            </a:r>
            <a:r>
              <a:rPr lang="zh-CN" altLang="en-US"/>
              <a:t>小黑羊过桥;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P(mutexB);             </a:t>
            </a:r>
            <a:r>
              <a:rPr lang="en-US" altLang="zh-CN">
                <a:solidFill>
                  <a:schemeClr val="accent1"/>
                </a:solidFill>
              </a:rPr>
              <a:t>   // </a:t>
            </a:r>
            <a:r>
              <a:rPr lang="zh-CN" altLang="en-US">
                <a:solidFill>
                  <a:schemeClr val="accent1"/>
                </a:solidFill>
              </a:rPr>
              <a:t>准备修改 </a:t>
            </a:r>
            <a:r>
              <a:rPr lang="en-US" altLang="zh-CN">
                <a:solidFill>
                  <a:schemeClr val="accent1"/>
                </a:solidFill>
              </a:rPr>
              <a:t>blackCount</a:t>
            </a:r>
            <a:endParaRPr lang="en-US" altLang="zh-CN"/>
          </a:p>
          <a:p>
            <a:r>
              <a:rPr lang="en-US" altLang="zh-CN"/>
              <a:t>blackCount--;             </a:t>
            </a:r>
            <a:r>
              <a:rPr lang="en-US" altLang="zh-CN">
                <a:solidFill>
                  <a:schemeClr val="accent1"/>
                </a:solidFill>
              </a:rPr>
              <a:t>// </a:t>
            </a:r>
            <a:r>
              <a:rPr lang="zh-CN" altLang="en-US">
                <a:solidFill>
                  <a:schemeClr val="accent1"/>
                </a:solidFill>
              </a:rPr>
              <a:t>一只黑羊已经过桥</a:t>
            </a:r>
            <a:endParaRPr lang="en-US" altLang="zh-CN"/>
          </a:p>
          <a:p>
            <a:r>
              <a:rPr lang="en-US" altLang="zh-CN"/>
              <a:t>if (blackCount == 0) {</a:t>
            </a:r>
            <a:endParaRPr lang="en-US" altLang="zh-CN"/>
          </a:p>
          <a:p>
            <a:r>
              <a:rPr lang="en-US" altLang="zh-CN"/>
              <a:t>    V(bridge);           </a:t>
            </a:r>
            <a:r>
              <a:rPr lang="en-US" altLang="zh-CN">
                <a:solidFill>
                  <a:schemeClr val="accent1"/>
                </a:solidFill>
              </a:rPr>
              <a:t> // </a:t>
            </a:r>
            <a:r>
              <a:rPr lang="zh-CN" altLang="en-US">
                <a:solidFill>
                  <a:schemeClr val="accent1"/>
                </a:solidFill>
              </a:rPr>
              <a:t>最后一只黑羊释放桥</a:t>
            </a:r>
            <a:endParaRPr lang="zh-CN" altLang="en-US"/>
          </a:p>
          <a:p>
            <a:r>
              <a:rPr lang="en-US" altLang="zh-CN"/>
              <a:t>}</a:t>
            </a:r>
            <a:endParaRPr lang="en-US" altLang="zh-CN"/>
          </a:p>
          <a:p>
            <a:r>
              <a:rPr lang="en-US" altLang="zh-CN"/>
              <a:t>V(mutexB);                </a:t>
            </a:r>
            <a:r>
              <a:rPr lang="en-US" altLang="zh-CN">
                <a:solidFill>
                  <a:schemeClr val="accent1"/>
                </a:solidFill>
              </a:rPr>
              <a:t>// </a:t>
            </a:r>
            <a:r>
              <a:rPr lang="zh-CN" altLang="en-US">
                <a:solidFill>
                  <a:schemeClr val="accent1"/>
                </a:solidFill>
              </a:rPr>
              <a:t>释放 </a:t>
            </a:r>
            <a:r>
              <a:rPr lang="en-US" altLang="zh-CN">
                <a:solidFill>
                  <a:schemeClr val="accent1"/>
                </a:solidFill>
              </a:rPr>
              <a:t>blackCount </a:t>
            </a:r>
            <a:r>
              <a:rPr lang="zh-CN" altLang="en-US">
                <a:solidFill>
                  <a:schemeClr val="accent1"/>
                </a:solidFill>
              </a:rPr>
              <a:t>的访问权</a:t>
            </a:r>
            <a:endParaRPr lang="zh-CN" altLang="en-US"/>
          </a:p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503035" y="-635"/>
            <a:ext cx="5552440" cy="60991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ym typeface="+mn-ea"/>
              </a:rPr>
              <a:t>小白羊过桥过程</a:t>
            </a:r>
            <a:endParaRPr lang="zh-CN" altLang="en-US"/>
          </a:p>
          <a:p>
            <a:r>
              <a:rPr lang="en-US" altLang="zh-CN">
                <a:sym typeface="+mn-ea"/>
              </a:rPr>
              <a:t>P(queue);             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    // 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进入公平排队区</a:t>
            </a:r>
            <a:endParaRPr lang="en-US" altLang="zh-CN"/>
          </a:p>
          <a:p>
            <a:r>
              <a:rPr lang="en-US" altLang="zh-CN">
                <a:sym typeface="+mn-ea"/>
              </a:rPr>
              <a:t>P(mutexW);               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 // 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互斥访问 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whiteCount</a:t>
            </a:r>
            <a:endParaRPr lang="en-US" altLang="zh-CN"/>
          </a:p>
          <a:p>
            <a:r>
              <a:rPr lang="en-US" altLang="zh-CN">
                <a:sym typeface="+mn-ea"/>
              </a:rPr>
              <a:t>whiteCount++;            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 // 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白羊数量加 1</a:t>
            </a:r>
            <a:endParaRPr lang="zh-CN" altLang="en-US"/>
          </a:p>
          <a:p>
            <a:r>
              <a:rPr lang="en-US" altLang="zh-CN">
                <a:sym typeface="+mn-ea"/>
              </a:rPr>
              <a:t>if (whiteCount == 1) {</a:t>
            </a:r>
            <a:endParaRPr lang="en-US" altLang="zh-CN"/>
          </a:p>
          <a:p>
            <a:r>
              <a:rPr lang="en-US" altLang="zh-CN">
                <a:sym typeface="+mn-ea"/>
              </a:rPr>
              <a:t>    P(bridge);          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  // 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第一只白羊申请桥的使用权</a:t>
            </a:r>
            <a:endParaRPr lang="zh-CN" altLang="en-US"/>
          </a:p>
          <a:p>
            <a:r>
              <a:rPr lang="en-US" altLang="zh-CN">
                <a:sym typeface="+mn-ea"/>
              </a:rPr>
              <a:t>}</a:t>
            </a:r>
            <a:endParaRPr lang="en-US" altLang="zh-CN"/>
          </a:p>
          <a:p>
            <a:r>
              <a:rPr lang="en-US" altLang="zh-CN">
                <a:sym typeface="+mn-ea"/>
              </a:rPr>
              <a:t>V(mutexW);               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 // 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释放 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whiteCount 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的访问权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en-US" altLang="zh-CN">
                <a:sym typeface="+mn-ea"/>
              </a:rPr>
              <a:t>V(queue);                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 // 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释放排队区</a:t>
            </a:r>
            <a:endParaRPr lang="zh-CN" altLang="en-US">
              <a:sym typeface="+mn-ea"/>
            </a:endParaRPr>
          </a:p>
          <a:p>
            <a:endParaRPr lang="en-US" altLang="zh-CN"/>
          </a:p>
          <a:p>
            <a:r>
              <a:rPr lang="en-US" altLang="zh-CN">
                <a:sym typeface="+mn-ea"/>
              </a:rPr>
              <a:t>//</a:t>
            </a:r>
            <a:r>
              <a:rPr lang="zh-CN" altLang="en-US">
                <a:sym typeface="+mn-ea"/>
              </a:rPr>
              <a:t>小白羊过桥;</a:t>
            </a:r>
            <a:endParaRPr lang="zh-CN" altLang="en-US"/>
          </a:p>
          <a:p>
            <a:endParaRPr lang="en-US" altLang="zh-CN"/>
          </a:p>
          <a:p>
            <a:r>
              <a:rPr lang="en-US" altLang="zh-CN">
                <a:sym typeface="+mn-ea"/>
              </a:rPr>
              <a:t>P(mutexW);       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         // 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准备修改 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whiteCount</a:t>
            </a:r>
            <a:endParaRPr lang="en-US" altLang="zh-CN"/>
          </a:p>
          <a:p>
            <a:r>
              <a:rPr lang="en-US" altLang="zh-CN">
                <a:sym typeface="+mn-ea"/>
              </a:rPr>
              <a:t>whiteCount--;           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  // 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一只白羊已经过桥</a:t>
            </a:r>
            <a:endParaRPr lang="en-US" altLang="zh-CN"/>
          </a:p>
          <a:p>
            <a:r>
              <a:rPr lang="en-US" altLang="zh-CN">
                <a:sym typeface="+mn-ea"/>
              </a:rPr>
              <a:t>if (whiteCount == 0) {</a:t>
            </a:r>
            <a:endParaRPr lang="en-US" altLang="zh-CN"/>
          </a:p>
          <a:p>
            <a:r>
              <a:rPr lang="en-US" altLang="zh-CN">
                <a:sym typeface="+mn-ea"/>
              </a:rPr>
              <a:t>    V(bridge);            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// 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最后一只白羊释放桥</a:t>
            </a:r>
            <a:endParaRPr lang="zh-CN" altLang="en-US"/>
          </a:p>
          <a:p>
            <a:r>
              <a:rPr lang="en-US" altLang="zh-CN">
                <a:sym typeface="+mn-ea"/>
              </a:rPr>
              <a:t>}</a:t>
            </a:r>
            <a:endParaRPr lang="en-US" altLang="zh-CN"/>
          </a:p>
          <a:p>
            <a:r>
              <a:rPr lang="en-US" altLang="zh-CN">
                <a:sym typeface="+mn-ea"/>
              </a:rPr>
              <a:t>V(mutexW);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                // 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释放 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whiteCount 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的访问权</a:t>
            </a:r>
            <a:endParaRPr lang="zh-CN" altLang="en-US"/>
          </a:p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0" y="5489575"/>
            <a:ext cx="12240260" cy="1108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/>
              <a:t>为什么不会死锁？</a:t>
            </a:r>
            <a:r>
              <a:rPr lang="zh-CN" altLang="en-US" sz="2000"/>
              <a:t>因为黑羊和白羊并不会各自占用一部分桥，然后互相等待。它们在上桥前就先通过 </a:t>
            </a:r>
            <a:r>
              <a:rPr lang="en-US" altLang="zh-CN" sz="2000"/>
              <a:t>bridge </a:t>
            </a:r>
            <a:r>
              <a:rPr lang="zh-CN" altLang="en-US" sz="2000"/>
              <a:t>判断桥的使用方向：如果桥当前属于黑羊方向，白羊不能上桥；如果桥当前属于白羊方向，黑羊不能上桥。所以不会出现黑羊和白羊在桥中间相遇、互不相让的情况。</a:t>
            </a:r>
            <a:endParaRPr lang="zh-CN" altLang="en-US" sz="2000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43840" y="154940"/>
            <a:ext cx="11513820" cy="61607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zh-CN" altLang="en-US"/>
              <a:t>死锁是指多个进程、线程或“车辆/小羊”等并发对象在运行过程中，彼此占有一部分资源，同时又等待对方释放资源，结果谁也不能继续执行。</a:t>
            </a:r>
            <a:endParaRPr lang="en-US" altLang="zh-CN"/>
          </a:p>
          <a:p>
            <a:pPr indent="457200"/>
            <a:r>
              <a:rPr lang="zh-CN" altLang="en-US"/>
              <a:t>在操作系统中，死锁通常需要同时满足四个条件：</a:t>
            </a:r>
            <a:endParaRPr lang="en-US" altLang="zh-CN"/>
          </a:p>
          <a:p>
            <a:pPr indent="457200"/>
            <a:r>
              <a:rPr lang="zh-CN" altLang="en-US" i="1">
                <a:solidFill>
                  <a:srgbClr val="FF0000"/>
                </a:solidFill>
              </a:rPr>
              <a:t>1. 互斥条件：资源一次只能被一个进程使用。</a:t>
            </a:r>
            <a:endParaRPr lang="zh-CN" altLang="en-US" i="1">
              <a:solidFill>
                <a:srgbClr val="FF0000"/>
              </a:solidFill>
            </a:endParaRPr>
          </a:p>
          <a:p>
            <a:pPr indent="457200"/>
            <a:r>
              <a:rPr lang="zh-CN" altLang="en-US" i="1">
                <a:solidFill>
                  <a:srgbClr val="FF0000"/>
                </a:solidFill>
              </a:rPr>
              <a:t>2. 占有并等待：已经占有资源的进程，还在等待其他资源。</a:t>
            </a:r>
            <a:endParaRPr lang="zh-CN" altLang="en-US" i="1">
              <a:solidFill>
                <a:srgbClr val="FF0000"/>
              </a:solidFill>
            </a:endParaRPr>
          </a:p>
          <a:p>
            <a:pPr indent="457200"/>
            <a:r>
              <a:rPr lang="zh-CN" altLang="en-US" i="1">
                <a:solidFill>
                  <a:srgbClr val="FF0000"/>
                </a:solidFill>
              </a:rPr>
              <a:t>3. 不可剥夺：资源不能被强行抢走，只能由占有者主动释放。</a:t>
            </a:r>
            <a:endParaRPr lang="zh-CN" altLang="en-US" i="1">
              <a:solidFill>
                <a:srgbClr val="FF0000"/>
              </a:solidFill>
            </a:endParaRPr>
          </a:p>
          <a:p>
            <a:pPr indent="457200"/>
            <a:r>
              <a:rPr lang="zh-CN" altLang="en-US" i="1">
                <a:solidFill>
                  <a:srgbClr val="FF0000"/>
                </a:solidFill>
              </a:rPr>
              <a:t>4. 循环等待：多个进程形成首尾相接的等待关系。</a:t>
            </a:r>
            <a:endParaRPr lang="zh-CN" altLang="en-US" i="1">
              <a:solidFill>
                <a:srgbClr val="FF0000"/>
              </a:solidFill>
            </a:endParaRPr>
          </a:p>
          <a:p>
            <a:pPr indent="457200"/>
            <a:endParaRPr lang="zh-CN" altLang="en-US"/>
          </a:p>
          <a:p>
            <a:pPr indent="457200"/>
            <a:r>
              <a:rPr lang="en-US" altLang="zh-CN"/>
              <a:t>PV </a:t>
            </a:r>
            <a:r>
              <a:rPr lang="zh-CN" altLang="en-US"/>
              <a:t>操作中的信号量可以表示资源的数量或某种通行条件，</a:t>
            </a:r>
            <a:r>
              <a:rPr lang="en-US" altLang="zh-CN">
                <a:solidFill>
                  <a:srgbClr val="FF0000"/>
                </a:solidFill>
              </a:rPr>
              <a:t>P </a:t>
            </a:r>
            <a:r>
              <a:rPr lang="zh-CN" altLang="en-US">
                <a:solidFill>
                  <a:srgbClr val="FF0000"/>
                </a:solidFill>
              </a:rPr>
              <a:t>操作用于申请资源，若资源不可用则等待；</a:t>
            </a:r>
            <a:r>
              <a:rPr lang="en-US" altLang="zh-CN">
                <a:solidFill>
                  <a:srgbClr val="FF0000"/>
                </a:solidFill>
              </a:rPr>
              <a:t>V </a:t>
            </a:r>
            <a:r>
              <a:rPr lang="zh-CN" altLang="en-US">
                <a:solidFill>
                  <a:srgbClr val="FF0000"/>
                </a:solidFill>
              </a:rPr>
              <a:t>操作用于释放资源，并唤醒等待的进程</a:t>
            </a:r>
            <a:r>
              <a:rPr lang="zh-CN" altLang="en-US"/>
              <a:t>。</a:t>
            </a:r>
            <a:endParaRPr lang="en-US" altLang="zh-CN"/>
          </a:p>
          <a:p>
            <a:pPr indent="457200"/>
            <a:r>
              <a:rPr lang="zh-CN" altLang="en-US"/>
              <a:t>第 15 题中，车辆通过十字路口时会占用路口中的部分区域。如果简单地对 </a:t>
            </a:r>
            <a:r>
              <a:rPr lang="en-US" altLang="zh-CN"/>
              <a:t>A、B、C、D </a:t>
            </a:r>
            <a:r>
              <a:rPr lang="zh-CN" altLang="en-US"/>
              <a:t>四个区域分别加锁，可能出现四辆车分别占有一个区域并等待下一个区域的情况，</a:t>
            </a:r>
            <a:r>
              <a:rPr lang="zh-CN" altLang="en-US">
                <a:solidFill>
                  <a:srgbClr val="FF0000"/>
                </a:solidFill>
              </a:rPr>
              <a:t>从而形成循环等待，导致死锁</a:t>
            </a:r>
            <a:r>
              <a:rPr lang="zh-CN" altLang="en-US"/>
              <a:t>。因此，更合理的建模方法是根据双车道直行的特点，将车辆分为南北方向和东西方向两组。同一组内的车辆可以同时通行，而南北方向和东西方向之间互斥。</a:t>
            </a:r>
            <a:endParaRPr lang="zh-CN" altLang="en-US"/>
          </a:p>
          <a:p>
            <a:pPr indent="457200"/>
            <a:r>
              <a:rPr lang="zh-CN" altLang="en-US"/>
              <a:t>第 16 题中，</a:t>
            </a:r>
            <a:r>
              <a:rPr lang="zh-CN" altLang="en-US">
                <a:solidFill>
                  <a:srgbClr val="FF0000"/>
                </a:solidFill>
              </a:rPr>
              <a:t>独木桥是一种临界资源</a:t>
            </a:r>
            <a:r>
              <a:rPr lang="zh-CN" altLang="en-US"/>
              <a:t>。由于桥只有一只小羊的宽度，黑羊和白羊不能同时从相反方向上桥，否则可能在桥上相遇并造成阻塞。最简单的解法是设置一个互斥信号量 </a:t>
            </a:r>
            <a:r>
              <a:rPr lang="en-US" altLang="zh-CN"/>
              <a:t>bridge = 1，</a:t>
            </a:r>
            <a:r>
              <a:rPr lang="zh-CN" altLang="en-US"/>
              <a:t>任何小羊过桥前执行 </a:t>
            </a:r>
            <a:r>
              <a:rPr lang="en-US" altLang="zh-CN"/>
              <a:t>P(bridge)，</a:t>
            </a:r>
            <a:r>
              <a:rPr lang="zh-CN" altLang="en-US"/>
              <a:t>过桥后执行 </a:t>
            </a:r>
            <a:r>
              <a:rPr lang="en-US" altLang="zh-CN"/>
              <a:t>V(bridge)，</a:t>
            </a:r>
            <a:r>
              <a:rPr lang="zh-CN" altLang="en-US"/>
              <a:t>保证同一时刻只有一只羊过桥。若希望提高效率，也可以将小羊按方向分组，允许同方向的小羊连续过桥，而相反方向互斥，其思想与第 15 题类似：第一只同方向小羊申请桥，最后一只同方向小羊释放桥。</a:t>
            </a:r>
            <a:endParaRPr lang="en-US" altLang="zh-CN"/>
          </a:p>
          <a:p>
            <a:pPr indent="457200"/>
            <a:r>
              <a:rPr lang="zh-CN" altLang="en-US"/>
              <a:t>因此，这两题的核心思想都是：</a:t>
            </a:r>
            <a:r>
              <a:rPr lang="zh-CN" altLang="en-US">
                <a:solidFill>
                  <a:srgbClr val="FF0000"/>
                </a:solidFill>
              </a:rPr>
              <a:t>先分析共享资源和可能发生冲突的情况，再用信号量对共享资源进行互斥控制；同时通过合理的建模方式避免“占有并等待”和“循环等待”，从而保证系统不会发生死锁。</a:t>
            </a:r>
            <a:endParaRPr lang="zh-CN" altLang="en-US">
              <a:solidFill>
                <a:srgbClr val="FF0000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resource_record_key" val="{&quot;29&quot;:[50000049],&quot;65&quot;:[20205081]}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resource_record_key" val="{&quot;29&quot;:[50000049],&quot;65&quot;:[20205081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5338</Words>
  <Application>WPS 演示</Application>
  <PresentationFormat>宽屏</PresentationFormat>
  <Paragraphs>262</Paragraphs>
  <Slides>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Tony.</cp:lastModifiedBy>
  <cp:revision>160</cp:revision>
  <dcterms:created xsi:type="dcterms:W3CDTF">2019-06-19T02:08:00Z</dcterms:created>
  <dcterms:modified xsi:type="dcterms:W3CDTF">2026-09-01T16:35:43Z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F5A9FEF7A1DC4491AD2DE739C2877702_11</vt:lpwstr>
  </property>
</Properties>
</file>